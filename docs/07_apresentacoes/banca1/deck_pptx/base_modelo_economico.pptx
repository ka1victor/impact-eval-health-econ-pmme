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26"/>
  </p:notesMasterIdLst>
  <p:sldIdLst>
    <p:sldId id="258" r:id="rId6"/>
    <p:sldId id="257" r:id="rId7"/>
    <p:sldId id="272" r:id="rId8"/>
    <p:sldId id="273" r:id="rId9"/>
    <p:sldId id="284" r:id="rId10"/>
    <p:sldId id="289" r:id="rId11"/>
    <p:sldId id="264" r:id="rId12"/>
    <p:sldId id="290" r:id="rId13"/>
    <p:sldId id="286" r:id="rId14"/>
    <p:sldId id="302" r:id="rId15"/>
    <p:sldId id="304" r:id="rId16"/>
    <p:sldId id="306" r:id="rId17"/>
    <p:sldId id="291" r:id="rId18"/>
    <p:sldId id="265" r:id="rId19"/>
    <p:sldId id="287" r:id="rId20"/>
    <p:sldId id="292" r:id="rId21"/>
    <p:sldId id="270" r:id="rId22"/>
    <p:sldId id="293" r:id="rId23"/>
    <p:sldId id="26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D9F81"/>
    <a:srgbClr val="D6E1D3"/>
    <a:srgbClr val="E2E9E0"/>
    <a:srgbClr val="C6D7C4"/>
    <a:srgbClr val="B9CDB6"/>
    <a:srgbClr val="B1C8AF"/>
    <a:srgbClr val="A9C0A7"/>
    <a:srgbClr val="9FBA9E"/>
    <a:srgbClr val="98B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202" dt="2026-09-14T13:34:56.282"/>
    <p1510:client id="{36283729-4835-433C-AC39-DB0B8270AF98}" v="424" dt="2026-09-14T13:43:11.406"/>
    <p1510:client id="{58913B7D-8360-FF4E-99B4-CFF8BE72E06B}" v="580" dt="2026-09-14T13:43:31.796"/>
    <p1510:client id="{838D511B-F9A4-DD7E-E998-53E6EDC3D7F8}" v="246" dt="2026-09-14T13:30:54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FB-7F4A-8BF9-36853CC0E04C}"/>
              </c:ext>
            </c:extLst>
          </c:dPt>
          <c:dPt>
            <c:idx val="1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FB-7F4A-8BF9-36853CC0E04C}"/>
              </c:ext>
            </c:extLst>
          </c:dPt>
          <c:dPt>
            <c:idx val="2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FB-7F4A-8BF9-36853CC0E0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Valor_bolsas!$B$2:$B$4</c:f>
              <c:strCache>
                <c:ptCount val="3"/>
                <c:pt idx="0">
                  <c:v>Faixa 3                         (Vulnerabilidade baixa)</c:v>
                </c:pt>
                <c:pt idx="1">
                  <c:v>Faixa 2                    (Vulnerabilidade intermediária)</c:v>
                </c:pt>
                <c:pt idx="2">
                  <c:v>Faixa 1                         (Vulnerabilidade alta)</c:v>
                </c:pt>
              </c:strCache>
            </c:strRef>
          </c:cat>
          <c:val>
            <c:numRef>
              <c:f>Valor_bolsas!$C$2:$C$4</c:f>
              <c:numCache>
                <c:formatCode>"R$"#,##0_);[Red]\("R$"#,##0\)</c:formatCode>
                <c:ptCount val="3"/>
                <c:pt idx="0">
                  <c:v>10000</c:v>
                </c:pt>
                <c:pt idx="1">
                  <c:v>15000</c:v>
                </c:pt>
                <c:pt idx="2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FB-7F4A-8BF9-36853CC0E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27"/>
        <c:axId val="1328534608"/>
        <c:axId val="826493712"/>
      </c:barChart>
      <c:catAx>
        <c:axId val="132853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826493712"/>
        <c:crosses val="autoZero"/>
        <c:auto val="1"/>
        <c:lblAlgn val="ctr"/>
        <c:lblOffset val="100"/>
        <c:noMultiLvlLbl val="0"/>
      </c:catAx>
      <c:valAx>
        <c:axId val="8264937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Incentivo financeiro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$&quot;#,##0_);[Red]\(&quot;R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28534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microsoft.com/office/2007/relationships/hdphoto" Target="../media/hdphoto7.wdp"/><Relationship Id="rId18" Type="http://schemas.openxmlformats.org/officeDocument/2006/relationships/image" Target="../media/image22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9.png"/><Relationship Id="rId17" Type="http://schemas.microsoft.com/office/2007/relationships/hdphoto" Target="../media/hdphoto9.wdp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5" Type="http://schemas.microsoft.com/office/2007/relationships/hdphoto" Target="../media/hdphoto8.wdp"/><Relationship Id="rId10" Type="http://schemas.openxmlformats.org/officeDocument/2006/relationships/image" Target="../media/image18.png"/><Relationship Id="rId19" Type="http://schemas.microsoft.com/office/2007/relationships/hdphoto" Target="../media/hdphoto10.wdp"/><Relationship Id="rId4" Type="http://schemas.openxmlformats.org/officeDocument/2006/relationships/image" Target="../media/image15.png"/><Relationship Id="rId9" Type="http://schemas.microsoft.com/office/2007/relationships/hdphoto" Target="../media/hdphoto5.wdp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9D27EBB-ACB5-DE21-B248-D305A7C2A4B7}"/>
              </a:ext>
            </a:extLst>
          </p:cNvPr>
          <p:cNvSpPr txBox="1"/>
          <p:nvPr/>
        </p:nvSpPr>
        <p:spPr>
          <a:xfrm>
            <a:off x="694944" y="1566963"/>
            <a:ext cx="94914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b="1">
                <a:latin typeface="Montserrat" panose="00000500000000000000" pitchFamily="2" charset="0"/>
              </a:rPr>
              <a:t>Bolsa-formação como diferencial compensatório: um modelo de escolha racional para o preenchimento e a permanência de vagas no PMM-E</a:t>
            </a:r>
          </a:p>
        </p:txBody>
      </p:sp>
    </p:spTree>
    <p:extLst>
      <p:ext uri="{BB962C8B-B14F-4D97-AF65-F5344CB8AC3E}">
        <p14:creationId xmlns:p14="http://schemas.microsoft.com/office/powerpoint/2010/main" val="300206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847CB-BF89-93DB-2886-D3E4CB39BB8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6CE2A-EBF8-9FC2-8BD6-7FBC0459757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A09B4-1C3A-1041-C926-13EEED06ADA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14/09/2026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FBE438-712F-D0EB-874C-8DB7BA81202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D8C290-DA8C-D3BF-1AF8-95BC886A7AF2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6C5F6C7-D4E9-2A02-223D-C24C16EAB636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3B8BD-E24B-F13E-DEF3-BC7FBC6CC3D1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BFF2AD-C28C-4049-4321-32D359360E48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91714-B168-1FB0-E402-338E2C887AA5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12" name="CaixaDeTexto 8">
            <a:extLst>
              <a:ext uri="{FF2B5EF4-FFF2-40B4-BE49-F238E27FC236}">
                <a16:creationId xmlns:a16="http://schemas.microsoft.com/office/drawing/2014/main" id="{C66B4066-948C-E4F4-5BDD-152F644632C6}"/>
              </a:ext>
            </a:extLst>
          </p:cNvPr>
          <p:cNvSpPr txBox="1"/>
          <p:nvPr/>
        </p:nvSpPr>
        <p:spPr>
          <a:xfrm>
            <a:off x="4450117" y="1272790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Motivação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0DFB5CFE-5C0D-5A4B-71DE-1AFF1F104201}"/>
              </a:ext>
            </a:extLst>
          </p:cNvPr>
          <p:cNvSpPr txBox="1"/>
          <p:nvPr/>
        </p:nvSpPr>
        <p:spPr>
          <a:xfrm>
            <a:off x="5012265" y="3688982"/>
            <a:ext cx="39243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/>
                <a:cs typeface="Times New Roman"/>
              </a:rPr>
              <a:t>Modelo</a:t>
            </a:r>
          </a:p>
        </p:txBody>
      </p:sp>
      <p:sp>
        <p:nvSpPr>
          <p:cNvPr id="14" name="CaixaDeTexto 12">
            <a:extLst>
              <a:ext uri="{FF2B5EF4-FFF2-40B4-BE49-F238E27FC236}">
                <a16:creationId xmlns:a16="http://schemas.microsoft.com/office/drawing/2014/main" id="{7DCEFCB9-93D4-8D56-00FE-73A23C8D6BD4}"/>
              </a:ext>
            </a:extLst>
          </p:cNvPr>
          <p:cNvSpPr txBox="1"/>
          <p:nvPr/>
        </p:nvSpPr>
        <p:spPr>
          <a:xfrm>
            <a:off x="4753482" y="4586302"/>
            <a:ext cx="223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</a:p>
        </p:txBody>
      </p:sp>
      <p:sp>
        <p:nvSpPr>
          <p:cNvPr id="15" name="CaixaDeTexto 13">
            <a:extLst>
              <a:ext uri="{FF2B5EF4-FFF2-40B4-BE49-F238E27FC236}">
                <a16:creationId xmlns:a16="http://schemas.microsoft.com/office/drawing/2014/main" id="{F1FE8221-DACE-3AEE-DB10-9E296257F615}"/>
              </a:ext>
            </a:extLst>
          </p:cNvPr>
          <p:cNvSpPr txBox="1"/>
          <p:nvPr/>
        </p:nvSpPr>
        <p:spPr>
          <a:xfrm>
            <a:off x="1493269" y="1539704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rgbClr val="EAEAEA"/>
                </a:solidFill>
                <a:latin typeface="Montserrat"/>
              </a:rPr>
              <a:t>Por </a:t>
            </a:r>
            <a:r>
              <a:rPr lang="en-US" sz="1000" err="1">
                <a:solidFill>
                  <a:srgbClr val="EAEAEA"/>
                </a:solidFill>
                <a:latin typeface="Montserrat"/>
              </a:rPr>
              <a:t>que</a:t>
            </a:r>
            <a:r>
              <a:rPr lang="en-US" sz="1000">
                <a:solidFill>
                  <a:srgbClr val="EAEAEA"/>
                </a:solidFill>
                <a:latin typeface="Montserrat"/>
              </a:rPr>
              <a:t> a </a:t>
            </a:r>
            <a:r>
              <a:rPr lang="en-US" sz="1000" err="1">
                <a:solidFill>
                  <a:srgbClr val="EAEAEA"/>
                </a:solidFill>
                <a:latin typeface="Montserrat"/>
              </a:rPr>
              <a:t>pergunta</a:t>
            </a:r>
            <a:r>
              <a:rPr lang="en-US" sz="1000">
                <a:solidFill>
                  <a:srgbClr val="EAEAEA"/>
                </a:solidFill>
                <a:latin typeface="Montserrat"/>
              </a:rPr>
              <a:t> é </a:t>
            </a:r>
            <a:r>
              <a:rPr lang="en-US" sz="1000" err="1">
                <a:solidFill>
                  <a:srgbClr val="EAEAEA"/>
                </a:solidFill>
                <a:latin typeface="Montserrat"/>
              </a:rPr>
              <a:t>importante</a:t>
            </a:r>
          </a:p>
        </p:txBody>
      </p:sp>
      <p:sp>
        <p:nvSpPr>
          <p:cNvPr id="16" name="CaixaDeTexto 14">
            <a:extLst>
              <a:ext uri="{FF2B5EF4-FFF2-40B4-BE49-F238E27FC236}">
                <a16:creationId xmlns:a16="http://schemas.microsoft.com/office/drawing/2014/main" id="{FFFD8B2D-07B6-44CC-8D07-531AA65CD827}"/>
              </a:ext>
            </a:extLst>
          </p:cNvPr>
          <p:cNvSpPr txBox="1"/>
          <p:nvPr/>
        </p:nvSpPr>
        <p:spPr>
          <a:xfrm>
            <a:off x="2107016" y="3921088"/>
            <a:ext cx="2736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Aplicação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microeconômica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e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porposto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4">
            <a:extLst>
              <a:ext uri="{FF2B5EF4-FFF2-40B4-BE49-F238E27FC236}">
                <a16:creationId xmlns:a16="http://schemas.microsoft.com/office/drawing/2014/main" id="{A9746828-D288-7020-DC73-DB641AD6253E}"/>
              </a:ext>
            </a:extLst>
          </p:cNvPr>
          <p:cNvSpPr txBox="1"/>
          <p:nvPr/>
        </p:nvSpPr>
        <p:spPr>
          <a:xfrm>
            <a:off x="1822880" y="4844550"/>
            <a:ext cx="2736922" cy="2462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formuladas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5054A291-2287-D22E-41C9-55B04B4A2F55}"/>
              </a:ext>
            </a:extLst>
          </p:cNvPr>
          <p:cNvSpPr/>
          <p:nvPr/>
        </p:nvSpPr>
        <p:spPr>
          <a:xfrm rot="10800000">
            <a:off x="-3452695" y="114875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38">
            <a:extLst>
              <a:ext uri="{FF2B5EF4-FFF2-40B4-BE49-F238E27FC236}">
                <a16:creationId xmlns:a16="http://schemas.microsoft.com/office/drawing/2014/main" id="{91F52397-35E2-3ECF-143D-D0BB132C6495}"/>
              </a:ext>
            </a:extLst>
          </p:cNvPr>
          <p:cNvGrpSpPr/>
          <p:nvPr/>
        </p:nvGrpSpPr>
        <p:grpSpPr>
          <a:xfrm rot="10800000">
            <a:off x="1493269" y="1392755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20" name="Conector de Seta Reta 39">
              <a:extLst>
                <a:ext uri="{FF2B5EF4-FFF2-40B4-BE49-F238E27FC236}">
                  <a16:creationId xmlns:a16="http://schemas.microsoft.com/office/drawing/2014/main" id="{BE3E255D-A87D-5C5E-D794-B9B6C7D0E862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osango 43">
              <a:extLst>
                <a:ext uri="{FF2B5EF4-FFF2-40B4-BE49-F238E27FC236}">
                  <a16:creationId xmlns:a16="http://schemas.microsoft.com/office/drawing/2014/main" id="{93769A5F-785B-47E2-E387-05AB4A5B29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47">
            <a:extLst>
              <a:ext uri="{FF2B5EF4-FFF2-40B4-BE49-F238E27FC236}">
                <a16:creationId xmlns:a16="http://schemas.microsoft.com/office/drawing/2014/main" id="{5AE7BCAE-0583-C697-C191-728059D939E5}"/>
              </a:ext>
            </a:extLst>
          </p:cNvPr>
          <p:cNvGrpSpPr/>
          <p:nvPr/>
        </p:nvGrpSpPr>
        <p:grpSpPr>
          <a:xfrm rot="10800000">
            <a:off x="1847932" y="4705343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3" name="Conector de Seta Reta 48">
              <a:extLst>
                <a:ext uri="{FF2B5EF4-FFF2-40B4-BE49-F238E27FC236}">
                  <a16:creationId xmlns:a16="http://schemas.microsoft.com/office/drawing/2014/main" id="{6F04FCC9-0B56-4511-5D41-CF98120F5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Losango 49">
              <a:extLst>
                <a:ext uri="{FF2B5EF4-FFF2-40B4-BE49-F238E27FC236}">
                  <a16:creationId xmlns:a16="http://schemas.microsoft.com/office/drawing/2014/main" id="{AF096A1A-A037-F8F7-66AC-27E5C39017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5" name="Agrupar 51">
            <a:extLst>
              <a:ext uri="{FF2B5EF4-FFF2-40B4-BE49-F238E27FC236}">
                <a16:creationId xmlns:a16="http://schemas.microsoft.com/office/drawing/2014/main" id="{EE42A200-E76A-3609-CD63-90C670BAD70C}"/>
              </a:ext>
            </a:extLst>
          </p:cNvPr>
          <p:cNvGrpSpPr/>
          <p:nvPr/>
        </p:nvGrpSpPr>
        <p:grpSpPr>
          <a:xfrm rot="10800000">
            <a:off x="2107017" y="378339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6" name="Conector de Seta Reta 52">
              <a:extLst>
                <a:ext uri="{FF2B5EF4-FFF2-40B4-BE49-F238E27FC236}">
                  <a16:creationId xmlns:a16="http://schemas.microsoft.com/office/drawing/2014/main" id="{D336F2E5-B864-BDC3-1FF2-F392B7B26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osango 53">
              <a:extLst>
                <a:ext uri="{FF2B5EF4-FFF2-40B4-BE49-F238E27FC236}">
                  <a16:creationId xmlns:a16="http://schemas.microsoft.com/office/drawing/2014/main" id="{8D9D7459-C9C5-8159-250F-EFBAFA6B69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71EB06D-EF9B-2934-FE53-7A9933272A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12CCAF0-0DF7-335B-DF8B-E15A76E41F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677286E-5FB3-5595-9606-F456BE8ED0E4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8DC5BD2F-BA19-AE5C-58C3-22DF17CE69CE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52176A-612B-038C-6543-7FCC05F8AEB3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A63C9A-EE3B-8596-BE59-69D5328B82F0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928A8EDE-B23B-2622-4114-D1D45423FE69}"/>
              </a:ext>
            </a:extLst>
          </p:cNvPr>
          <p:cNvSpPr txBox="1"/>
          <p:nvPr/>
        </p:nvSpPr>
        <p:spPr>
          <a:xfrm>
            <a:off x="4896426" y="2044007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Pergunta</a:t>
            </a:r>
          </a:p>
        </p:txBody>
      </p:sp>
      <p:sp>
        <p:nvSpPr>
          <p:cNvPr id="35" name="CaixaDeTexto 13">
            <a:extLst>
              <a:ext uri="{FF2B5EF4-FFF2-40B4-BE49-F238E27FC236}">
                <a16:creationId xmlns:a16="http://schemas.microsoft.com/office/drawing/2014/main" id="{5FF31F79-BEDD-1D4D-6A00-FA18BA596BAC}"/>
              </a:ext>
            </a:extLst>
          </p:cNvPr>
          <p:cNvSpPr txBox="1"/>
          <p:nvPr/>
        </p:nvSpPr>
        <p:spPr>
          <a:xfrm>
            <a:off x="1939578" y="2288343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Pergunta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proposta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36" name="Agrupar 38">
            <a:extLst>
              <a:ext uri="{FF2B5EF4-FFF2-40B4-BE49-F238E27FC236}">
                <a16:creationId xmlns:a16="http://schemas.microsoft.com/office/drawing/2014/main" id="{21C72D03-5B84-59A4-C507-A8B69E68B13C}"/>
              </a:ext>
            </a:extLst>
          </p:cNvPr>
          <p:cNvGrpSpPr/>
          <p:nvPr/>
        </p:nvGrpSpPr>
        <p:grpSpPr>
          <a:xfrm rot="10800000">
            <a:off x="1939578" y="2141394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37" name="Conector de Seta Reta 39">
              <a:extLst>
                <a:ext uri="{FF2B5EF4-FFF2-40B4-BE49-F238E27FC236}">
                  <a16:creationId xmlns:a16="http://schemas.microsoft.com/office/drawing/2014/main" id="{B37DBECF-3B90-4B4B-1334-25E732A7154D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osango 43">
              <a:extLst>
                <a:ext uri="{FF2B5EF4-FFF2-40B4-BE49-F238E27FC236}">
                  <a16:creationId xmlns:a16="http://schemas.microsoft.com/office/drawing/2014/main" id="{82DD2062-2416-A77F-1882-64C22106B6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32A9C57-34DF-FB16-2B9F-114FB93B9E6D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59272C-94D4-F952-C487-0466F138090A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41" name="CaixaDeTexto 8">
            <a:extLst>
              <a:ext uri="{FF2B5EF4-FFF2-40B4-BE49-F238E27FC236}">
                <a16:creationId xmlns:a16="http://schemas.microsoft.com/office/drawing/2014/main" id="{3CD04C7A-A464-2EE1-FB60-C1D2CDB9C055}"/>
              </a:ext>
            </a:extLst>
          </p:cNvPr>
          <p:cNvSpPr txBox="1"/>
          <p:nvPr/>
        </p:nvSpPr>
        <p:spPr>
          <a:xfrm>
            <a:off x="5054805" y="2861891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</a:p>
        </p:txBody>
      </p:sp>
      <p:sp>
        <p:nvSpPr>
          <p:cNvPr id="42" name="CaixaDeTexto 13">
            <a:extLst>
              <a:ext uri="{FF2B5EF4-FFF2-40B4-BE49-F238E27FC236}">
                <a16:creationId xmlns:a16="http://schemas.microsoft.com/office/drawing/2014/main" id="{98E89465-4FA9-A4C3-07FC-17AEA9B4510A}"/>
              </a:ext>
            </a:extLst>
          </p:cNvPr>
          <p:cNvSpPr txBox="1"/>
          <p:nvPr/>
        </p:nvSpPr>
        <p:spPr>
          <a:xfrm>
            <a:off x="2002260" y="3106227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Téorica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fundamentação</a:t>
            </a:r>
            <a:endParaRPr lang="en-US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3" name="Agrupar 38">
            <a:extLst>
              <a:ext uri="{FF2B5EF4-FFF2-40B4-BE49-F238E27FC236}">
                <a16:creationId xmlns:a16="http://schemas.microsoft.com/office/drawing/2014/main" id="{0AFAFF67-D3E5-BE41-D9BD-E2EEF9523EE6}"/>
              </a:ext>
            </a:extLst>
          </p:cNvPr>
          <p:cNvGrpSpPr/>
          <p:nvPr/>
        </p:nvGrpSpPr>
        <p:grpSpPr>
          <a:xfrm rot="10800000">
            <a:off x="2097957" y="2959278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44" name="Conector de Seta Reta 39">
              <a:extLst>
                <a:ext uri="{FF2B5EF4-FFF2-40B4-BE49-F238E27FC236}">
                  <a16:creationId xmlns:a16="http://schemas.microsoft.com/office/drawing/2014/main" id="{CC3EB051-3BAA-E155-E389-65992D203E27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osango 43">
              <a:extLst>
                <a:ext uri="{FF2B5EF4-FFF2-40B4-BE49-F238E27FC236}">
                  <a16:creationId xmlns:a16="http://schemas.microsoft.com/office/drawing/2014/main" id="{3691BC71-74D0-C871-BB86-FE74944F15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7" name="CaixaDeTexto 12">
            <a:extLst>
              <a:ext uri="{FF2B5EF4-FFF2-40B4-BE49-F238E27FC236}">
                <a16:creationId xmlns:a16="http://schemas.microsoft.com/office/drawing/2014/main" id="{77271566-7986-A8C8-33C3-5E2FE3DC06CD}"/>
              </a:ext>
            </a:extLst>
          </p:cNvPr>
          <p:cNvSpPr txBox="1"/>
          <p:nvPr/>
        </p:nvSpPr>
        <p:spPr>
          <a:xfrm>
            <a:off x="4108439" y="5355391"/>
            <a:ext cx="428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 Empírica</a:t>
            </a:r>
          </a:p>
        </p:txBody>
      </p:sp>
      <p:sp>
        <p:nvSpPr>
          <p:cNvPr id="48" name="CaixaDeTexto 14">
            <a:extLst>
              <a:ext uri="{FF2B5EF4-FFF2-40B4-BE49-F238E27FC236}">
                <a16:creationId xmlns:a16="http://schemas.microsoft.com/office/drawing/2014/main" id="{60C0D11C-045E-7C52-2585-51963A34CF06}"/>
              </a:ext>
            </a:extLst>
          </p:cNvPr>
          <p:cNvSpPr txBox="1"/>
          <p:nvPr/>
        </p:nvSpPr>
        <p:spPr>
          <a:xfrm>
            <a:off x="1177838" y="5613639"/>
            <a:ext cx="273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dos dados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realização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 teste empírico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9" name="Agrupar 47">
            <a:extLst>
              <a:ext uri="{FF2B5EF4-FFF2-40B4-BE49-F238E27FC236}">
                <a16:creationId xmlns:a16="http://schemas.microsoft.com/office/drawing/2014/main" id="{1BAAA7D1-76F6-01B3-AF20-5B0F3C77FE0D}"/>
              </a:ext>
            </a:extLst>
          </p:cNvPr>
          <p:cNvGrpSpPr/>
          <p:nvPr/>
        </p:nvGrpSpPr>
        <p:grpSpPr>
          <a:xfrm rot="10800000">
            <a:off x="1202890" y="547443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50" name="Conector de Seta Reta 48">
              <a:extLst>
                <a:ext uri="{FF2B5EF4-FFF2-40B4-BE49-F238E27FC236}">
                  <a16:creationId xmlns:a16="http://schemas.microsoft.com/office/drawing/2014/main" id="{8982D8CC-56AF-D748-FA8C-7AC246857A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Losango 49">
              <a:extLst>
                <a:ext uri="{FF2B5EF4-FFF2-40B4-BE49-F238E27FC236}">
                  <a16:creationId xmlns:a16="http://schemas.microsoft.com/office/drawing/2014/main" id="{8B1C89C4-3154-638F-8C44-1BA3C13514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0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59F54C-2DCF-8105-C178-F76D6C10DC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4D91091-551A-3521-80D9-88AA240C7C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400" y="718808"/>
            <a:ext cx="5736363" cy="301466"/>
          </a:xfrm>
        </p:spPr>
        <p:txBody>
          <a:bodyPr/>
          <a:lstStyle/>
          <a:p>
            <a:r>
              <a:rPr lang="pt-BR"/>
              <a:t>I. Escassez de especialistas é concentrada territorialmente</a:t>
            </a:r>
          </a:p>
          <a:p>
            <a:endParaRPr lang="pt-BR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F20F580-F193-F790-FA49-A7BA188D3E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6401" y="1004102"/>
            <a:ext cx="5593565" cy="197609"/>
          </a:xfrm>
        </p:spPr>
        <p:txBody>
          <a:bodyPr>
            <a:noAutofit/>
          </a:bodyPr>
          <a:lstStyle/>
          <a:p>
            <a:r>
              <a:rPr lang="pt-BR" sz="1000"/>
              <a:t>Médicos especialistas por 100 mil habitantes, por UF — 2024</a:t>
            </a:r>
          </a:p>
        </p:txBody>
      </p:sp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6DE7F02F-00D3-C89F-66F5-C164ADAD09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6679617"/>
              </p:ext>
            </p:extLst>
          </p:nvPr>
        </p:nvGraphicFramePr>
        <p:xfrm>
          <a:off x="94144" y="1279064"/>
          <a:ext cx="5472000" cy="2149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4AB9AB-586C-C31A-9B88-135210E5EABB}"/>
              </a:ext>
            </a:extLst>
          </p:cNvPr>
          <p:cNvSpPr txBox="1">
            <a:spLocks/>
          </p:cNvSpPr>
          <p:nvPr/>
        </p:nvSpPr>
        <p:spPr>
          <a:xfrm>
            <a:off x="5975147" y="718808"/>
            <a:ext cx="6094363" cy="303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O acesso a serviços especializados exige longas distâncias</a:t>
            </a:r>
          </a:p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CA22AA-3A37-0DB2-B9CE-A340D0644D2D}"/>
              </a:ext>
            </a:extLst>
          </p:cNvPr>
          <p:cNvSpPr txBox="1">
            <a:spLocks/>
          </p:cNvSpPr>
          <p:nvPr/>
        </p:nvSpPr>
        <p:spPr>
          <a:xfrm>
            <a:off x="5975148" y="1004102"/>
            <a:ext cx="6120451" cy="13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900"/>
              <a:t>Deslocamento médio da população para serviços de alta complexidade (km)</a:t>
            </a:r>
          </a:p>
          <a:p>
            <a:endParaRPr lang="pt-BR" sz="90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E1C1D41-567A-FB20-1E44-07EF3FC14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784318"/>
              </p:ext>
            </p:extLst>
          </p:nvPr>
        </p:nvGraphicFramePr>
        <p:xfrm>
          <a:off x="6214109" y="1291018"/>
          <a:ext cx="5472000" cy="2149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Imagem 15">
            <a:extLst>
              <a:ext uri="{FF2B5EF4-FFF2-40B4-BE49-F238E27FC236}">
                <a16:creationId xmlns:a16="http://schemas.microsoft.com/office/drawing/2014/main" id="{BC6F6E1E-9C7F-105C-D78F-39AE4F6FB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36" y="3518587"/>
            <a:ext cx="4354290" cy="174721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6A88CE3-6E82-6A6A-25FB-28F49054C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83" y="3518587"/>
            <a:ext cx="4506979" cy="178204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84B9164-4452-4239-1241-4FB4E6103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8947" y="5425051"/>
            <a:ext cx="7772400" cy="10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59F54C-2DCF-8105-C178-F76D6C10DC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B911B8E-BCF1-6ED0-1ED2-55F15FCECDF5}"/>
              </a:ext>
            </a:extLst>
          </p:cNvPr>
          <p:cNvSpPr txBox="1">
            <a:spLocks/>
          </p:cNvSpPr>
          <p:nvPr/>
        </p:nvSpPr>
        <p:spPr>
          <a:xfrm>
            <a:off x="6009521" y="3711368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O PMM-E elevou a oferta em locais mais vulneráveis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A69001-5917-8653-021A-0994A1DE456C}"/>
              </a:ext>
            </a:extLst>
          </p:cNvPr>
          <p:cNvSpPr txBox="1">
            <a:spLocks/>
          </p:cNvSpPr>
          <p:nvPr/>
        </p:nvSpPr>
        <p:spPr>
          <a:xfrm>
            <a:off x="6009521" y="3996662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638BB731-11F4-B357-CD9B-299B8BF578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352747"/>
              </p:ext>
            </p:extLst>
          </p:nvPr>
        </p:nvGraphicFramePr>
        <p:xfrm>
          <a:off x="6214110" y="4268310"/>
          <a:ext cx="5472000" cy="241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BDC6472-539E-9989-5BC5-55530DC333B1}"/>
              </a:ext>
            </a:extLst>
          </p:cNvPr>
          <p:cNvSpPr txBox="1">
            <a:spLocks/>
          </p:cNvSpPr>
          <p:nvPr/>
        </p:nvSpPr>
        <p:spPr>
          <a:xfrm>
            <a:off x="96400" y="3711368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Há bolsas maiores para municípios mais vulneráveis</a:t>
            </a:r>
          </a:p>
          <a:p>
            <a:endParaRPr lang="pt-BR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3860BF9-51DA-B245-09C6-2E7604E997E7}"/>
              </a:ext>
            </a:extLst>
          </p:cNvPr>
          <p:cNvSpPr txBox="1">
            <a:spLocks/>
          </p:cNvSpPr>
          <p:nvPr/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Valor mensal da bolsa-formação por faixa de atração/vulnerabilidade</a:t>
            </a:r>
          </a:p>
        </p:txBody>
      </p:sp>
      <p:graphicFrame>
        <p:nvGraphicFramePr>
          <p:cNvPr id="9" name="Chart 17">
            <a:extLst>
              <a:ext uri="{FF2B5EF4-FFF2-40B4-BE49-F238E27FC236}">
                <a16:creationId xmlns:a16="http://schemas.microsoft.com/office/drawing/2014/main" id="{1F3B3501-7802-08FF-8820-A7C35F032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927418"/>
              </p:ext>
            </p:extLst>
          </p:nvPr>
        </p:nvGraphicFramePr>
        <p:xfrm>
          <a:off x="100989" y="4230054"/>
          <a:ext cx="5472000" cy="241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F02647F2-89CA-5290-122F-91E41E36D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0" y="1032918"/>
            <a:ext cx="5864541" cy="22497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CCFB3AE-4059-B50A-4CDE-6E69BACB5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956" y="948915"/>
            <a:ext cx="5616154" cy="240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5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Presença de especialistas cresceu em todos os níveis sociais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A30358-BB27-4E8D-0F68-70016BFA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3" b="5392"/>
          <a:stretch/>
        </p:blipFill>
        <p:spPr>
          <a:xfrm>
            <a:off x="-117565" y="3013414"/>
            <a:ext cx="3985754" cy="325119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DAF4802-C5E5-54A9-BE62-F9F025B70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326" y="1275774"/>
            <a:ext cx="7772400" cy="304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5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4F51E-0401-AD70-A16D-C71FF37F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39CCD-7E8B-6F5C-E67D-E74117B01C0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CE5EC-33EC-F99D-1E28-74B10D8D665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17154-E072-E1CF-1D28-8271729BEBB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14/09/2026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88A684-6076-189A-D73D-47362FDE16B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B58734-5393-226C-BD97-78DD849B31EB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04D4F4A-EA63-B23F-B821-1FEC53B252AF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85C3C2-F597-37CB-F812-559213B36D66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F359DE-8231-4415-B0A2-B40753808884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2D208-8911-EBA9-FC61-85B9D9273357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12" name="CaixaDeTexto 8">
            <a:extLst>
              <a:ext uri="{FF2B5EF4-FFF2-40B4-BE49-F238E27FC236}">
                <a16:creationId xmlns:a16="http://schemas.microsoft.com/office/drawing/2014/main" id="{1AF03201-91DE-0773-6A6B-A9020B46FB4D}"/>
              </a:ext>
            </a:extLst>
          </p:cNvPr>
          <p:cNvSpPr txBox="1"/>
          <p:nvPr/>
        </p:nvSpPr>
        <p:spPr>
          <a:xfrm>
            <a:off x="4450117" y="1272790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Motivação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36B380D0-B550-8706-8797-433C4BD91021}"/>
              </a:ext>
            </a:extLst>
          </p:cNvPr>
          <p:cNvSpPr txBox="1"/>
          <p:nvPr/>
        </p:nvSpPr>
        <p:spPr>
          <a:xfrm>
            <a:off x="5012265" y="3688982"/>
            <a:ext cx="3924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 Teórico</a:t>
            </a:r>
          </a:p>
        </p:txBody>
      </p:sp>
      <p:sp>
        <p:nvSpPr>
          <p:cNvPr id="14" name="CaixaDeTexto 12">
            <a:extLst>
              <a:ext uri="{FF2B5EF4-FFF2-40B4-BE49-F238E27FC236}">
                <a16:creationId xmlns:a16="http://schemas.microsoft.com/office/drawing/2014/main" id="{CC135AB5-D9F3-5BD9-9B73-120D888ACFF0}"/>
              </a:ext>
            </a:extLst>
          </p:cNvPr>
          <p:cNvSpPr txBox="1"/>
          <p:nvPr/>
        </p:nvSpPr>
        <p:spPr>
          <a:xfrm>
            <a:off x="4753482" y="4586302"/>
            <a:ext cx="223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</a:p>
        </p:txBody>
      </p:sp>
      <p:sp>
        <p:nvSpPr>
          <p:cNvPr id="15" name="CaixaDeTexto 13">
            <a:extLst>
              <a:ext uri="{FF2B5EF4-FFF2-40B4-BE49-F238E27FC236}">
                <a16:creationId xmlns:a16="http://schemas.microsoft.com/office/drawing/2014/main" id="{FB42FE6D-DC69-73D2-2E52-0B5DDEB32A5A}"/>
              </a:ext>
            </a:extLst>
          </p:cNvPr>
          <p:cNvSpPr txBox="1"/>
          <p:nvPr/>
        </p:nvSpPr>
        <p:spPr>
          <a:xfrm>
            <a:off x="1493269" y="1539704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Por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que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a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pergunta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é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importante</a:t>
            </a:r>
            <a:endParaRPr lang="en-US" sz="1000">
              <a:solidFill>
                <a:schemeClr val="tx1">
                  <a:lumMod val="49000"/>
                  <a:lumOff val="51000"/>
                </a:schemeClr>
              </a:solidFill>
              <a:latin typeface="Montserrat"/>
            </a:endParaRPr>
          </a:p>
        </p:txBody>
      </p:sp>
      <p:sp>
        <p:nvSpPr>
          <p:cNvPr id="16" name="CaixaDeTexto 14">
            <a:extLst>
              <a:ext uri="{FF2B5EF4-FFF2-40B4-BE49-F238E27FC236}">
                <a16:creationId xmlns:a16="http://schemas.microsoft.com/office/drawing/2014/main" id="{D5820396-6DD1-99FA-DEBB-920C58C24202}"/>
              </a:ext>
            </a:extLst>
          </p:cNvPr>
          <p:cNvSpPr txBox="1"/>
          <p:nvPr/>
        </p:nvSpPr>
        <p:spPr>
          <a:xfrm>
            <a:off x="2107016" y="3921088"/>
            <a:ext cx="2736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Aplicação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microeconômica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e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porposto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4">
            <a:extLst>
              <a:ext uri="{FF2B5EF4-FFF2-40B4-BE49-F238E27FC236}">
                <a16:creationId xmlns:a16="http://schemas.microsoft.com/office/drawing/2014/main" id="{1837BC10-8CD9-4817-7212-AD70B2E4BC27}"/>
              </a:ext>
            </a:extLst>
          </p:cNvPr>
          <p:cNvSpPr txBox="1"/>
          <p:nvPr/>
        </p:nvSpPr>
        <p:spPr>
          <a:xfrm>
            <a:off x="1822880" y="4844550"/>
            <a:ext cx="2736922" cy="2462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formuladas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50AE18C-4B59-E524-1216-5DBC4F2D79D9}"/>
              </a:ext>
            </a:extLst>
          </p:cNvPr>
          <p:cNvSpPr/>
          <p:nvPr/>
        </p:nvSpPr>
        <p:spPr>
          <a:xfrm rot="10800000">
            <a:off x="-3452695" y="114875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38">
            <a:extLst>
              <a:ext uri="{FF2B5EF4-FFF2-40B4-BE49-F238E27FC236}">
                <a16:creationId xmlns:a16="http://schemas.microsoft.com/office/drawing/2014/main" id="{77C64105-CAB4-EC34-982B-403A54AABEA3}"/>
              </a:ext>
            </a:extLst>
          </p:cNvPr>
          <p:cNvGrpSpPr/>
          <p:nvPr/>
        </p:nvGrpSpPr>
        <p:grpSpPr>
          <a:xfrm rot="10800000">
            <a:off x="1493269" y="1392755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20" name="Conector de Seta Reta 39">
              <a:extLst>
                <a:ext uri="{FF2B5EF4-FFF2-40B4-BE49-F238E27FC236}">
                  <a16:creationId xmlns:a16="http://schemas.microsoft.com/office/drawing/2014/main" id="{EB8ABB09-D5CA-8B32-1C2A-8BD19D1767B2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osango 43">
              <a:extLst>
                <a:ext uri="{FF2B5EF4-FFF2-40B4-BE49-F238E27FC236}">
                  <a16:creationId xmlns:a16="http://schemas.microsoft.com/office/drawing/2014/main" id="{7455DA8C-407E-0C40-6174-CDD16C8F3A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2" name="Agrupar 47">
            <a:extLst>
              <a:ext uri="{FF2B5EF4-FFF2-40B4-BE49-F238E27FC236}">
                <a16:creationId xmlns:a16="http://schemas.microsoft.com/office/drawing/2014/main" id="{0BDB20C1-CED5-944D-4782-50D5BB67E980}"/>
              </a:ext>
            </a:extLst>
          </p:cNvPr>
          <p:cNvGrpSpPr/>
          <p:nvPr/>
        </p:nvGrpSpPr>
        <p:grpSpPr>
          <a:xfrm rot="10800000">
            <a:off x="1847932" y="4705343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3" name="Conector de Seta Reta 48">
              <a:extLst>
                <a:ext uri="{FF2B5EF4-FFF2-40B4-BE49-F238E27FC236}">
                  <a16:creationId xmlns:a16="http://schemas.microsoft.com/office/drawing/2014/main" id="{1004BEE8-3CAA-8F89-6B1A-72E62DE7F4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Losango 49">
              <a:extLst>
                <a:ext uri="{FF2B5EF4-FFF2-40B4-BE49-F238E27FC236}">
                  <a16:creationId xmlns:a16="http://schemas.microsoft.com/office/drawing/2014/main" id="{535BF1A1-D555-D86C-8E8D-886C61E8C2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5" name="Agrupar 51">
            <a:extLst>
              <a:ext uri="{FF2B5EF4-FFF2-40B4-BE49-F238E27FC236}">
                <a16:creationId xmlns:a16="http://schemas.microsoft.com/office/drawing/2014/main" id="{505E0793-9147-9A14-2C14-381FEEAB1D31}"/>
              </a:ext>
            </a:extLst>
          </p:cNvPr>
          <p:cNvGrpSpPr/>
          <p:nvPr/>
        </p:nvGrpSpPr>
        <p:grpSpPr>
          <a:xfrm rot="10800000">
            <a:off x="2107017" y="378339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6" name="Conector de Seta Reta 52">
              <a:extLst>
                <a:ext uri="{FF2B5EF4-FFF2-40B4-BE49-F238E27FC236}">
                  <a16:creationId xmlns:a16="http://schemas.microsoft.com/office/drawing/2014/main" id="{36807832-D9F3-2CDC-B154-6D6E697C3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osango 53">
              <a:extLst>
                <a:ext uri="{FF2B5EF4-FFF2-40B4-BE49-F238E27FC236}">
                  <a16:creationId xmlns:a16="http://schemas.microsoft.com/office/drawing/2014/main" id="{8D80E8D4-11E9-6DAE-8080-E03BDE6E93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3ABCEF1-BCBD-EB48-A928-3AFA1A0F18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9670A8-3F01-0FE8-ABD2-5EFFE712CC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BBFBA99-D19C-61E5-D035-5290D354127B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9125C4A8-4709-FA31-381B-4B5E172F8A8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B32F0D-988B-C180-0BEC-D28EFAA41681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16E26D-4791-5D07-3EEE-66C93396B727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BD443081-7C77-AFE8-2925-816E9438254D}"/>
              </a:ext>
            </a:extLst>
          </p:cNvPr>
          <p:cNvSpPr txBox="1"/>
          <p:nvPr/>
        </p:nvSpPr>
        <p:spPr>
          <a:xfrm>
            <a:off x="4896426" y="2044007"/>
            <a:ext cx="2825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i="1">
                <a:solidFill>
                  <a:schemeClr val="bg1"/>
                </a:solidFill>
                <a:latin typeface="Montserrat"/>
                <a:cs typeface="Times New Roman"/>
              </a:rPr>
              <a:t>Pergunta</a:t>
            </a:r>
          </a:p>
        </p:txBody>
      </p:sp>
      <p:sp>
        <p:nvSpPr>
          <p:cNvPr id="35" name="CaixaDeTexto 13">
            <a:extLst>
              <a:ext uri="{FF2B5EF4-FFF2-40B4-BE49-F238E27FC236}">
                <a16:creationId xmlns:a16="http://schemas.microsoft.com/office/drawing/2014/main" id="{4A46FACC-6AFB-73D0-35AD-036B0FEC8480}"/>
              </a:ext>
            </a:extLst>
          </p:cNvPr>
          <p:cNvSpPr txBox="1"/>
          <p:nvPr/>
        </p:nvSpPr>
        <p:spPr>
          <a:xfrm>
            <a:off x="1939578" y="2288343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Montserrat"/>
                <a:cs typeface="Times New Roman"/>
              </a:rPr>
              <a:t>Pergunta</a:t>
            </a:r>
            <a:r>
              <a:rPr lang="en-US" sz="1000">
                <a:solidFill>
                  <a:schemeClr val="bg1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chemeClr val="bg1"/>
                </a:solidFill>
                <a:latin typeface="Montserrat"/>
                <a:cs typeface="Times New Roman"/>
              </a:rPr>
              <a:t>proposta</a:t>
            </a:r>
            <a:endParaRPr lang="pt-BR" sz="1000">
              <a:solidFill>
                <a:schemeClr val="bg1"/>
              </a:solidFill>
              <a:latin typeface="Montserrat"/>
              <a:cs typeface="Times New Roman"/>
            </a:endParaRPr>
          </a:p>
        </p:txBody>
      </p:sp>
      <p:grpSp>
        <p:nvGrpSpPr>
          <p:cNvPr id="36" name="Agrupar 38">
            <a:extLst>
              <a:ext uri="{FF2B5EF4-FFF2-40B4-BE49-F238E27FC236}">
                <a16:creationId xmlns:a16="http://schemas.microsoft.com/office/drawing/2014/main" id="{FD16A98E-1B80-1106-A92D-C16756DA634F}"/>
              </a:ext>
            </a:extLst>
          </p:cNvPr>
          <p:cNvGrpSpPr/>
          <p:nvPr/>
        </p:nvGrpSpPr>
        <p:grpSpPr>
          <a:xfrm rot="10800000">
            <a:off x="1939578" y="2141394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37" name="Conector de Seta Reta 39">
              <a:extLst>
                <a:ext uri="{FF2B5EF4-FFF2-40B4-BE49-F238E27FC236}">
                  <a16:creationId xmlns:a16="http://schemas.microsoft.com/office/drawing/2014/main" id="{890999DF-D41E-C9C8-2ECD-E5D9F7A22EED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osango 43">
              <a:extLst>
                <a:ext uri="{FF2B5EF4-FFF2-40B4-BE49-F238E27FC236}">
                  <a16:creationId xmlns:a16="http://schemas.microsoft.com/office/drawing/2014/main" id="{BA27EC7E-1ABB-FF15-738A-1440B7CF0E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AA7B6032-3FC2-4E03-DF48-4FB97FE64F3A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C7E49B-79C1-A484-7F62-AB509A2DC892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41" name="CaixaDeTexto 8">
            <a:extLst>
              <a:ext uri="{FF2B5EF4-FFF2-40B4-BE49-F238E27FC236}">
                <a16:creationId xmlns:a16="http://schemas.microsoft.com/office/drawing/2014/main" id="{0E77DD7A-A9EE-301B-DD67-DBC938872EFA}"/>
              </a:ext>
            </a:extLst>
          </p:cNvPr>
          <p:cNvSpPr txBox="1"/>
          <p:nvPr/>
        </p:nvSpPr>
        <p:spPr>
          <a:xfrm>
            <a:off x="5054805" y="2861891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</a:p>
        </p:txBody>
      </p:sp>
      <p:sp>
        <p:nvSpPr>
          <p:cNvPr id="42" name="CaixaDeTexto 13">
            <a:extLst>
              <a:ext uri="{FF2B5EF4-FFF2-40B4-BE49-F238E27FC236}">
                <a16:creationId xmlns:a16="http://schemas.microsoft.com/office/drawing/2014/main" id="{AA9A69D6-6053-3A5C-8E43-936E3C1F18FF}"/>
              </a:ext>
            </a:extLst>
          </p:cNvPr>
          <p:cNvSpPr txBox="1"/>
          <p:nvPr/>
        </p:nvSpPr>
        <p:spPr>
          <a:xfrm>
            <a:off x="2002260" y="3106227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Téorica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fundamentação</a:t>
            </a:r>
            <a:endParaRPr lang="en-US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3" name="Agrupar 38">
            <a:extLst>
              <a:ext uri="{FF2B5EF4-FFF2-40B4-BE49-F238E27FC236}">
                <a16:creationId xmlns:a16="http://schemas.microsoft.com/office/drawing/2014/main" id="{E1D63BD0-FA1E-3749-C1A0-09F3108C6484}"/>
              </a:ext>
            </a:extLst>
          </p:cNvPr>
          <p:cNvGrpSpPr/>
          <p:nvPr/>
        </p:nvGrpSpPr>
        <p:grpSpPr>
          <a:xfrm rot="10800000">
            <a:off x="2097957" y="2959278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44" name="Conector de Seta Reta 39">
              <a:extLst>
                <a:ext uri="{FF2B5EF4-FFF2-40B4-BE49-F238E27FC236}">
                  <a16:creationId xmlns:a16="http://schemas.microsoft.com/office/drawing/2014/main" id="{6FB5C1AE-1A4F-D465-BB76-9A7166FC31D1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osango 43">
              <a:extLst>
                <a:ext uri="{FF2B5EF4-FFF2-40B4-BE49-F238E27FC236}">
                  <a16:creationId xmlns:a16="http://schemas.microsoft.com/office/drawing/2014/main" id="{968A78CD-6B31-9188-1C95-D8B44EA54D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7" name="CaixaDeTexto 12">
            <a:extLst>
              <a:ext uri="{FF2B5EF4-FFF2-40B4-BE49-F238E27FC236}">
                <a16:creationId xmlns:a16="http://schemas.microsoft.com/office/drawing/2014/main" id="{C96C0BB4-6A4B-CFD9-700B-31A6A6AF0335}"/>
              </a:ext>
            </a:extLst>
          </p:cNvPr>
          <p:cNvSpPr txBox="1"/>
          <p:nvPr/>
        </p:nvSpPr>
        <p:spPr>
          <a:xfrm>
            <a:off x="4108439" y="5355391"/>
            <a:ext cx="428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 Empírica</a:t>
            </a:r>
          </a:p>
        </p:txBody>
      </p:sp>
      <p:sp>
        <p:nvSpPr>
          <p:cNvPr id="48" name="CaixaDeTexto 14">
            <a:extLst>
              <a:ext uri="{FF2B5EF4-FFF2-40B4-BE49-F238E27FC236}">
                <a16:creationId xmlns:a16="http://schemas.microsoft.com/office/drawing/2014/main" id="{8CCC8438-F228-074B-E0AB-D055B327E4AF}"/>
              </a:ext>
            </a:extLst>
          </p:cNvPr>
          <p:cNvSpPr txBox="1"/>
          <p:nvPr/>
        </p:nvSpPr>
        <p:spPr>
          <a:xfrm>
            <a:off x="1177838" y="5613639"/>
            <a:ext cx="273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dos dados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realização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 teste empírico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9" name="Agrupar 47">
            <a:extLst>
              <a:ext uri="{FF2B5EF4-FFF2-40B4-BE49-F238E27FC236}">
                <a16:creationId xmlns:a16="http://schemas.microsoft.com/office/drawing/2014/main" id="{1CA3DE71-A296-72EC-9134-FD28547AC005}"/>
              </a:ext>
            </a:extLst>
          </p:cNvPr>
          <p:cNvGrpSpPr/>
          <p:nvPr/>
        </p:nvGrpSpPr>
        <p:grpSpPr>
          <a:xfrm rot="10800000">
            <a:off x="1202890" y="547443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50" name="Conector de Seta Reta 48">
              <a:extLst>
                <a:ext uri="{FF2B5EF4-FFF2-40B4-BE49-F238E27FC236}">
                  <a16:creationId xmlns:a16="http://schemas.microsoft.com/office/drawing/2014/main" id="{844F4944-D54B-0054-B8B5-A392D7552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Losango 49">
              <a:extLst>
                <a:ext uri="{FF2B5EF4-FFF2-40B4-BE49-F238E27FC236}">
                  <a16:creationId xmlns:a16="http://schemas.microsoft.com/office/drawing/2014/main" id="{01112019-100A-1A49-2BCE-572E0227B9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678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7D92-50FF-D308-0466-0C2574CA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F250EB01-DE85-1B18-B1B4-7134A04E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483"/>
            <a:ext cx="5514690" cy="226833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0B0350-FDA9-5869-646B-2536EA60B8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50469" y="6660392"/>
            <a:ext cx="12119980" cy="197608"/>
          </a:xfrm>
        </p:spPr>
        <p:txBody>
          <a:bodyPr>
            <a:normAutofit lnSpcReduction="10000"/>
          </a:bodyPr>
          <a:lstStyle/>
          <a:p>
            <a:r>
              <a:rPr lang="pt-BR" b="1"/>
              <a:t>Fontes:</a:t>
            </a:r>
            <a:r>
              <a:rPr lang="pt-BR"/>
              <a:t> Scheffer, M. (coord.). </a:t>
            </a:r>
            <a:r>
              <a:rPr lang="pt-BR" i="1"/>
              <a:t>Demografia Médica no Brasil 2025</a:t>
            </a:r>
            <a:r>
              <a:rPr lang="pt-BR"/>
              <a:t>; IBGE. </a:t>
            </a:r>
            <a:r>
              <a:rPr lang="pt-BR" i="1"/>
              <a:t>Regiões de Influência das Cidades — REGIC 2018</a:t>
            </a:r>
            <a:r>
              <a:rPr lang="pt-BR"/>
              <a:t> ; Ministério da Saúde, </a:t>
            </a:r>
            <a:r>
              <a:rPr lang="pt-BR" i="1"/>
              <a:t>PMM-E</a:t>
            </a:r>
            <a:r>
              <a:rPr lang="pt-BR"/>
              <a:t>, Edital e painéis/resultados administrativos do programa.</a:t>
            </a:r>
          </a:p>
          <a:p>
            <a:endParaRPr lang="pt-BR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C2AF3A45-89C0-9DC1-D7A3-2AC541F4341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pt-BR"/>
              <a:t>II. Pergunta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493B8-7FAB-3C7E-259E-40C059B9C7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400" y="820408"/>
            <a:ext cx="5736363" cy="301466"/>
          </a:xfrm>
        </p:spPr>
        <p:txBody>
          <a:bodyPr/>
          <a:lstStyle/>
          <a:p>
            <a:r>
              <a:rPr lang="pt-BR"/>
              <a:t>Escassez de especialistas é concentrada territorialmente</a:t>
            </a:r>
          </a:p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2F913-882A-F780-96D8-636D6D37C0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Médicos especialistas por 100 mil habitantes, por UF — 2024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984A8C-5AB1-5FD9-D769-FE9DABDE36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0" y="3711368"/>
            <a:ext cx="6405635" cy="285294"/>
          </a:xfrm>
        </p:spPr>
        <p:txBody>
          <a:bodyPr/>
          <a:lstStyle/>
          <a:p>
            <a:r>
              <a:rPr lang="pt-BR"/>
              <a:t>Há bolsas maiores para municípios mais vulneráveis</a:t>
            </a:r>
          </a:p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F7C3A1-82C0-CE19-2577-AFF07EB2DC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Valor mensal da bolsa-formação por faixa de atração/vulnerabilidade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80867B-BD64-09F6-346F-E1D43FEA6F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09521" y="3711368"/>
            <a:ext cx="5848182" cy="285294"/>
          </a:xfrm>
        </p:spPr>
        <p:txBody>
          <a:bodyPr/>
          <a:lstStyle/>
          <a:p>
            <a:r>
              <a:rPr lang="pt-BR"/>
              <a:t>O PMM-E foi direcionado aos territórios menos assistidos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D2394EC-B4B9-F3AF-4030-A12B4B6417F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09521" y="3996662"/>
            <a:ext cx="6305382" cy="212272"/>
          </a:xfrm>
        </p:spPr>
        <p:txBody>
          <a:bodyPr>
            <a:normAutofit fontScale="92500" lnSpcReduction="20000"/>
          </a:bodyPr>
          <a:lstStyle/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866680-110B-EEA6-4BB0-70745E38DA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75147" y="820408"/>
            <a:ext cx="6094363" cy="303226"/>
          </a:xfrm>
        </p:spPr>
        <p:txBody>
          <a:bodyPr/>
          <a:lstStyle/>
          <a:p>
            <a:r>
              <a:rPr lang="pt-BR"/>
              <a:t>O acesso a serviços especializados exige longas distâncias</a:t>
            </a:r>
          </a:p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7E62C-0554-B3CE-DB33-8E0CCE9D30B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75148" y="1105702"/>
            <a:ext cx="6120451" cy="139545"/>
          </a:xfrm>
        </p:spPr>
        <p:txBody>
          <a:bodyPr>
            <a:normAutofit fontScale="32500" lnSpcReduction="20000"/>
          </a:bodyPr>
          <a:lstStyle/>
          <a:p>
            <a:r>
              <a:rPr lang="pt-BR"/>
              <a:t>Deslocamento médio da população para serviços de alta complexidade (km)</a:t>
            </a:r>
          </a:p>
          <a:p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E21D74DC-65D5-B45B-FE0B-63893A428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10" y="1405864"/>
            <a:ext cx="5115639" cy="220295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110F3EE-04E1-EB69-EF13-46E353899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96" y="4387965"/>
            <a:ext cx="5467820" cy="207873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C323189-1997-DF3E-9A6E-45E3ED2DB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462" y="4334877"/>
            <a:ext cx="5648897" cy="2288060"/>
          </a:xfrm>
          <a:prstGeom prst="rect">
            <a:avLst/>
          </a:prstGeom>
        </p:spPr>
      </p:pic>
      <p:sp>
        <p:nvSpPr>
          <p:cNvPr id="15" name="Title 2">
            <a:extLst>
              <a:ext uri="{FF2B5EF4-FFF2-40B4-BE49-F238E27FC236}">
                <a16:creationId xmlns:a16="http://schemas.microsoft.com/office/drawing/2014/main" id="{A4AED3FD-28F9-199E-2779-656A0B0BF4D8}"/>
              </a:ext>
            </a:extLst>
          </p:cNvPr>
          <p:cNvSpPr txBox="1">
            <a:spLocks/>
          </p:cNvSpPr>
          <p:nvPr/>
        </p:nvSpPr>
        <p:spPr>
          <a:xfrm>
            <a:off x="248801" y="1906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779F17-3D33-0858-8B29-D11399915AF9}"/>
              </a:ext>
            </a:extLst>
          </p:cNvPr>
          <p:cNvSpPr/>
          <p:nvPr/>
        </p:nvSpPr>
        <p:spPr>
          <a:xfrm>
            <a:off x="-642198" y="643683"/>
            <a:ext cx="13303437" cy="6241379"/>
          </a:xfrm>
          <a:prstGeom prst="rect">
            <a:avLst/>
          </a:prstGeom>
          <a:solidFill>
            <a:srgbClr val="BFBFBF">
              <a:alpha val="7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37E030D-F236-8CA1-A671-64E5AF3D9CED}"/>
              </a:ext>
            </a:extLst>
          </p:cNvPr>
          <p:cNvSpPr/>
          <p:nvPr/>
        </p:nvSpPr>
        <p:spPr>
          <a:xfrm rot="16200000">
            <a:off x="5101443" y="-2838750"/>
            <a:ext cx="1884192" cy="12997682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3">
            <a:extLst>
              <a:ext uri="{FF2B5EF4-FFF2-40B4-BE49-F238E27FC236}">
                <a16:creationId xmlns:a16="http://schemas.microsoft.com/office/drawing/2014/main" id="{18F44A67-F10E-188D-1D94-E26C0828BF50}"/>
              </a:ext>
            </a:extLst>
          </p:cNvPr>
          <p:cNvSpPr txBox="1"/>
          <p:nvPr/>
        </p:nvSpPr>
        <p:spPr>
          <a:xfrm>
            <a:off x="235112" y="2827503"/>
            <a:ext cx="1183096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pt-BR" sz="3200" b="1" i="1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Um aumento na remuneração do PMM-E consegue atrair especialistas para municípios mais vulneráveis?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4928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79B5-B1BB-C362-68BC-87FC17DE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695F5-6E3E-FC2D-65F6-94BA2927BED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4382A-22F3-BEC3-DEB3-60BA474D7D7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66E9D-147E-B1D9-35F3-9AD3F95D09D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14/09/2026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2011C57-6A89-74BE-0E25-1BAD6EFBA2A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D5864-10B2-A8F1-D678-778B5681DF77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3451404-D81B-3441-C85E-967A0FA1DDF0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38AA4-765F-019E-9FFA-32DADCA784E6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1DF1F7-3C49-FFEA-2FBA-A28E6E0B8831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4E05B-05B1-F168-7E9A-2C55F9BCC910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12" name="CaixaDeTexto 8">
            <a:extLst>
              <a:ext uri="{FF2B5EF4-FFF2-40B4-BE49-F238E27FC236}">
                <a16:creationId xmlns:a16="http://schemas.microsoft.com/office/drawing/2014/main" id="{4CFDD3F6-0115-8F53-3B70-7B239F533045}"/>
              </a:ext>
            </a:extLst>
          </p:cNvPr>
          <p:cNvSpPr txBox="1"/>
          <p:nvPr/>
        </p:nvSpPr>
        <p:spPr>
          <a:xfrm>
            <a:off x="4450117" y="1272790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Motivação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8B9EB043-C560-6782-3224-CB961463C25B}"/>
              </a:ext>
            </a:extLst>
          </p:cNvPr>
          <p:cNvSpPr txBox="1"/>
          <p:nvPr/>
        </p:nvSpPr>
        <p:spPr>
          <a:xfrm>
            <a:off x="5012265" y="3688982"/>
            <a:ext cx="3924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 Teórico</a:t>
            </a:r>
          </a:p>
        </p:txBody>
      </p:sp>
      <p:sp>
        <p:nvSpPr>
          <p:cNvPr id="14" name="CaixaDeTexto 12">
            <a:extLst>
              <a:ext uri="{FF2B5EF4-FFF2-40B4-BE49-F238E27FC236}">
                <a16:creationId xmlns:a16="http://schemas.microsoft.com/office/drawing/2014/main" id="{8EF9D4C1-0314-91AB-DAA3-2C7261C524D1}"/>
              </a:ext>
            </a:extLst>
          </p:cNvPr>
          <p:cNvSpPr txBox="1"/>
          <p:nvPr/>
        </p:nvSpPr>
        <p:spPr>
          <a:xfrm>
            <a:off x="4753482" y="4586302"/>
            <a:ext cx="223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</a:p>
        </p:txBody>
      </p:sp>
      <p:sp>
        <p:nvSpPr>
          <p:cNvPr id="15" name="CaixaDeTexto 13">
            <a:extLst>
              <a:ext uri="{FF2B5EF4-FFF2-40B4-BE49-F238E27FC236}">
                <a16:creationId xmlns:a16="http://schemas.microsoft.com/office/drawing/2014/main" id="{BB252AAE-D4BB-2F64-FC64-6FC3E31F3211}"/>
              </a:ext>
            </a:extLst>
          </p:cNvPr>
          <p:cNvSpPr txBox="1"/>
          <p:nvPr/>
        </p:nvSpPr>
        <p:spPr>
          <a:xfrm>
            <a:off x="1493269" y="1539704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Por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que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a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pergunta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é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importante</a:t>
            </a:r>
            <a:endParaRPr lang="en-US" sz="1000">
              <a:solidFill>
                <a:schemeClr val="tx1">
                  <a:lumMod val="49000"/>
                  <a:lumOff val="51000"/>
                </a:schemeClr>
              </a:solidFill>
              <a:latin typeface="Montserrat"/>
            </a:endParaRPr>
          </a:p>
        </p:txBody>
      </p:sp>
      <p:sp>
        <p:nvSpPr>
          <p:cNvPr id="16" name="CaixaDeTexto 14">
            <a:extLst>
              <a:ext uri="{FF2B5EF4-FFF2-40B4-BE49-F238E27FC236}">
                <a16:creationId xmlns:a16="http://schemas.microsoft.com/office/drawing/2014/main" id="{0D8E2367-82B2-2B85-5080-9628EAC03DE0}"/>
              </a:ext>
            </a:extLst>
          </p:cNvPr>
          <p:cNvSpPr txBox="1"/>
          <p:nvPr/>
        </p:nvSpPr>
        <p:spPr>
          <a:xfrm>
            <a:off x="2107016" y="3921088"/>
            <a:ext cx="2736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Aplicação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microeconômica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e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porposto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4">
            <a:extLst>
              <a:ext uri="{FF2B5EF4-FFF2-40B4-BE49-F238E27FC236}">
                <a16:creationId xmlns:a16="http://schemas.microsoft.com/office/drawing/2014/main" id="{187D1759-2610-2CC5-A536-543E15600AAD}"/>
              </a:ext>
            </a:extLst>
          </p:cNvPr>
          <p:cNvSpPr txBox="1"/>
          <p:nvPr/>
        </p:nvSpPr>
        <p:spPr>
          <a:xfrm>
            <a:off x="1822880" y="4844550"/>
            <a:ext cx="2736922" cy="2462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formuladas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E5DFDD78-4378-3423-06D0-E8A2190A0633}"/>
              </a:ext>
            </a:extLst>
          </p:cNvPr>
          <p:cNvSpPr/>
          <p:nvPr/>
        </p:nvSpPr>
        <p:spPr>
          <a:xfrm rot="10800000">
            <a:off x="-3452695" y="114875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38">
            <a:extLst>
              <a:ext uri="{FF2B5EF4-FFF2-40B4-BE49-F238E27FC236}">
                <a16:creationId xmlns:a16="http://schemas.microsoft.com/office/drawing/2014/main" id="{4CEF73C7-6823-47A1-8A5E-74DED55D67A4}"/>
              </a:ext>
            </a:extLst>
          </p:cNvPr>
          <p:cNvGrpSpPr/>
          <p:nvPr/>
        </p:nvGrpSpPr>
        <p:grpSpPr>
          <a:xfrm rot="10800000">
            <a:off x="1493269" y="1392755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20" name="Conector de Seta Reta 39">
              <a:extLst>
                <a:ext uri="{FF2B5EF4-FFF2-40B4-BE49-F238E27FC236}">
                  <a16:creationId xmlns:a16="http://schemas.microsoft.com/office/drawing/2014/main" id="{BE66C7AD-58A8-3D5C-1BEB-1CFE485E664D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osango 43">
              <a:extLst>
                <a:ext uri="{FF2B5EF4-FFF2-40B4-BE49-F238E27FC236}">
                  <a16:creationId xmlns:a16="http://schemas.microsoft.com/office/drawing/2014/main" id="{8ACE5BDE-EB8D-CC5C-88AF-2465272112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2" name="Agrupar 47">
            <a:extLst>
              <a:ext uri="{FF2B5EF4-FFF2-40B4-BE49-F238E27FC236}">
                <a16:creationId xmlns:a16="http://schemas.microsoft.com/office/drawing/2014/main" id="{BDD2BFB1-A301-D87B-FD8E-736B08F97E2C}"/>
              </a:ext>
            </a:extLst>
          </p:cNvPr>
          <p:cNvGrpSpPr/>
          <p:nvPr/>
        </p:nvGrpSpPr>
        <p:grpSpPr>
          <a:xfrm rot="10800000">
            <a:off x="1847932" y="4705343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3" name="Conector de Seta Reta 48">
              <a:extLst>
                <a:ext uri="{FF2B5EF4-FFF2-40B4-BE49-F238E27FC236}">
                  <a16:creationId xmlns:a16="http://schemas.microsoft.com/office/drawing/2014/main" id="{AEACF174-7DAB-D869-8C74-2F5740EC5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Losango 49">
              <a:extLst>
                <a:ext uri="{FF2B5EF4-FFF2-40B4-BE49-F238E27FC236}">
                  <a16:creationId xmlns:a16="http://schemas.microsoft.com/office/drawing/2014/main" id="{D5B7BBB4-1E58-E218-443D-FCDE98961D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5" name="Agrupar 51">
            <a:extLst>
              <a:ext uri="{FF2B5EF4-FFF2-40B4-BE49-F238E27FC236}">
                <a16:creationId xmlns:a16="http://schemas.microsoft.com/office/drawing/2014/main" id="{3D4CDC53-D173-731D-C0F6-C7B1A58E5D21}"/>
              </a:ext>
            </a:extLst>
          </p:cNvPr>
          <p:cNvGrpSpPr/>
          <p:nvPr/>
        </p:nvGrpSpPr>
        <p:grpSpPr>
          <a:xfrm rot="10800000">
            <a:off x="2107017" y="378339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6" name="Conector de Seta Reta 52">
              <a:extLst>
                <a:ext uri="{FF2B5EF4-FFF2-40B4-BE49-F238E27FC236}">
                  <a16:creationId xmlns:a16="http://schemas.microsoft.com/office/drawing/2014/main" id="{A66A0798-33AD-C88E-29D7-24DD53C2E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osango 53">
              <a:extLst>
                <a:ext uri="{FF2B5EF4-FFF2-40B4-BE49-F238E27FC236}">
                  <a16:creationId xmlns:a16="http://schemas.microsoft.com/office/drawing/2014/main" id="{6ACC33C7-8242-FD94-138C-FAB25CACFA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6B0F976-D3A0-5C30-B740-C8735AD252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9F85491-1501-0D0D-BDF2-C47B6E3139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E590426-D151-9DBF-9438-843F55CDFD0C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894541EE-392C-1708-09BE-7390535ACD27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F02F3-22FF-69A2-8CC7-911B7EAD9868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1F599A-38A3-1EEF-D300-5962BBDBDE4E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190BC3EC-0254-9A80-3DD9-FE23BC537AF4}"/>
              </a:ext>
            </a:extLst>
          </p:cNvPr>
          <p:cNvSpPr txBox="1"/>
          <p:nvPr/>
        </p:nvSpPr>
        <p:spPr>
          <a:xfrm>
            <a:off x="4896426" y="2044007"/>
            <a:ext cx="2825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i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  <a:cs typeface="Times New Roman"/>
              </a:rPr>
              <a:t>Pergunta</a:t>
            </a:r>
          </a:p>
        </p:txBody>
      </p:sp>
      <p:sp>
        <p:nvSpPr>
          <p:cNvPr id="35" name="CaixaDeTexto 13">
            <a:extLst>
              <a:ext uri="{FF2B5EF4-FFF2-40B4-BE49-F238E27FC236}">
                <a16:creationId xmlns:a16="http://schemas.microsoft.com/office/drawing/2014/main" id="{386336CD-91F7-18EB-C199-F2B6A74637F4}"/>
              </a:ext>
            </a:extLst>
          </p:cNvPr>
          <p:cNvSpPr txBox="1"/>
          <p:nvPr/>
        </p:nvSpPr>
        <p:spPr>
          <a:xfrm>
            <a:off x="1939578" y="2288343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Pergunta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proposta</a:t>
            </a:r>
            <a:endParaRPr lang="pt-BR" sz="1000">
              <a:solidFill>
                <a:srgbClr val="7F7F7F"/>
              </a:solidFill>
              <a:latin typeface="Montserrat"/>
              <a:cs typeface="Times New Roman"/>
            </a:endParaRPr>
          </a:p>
        </p:txBody>
      </p:sp>
      <p:grpSp>
        <p:nvGrpSpPr>
          <p:cNvPr id="36" name="Agrupar 38">
            <a:extLst>
              <a:ext uri="{FF2B5EF4-FFF2-40B4-BE49-F238E27FC236}">
                <a16:creationId xmlns:a16="http://schemas.microsoft.com/office/drawing/2014/main" id="{505F18AB-47FB-67CE-3001-449D5B296D3E}"/>
              </a:ext>
            </a:extLst>
          </p:cNvPr>
          <p:cNvGrpSpPr/>
          <p:nvPr/>
        </p:nvGrpSpPr>
        <p:grpSpPr>
          <a:xfrm rot="10800000">
            <a:off x="1939578" y="2141394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37" name="Conector de Seta Reta 39">
              <a:extLst>
                <a:ext uri="{FF2B5EF4-FFF2-40B4-BE49-F238E27FC236}">
                  <a16:creationId xmlns:a16="http://schemas.microsoft.com/office/drawing/2014/main" id="{C3E514E6-9A57-7110-B856-4413B92A4933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osango 43">
              <a:extLst>
                <a:ext uri="{FF2B5EF4-FFF2-40B4-BE49-F238E27FC236}">
                  <a16:creationId xmlns:a16="http://schemas.microsoft.com/office/drawing/2014/main" id="{6B8D1E88-722E-BA38-BD2D-3673594EFE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A5BC0362-310F-7041-77FB-526C6ECBAFAB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A91898-E719-5B32-AA71-D6BB7CC4A20F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41" name="CaixaDeTexto 8">
            <a:extLst>
              <a:ext uri="{FF2B5EF4-FFF2-40B4-BE49-F238E27FC236}">
                <a16:creationId xmlns:a16="http://schemas.microsoft.com/office/drawing/2014/main" id="{FF70B023-D64A-B9BB-30F3-7C2CC87EDA88}"/>
              </a:ext>
            </a:extLst>
          </p:cNvPr>
          <p:cNvSpPr txBox="1"/>
          <p:nvPr/>
        </p:nvSpPr>
        <p:spPr>
          <a:xfrm>
            <a:off x="5054805" y="2861891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</a:p>
        </p:txBody>
      </p:sp>
      <p:sp>
        <p:nvSpPr>
          <p:cNvPr id="42" name="CaixaDeTexto 13">
            <a:extLst>
              <a:ext uri="{FF2B5EF4-FFF2-40B4-BE49-F238E27FC236}">
                <a16:creationId xmlns:a16="http://schemas.microsoft.com/office/drawing/2014/main" id="{6EC6F34F-75B2-8660-6D84-ABA20038E753}"/>
              </a:ext>
            </a:extLst>
          </p:cNvPr>
          <p:cNvSpPr txBox="1"/>
          <p:nvPr/>
        </p:nvSpPr>
        <p:spPr>
          <a:xfrm>
            <a:off x="2002260" y="3106227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  <a:r>
              <a:rPr lang="en-US" sz="1000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Téorica</a:t>
            </a:r>
            <a:r>
              <a:rPr lang="en-US" sz="1000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para a </a:t>
            </a:r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fundamentação</a:t>
            </a:r>
            <a:endParaRPr lang="en-US" sz="1000">
              <a:solidFill>
                <a:srgbClr val="FFFFF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3" name="Agrupar 38">
            <a:extLst>
              <a:ext uri="{FF2B5EF4-FFF2-40B4-BE49-F238E27FC236}">
                <a16:creationId xmlns:a16="http://schemas.microsoft.com/office/drawing/2014/main" id="{4E675974-F0E4-8098-F66D-84D6D3BF3B89}"/>
              </a:ext>
            </a:extLst>
          </p:cNvPr>
          <p:cNvGrpSpPr/>
          <p:nvPr/>
        </p:nvGrpSpPr>
        <p:grpSpPr>
          <a:xfrm rot="10800000">
            <a:off x="2097957" y="2959278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44" name="Conector de Seta Reta 39">
              <a:extLst>
                <a:ext uri="{FF2B5EF4-FFF2-40B4-BE49-F238E27FC236}">
                  <a16:creationId xmlns:a16="http://schemas.microsoft.com/office/drawing/2014/main" id="{FBB195BC-CA52-0DD6-EEAA-F2CEA05004BA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osango 43">
              <a:extLst>
                <a:ext uri="{FF2B5EF4-FFF2-40B4-BE49-F238E27FC236}">
                  <a16:creationId xmlns:a16="http://schemas.microsoft.com/office/drawing/2014/main" id="{D6B704D7-6E67-1D92-874E-54D749F21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FFFF"/>
                </a:solidFill>
              </a:endParaRPr>
            </a:p>
          </p:txBody>
        </p:sp>
      </p:grpSp>
      <p:sp>
        <p:nvSpPr>
          <p:cNvPr id="47" name="CaixaDeTexto 12">
            <a:extLst>
              <a:ext uri="{FF2B5EF4-FFF2-40B4-BE49-F238E27FC236}">
                <a16:creationId xmlns:a16="http://schemas.microsoft.com/office/drawing/2014/main" id="{C4E4D8A8-2BB7-FA89-DBBC-5BCFFE41CFCC}"/>
              </a:ext>
            </a:extLst>
          </p:cNvPr>
          <p:cNvSpPr txBox="1"/>
          <p:nvPr/>
        </p:nvSpPr>
        <p:spPr>
          <a:xfrm>
            <a:off x="4108439" y="5355391"/>
            <a:ext cx="428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 Empírica</a:t>
            </a:r>
          </a:p>
        </p:txBody>
      </p:sp>
      <p:sp>
        <p:nvSpPr>
          <p:cNvPr id="48" name="CaixaDeTexto 14">
            <a:extLst>
              <a:ext uri="{FF2B5EF4-FFF2-40B4-BE49-F238E27FC236}">
                <a16:creationId xmlns:a16="http://schemas.microsoft.com/office/drawing/2014/main" id="{E25A9255-98EE-DDCB-5BA7-718858049503}"/>
              </a:ext>
            </a:extLst>
          </p:cNvPr>
          <p:cNvSpPr txBox="1"/>
          <p:nvPr/>
        </p:nvSpPr>
        <p:spPr>
          <a:xfrm>
            <a:off x="1177838" y="5613639"/>
            <a:ext cx="273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dos dados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realização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 teste empírico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9" name="Agrupar 47">
            <a:extLst>
              <a:ext uri="{FF2B5EF4-FFF2-40B4-BE49-F238E27FC236}">
                <a16:creationId xmlns:a16="http://schemas.microsoft.com/office/drawing/2014/main" id="{95BAA7A8-F81F-48A9-C2C5-B93937460600}"/>
              </a:ext>
            </a:extLst>
          </p:cNvPr>
          <p:cNvGrpSpPr/>
          <p:nvPr/>
        </p:nvGrpSpPr>
        <p:grpSpPr>
          <a:xfrm rot="10800000">
            <a:off x="1202890" y="547443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50" name="Conector de Seta Reta 48">
              <a:extLst>
                <a:ext uri="{FF2B5EF4-FFF2-40B4-BE49-F238E27FC236}">
                  <a16:creationId xmlns:a16="http://schemas.microsoft.com/office/drawing/2014/main" id="{E4DF58AD-ABB2-D8A8-8913-50177843C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Losango 49">
              <a:extLst>
                <a:ext uri="{FF2B5EF4-FFF2-40B4-BE49-F238E27FC236}">
                  <a16:creationId xmlns:a16="http://schemas.microsoft.com/office/drawing/2014/main" id="{AB5F76CA-78A1-3E39-33D4-433CBE9DDF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32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3488-3F78-B6AC-AEA4-1B4C1663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xt201">
            <a:extLst>
              <a:ext uri="{FF2B5EF4-FFF2-40B4-BE49-F238E27FC236}">
                <a16:creationId xmlns:a16="http://schemas.microsoft.com/office/drawing/2014/main" id="{CDF8F0A0-B9E6-F0AF-621E-22865141E952}"/>
              </a:ext>
            </a:extLst>
          </p:cNvPr>
          <p:cNvSpPr txBox="1"/>
          <p:nvPr/>
        </p:nvSpPr>
        <p:spPr>
          <a:xfrm>
            <a:off x="508000" y="711200"/>
            <a:ext cx="1117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6000"/>
              </a:lnSpc>
            </a:pPr>
            <a:r>
              <a:rPr lang="pt-BR" sz="1600" b="1">
                <a:solidFill>
                  <a:srgbClr val="114719"/>
                </a:solidFill>
                <a:latin typeface="Montserrat" pitchFamily="2" charset="77"/>
              </a:rPr>
              <a:t>Três primitivas teóricas sustentam a equação de escolha locacional do médico</a:t>
            </a:r>
          </a:p>
        </p:txBody>
      </p:sp>
      <p:sp>
        <p:nvSpPr>
          <p:cNvPr id="202" name="txt202">
            <a:extLst>
              <a:ext uri="{FF2B5EF4-FFF2-40B4-BE49-F238E27FC236}">
                <a16:creationId xmlns:a16="http://schemas.microsoft.com/office/drawing/2014/main" id="{1F49769F-0CAA-EDF0-F6B0-D2E574D7340F}"/>
              </a:ext>
            </a:extLst>
          </p:cNvPr>
          <p:cNvSpPr txBox="1"/>
          <p:nvPr/>
        </p:nvSpPr>
        <p:spPr>
          <a:xfrm>
            <a:off x="1202064" y="1115046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TRABALHO</a:t>
            </a:r>
          </a:p>
        </p:txBody>
      </p:sp>
      <p:sp>
        <p:nvSpPr>
          <p:cNvPr id="203" name="txt203">
            <a:extLst>
              <a:ext uri="{FF2B5EF4-FFF2-40B4-BE49-F238E27FC236}">
                <a16:creationId xmlns:a16="http://schemas.microsoft.com/office/drawing/2014/main" id="{98486FDE-B2DC-E786-85CA-360D8BC9A86E}"/>
              </a:ext>
            </a:extLst>
          </p:cNvPr>
          <p:cNvSpPr txBox="1"/>
          <p:nvPr/>
        </p:nvSpPr>
        <p:spPr>
          <a:xfrm>
            <a:off x="4808373" y="1135689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ENTRA NO MODELO COMO </a:t>
            </a:r>
          </a:p>
        </p:txBody>
      </p:sp>
      <p:sp>
        <p:nvSpPr>
          <p:cNvPr id="204" name="txt204">
            <a:extLst>
              <a:ext uri="{FF2B5EF4-FFF2-40B4-BE49-F238E27FC236}">
                <a16:creationId xmlns:a16="http://schemas.microsoft.com/office/drawing/2014/main" id="{9DA9C8DC-B4D9-7D00-C1CD-1794968EFD08}"/>
              </a:ext>
            </a:extLst>
          </p:cNvPr>
          <p:cNvSpPr txBox="1"/>
          <p:nvPr/>
        </p:nvSpPr>
        <p:spPr>
          <a:xfrm>
            <a:off x="9067800" y="11049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PRIMITIVA QUE FORNECE</a:t>
            </a:r>
          </a:p>
        </p:txBody>
      </p:sp>
      <p:sp>
        <p:nvSpPr>
          <p:cNvPr id="205" name="lit205">
            <a:extLst>
              <a:ext uri="{FF2B5EF4-FFF2-40B4-BE49-F238E27FC236}">
                <a16:creationId xmlns:a16="http://schemas.microsoft.com/office/drawing/2014/main" id="{4895A0D4-DBC9-0A18-2A90-DFB5AA2E4915}"/>
              </a:ext>
            </a:extLst>
          </p:cNvPr>
          <p:cNvSpPr/>
          <p:nvPr/>
        </p:nvSpPr>
        <p:spPr>
          <a:xfrm>
            <a:off x="508000" y="1397000"/>
            <a:ext cx="11176000" cy="2032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 lang="en-US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BCE6C0E-0C9E-339B-49D9-AD9539C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Montserrat" pitchFamily="2" charset="77"/>
              </a:rPr>
              <a:t>O modelo combina três elementos da teoria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016C38-9803-331A-B0CB-E45BA5AF7AB3}"/>
              </a:ext>
            </a:extLst>
          </p:cNvPr>
          <p:cNvGrpSpPr/>
          <p:nvPr/>
        </p:nvGrpSpPr>
        <p:grpSpPr>
          <a:xfrm>
            <a:off x="159530" y="3218856"/>
            <a:ext cx="11847151" cy="1473200"/>
            <a:chOff x="156356" y="1574800"/>
            <a:chExt cx="11847151" cy="1473200"/>
          </a:xfrm>
        </p:grpSpPr>
        <p:sp>
          <p:nvSpPr>
            <p:cNvPr id="4" name="lit206">
              <a:extLst>
                <a:ext uri="{FF2B5EF4-FFF2-40B4-BE49-F238E27FC236}">
                  <a16:creationId xmlns:a16="http://schemas.microsoft.com/office/drawing/2014/main" id="{2FC193A2-259B-EBC2-8D9B-B7DAC46E467D}"/>
                </a:ext>
              </a:extLst>
            </p:cNvPr>
            <p:cNvSpPr/>
            <p:nvPr/>
          </p:nvSpPr>
          <p:spPr>
            <a:xfrm>
              <a:off x="156356" y="1574800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5" name="lit207">
              <a:extLst>
                <a:ext uri="{FF2B5EF4-FFF2-40B4-BE49-F238E27FC236}">
                  <a16:creationId xmlns:a16="http://schemas.microsoft.com/office/drawing/2014/main" id="{4AD03C44-1E36-FC3E-DACD-56D3F1BABA3F}"/>
                </a:ext>
              </a:extLst>
            </p:cNvPr>
            <p:cNvSpPr/>
            <p:nvPr/>
          </p:nvSpPr>
          <p:spPr>
            <a:xfrm>
              <a:off x="188493" y="1676400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6" name="lit210">
              <a:extLst>
                <a:ext uri="{FF2B5EF4-FFF2-40B4-BE49-F238E27FC236}">
                  <a16:creationId xmlns:a16="http://schemas.microsoft.com/office/drawing/2014/main" id="{86C78AB3-8CA5-4AD0-615F-2DED2C9C07AF}"/>
                </a:ext>
              </a:extLst>
            </p:cNvPr>
            <p:cNvSpPr/>
            <p:nvPr/>
          </p:nvSpPr>
          <p:spPr>
            <a:xfrm>
              <a:off x="3890984" y="1886005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7" name="lit212">
              <a:extLst>
                <a:ext uri="{FF2B5EF4-FFF2-40B4-BE49-F238E27FC236}">
                  <a16:creationId xmlns:a16="http://schemas.microsoft.com/office/drawing/2014/main" id="{EE8A050D-D8C0-ACB4-FBE0-DE2AD5B981D0}"/>
                </a:ext>
              </a:extLst>
            </p:cNvPr>
            <p:cNvSpPr/>
            <p:nvPr/>
          </p:nvSpPr>
          <p:spPr>
            <a:xfrm>
              <a:off x="8416527" y="2228905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8" name="foto401">
              <a:extLst>
                <a:ext uri="{FF2B5EF4-FFF2-40B4-BE49-F238E27FC236}">
                  <a16:creationId xmlns:a16="http://schemas.microsoft.com/office/drawing/2014/main" id="{3457BE71-BFC5-920F-064D-1E33BCA25DA0}"/>
                </a:ext>
              </a:extLst>
            </p:cNvPr>
            <p:cNvSpPr/>
            <p:nvPr/>
          </p:nvSpPr>
          <p:spPr>
            <a:xfrm>
              <a:off x="400121" y="1618337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9" name="foto402">
              <a:extLst>
                <a:ext uri="{FF2B5EF4-FFF2-40B4-BE49-F238E27FC236}">
                  <a16:creationId xmlns:a16="http://schemas.microsoft.com/office/drawing/2014/main" id="{57EFEC3A-A6A0-3E4B-C2EA-0B79CC7E6F66}"/>
                </a:ext>
              </a:extLst>
            </p:cNvPr>
            <p:cNvSpPr/>
            <p:nvPr/>
          </p:nvSpPr>
          <p:spPr>
            <a:xfrm>
              <a:off x="1131510" y="1618337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1" name="foto404">
              <a:extLst>
                <a:ext uri="{FF2B5EF4-FFF2-40B4-BE49-F238E27FC236}">
                  <a16:creationId xmlns:a16="http://schemas.microsoft.com/office/drawing/2014/main" id="{D68D64CE-AEA1-536E-3933-3075B8121D97}"/>
                </a:ext>
              </a:extLst>
            </p:cNvPr>
            <p:cNvSpPr/>
            <p:nvPr/>
          </p:nvSpPr>
          <p:spPr>
            <a:xfrm>
              <a:off x="765750" y="2322830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07A4A23-6284-BB79-1979-AE270D2489AD}"/>
              </a:ext>
            </a:extLst>
          </p:cNvPr>
          <p:cNvGrpSpPr/>
          <p:nvPr/>
        </p:nvGrpSpPr>
        <p:grpSpPr>
          <a:xfrm>
            <a:off x="159530" y="1578002"/>
            <a:ext cx="11847151" cy="1473200"/>
            <a:chOff x="156356" y="1574800"/>
            <a:chExt cx="11847151" cy="1473200"/>
          </a:xfrm>
        </p:grpSpPr>
        <p:sp>
          <p:nvSpPr>
            <p:cNvPr id="206" name="lit206">
              <a:extLst>
                <a:ext uri="{FF2B5EF4-FFF2-40B4-BE49-F238E27FC236}">
                  <a16:creationId xmlns:a16="http://schemas.microsoft.com/office/drawing/2014/main" id="{F517E0CB-9C9C-6825-8A04-8525281840B2}"/>
                </a:ext>
              </a:extLst>
            </p:cNvPr>
            <p:cNvSpPr/>
            <p:nvPr/>
          </p:nvSpPr>
          <p:spPr>
            <a:xfrm>
              <a:off x="156356" y="1574800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07" name="lit207">
              <a:extLst>
                <a:ext uri="{FF2B5EF4-FFF2-40B4-BE49-F238E27FC236}">
                  <a16:creationId xmlns:a16="http://schemas.microsoft.com/office/drawing/2014/main" id="{ECA58BA9-8DFF-2C5A-6290-5528E86AC9D3}"/>
                </a:ext>
              </a:extLst>
            </p:cNvPr>
            <p:cNvSpPr/>
            <p:nvPr/>
          </p:nvSpPr>
          <p:spPr>
            <a:xfrm>
              <a:off x="188493" y="1676400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0" name="lit210">
              <a:extLst>
                <a:ext uri="{FF2B5EF4-FFF2-40B4-BE49-F238E27FC236}">
                  <a16:creationId xmlns:a16="http://schemas.microsoft.com/office/drawing/2014/main" id="{AEB89FC8-1381-F391-0B24-9EF86C8E4942}"/>
                </a:ext>
              </a:extLst>
            </p:cNvPr>
            <p:cNvSpPr/>
            <p:nvPr/>
          </p:nvSpPr>
          <p:spPr>
            <a:xfrm>
              <a:off x="3890984" y="1886005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2" name="lit212">
              <a:extLst>
                <a:ext uri="{FF2B5EF4-FFF2-40B4-BE49-F238E27FC236}">
                  <a16:creationId xmlns:a16="http://schemas.microsoft.com/office/drawing/2014/main" id="{1E4449C2-0CCB-24F3-815F-7B8DE36C3987}"/>
                </a:ext>
              </a:extLst>
            </p:cNvPr>
            <p:cNvSpPr/>
            <p:nvPr/>
          </p:nvSpPr>
          <p:spPr>
            <a:xfrm>
              <a:off x="8416527" y="2228905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1" name="foto401">
              <a:extLst>
                <a:ext uri="{FF2B5EF4-FFF2-40B4-BE49-F238E27FC236}">
                  <a16:creationId xmlns:a16="http://schemas.microsoft.com/office/drawing/2014/main" id="{EE48E669-7994-D0B3-6C53-37E67031FF27}"/>
                </a:ext>
              </a:extLst>
            </p:cNvPr>
            <p:cNvSpPr/>
            <p:nvPr/>
          </p:nvSpPr>
          <p:spPr>
            <a:xfrm>
              <a:off x="400121" y="1618337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2" name="foto402">
              <a:extLst>
                <a:ext uri="{FF2B5EF4-FFF2-40B4-BE49-F238E27FC236}">
                  <a16:creationId xmlns:a16="http://schemas.microsoft.com/office/drawing/2014/main" id="{E6498997-698E-0FD6-B2F7-6B991C7DE473}"/>
                </a:ext>
              </a:extLst>
            </p:cNvPr>
            <p:cNvSpPr/>
            <p:nvPr/>
          </p:nvSpPr>
          <p:spPr>
            <a:xfrm>
              <a:off x="1131510" y="1618337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3" name="foto403">
              <a:extLst>
                <a:ext uri="{FF2B5EF4-FFF2-40B4-BE49-F238E27FC236}">
                  <a16:creationId xmlns:a16="http://schemas.microsoft.com/office/drawing/2014/main" id="{96A8ED97-9A58-9413-DDDC-95AC4831A06D}"/>
                </a:ext>
              </a:extLst>
            </p:cNvPr>
            <p:cNvSpPr/>
            <p:nvPr/>
          </p:nvSpPr>
          <p:spPr>
            <a:xfrm>
              <a:off x="400121" y="2322830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4" name="foto404">
              <a:extLst>
                <a:ext uri="{FF2B5EF4-FFF2-40B4-BE49-F238E27FC236}">
                  <a16:creationId xmlns:a16="http://schemas.microsoft.com/office/drawing/2014/main" id="{4AE88EFE-B484-70DF-C55D-7CC5736C574C}"/>
                </a:ext>
              </a:extLst>
            </p:cNvPr>
            <p:cNvSpPr/>
            <p:nvPr/>
          </p:nvSpPr>
          <p:spPr>
            <a:xfrm>
              <a:off x="1131510" y="2322830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5C3328-6F90-A3B4-3DF9-F7193B3D30F7}"/>
              </a:ext>
            </a:extLst>
          </p:cNvPr>
          <p:cNvGrpSpPr/>
          <p:nvPr/>
        </p:nvGrpSpPr>
        <p:grpSpPr>
          <a:xfrm>
            <a:off x="159530" y="4890882"/>
            <a:ext cx="11847151" cy="1473200"/>
            <a:chOff x="156356" y="1574800"/>
            <a:chExt cx="11847151" cy="1473200"/>
          </a:xfrm>
        </p:grpSpPr>
        <p:sp>
          <p:nvSpPr>
            <p:cNvPr id="13" name="lit206">
              <a:extLst>
                <a:ext uri="{FF2B5EF4-FFF2-40B4-BE49-F238E27FC236}">
                  <a16:creationId xmlns:a16="http://schemas.microsoft.com/office/drawing/2014/main" id="{7C825678-67A3-A9A0-33DA-B2ADE645F599}"/>
                </a:ext>
              </a:extLst>
            </p:cNvPr>
            <p:cNvSpPr/>
            <p:nvPr/>
          </p:nvSpPr>
          <p:spPr>
            <a:xfrm>
              <a:off x="156356" y="1574800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4" name="lit207">
              <a:extLst>
                <a:ext uri="{FF2B5EF4-FFF2-40B4-BE49-F238E27FC236}">
                  <a16:creationId xmlns:a16="http://schemas.microsoft.com/office/drawing/2014/main" id="{9BF0AB2A-E89D-9B79-6400-8494EA21916F}"/>
                </a:ext>
              </a:extLst>
            </p:cNvPr>
            <p:cNvSpPr/>
            <p:nvPr/>
          </p:nvSpPr>
          <p:spPr>
            <a:xfrm>
              <a:off x="188493" y="1676400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6" name="lit210">
              <a:extLst>
                <a:ext uri="{FF2B5EF4-FFF2-40B4-BE49-F238E27FC236}">
                  <a16:creationId xmlns:a16="http://schemas.microsoft.com/office/drawing/2014/main" id="{FFE47A81-988D-4579-349C-AE3ECDA85037}"/>
                </a:ext>
              </a:extLst>
            </p:cNvPr>
            <p:cNvSpPr/>
            <p:nvPr/>
          </p:nvSpPr>
          <p:spPr>
            <a:xfrm>
              <a:off x="3890984" y="1886005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7" name="lit212">
              <a:extLst>
                <a:ext uri="{FF2B5EF4-FFF2-40B4-BE49-F238E27FC236}">
                  <a16:creationId xmlns:a16="http://schemas.microsoft.com/office/drawing/2014/main" id="{2B2D5480-16CF-B1E8-62B9-359A9609B689}"/>
                </a:ext>
              </a:extLst>
            </p:cNvPr>
            <p:cNvSpPr/>
            <p:nvPr/>
          </p:nvSpPr>
          <p:spPr>
            <a:xfrm>
              <a:off x="8416527" y="2228905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8" name="foto401">
              <a:extLst>
                <a:ext uri="{FF2B5EF4-FFF2-40B4-BE49-F238E27FC236}">
                  <a16:creationId xmlns:a16="http://schemas.microsoft.com/office/drawing/2014/main" id="{32B4C71B-800A-2A13-15EE-42EB0354CFB2}"/>
                </a:ext>
              </a:extLst>
            </p:cNvPr>
            <p:cNvSpPr/>
            <p:nvPr/>
          </p:nvSpPr>
          <p:spPr>
            <a:xfrm>
              <a:off x="400121" y="1972667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9" name="foto402">
              <a:extLst>
                <a:ext uri="{FF2B5EF4-FFF2-40B4-BE49-F238E27FC236}">
                  <a16:creationId xmlns:a16="http://schemas.microsoft.com/office/drawing/2014/main" id="{B40038E8-D01C-DABB-3A71-28A05FD66C56}"/>
                </a:ext>
              </a:extLst>
            </p:cNvPr>
            <p:cNvSpPr/>
            <p:nvPr/>
          </p:nvSpPr>
          <p:spPr>
            <a:xfrm>
              <a:off x="1131510" y="1972667"/>
              <a:ext cx="684000" cy="684000"/>
            </a:xfrm>
            <a:prstGeom prst="ellipse">
              <a:avLst/>
            </a:prstGeom>
            <a:solidFill>
              <a:srgbClr val="EFF4F0"/>
            </a:solid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</p:grpSp>
      <p:sp>
        <p:nvSpPr>
          <p:cNvPr id="23" name="txt209">
            <a:extLst>
              <a:ext uri="{FF2B5EF4-FFF2-40B4-BE49-F238E27FC236}">
                <a16:creationId xmlns:a16="http://schemas.microsoft.com/office/drawing/2014/main" id="{6082F17A-5AD1-3FD3-DA0A-419F8FF9FB79}"/>
              </a:ext>
            </a:extLst>
          </p:cNvPr>
          <p:cNvSpPr txBox="1"/>
          <p:nvPr/>
        </p:nvSpPr>
        <p:spPr>
          <a:xfrm>
            <a:off x="2093604" y="1578002"/>
            <a:ext cx="1810079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Moehling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, </a:t>
            </a: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Niemesh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Thomasson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 &amp; </a:t>
            </a: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Treber</a:t>
            </a:r>
            <a:endParaRPr lang="pt-BR" sz="1400" b="1">
              <a:solidFill>
                <a:srgbClr val="114719"/>
              </a:solidFill>
              <a:latin typeface="Montserrat" pitchFamily="2" charset="77"/>
            </a:endParaRPr>
          </a:p>
          <a:p>
            <a:pPr algn="l">
              <a:lnSpc>
                <a:spcPct val="112000"/>
              </a:lnSpc>
            </a:pP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(2020)</a:t>
            </a:r>
          </a:p>
        </p:txBody>
      </p:sp>
      <p:pic>
        <p:nvPicPr>
          <p:cNvPr id="24" name="Picture 14">
            <a:extLst>
              <a:ext uri="{FF2B5EF4-FFF2-40B4-BE49-F238E27FC236}">
                <a16:creationId xmlns:a16="http://schemas.microsoft.com/office/drawing/2014/main" id="{EA1F981E-7D62-B812-4993-B68DF668C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7744" b="27161"/>
          <a:stretch>
            <a:fillRect/>
          </a:stretch>
        </p:blipFill>
        <p:spPr>
          <a:xfrm flipH="1">
            <a:off x="476191" y="2395407"/>
            <a:ext cx="585465" cy="483034"/>
          </a:xfrm>
          <a:prstGeom prst="rect">
            <a:avLst/>
          </a:prstGeom>
        </p:spPr>
      </p:pic>
      <p:sp>
        <p:nvSpPr>
          <p:cNvPr id="10" name="txt217">
            <a:extLst>
              <a:ext uri="{FF2B5EF4-FFF2-40B4-BE49-F238E27FC236}">
                <a16:creationId xmlns:a16="http://schemas.microsoft.com/office/drawing/2014/main" id="{A36FEEF8-9FBC-1A65-A14B-698DF8CD4BDC}"/>
              </a:ext>
            </a:extLst>
          </p:cNvPr>
          <p:cNvSpPr txBox="1"/>
          <p:nvPr/>
        </p:nvSpPr>
        <p:spPr>
          <a:xfrm>
            <a:off x="2093604" y="3211912"/>
            <a:ext cx="1800554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Choné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 &amp; </a:t>
            </a: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Ma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 (2011);</a:t>
            </a:r>
          </a:p>
          <a:p>
            <a:pPr algn="l">
              <a:lnSpc>
                <a:spcPct val="112000"/>
              </a:lnSpc>
            </a:pP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Reinhardt (1975)</a:t>
            </a:r>
          </a:p>
        </p:txBody>
      </p:sp>
      <p:sp>
        <p:nvSpPr>
          <p:cNvPr id="27" name="txt225">
            <a:extLst>
              <a:ext uri="{FF2B5EF4-FFF2-40B4-BE49-F238E27FC236}">
                <a16:creationId xmlns:a16="http://schemas.microsoft.com/office/drawing/2014/main" id="{218C7C74-E83A-F4E0-4177-356EC2DF102D}"/>
              </a:ext>
            </a:extLst>
          </p:cNvPr>
          <p:cNvSpPr txBox="1"/>
          <p:nvPr/>
        </p:nvSpPr>
        <p:spPr>
          <a:xfrm>
            <a:off x="2093604" y="4904964"/>
            <a:ext cx="2032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Redding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 &amp;</a:t>
            </a:r>
          </a:p>
          <a:p>
            <a:pPr algn="l">
              <a:lnSpc>
                <a:spcPct val="112000"/>
              </a:lnSpc>
            </a:pP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Rossi-</a:t>
            </a:r>
            <a:r>
              <a:rPr lang="pt-BR" sz="1400" b="1" err="1">
                <a:solidFill>
                  <a:srgbClr val="114719"/>
                </a:solidFill>
                <a:latin typeface="Montserrat" pitchFamily="2" charset="77"/>
              </a:rPr>
              <a:t>Hansberg</a:t>
            </a:r>
            <a:r>
              <a:rPr lang="pt-BR" sz="1400" b="1">
                <a:solidFill>
                  <a:srgbClr val="114719"/>
                </a:solidFill>
                <a:latin typeface="Montserrat" pitchFamily="2" charset="77"/>
              </a:rPr>
              <a:t> (2017)</a:t>
            </a:r>
          </a:p>
        </p:txBody>
      </p:sp>
      <p:sp>
        <p:nvSpPr>
          <p:cNvPr id="29" name="txt211">
            <a:extLst>
              <a:ext uri="{FF2B5EF4-FFF2-40B4-BE49-F238E27FC236}">
                <a16:creationId xmlns:a16="http://schemas.microsoft.com/office/drawing/2014/main" id="{83C33592-ACE8-F0DA-616D-FA66348FEDAC}"/>
              </a:ext>
            </a:extLst>
          </p:cNvPr>
          <p:cNvSpPr txBox="1"/>
          <p:nvPr/>
        </p:nvSpPr>
        <p:spPr>
          <a:xfrm>
            <a:off x="4088799" y="1581205"/>
            <a:ext cx="4064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12000"/>
              </a:lnSpc>
            </a:pPr>
            <a:r>
              <a:rPr lang="pt-BR" sz="1400">
                <a:solidFill>
                  <a:srgbClr val="3A3A3A"/>
                </a:solidFill>
                <a:latin typeface="Montserrat" pitchFamily="2" charset="77"/>
              </a:rPr>
              <a:t>Escolha locacional intertemporal: o médico maximiza o valor presente do rendimento real menos um custo locacional não pecuniário</a:t>
            </a:r>
          </a:p>
        </p:txBody>
      </p:sp>
      <p:sp>
        <p:nvSpPr>
          <p:cNvPr id="31" name="txt219">
            <a:extLst>
              <a:ext uri="{FF2B5EF4-FFF2-40B4-BE49-F238E27FC236}">
                <a16:creationId xmlns:a16="http://schemas.microsoft.com/office/drawing/2014/main" id="{9A3C1FB9-EF03-8156-3CA8-3AD211DC54DF}"/>
              </a:ext>
            </a:extLst>
          </p:cNvPr>
          <p:cNvSpPr txBox="1"/>
          <p:nvPr/>
        </p:nvSpPr>
        <p:spPr>
          <a:xfrm>
            <a:off x="4088799" y="3218856"/>
            <a:ext cx="4064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12000"/>
              </a:lnSpc>
            </a:pPr>
            <a:r>
              <a:rPr lang="pt-BR" sz="1400">
                <a:solidFill>
                  <a:srgbClr val="3A3A3A"/>
                </a:solidFill>
                <a:latin typeface="Montserrat" pitchFamily="2" charset="77"/>
              </a:rPr>
              <a:t>Utilidade do médico com altruísmo: atender gera cansaço </a:t>
            </a:r>
            <a:r>
              <a:rPr lang="pt-BR" sz="1400" i="1">
                <a:solidFill>
                  <a:srgbClr val="3A3A3A"/>
                </a:solidFill>
                <a:latin typeface="Montserrat" pitchFamily="2" charset="77"/>
              </a:rPr>
              <a:t>C(</a:t>
            </a:r>
            <a:r>
              <a:rPr lang="pt-BR" sz="1400" i="1" err="1">
                <a:solidFill>
                  <a:srgbClr val="3A3A3A"/>
                </a:solidFill>
                <a:latin typeface="Montserrat" pitchFamily="2" charset="77"/>
              </a:rPr>
              <a:t>q</a:t>
            </a:r>
            <a:r>
              <a:rPr lang="pt-BR" sz="1400" i="1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400">
                <a:solidFill>
                  <a:srgbClr val="3A3A3A"/>
                </a:solidFill>
                <a:latin typeface="Montserrat" pitchFamily="2" charset="77"/>
              </a:rPr>
              <a:t> e satisfação </a:t>
            </a:r>
            <a:r>
              <a:rPr lang="pt-BR" sz="1400" i="1">
                <a:solidFill>
                  <a:srgbClr val="3A3A3A"/>
                </a:solidFill>
                <a:latin typeface="Montserrat" pitchFamily="2" charset="77"/>
              </a:rPr>
              <a:t>α</a:t>
            </a:r>
            <a:r>
              <a:rPr lang="pt-BR" sz="1400" i="1" err="1">
                <a:solidFill>
                  <a:srgbClr val="3A3A3A"/>
                </a:solidFill>
                <a:latin typeface="Montserrat" pitchFamily="2" charset="77"/>
              </a:rPr>
              <a:t>B</a:t>
            </a:r>
            <a:r>
              <a:rPr lang="pt-BR" sz="1400" i="1">
                <a:solidFill>
                  <a:srgbClr val="3A3A3A"/>
                </a:solidFill>
                <a:latin typeface="Montserrat" pitchFamily="2" charset="77"/>
              </a:rPr>
              <a:t>(</a:t>
            </a:r>
            <a:r>
              <a:rPr lang="pt-BR" sz="1400" i="1" err="1">
                <a:solidFill>
                  <a:srgbClr val="3A3A3A"/>
                </a:solidFill>
                <a:latin typeface="Montserrat" pitchFamily="2" charset="77"/>
              </a:rPr>
              <a:t>q</a:t>
            </a:r>
            <a:r>
              <a:rPr lang="pt-BR" sz="1400" i="1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400">
                <a:solidFill>
                  <a:srgbClr val="3A3A3A"/>
                </a:solidFill>
                <a:latin typeface="Montserrat" pitchFamily="2" charset="77"/>
              </a:rPr>
              <a:t>, ambos mediados por equipe e capital instalado</a:t>
            </a:r>
          </a:p>
        </p:txBody>
      </p:sp>
      <p:sp>
        <p:nvSpPr>
          <p:cNvPr id="33" name="txt227">
            <a:extLst>
              <a:ext uri="{FF2B5EF4-FFF2-40B4-BE49-F238E27FC236}">
                <a16:creationId xmlns:a16="http://schemas.microsoft.com/office/drawing/2014/main" id="{69298370-0554-BCED-4107-E00D640B8A3D}"/>
              </a:ext>
            </a:extLst>
          </p:cNvPr>
          <p:cNvSpPr txBox="1"/>
          <p:nvPr/>
        </p:nvSpPr>
        <p:spPr>
          <a:xfrm>
            <a:off x="4088799" y="4890882"/>
            <a:ext cx="4064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pt-BR" sz="1400">
                <a:solidFill>
                  <a:srgbClr val="3A3A3A"/>
                </a:solidFill>
                <a:latin typeface="Montserrat" pitchFamily="2" charset="77"/>
              </a:rPr>
              <a:t>Equilíbrio espacial: amenidades e custo de moradia determinam a atratividade de um lugar</a:t>
            </a:r>
          </a:p>
        </p:txBody>
      </p:sp>
      <p:sp>
        <p:nvSpPr>
          <p:cNvPr id="37" name="lit221">
            <a:extLst>
              <a:ext uri="{FF2B5EF4-FFF2-40B4-BE49-F238E27FC236}">
                <a16:creationId xmlns:a16="http://schemas.microsoft.com/office/drawing/2014/main" id="{A624A51B-1F6F-9EA0-D1CD-DC9A17C5D3F4}"/>
              </a:ext>
            </a:extLst>
          </p:cNvPr>
          <p:cNvSpPr/>
          <p:nvPr/>
        </p:nvSpPr>
        <p:spPr>
          <a:xfrm>
            <a:off x="8739576" y="3345856"/>
            <a:ext cx="3153981" cy="1219200"/>
          </a:xfrm>
          <a:prstGeom prst="roundRect">
            <a:avLst/>
          </a:prstGeom>
          <a:solidFill>
            <a:srgbClr val="E7F1EA"/>
          </a:solidFill>
          <a:ln>
            <a:noFill/>
          </a:ln>
        </p:spPr>
        <p:txBody>
          <a:bodyPr wrap="square" lIns="177800" tIns="0" rIns="177800" bIns="0" anchor="ctr"/>
          <a:lstStyle/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Custo laboral líquido</a:t>
            </a:r>
            <a:r>
              <a:rPr lang="pt-BR" sz="1300">
                <a:solidFill>
                  <a:srgbClr val="114719"/>
                </a:solidFill>
                <a:latin typeface="Montserrat" pitchFamily="2" charset="77"/>
              </a:rPr>
              <a:t> e o papel de </a:t>
            </a:r>
            <a:r>
              <a:rPr lang="pt-BR" sz="1300" i="1">
                <a:solidFill>
                  <a:srgbClr val="114719"/>
                </a:solidFill>
                <a:latin typeface="Montserrat" pitchFamily="2" charset="77"/>
              </a:rPr>
              <a:t>L</a:t>
            </a:r>
            <a:r>
              <a:rPr lang="pt-BR" sz="1300">
                <a:solidFill>
                  <a:srgbClr val="114719"/>
                </a:solidFill>
                <a:latin typeface="Montserrat" pitchFamily="2" charset="77"/>
              </a:rPr>
              <a:t> e </a:t>
            </a:r>
            <a:r>
              <a:rPr lang="pt-BR" sz="1300" i="1">
                <a:solidFill>
                  <a:srgbClr val="114719"/>
                </a:solidFill>
                <a:latin typeface="Montserrat" pitchFamily="2" charset="77"/>
              </a:rPr>
              <a:t>K</a:t>
            </a:r>
          </a:p>
        </p:txBody>
      </p:sp>
      <p:sp>
        <p:nvSpPr>
          <p:cNvPr id="35" name="lit213">
            <a:extLst>
              <a:ext uri="{FF2B5EF4-FFF2-40B4-BE49-F238E27FC236}">
                <a16:creationId xmlns:a16="http://schemas.microsoft.com/office/drawing/2014/main" id="{7B731846-CEF9-5650-39A6-B2C0A98D9FDD}"/>
              </a:ext>
            </a:extLst>
          </p:cNvPr>
          <p:cNvSpPr/>
          <p:nvPr/>
        </p:nvSpPr>
        <p:spPr>
          <a:xfrm>
            <a:off x="8739576" y="1705002"/>
            <a:ext cx="3153981" cy="1219200"/>
          </a:xfrm>
          <a:prstGeom prst="roundRect">
            <a:avLst/>
          </a:prstGeom>
          <a:solidFill>
            <a:srgbClr val="E7F1EA"/>
          </a:solidFill>
          <a:ln>
            <a:noFill/>
          </a:ln>
        </p:spPr>
        <p:txBody>
          <a:bodyPr wrap="square" lIns="177800" tIns="0" rIns="177800" bIns="0" anchor="ctr"/>
          <a:lstStyle/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Equação de escolha</a:t>
            </a:r>
            <a:r>
              <a:rPr lang="pt-BR" sz="1300">
                <a:solidFill>
                  <a:srgbClr val="114719"/>
                </a:solidFill>
                <a:latin typeface="Montserrat" pitchFamily="2" charset="77"/>
              </a:rPr>
              <a:t> e o horizonte </a:t>
            </a:r>
            <a:r>
              <a:rPr lang="pt-BR" sz="1300" i="1" err="1">
                <a:solidFill>
                  <a:srgbClr val="114719"/>
                </a:solidFill>
                <a:latin typeface="Montserrat" pitchFamily="2" charset="77"/>
              </a:rPr>
              <a:t>Σ</a:t>
            </a:r>
            <a:r>
              <a:rPr lang="pt-BR" sz="1300" i="1" baseline="-25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300" i="1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300" i="1" err="1">
                <a:solidFill>
                  <a:srgbClr val="114719"/>
                </a:solidFill>
                <a:latin typeface="Montserrat" pitchFamily="2" charset="77"/>
              </a:rPr>
              <a:t>δ</a:t>
            </a:r>
            <a:r>
              <a:rPr lang="pt-BR" sz="1300" i="1" baseline="30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endParaRPr lang="pt-BR" sz="1300" i="1" baseline="30000">
              <a:solidFill>
                <a:srgbClr val="114719"/>
              </a:solidFill>
              <a:latin typeface="Montserrat" pitchFamily="2" charset="77"/>
            </a:endParaRPr>
          </a:p>
        </p:txBody>
      </p:sp>
      <p:sp>
        <p:nvSpPr>
          <p:cNvPr id="39" name="lit229">
            <a:extLst>
              <a:ext uri="{FF2B5EF4-FFF2-40B4-BE49-F238E27FC236}">
                <a16:creationId xmlns:a16="http://schemas.microsoft.com/office/drawing/2014/main" id="{AE9B93B8-0E29-8838-E977-6FD99BAD27E0}"/>
              </a:ext>
            </a:extLst>
          </p:cNvPr>
          <p:cNvSpPr/>
          <p:nvPr/>
        </p:nvSpPr>
        <p:spPr>
          <a:xfrm>
            <a:off x="8739576" y="5017882"/>
            <a:ext cx="3153981" cy="1219200"/>
          </a:xfrm>
          <a:prstGeom prst="roundRect">
            <a:avLst/>
          </a:prstGeom>
          <a:solidFill>
            <a:srgbClr val="E7F1EA"/>
          </a:solidFill>
          <a:ln>
            <a:noFill/>
          </a:ln>
        </p:spPr>
        <p:txBody>
          <a:bodyPr wrap="square" lIns="177800" tIns="0" rIns="177800" bIns="0" anchor="ctr"/>
          <a:lstStyle/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Custo geográfico</a:t>
            </a:r>
            <a:r>
              <a:rPr lang="pt-BR" sz="1300">
                <a:solidFill>
                  <a:srgbClr val="114719"/>
                </a:solidFill>
                <a:latin typeface="Montserrat" pitchFamily="2" charset="77"/>
              </a:rPr>
              <a:t> e o deflator </a:t>
            </a:r>
            <a:r>
              <a:rPr lang="pt-BR" sz="1300" i="1" err="1">
                <a:solidFill>
                  <a:srgbClr val="114719"/>
                </a:solidFill>
                <a:latin typeface="Montserrat" pitchFamily="2" charset="77"/>
              </a:rPr>
              <a:t>p</a:t>
            </a:r>
            <a:r>
              <a:rPr lang="pt-BR" sz="1300" i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endParaRPr lang="pt-BR" sz="1300" i="1" baseline="-25000">
              <a:solidFill>
                <a:srgbClr val="114719"/>
              </a:solidFill>
              <a:latin typeface="Montserrat" pitchFamily="2" charset="77"/>
            </a:endParaRPr>
          </a:p>
        </p:txBody>
      </p:sp>
      <p:pic>
        <p:nvPicPr>
          <p:cNvPr id="20" name="Picture 12">
            <a:extLst>
              <a:ext uri="{FF2B5EF4-FFF2-40B4-BE49-F238E27FC236}">
                <a16:creationId xmlns:a16="http://schemas.microsoft.com/office/drawing/2014/main" id="{AFB068F3-F4DE-218D-3D6F-B4ED2D807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30087" y="1625204"/>
            <a:ext cx="420767" cy="561834"/>
          </a:xfrm>
          <a:prstGeom prst="rect">
            <a:avLst/>
          </a:prstGeom>
        </p:spPr>
      </p:pic>
      <p:pic>
        <p:nvPicPr>
          <p:cNvPr id="21" name="Picture 16" descr="Melissa A Thomasson | CEPR">
            <a:extLst>
              <a:ext uri="{FF2B5EF4-FFF2-40B4-BE49-F238E27FC236}">
                <a16:creationId xmlns:a16="http://schemas.microsoft.com/office/drawing/2014/main" id="{AA1DFC85-8061-BD5B-77A2-8A822C99BB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45" r="28084" b="35527"/>
          <a:stretch>
            <a:fillRect/>
          </a:stretch>
        </p:blipFill>
        <p:spPr>
          <a:xfrm flipH="1">
            <a:off x="1237736" y="2371163"/>
            <a:ext cx="478939" cy="517215"/>
          </a:xfrm>
          <a:prstGeom prst="rect">
            <a:avLst/>
          </a:prstGeom>
        </p:spPr>
      </p:pic>
      <p:pic>
        <p:nvPicPr>
          <p:cNvPr id="28" name="Picture 11" descr="Jaret Treber | Kenyon College">
            <a:extLst>
              <a:ext uri="{FF2B5EF4-FFF2-40B4-BE49-F238E27FC236}">
                <a16:creationId xmlns:a16="http://schemas.microsoft.com/office/drawing/2014/main" id="{E306593A-4448-9C61-0CF0-2C1A8B5553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7759" t="11551" r="13306" b="41619"/>
          <a:stretch>
            <a:fillRect/>
          </a:stretch>
        </p:blipFill>
        <p:spPr>
          <a:xfrm flipH="1">
            <a:off x="1225774" y="1694620"/>
            <a:ext cx="513828" cy="49241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2191FD92-7CD7-FA06-960E-A129359851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263191" y="3345856"/>
            <a:ext cx="437960" cy="4759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40049AED-C88B-C7AD-5C2C-6BDE0B4618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23348"/>
          <a:stretch>
            <a:fillRect/>
          </a:stretch>
        </p:blipFill>
        <p:spPr>
          <a:xfrm>
            <a:off x="882025" y="4050761"/>
            <a:ext cx="418460" cy="480199"/>
          </a:xfrm>
          <a:prstGeom prst="rect">
            <a:avLst/>
          </a:prstGeom>
        </p:spPr>
      </p:pic>
      <p:pic>
        <p:nvPicPr>
          <p:cNvPr id="34" name="Picture 20" descr="Uwe Reinhardt, 80, Dies; a Listened-to Voice on Health Care Policy - The  New York Times">
            <a:extLst>
              <a:ext uri="{FF2B5EF4-FFF2-40B4-BE49-F238E27FC236}">
                <a16:creationId xmlns:a16="http://schemas.microsoft.com/office/drawing/2014/main" id="{36A3A5A5-3119-3152-133C-39D240715F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30087" y="3334166"/>
            <a:ext cx="456493" cy="512794"/>
          </a:xfrm>
          <a:prstGeom prst="rect">
            <a:avLst/>
          </a:prstGeom>
        </p:spPr>
      </p:pic>
      <p:pic>
        <p:nvPicPr>
          <p:cNvPr id="36" name="Imagem 35" descr="Stephen J. Redding | Julis-Rabinowitz Center for Public Policy &amp; Finance">
            <a:extLst>
              <a:ext uri="{FF2B5EF4-FFF2-40B4-BE49-F238E27FC236}">
                <a16:creationId xmlns:a16="http://schemas.microsoft.com/office/drawing/2014/main" id="{74F88A00-E4F3-AE95-AF16-15508A5E75B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42723" y="5331698"/>
            <a:ext cx="417419" cy="557812"/>
          </a:xfrm>
          <a:prstGeom prst="rect">
            <a:avLst/>
          </a:prstGeom>
        </p:spPr>
      </p:pic>
      <p:pic>
        <p:nvPicPr>
          <p:cNvPr id="38" name="Imagem 37" descr="Esteban Rossi-Hansberg - The Institute for Climate and Sustainable Growth">
            <a:extLst>
              <a:ext uri="{FF2B5EF4-FFF2-40B4-BE49-F238E27FC236}">
                <a16:creationId xmlns:a16="http://schemas.microsoft.com/office/drawing/2014/main" id="{4E31CEA8-1DD3-84D9-D299-2E3CF5E2D34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235062" y="5288749"/>
            <a:ext cx="503062" cy="56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3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E3AE-9A7E-5207-C4DF-F285E6C5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qBox">
            <a:extLst>
              <a:ext uri="{FF2B5EF4-FFF2-40B4-BE49-F238E27FC236}">
                <a16:creationId xmlns:a16="http://schemas.microsoft.com/office/drawing/2014/main" id="{DCA88AA5-8DAC-684A-9A17-6F5141BF7831}"/>
              </a:ext>
            </a:extLst>
          </p:cNvPr>
          <p:cNvSpPr/>
          <p:nvPr/>
        </p:nvSpPr>
        <p:spPr>
          <a:xfrm>
            <a:off x="508000" y="1092200"/>
            <a:ext cx="11176000" cy="1092200"/>
          </a:xfrm>
          <a:prstGeom prst="roundRect">
            <a:avLst/>
          </a:prstGeom>
          <a:solidFill>
            <a:srgbClr val="E7F1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6" name="cBox">
            <a:extLst>
              <a:ext uri="{FF2B5EF4-FFF2-40B4-BE49-F238E27FC236}">
                <a16:creationId xmlns:a16="http://schemas.microsoft.com/office/drawing/2014/main" id="{C03F515A-2383-2D42-8E41-FC2B94AB6118}"/>
              </a:ext>
            </a:extLst>
          </p:cNvPr>
          <p:cNvSpPr/>
          <p:nvPr/>
        </p:nvSpPr>
        <p:spPr>
          <a:xfrm>
            <a:off x="508000" y="5435600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E2DAC7D-9A58-08D7-5933-4C0D9E47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renda real líquida</a:t>
            </a:r>
          </a:p>
        </p:txBody>
      </p:sp>
      <p:sp>
        <p:nvSpPr>
          <p:cNvPr id="25" name="kicker">
            <a:extLst>
              <a:ext uri="{FF2B5EF4-FFF2-40B4-BE49-F238E27FC236}">
                <a16:creationId xmlns:a16="http://schemas.microsoft.com/office/drawing/2014/main" id="{93892C30-AF38-C245-A55E-AC39B2C4B1ED}"/>
              </a:ext>
            </a:extLst>
          </p:cNvPr>
          <p:cNvSpPr txBox="1"/>
          <p:nvPr/>
        </p:nvSpPr>
        <p:spPr>
          <a:xfrm>
            <a:off x="508000" y="736600"/>
            <a:ext cx="8890000" cy="27994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MOEHLING</a:t>
            </a:r>
            <a:r>
              <a:rPr lang="pt-BR" sz="1100" b="1" spc="100">
                <a:solidFill>
                  <a:srgbClr val="056429"/>
                </a:solidFill>
                <a:latin typeface="Montserrat" pitchFamily="2" charset="77"/>
              </a:rPr>
              <a:t>, NIEMESH, THOMASSON &amp; TREBER (2020), EQ. 1, P. 184</a:t>
            </a:r>
          </a:p>
        </p:txBody>
      </p:sp>
      <p:sp>
        <p:nvSpPr>
          <p:cNvPr id="40" name="h1">
            <a:extLst>
              <a:ext uri="{FF2B5EF4-FFF2-40B4-BE49-F238E27FC236}">
                <a16:creationId xmlns:a16="http://schemas.microsoft.com/office/drawing/2014/main" id="{A47FEA22-F1CF-EE40-8F7D-380D08A86E4B}"/>
              </a:ext>
            </a:extLst>
          </p:cNvPr>
          <p:cNvSpPr txBox="1"/>
          <p:nvPr/>
        </p:nvSpPr>
        <p:spPr>
          <a:xfrm>
            <a:off x="508000" y="2413000"/>
            <a:ext cx="5588000" cy="27994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O QUE CADA TERMO SIGNIFICA</a:t>
            </a:r>
          </a:p>
        </p:txBody>
      </p:sp>
      <p:sp>
        <p:nvSpPr>
          <p:cNvPr id="41" name="rule1">
            <a:extLst>
              <a:ext uri="{FF2B5EF4-FFF2-40B4-BE49-F238E27FC236}">
                <a16:creationId xmlns:a16="http://schemas.microsoft.com/office/drawing/2014/main" id="{B5BBCBCA-28EE-1E4B-882D-A291197337D9}"/>
              </a:ext>
            </a:extLst>
          </p:cNvPr>
          <p:cNvSpPr/>
          <p:nvPr/>
        </p:nvSpPr>
        <p:spPr>
          <a:xfrm>
            <a:off x="508000" y="2692400"/>
            <a:ext cx="5588000" cy="1905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2" name="col1">
            <a:extLst>
              <a:ext uri="{FF2B5EF4-FFF2-40B4-BE49-F238E27FC236}">
                <a16:creationId xmlns:a16="http://schemas.microsoft.com/office/drawing/2014/main" id="{4C16898E-2B2F-EA49-B881-E2059ED08D52}"/>
              </a:ext>
            </a:extLst>
          </p:cNvPr>
          <p:cNvSpPr txBox="1"/>
          <p:nvPr/>
        </p:nvSpPr>
        <p:spPr>
          <a:xfrm>
            <a:off x="508000" y="2794000"/>
            <a:ext cx="5651500" cy="16959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i ∈ I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localidades candidatas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𝔼(</a:t>
            </a: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3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):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salário esperado em i, no ano t, na especialidade s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p</a:t>
            </a:r>
            <a:r>
              <a:rPr lang="pt-BR" sz="130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: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nível de preços da localidade (deflator)</a:t>
            </a:r>
          </a:p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3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300" b="1" i="1" baseline="30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custo não pecuniário de viver ali</a:t>
            </a:r>
          </a:p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δ</a:t>
            </a:r>
            <a:r>
              <a:rPr lang="pt-BR" sz="1300" b="1" i="1" baseline="30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300" b="1" i="1" baseline="30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desconto do ano t (0 &lt; δ &lt; 1)</a:t>
            </a:r>
          </a:p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Σ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3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 b="1" i="1" baseline="-25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soma ao longo do horizonte de carreira</a:t>
            </a:r>
          </a:p>
        </p:txBody>
      </p:sp>
      <p:sp>
        <p:nvSpPr>
          <p:cNvPr id="43" name="h2">
            <a:extLst>
              <a:ext uri="{FF2B5EF4-FFF2-40B4-BE49-F238E27FC236}">
                <a16:creationId xmlns:a16="http://schemas.microsoft.com/office/drawing/2014/main" id="{D7974631-3450-6D4D-A75A-3D23F5F6FFA9}"/>
              </a:ext>
            </a:extLst>
          </p:cNvPr>
          <p:cNvSpPr txBox="1"/>
          <p:nvPr/>
        </p:nvSpPr>
        <p:spPr>
          <a:xfrm>
            <a:off x="6477000" y="2413000"/>
            <a:ext cx="5207000" cy="27994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100" b="1" spc="100">
                <a:solidFill>
                  <a:srgbClr val="056429"/>
                </a:solidFill>
                <a:latin typeface="Montserrat" pitchFamily="2" charset="77"/>
              </a:rPr>
              <a:t>O </a:t>
            </a: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QUE</a:t>
            </a:r>
            <a:r>
              <a:rPr lang="pt-BR" sz="1100" b="1" spc="100">
                <a:solidFill>
                  <a:srgbClr val="056429"/>
                </a:solidFill>
                <a:latin typeface="Montserrat" pitchFamily="2" charset="77"/>
              </a:rPr>
              <a:t> A CONTA FAZ</a:t>
            </a:r>
          </a:p>
        </p:txBody>
      </p:sp>
      <p:sp>
        <p:nvSpPr>
          <p:cNvPr id="44" name="rule2">
            <a:extLst>
              <a:ext uri="{FF2B5EF4-FFF2-40B4-BE49-F238E27FC236}">
                <a16:creationId xmlns:a16="http://schemas.microsoft.com/office/drawing/2014/main" id="{3DD790CC-6970-C742-B04D-179CD0C38CCC}"/>
              </a:ext>
            </a:extLst>
          </p:cNvPr>
          <p:cNvSpPr/>
          <p:nvPr/>
        </p:nvSpPr>
        <p:spPr>
          <a:xfrm>
            <a:off x="6477000" y="2692400"/>
            <a:ext cx="5207000" cy="1905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5" name="col2">
            <a:extLst>
              <a:ext uri="{FF2B5EF4-FFF2-40B4-BE49-F238E27FC236}">
                <a16:creationId xmlns:a16="http://schemas.microsoft.com/office/drawing/2014/main" id="{95A564F1-5F59-014B-B44D-49DA86CAD39E}"/>
              </a:ext>
            </a:extLst>
          </p:cNvPr>
          <p:cNvSpPr txBox="1"/>
          <p:nvPr/>
        </p:nvSpPr>
        <p:spPr>
          <a:xfrm>
            <a:off x="6477000" y="2794000"/>
            <a:ext cx="5270500" cy="20390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just">
              <a:lnSpc>
                <a:spcPct val="108000"/>
              </a:lnSpc>
              <a:spcAft>
                <a:spcPts val="6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1.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Divide o salário esperado pelos preços locais: o que entra na decisão é o salário real, não o nominal.</a:t>
            </a:r>
          </a:p>
          <a:p>
            <a:pPr marL="0" indent="0" algn="just">
              <a:lnSpc>
                <a:spcPct val="108000"/>
              </a:lnSpc>
              <a:spcAft>
                <a:spcPts val="6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2.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Subtrai o custo não pecuniário de viver na localidade: sobra o ganho líquido daquele ano.</a:t>
            </a:r>
          </a:p>
          <a:p>
            <a:pPr marL="0" indent="0" algn="just">
              <a:lnSpc>
                <a:spcPct val="108000"/>
              </a:lnSpc>
              <a:spcAft>
                <a:spcPts val="6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3.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Desconta cada ano por δ e soma a carreira inteira: o resultado é um valor presente por localidade.</a:t>
            </a:r>
          </a:p>
          <a:p>
            <a:pPr marL="0" indent="0" algn="just">
              <a:lnSpc>
                <a:spcPct val="108000"/>
              </a:lnSpc>
              <a:spcAft>
                <a:spcPts val="6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4.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Compara as localidades e devolve a que tem o maior valor (</a:t>
            </a:r>
            <a:r>
              <a:rPr lang="pt-BR" sz="1300" err="1">
                <a:solidFill>
                  <a:srgbClr val="3A3A3A"/>
                </a:solidFill>
                <a:latin typeface="Montserrat" pitchFamily="2" charset="77"/>
              </a:rPr>
              <a:t>arg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300" err="1">
                <a:solidFill>
                  <a:srgbClr val="3A3A3A"/>
                </a:solidFill>
                <a:latin typeface="Montserrat" pitchFamily="2" charset="77"/>
              </a:rPr>
              <a:t>max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).</a:t>
            </a:r>
          </a:p>
        </p:txBody>
      </p:sp>
      <p:sp>
        <p:nvSpPr>
          <p:cNvPr id="47" name="cBar">
            <a:extLst>
              <a:ext uri="{FF2B5EF4-FFF2-40B4-BE49-F238E27FC236}">
                <a16:creationId xmlns:a16="http://schemas.microsoft.com/office/drawing/2014/main" id="{4191B5FF-2B8D-FB41-951B-ADFF56BE7F0A}"/>
              </a:ext>
            </a:extLst>
          </p:cNvPr>
          <p:cNvSpPr/>
          <p:nvPr/>
        </p:nvSpPr>
        <p:spPr>
          <a:xfrm>
            <a:off x="508000" y="5511800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FCC8367B-BD73-B64C-B6DD-ADBA3E035D90}"/>
              </a:ext>
            </a:extLst>
          </p:cNvPr>
          <p:cNvSpPr txBox="1"/>
          <p:nvPr/>
        </p:nvSpPr>
        <p:spPr>
          <a:xfrm>
            <a:off x="787400" y="5575300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Onde chegamos: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a localidade escolhida é a de maior renda real líquida descontada — salário nominal alto não compensa preços e custos locais altos.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BEF460-DE29-EC44-452C-F3E1709B22A5}"/>
                  </a:ext>
                </a:extLst>
              </p:cNvPr>
              <p:cNvSpPr txBox="1"/>
              <p:nvPr/>
            </p:nvSpPr>
            <p:spPr>
              <a:xfrm>
                <a:off x="3556000" y="1116005"/>
                <a:ext cx="5207000" cy="9921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5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5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500" b="1" i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GB" sz="25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5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5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5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5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5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5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5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5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5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5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5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5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5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5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5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5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5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5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5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5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5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5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500" b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BEF460-DE29-EC44-452C-F3E1709B2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116005"/>
                <a:ext cx="5207000" cy="9921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41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7E13-47EA-8ACF-4B90-5E3CA79E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qBox">
            <a:extLst>
              <a:ext uri="{FF2B5EF4-FFF2-40B4-BE49-F238E27FC236}">
                <a16:creationId xmlns:a16="http://schemas.microsoft.com/office/drawing/2014/main" id="{C9D3D958-A572-236B-E88B-B9A9823E2E7B}"/>
              </a:ext>
            </a:extLst>
          </p:cNvPr>
          <p:cNvSpPr/>
          <p:nvPr/>
        </p:nvSpPr>
        <p:spPr>
          <a:xfrm>
            <a:off x="508000" y="1092200"/>
            <a:ext cx="11176000" cy="1092200"/>
          </a:xfrm>
          <a:prstGeom prst="roundRect">
            <a:avLst/>
          </a:prstGeom>
          <a:solidFill>
            <a:srgbClr val="E7F1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6" name="cBox">
            <a:extLst>
              <a:ext uri="{FF2B5EF4-FFF2-40B4-BE49-F238E27FC236}">
                <a16:creationId xmlns:a16="http://schemas.microsoft.com/office/drawing/2014/main" id="{EB87D3B8-A656-6C24-AF80-A29F7778D758}"/>
              </a:ext>
            </a:extLst>
          </p:cNvPr>
          <p:cNvSpPr/>
          <p:nvPr/>
        </p:nvSpPr>
        <p:spPr>
          <a:xfrm>
            <a:off x="508000" y="5435600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799EF2C-F951-6031-6A7E-04B3984D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Amenidades e moradia definem quanto vale o salário</a:t>
            </a:r>
          </a:p>
        </p:txBody>
      </p:sp>
      <p:sp>
        <p:nvSpPr>
          <p:cNvPr id="25" name="kicker">
            <a:extLst>
              <a:ext uri="{FF2B5EF4-FFF2-40B4-BE49-F238E27FC236}">
                <a16:creationId xmlns:a16="http://schemas.microsoft.com/office/drawing/2014/main" id="{5D7927B7-BC64-6709-21FE-9907BE0D2586}"/>
              </a:ext>
            </a:extLst>
          </p:cNvPr>
          <p:cNvSpPr txBox="1"/>
          <p:nvPr/>
        </p:nvSpPr>
        <p:spPr>
          <a:xfrm>
            <a:off x="508000" y="736600"/>
            <a:ext cx="8890000" cy="28257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REDDING &amp; ROSSI-HANSBERG (2017), EQ. 24, P. 28</a:t>
            </a:r>
          </a:p>
        </p:txBody>
      </p:sp>
      <p:sp>
        <p:nvSpPr>
          <p:cNvPr id="40" name="h1">
            <a:extLst>
              <a:ext uri="{FF2B5EF4-FFF2-40B4-BE49-F238E27FC236}">
                <a16:creationId xmlns:a16="http://schemas.microsoft.com/office/drawing/2014/main" id="{526BE538-261E-22C2-9A89-7A8A7D4A8B19}"/>
              </a:ext>
            </a:extLst>
          </p:cNvPr>
          <p:cNvSpPr txBox="1"/>
          <p:nvPr/>
        </p:nvSpPr>
        <p:spPr>
          <a:xfrm>
            <a:off x="508000" y="2413000"/>
            <a:ext cx="5588000" cy="2984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spc="100">
                <a:solidFill>
                  <a:srgbClr val="056429"/>
                </a:solidFill>
                <a:latin typeface="Montserrat" pitchFamily="2" charset="77"/>
              </a:rPr>
              <a:t>O QUE CADA TERMO SIGNIFICA</a:t>
            </a:r>
          </a:p>
        </p:txBody>
      </p:sp>
      <p:sp>
        <p:nvSpPr>
          <p:cNvPr id="41" name="rule1">
            <a:extLst>
              <a:ext uri="{FF2B5EF4-FFF2-40B4-BE49-F238E27FC236}">
                <a16:creationId xmlns:a16="http://schemas.microsoft.com/office/drawing/2014/main" id="{AB72C006-FD78-71DF-AC13-66315CDEE98F}"/>
              </a:ext>
            </a:extLst>
          </p:cNvPr>
          <p:cNvSpPr/>
          <p:nvPr/>
        </p:nvSpPr>
        <p:spPr>
          <a:xfrm>
            <a:off x="508000" y="2692400"/>
            <a:ext cx="5588000" cy="1905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2" name="col1">
            <a:extLst>
              <a:ext uri="{FF2B5EF4-FFF2-40B4-BE49-F238E27FC236}">
                <a16:creationId xmlns:a16="http://schemas.microsoft.com/office/drawing/2014/main" id="{3D8889EC-983D-6BB8-DEDA-6E403E8563DE}"/>
              </a:ext>
            </a:extLst>
          </p:cNvPr>
          <p:cNvSpPr txBox="1"/>
          <p:nvPr/>
        </p:nvSpPr>
        <p:spPr>
          <a:xfrm>
            <a:off x="508000" y="2794000"/>
            <a:ext cx="5651500" cy="18992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u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nio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 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utilidade de morar em n e trabalhar em i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z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nio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  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gosto idiossincrático pelo par (n, i)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B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n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     amenidades da localidade n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i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    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salário pago no local de trabalho i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 sz="1300" b="1" i="1" err="1">
                <a:solidFill>
                  <a:srgbClr val="114719"/>
                </a:solidFill>
                <a:latin typeface="Montserrat" pitchFamily="2" charset="77"/>
              </a:rPr>
              <a:t>κ</a:t>
            </a:r>
            <a:r>
              <a:rPr lang="pt-BR" sz="1300" b="1" i="1" baseline="-25000" err="1">
                <a:solidFill>
                  <a:srgbClr val="114719"/>
                </a:solidFill>
                <a:latin typeface="Montserrat" pitchFamily="2" charset="77"/>
              </a:rPr>
              <a:t>ni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    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custo de deslocamento entre n e i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Q</a:t>
            </a:r>
            <a:r>
              <a:rPr lang="pt-BR" sz="1300" b="1" i="1" baseline="-25000">
                <a:solidFill>
                  <a:srgbClr val="114719"/>
                </a:solidFill>
                <a:latin typeface="Montserrat" pitchFamily="2" charset="77"/>
              </a:rPr>
              <a:t>n</a:t>
            </a:r>
            <a:r>
              <a:rPr lang="pt-BR" sz="1300" b="1" i="1" baseline="-25000">
                <a:solidFill>
                  <a:srgbClr val="3A3A3A"/>
                </a:solidFill>
                <a:latin typeface="Montserrat" pitchFamily="2" charset="77"/>
              </a:rPr>
              <a:t>      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preço da moradia em n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1 − β</a:t>
            </a:r>
            <a:r>
              <a:rPr lang="pt-BR" sz="1300" b="1">
                <a:solidFill>
                  <a:srgbClr val="3A3A3A"/>
                </a:solidFill>
                <a:latin typeface="Montserrat" pitchFamily="2" charset="77"/>
              </a:rPr>
              <a:t> 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parcela da renda gasta com moradia</a:t>
            </a:r>
          </a:p>
        </p:txBody>
      </p:sp>
      <p:sp>
        <p:nvSpPr>
          <p:cNvPr id="43" name="h2">
            <a:extLst>
              <a:ext uri="{FF2B5EF4-FFF2-40B4-BE49-F238E27FC236}">
                <a16:creationId xmlns:a16="http://schemas.microsoft.com/office/drawing/2014/main" id="{253FE7BC-AE44-7131-E763-1A095CD53D58}"/>
              </a:ext>
            </a:extLst>
          </p:cNvPr>
          <p:cNvSpPr txBox="1"/>
          <p:nvPr/>
        </p:nvSpPr>
        <p:spPr>
          <a:xfrm>
            <a:off x="6477000" y="2413000"/>
            <a:ext cx="5207000" cy="2984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spc="100">
                <a:solidFill>
                  <a:srgbClr val="056429"/>
                </a:solidFill>
                <a:latin typeface="Montserrat" pitchFamily="2" charset="77"/>
              </a:rPr>
              <a:t>O QUE A CONTA FAZ</a:t>
            </a:r>
          </a:p>
        </p:txBody>
      </p:sp>
      <p:sp>
        <p:nvSpPr>
          <p:cNvPr id="44" name="rule2">
            <a:extLst>
              <a:ext uri="{FF2B5EF4-FFF2-40B4-BE49-F238E27FC236}">
                <a16:creationId xmlns:a16="http://schemas.microsoft.com/office/drawing/2014/main" id="{B2F45D03-4818-F4DB-3171-1D92B02BE123}"/>
              </a:ext>
            </a:extLst>
          </p:cNvPr>
          <p:cNvSpPr/>
          <p:nvPr/>
        </p:nvSpPr>
        <p:spPr>
          <a:xfrm>
            <a:off x="6477000" y="2692400"/>
            <a:ext cx="5207000" cy="1905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5" name="col2">
            <a:extLst>
              <a:ext uri="{FF2B5EF4-FFF2-40B4-BE49-F238E27FC236}">
                <a16:creationId xmlns:a16="http://schemas.microsoft.com/office/drawing/2014/main" id="{54FD2D16-23CE-3117-FFF5-4A9FCBAA38CE}"/>
              </a:ext>
            </a:extLst>
          </p:cNvPr>
          <p:cNvSpPr txBox="1"/>
          <p:nvPr/>
        </p:nvSpPr>
        <p:spPr>
          <a:xfrm>
            <a:off x="6477000" y="2794000"/>
            <a:ext cx="5270500" cy="24327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1.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No numerador, o que atrai: o salário do local de trabalho, multiplicado pelas amenidades e pelo gosto pessoal.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2.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No denominador, o que repele: o custo de deslocamento e o preço da moradia elevado à fração da renda gasta com moradia.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3.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A divisão transforma salário nominal em bem-estar: o mesmo salário vale menos onde morar é caro ou a viagem é longa.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4.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Cada médico escolhe o par morar-trabalhar com a maior utilidade.</a:t>
            </a:r>
          </a:p>
        </p:txBody>
      </p:sp>
      <p:sp>
        <p:nvSpPr>
          <p:cNvPr id="47" name="cBar">
            <a:extLst>
              <a:ext uri="{FF2B5EF4-FFF2-40B4-BE49-F238E27FC236}">
                <a16:creationId xmlns:a16="http://schemas.microsoft.com/office/drawing/2014/main" id="{AD2AA97B-7422-0129-A313-0B898FCE4194}"/>
              </a:ext>
            </a:extLst>
          </p:cNvPr>
          <p:cNvSpPr/>
          <p:nvPr/>
        </p:nvSpPr>
        <p:spPr>
          <a:xfrm>
            <a:off x="508000" y="5511800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F8C9E032-0506-97A5-C2D8-65AB85133693}"/>
              </a:ext>
            </a:extLst>
          </p:cNvPr>
          <p:cNvSpPr txBox="1"/>
          <p:nvPr/>
        </p:nvSpPr>
        <p:spPr>
          <a:xfrm>
            <a:off x="787400" y="5575300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Onde chegamos: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um local só atrai se o salário compensar moradia e deslocamento — é daqui que sai o deflator espacial usado na equação de escolha.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E5D7C6-239D-822C-07C7-CC1D83576620}"/>
                  </a:ext>
                </a:extLst>
              </p:cNvPr>
              <p:cNvSpPr txBox="1"/>
              <p:nvPr/>
            </p:nvSpPr>
            <p:spPr>
              <a:xfrm>
                <a:off x="4727222" y="1197033"/>
                <a:ext cx="2788356" cy="8917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5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pl-PL" sz="2500" b="1" i="1">
                              <a:latin typeface="Cambria Math" panose="02040503050406030204" pitchFamily="18" charset="0"/>
                            </a:rPr>
                            <m:t>𝒏𝒊𝒐</m:t>
                          </m:r>
                        </m:sub>
                      </m:sSub>
                      <m:r>
                        <a:rPr lang="pl-PL" sz="25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25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l-PL" sz="2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𝒏𝒊𝒐</m:t>
                              </m:r>
                            </m:sub>
                          </m:sSub>
                          <m:sSub>
                            <m:sSubPr>
                              <m:ctrlPr>
                                <a:rPr lang="pl-PL" sz="2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pl-PL" sz="2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l-PL" sz="2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𝜿</m:t>
                              </m:r>
                            </m:e>
                            <m:sub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𝒏𝒊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l-PL" sz="25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sz="25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500" b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E5D7C6-239D-822C-07C7-CC1D8357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222" y="1197033"/>
                <a:ext cx="2788356" cy="8917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617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E4FB-F0F0-61C5-66EF-853E4940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qBox">
            <a:extLst>
              <a:ext uri="{FF2B5EF4-FFF2-40B4-BE49-F238E27FC236}">
                <a16:creationId xmlns:a16="http://schemas.microsoft.com/office/drawing/2014/main" id="{13F1096F-F06A-5191-B542-930D190B653F}"/>
              </a:ext>
            </a:extLst>
          </p:cNvPr>
          <p:cNvSpPr/>
          <p:nvPr/>
        </p:nvSpPr>
        <p:spPr>
          <a:xfrm>
            <a:off x="508000" y="1092200"/>
            <a:ext cx="11176000" cy="1092200"/>
          </a:xfrm>
          <a:prstGeom prst="roundRect">
            <a:avLst/>
          </a:prstGeom>
          <a:solidFill>
            <a:srgbClr val="E7F1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6" name="cBox">
            <a:extLst>
              <a:ext uri="{FF2B5EF4-FFF2-40B4-BE49-F238E27FC236}">
                <a16:creationId xmlns:a16="http://schemas.microsoft.com/office/drawing/2014/main" id="{72891DE0-38B3-30DE-8602-833FAECA049D}"/>
              </a:ext>
            </a:extLst>
          </p:cNvPr>
          <p:cNvSpPr/>
          <p:nvPr/>
        </p:nvSpPr>
        <p:spPr>
          <a:xfrm>
            <a:off x="508000" y="5435600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48D68A5-7FFE-EB35-A774-DC915FA3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Atender rende, cansa e gera benefício ao paciente</a:t>
            </a:r>
          </a:p>
        </p:txBody>
      </p:sp>
      <p:sp>
        <p:nvSpPr>
          <p:cNvPr id="25" name="kicker">
            <a:extLst>
              <a:ext uri="{FF2B5EF4-FFF2-40B4-BE49-F238E27FC236}">
                <a16:creationId xmlns:a16="http://schemas.microsoft.com/office/drawing/2014/main" id="{20248416-8FE3-9D21-7160-73F93C6FC4CE}"/>
              </a:ext>
            </a:extLst>
          </p:cNvPr>
          <p:cNvSpPr txBox="1"/>
          <p:nvPr/>
        </p:nvSpPr>
        <p:spPr>
          <a:xfrm>
            <a:off x="508000" y="736600"/>
            <a:ext cx="8890000" cy="28257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CHONÉ &amp; MA (2011), EQ. 1, P. 232</a:t>
            </a:r>
          </a:p>
        </p:txBody>
      </p:sp>
      <p:sp>
        <p:nvSpPr>
          <p:cNvPr id="40" name="h1">
            <a:extLst>
              <a:ext uri="{FF2B5EF4-FFF2-40B4-BE49-F238E27FC236}">
                <a16:creationId xmlns:a16="http://schemas.microsoft.com/office/drawing/2014/main" id="{AD25428D-D77E-987E-3E67-ADE3F1CCF516}"/>
              </a:ext>
            </a:extLst>
          </p:cNvPr>
          <p:cNvSpPr txBox="1"/>
          <p:nvPr/>
        </p:nvSpPr>
        <p:spPr>
          <a:xfrm>
            <a:off x="508000" y="2413000"/>
            <a:ext cx="5588000" cy="2984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spc="100">
                <a:solidFill>
                  <a:srgbClr val="056429"/>
                </a:solidFill>
                <a:latin typeface="Montserrat" pitchFamily="2" charset="77"/>
              </a:rPr>
              <a:t>O QUE CADA TERMO SIGNIFICA</a:t>
            </a:r>
          </a:p>
        </p:txBody>
      </p:sp>
      <p:sp>
        <p:nvSpPr>
          <p:cNvPr id="41" name="rule1">
            <a:extLst>
              <a:ext uri="{FF2B5EF4-FFF2-40B4-BE49-F238E27FC236}">
                <a16:creationId xmlns:a16="http://schemas.microsoft.com/office/drawing/2014/main" id="{6AAFC25D-3170-92AA-7CA2-4069E54FA03C}"/>
              </a:ext>
            </a:extLst>
          </p:cNvPr>
          <p:cNvSpPr/>
          <p:nvPr/>
        </p:nvSpPr>
        <p:spPr>
          <a:xfrm>
            <a:off x="508000" y="2692400"/>
            <a:ext cx="5588000" cy="1905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2" name="col1">
            <a:extLst>
              <a:ext uri="{FF2B5EF4-FFF2-40B4-BE49-F238E27FC236}">
                <a16:creationId xmlns:a16="http://schemas.microsoft.com/office/drawing/2014/main" id="{5CBB1AA8-3F28-A64B-63D5-C6C9F4445C2A}"/>
              </a:ext>
            </a:extLst>
          </p:cNvPr>
          <p:cNvSpPr txBox="1"/>
          <p:nvPr/>
        </p:nvSpPr>
        <p:spPr>
          <a:xfrm>
            <a:off x="508000" y="2794000"/>
            <a:ext cx="5651500" cy="21673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U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utilidade do médico ao atender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R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receita recebida pelo atendimento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q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quantidade ou intensidade de cuidado prestado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C(q; L, K)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custo de esforço para produzir q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L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equipe disponível (trabalho de apoio)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K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capital instalado: leitos, equipamentos, estrutura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α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 peso do altruísmo do médico</a:t>
            </a:r>
          </a:p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i="1">
                <a:solidFill>
                  <a:srgbClr val="114719"/>
                </a:solidFill>
                <a:latin typeface="Montserrat" pitchFamily="2" charset="77"/>
              </a:rPr>
              <a:t>B(q)</a:t>
            </a:r>
            <a:r>
              <a:rPr lang="pt-BR" sz="1300" b="1" i="1">
                <a:solidFill>
                  <a:srgbClr val="3A3A3A"/>
                </a:solidFill>
                <a:latin typeface="Montserrat" pitchFamily="2" charset="77"/>
              </a:rPr>
              <a:t>: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benefício gerado ao paciente</a:t>
            </a:r>
          </a:p>
        </p:txBody>
      </p:sp>
      <p:sp>
        <p:nvSpPr>
          <p:cNvPr id="43" name="h2">
            <a:extLst>
              <a:ext uri="{FF2B5EF4-FFF2-40B4-BE49-F238E27FC236}">
                <a16:creationId xmlns:a16="http://schemas.microsoft.com/office/drawing/2014/main" id="{284AC9A8-F0E1-397A-801F-83032B46E4EA}"/>
              </a:ext>
            </a:extLst>
          </p:cNvPr>
          <p:cNvSpPr txBox="1"/>
          <p:nvPr/>
        </p:nvSpPr>
        <p:spPr>
          <a:xfrm>
            <a:off x="6477000" y="2413000"/>
            <a:ext cx="5207000" cy="2984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400"/>
              </a:spcAft>
              <a:buNone/>
            </a:pPr>
            <a:r>
              <a:rPr lang="pt-BR" sz="1300" b="1" spc="100">
                <a:solidFill>
                  <a:srgbClr val="056429"/>
                </a:solidFill>
                <a:latin typeface="Montserrat" pitchFamily="2" charset="77"/>
              </a:rPr>
              <a:t>O QUE A CONTA FAZ</a:t>
            </a:r>
          </a:p>
        </p:txBody>
      </p:sp>
      <p:sp>
        <p:nvSpPr>
          <p:cNvPr id="44" name="rule2">
            <a:extLst>
              <a:ext uri="{FF2B5EF4-FFF2-40B4-BE49-F238E27FC236}">
                <a16:creationId xmlns:a16="http://schemas.microsoft.com/office/drawing/2014/main" id="{A6F469FE-961F-D97C-215E-85D5B15F7E4D}"/>
              </a:ext>
            </a:extLst>
          </p:cNvPr>
          <p:cNvSpPr/>
          <p:nvPr/>
        </p:nvSpPr>
        <p:spPr>
          <a:xfrm>
            <a:off x="6477000" y="2692400"/>
            <a:ext cx="5207000" cy="1905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5" name="col2">
            <a:extLst>
              <a:ext uri="{FF2B5EF4-FFF2-40B4-BE49-F238E27FC236}">
                <a16:creationId xmlns:a16="http://schemas.microsoft.com/office/drawing/2014/main" id="{4DA0350F-6657-C592-B721-E26F5B6FEC53}"/>
              </a:ext>
            </a:extLst>
          </p:cNvPr>
          <p:cNvSpPr txBox="1"/>
          <p:nvPr/>
        </p:nvSpPr>
        <p:spPr>
          <a:xfrm>
            <a:off x="6477000" y="2794000"/>
            <a:ext cx="5270500" cy="200054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1.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Soma a renda do atendimento: é o ganho monetário direto.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2.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Subtrai o custo de atender, que depende de equipe e capital: com mais L e K, o mesmo q cansa menos.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3.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Soma o benefício ao paciente ponderado pelo altruísmo: o médico valoriza curar, não só receber.</a:t>
            </a:r>
          </a:p>
          <a:p>
            <a:pPr marL="0" indent="0" algn="just">
              <a:lnSpc>
                <a:spcPct val="108000"/>
              </a:lnSpc>
              <a:spcAft>
                <a:spcPts val="500"/>
              </a:spcAft>
              <a:buNone/>
            </a:pPr>
            <a:r>
              <a:rPr lang="pt-BR" sz="1300" b="1">
                <a:solidFill>
                  <a:srgbClr val="056429"/>
                </a:solidFill>
                <a:latin typeface="Montserrat" pitchFamily="2" charset="77"/>
              </a:rPr>
              <a:t>4.  </a:t>
            </a:r>
            <a:r>
              <a:rPr lang="pt-BR" sz="1300">
                <a:solidFill>
                  <a:srgbClr val="3A3A3A"/>
                </a:solidFill>
                <a:latin typeface="Montserrat" pitchFamily="2" charset="77"/>
              </a:rPr>
              <a:t>O resultado é a utilidade de trabalhar naquele lugar, dada sua estrutura assistencial.</a:t>
            </a:r>
          </a:p>
        </p:txBody>
      </p:sp>
      <p:sp>
        <p:nvSpPr>
          <p:cNvPr id="47" name="cBar">
            <a:extLst>
              <a:ext uri="{FF2B5EF4-FFF2-40B4-BE49-F238E27FC236}">
                <a16:creationId xmlns:a16="http://schemas.microsoft.com/office/drawing/2014/main" id="{4DE59DB0-47B4-64D9-6131-D7F0AF23FBE4}"/>
              </a:ext>
            </a:extLst>
          </p:cNvPr>
          <p:cNvSpPr/>
          <p:nvPr/>
        </p:nvSpPr>
        <p:spPr>
          <a:xfrm>
            <a:off x="508000" y="5511800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59B5D038-130A-EDBE-1135-6003F1CAC5E5}"/>
              </a:ext>
            </a:extLst>
          </p:cNvPr>
          <p:cNvSpPr txBox="1"/>
          <p:nvPr/>
        </p:nvSpPr>
        <p:spPr>
          <a:xfrm>
            <a:off x="787400" y="5575300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Onde chegamos: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estrutura e equipe entram na decisão como custo de trabalhar; é por isso que salário igual em locais com estruturas diferentes não é oferta igual.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DAF2A6-B323-8EB1-C077-962374D533C2}"/>
                  </a:ext>
                </a:extLst>
              </p:cNvPr>
              <p:cNvSpPr txBox="1"/>
              <p:nvPr/>
            </p:nvSpPr>
            <p:spPr>
              <a:xfrm>
                <a:off x="3940346" y="1450532"/>
                <a:ext cx="431130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pt-BR" sz="2500" b="1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5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sz="2500" b="1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sz="25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pt-BR" sz="25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pt-BR" sz="25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500" b="1" i="1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pt-BR" sz="25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5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pt-BR" sz="2500" b="1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l-GR" sz="2500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pt-BR" sz="2500" b="1" i="1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ctrlPr>
                            <a:rPr lang="pt-BR" sz="25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pt-BR" sz="2500" b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DAF2A6-B323-8EB1-C077-962374D53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346" y="1450532"/>
                <a:ext cx="4311308" cy="384721"/>
              </a:xfrm>
              <a:prstGeom prst="rect">
                <a:avLst/>
              </a:prstGeom>
              <a:blipFill>
                <a:blip r:embed="rId2"/>
                <a:stretch>
                  <a:fillRect l="-1271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065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CEED-29C7-A823-87E3-C3371C60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DD6AC-B7DD-5F42-FD95-BC471D000D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90754-7782-300B-9BC9-52CB1219F3E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69EC1-E647-E293-9626-0A8E3A186E1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14/09/2026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911431-9A63-D032-6F1D-77B010AED84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B8EB95-D005-F3CF-D6BC-4D7DB94F93BC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E6B3E7A-A41B-598D-DD37-F07A92D92E3A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11AEA3-35B8-D046-F418-7E2A779437F2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E0277-C7BD-0BEA-4ED5-5168DD17FF26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1126E-E0A3-D6BD-3881-719ADC4BC931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12" name="CaixaDeTexto 8">
            <a:extLst>
              <a:ext uri="{FF2B5EF4-FFF2-40B4-BE49-F238E27FC236}">
                <a16:creationId xmlns:a16="http://schemas.microsoft.com/office/drawing/2014/main" id="{507C0B50-29B8-E25D-880C-F18B3D65BFC2}"/>
              </a:ext>
            </a:extLst>
          </p:cNvPr>
          <p:cNvSpPr txBox="1"/>
          <p:nvPr/>
        </p:nvSpPr>
        <p:spPr>
          <a:xfrm>
            <a:off x="4450117" y="1272790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Motivação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F223001A-4203-646F-A1BE-9EEC0709F61A}"/>
              </a:ext>
            </a:extLst>
          </p:cNvPr>
          <p:cNvSpPr txBox="1"/>
          <p:nvPr/>
        </p:nvSpPr>
        <p:spPr>
          <a:xfrm>
            <a:off x="5012265" y="3688982"/>
            <a:ext cx="3924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 Teórico</a:t>
            </a:r>
          </a:p>
        </p:txBody>
      </p:sp>
      <p:sp>
        <p:nvSpPr>
          <p:cNvPr id="14" name="CaixaDeTexto 12">
            <a:extLst>
              <a:ext uri="{FF2B5EF4-FFF2-40B4-BE49-F238E27FC236}">
                <a16:creationId xmlns:a16="http://schemas.microsoft.com/office/drawing/2014/main" id="{F112EA03-EC23-F4C6-9F40-31E4AA7CF011}"/>
              </a:ext>
            </a:extLst>
          </p:cNvPr>
          <p:cNvSpPr txBox="1"/>
          <p:nvPr/>
        </p:nvSpPr>
        <p:spPr>
          <a:xfrm>
            <a:off x="4753482" y="4586302"/>
            <a:ext cx="223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</a:p>
        </p:txBody>
      </p:sp>
      <p:sp>
        <p:nvSpPr>
          <p:cNvPr id="15" name="CaixaDeTexto 13">
            <a:extLst>
              <a:ext uri="{FF2B5EF4-FFF2-40B4-BE49-F238E27FC236}">
                <a16:creationId xmlns:a16="http://schemas.microsoft.com/office/drawing/2014/main" id="{8F36499B-2487-7B28-7B22-0BEFF0873060}"/>
              </a:ext>
            </a:extLst>
          </p:cNvPr>
          <p:cNvSpPr txBox="1"/>
          <p:nvPr/>
        </p:nvSpPr>
        <p:spPr>
          <a:xfrm>
            <a:off x="1493269" y="1539704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Por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que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a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pergunta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é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importante</a:t>
            </a:r>
            <a:endParaRPr lang="en-US" sz="1000">
              <a:solidFill>
                <a:schemeClr val="tx1">
                  <a:lumMod val="49000"/>
                  <a:lumOff val="51000"/>
                </a:schemeClr>
              </a:solidFill>
              <a:latin typeface="Montserrat"/>
            </a:endParaRPr>
          </a:p>
        </p:txBody>
      </p:sp>
      <p:sp>
        <p:nvSpPr>
          <p:cNvPr id="16" name="CaixaDeTexto 14">
            <a:extLst>
              <a:ext uri="{FF2B5EF4-FFF2-40B4-BE49-F238E27FC236}">
                <a16:creationId xmlns:a16="http://schemas.microsoft.com/office/drawing/2014/main" id="{B5F667EF-80EA-339F-B560-FA013A1C7E8F}"/>
              </a:ext>
            </a:extLst>
          </p:cNvPr>
          <p:cNvSpPr txBox="1"/>
          <p:nvPr/>
        </p:nvSpPr>
        <p:spPr>
          <a:xfrm>
            <a:off x="2107016" y="3921088"/>
            <a:ext cx="273692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Montserrat"/>
                <a:cs typeface="Times New Roman"/>
              </a:rPr>
              <a:t>Aplicação</a:t>
            </a:r>
            <a:r>
              <a:rPr lang="en-US" sz="1000">
                <a:solidFill>
                  <a:schemeClr val="bg1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chemeClr val="bg1"/>
                </a:solidFill>
                <a:latin typeface="Montserrat"/>
                <a:cs typeface="Times New Roman"/>
              </a:rPr>
              <a:t>microeconômica</a:t>
            </a:r>
            <a:r>
              <a:rPr lang="en-US" sz="1000">
                <a:solidFill>
                  <a:schemeClr val="bg1"/>
                </a:solidFill>
                <a:latin typeface="Montserrat"/>
                <a:cs typeface="Times New Roman"/>
              </a:rPr>
              <a:t> e </a:t>
            </a:r>
            <a:r>
              <a:rPr lang="en-US" sz="1000" err="1">
                <a:solidFill>
                  <a:schemeClr val="bg1"/>
                </a:solidFill>
                <a:latin typeface="Montserrat"/>
                <a:cs typeface="Times New Roman"/>
              </a:rPr>
              <a:t>modelo</a:t>
            </a:r>
            <a:r>
              <a:rPr lang="en-US" sz="1000">
                <a:solidFill>
                  <a:schemeClr val="bg1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chemeClr val="bg1"/>
                </a:solidFill>
                <a:latin typeface="Montserrat"/>
                <a:cs typeface="Times New Roman"/>
              </a:rPr>
              <a:t>porposto</a:t>
            </a:r>
            <a:endParaRPr lang="pt-BR" sz="1000">
              <a:solidFill>
                <a:schemeClr val="bg1"/>
              </a:solidFill>
              <a:latin typeface="Montserrat"/>
              <a:cs typeface="Times New Roman"/>
            </a:endParaRPr>
          </a:p>
        </p:txBody>
      </p:sp>
      <p:sp>
        <p:nvSpPr>
          <p:cNvPr id="17" name="CaixaDeTexto 14">
            <a:extLst>
              <a:ext uri="{FF2B5EF4-FFF2-40B4-BE49-F238E27FC236}">
                <a16:creationId xmlns:a16="http://schemas.microsoft.com/office/drawing/2014/main" id="{973C8928-9E5F-B3CF-F6FE-EC7B55F9BB72}"/>
              </a:ext>
            </a:extLst>
          </p:cNvPr>
          <p:cNvSpPr txBox="1"/>
          <p:nvPr/>
        </p:nvSpPr>
        <p:spPr>
          <a:xfrm>
            <a:off x="1822880" y="4844550"/>
            <a:ext cx="2736922" cy="2462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formuladas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E6E1DF9-6C26-BD2F-A565-61C2FCD2B11D}"/>
              </a:ext>
            </a:extLst>
          </p:cNvPr>
          <p:cNvSpPr/>
          <p:nvPr/>
        </p:nvSpPr>
        <p:spPr>
          <a:xfrm rot="10800000">
            <a:off x="-3452695" y="114875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38">
            <a:extLst>
              <a:ext uri="{FF2B5EF4-FFF2-40B4-BE49-F238E27FC236}">
                <a16:creationId xmlns:a16="http://schemas.microsoft.com/office/drawing/2014/main" id="{5E26BF88-11A7-E355-FEC7-A7A1951E8611}"/>
              </a:ext>
            </a:extLst>
          </p:cNvPr>
          <p:cNvGrpSpPr/>
          <p:nvPr/>
        </p:nvGrpSpPr>
        <p:grpSpPr>
          <a:xfrm rot="10800000">
            <a:off x="1493269" y="1392755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20" name="Conector de Seta Reta 39">
              <a:extLst>
                <a:ext uri="{FF2B5EF4-FFF2-40B4-BE49-F238E27FC236}">
                  <a16:creationId xmlns:a16="http://schemas.microsoft.com/office/drawing/2014/main" id="{C187E52D-6F3D-3CB4-D37D-3BF51E8032C7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osango 43">
              <a:extLst>
                <a:ext uri="{FF2B5EF4-FFF2-40B4-BE49-F238E27FC236}">
                  <a16:creationId xmlns:a16="http://schemas.microsoft.com/office/drawing/2014/main" id="{CF6BC67F-5AB7-CF01-A5E7-D685C62DB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2" name="Agrupar 47">
            <a:extLst>
              <a:ext uri="{FF2B5EF4-FFF2-40B4-BE49-F238E27FC236}">
                <a16:creationId xmlns:a16="http://schemas.microsoft.com/office/drawing/2014/main" id="{1809554F-91AA-A21E-64F7-DD87062910E4}"/>
              </a:ext>
            </a:extLst>
          </p:cNvPr>
          <p:cNvGrpSpPr/>
          <p:nvPr/>
        </p:nvGrpSpPr>
        <p:grpSpPr>
          <a:xfrm rot="10800000">
            <a:off x="1847932" y="4705343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3" name="Conector de Seta Reta 48">
              <a:extLst>
                <a:ext uri="{FF2B5EF4-FFF2-40B4-BE49-F238E27FC236}">
                  <a16:creationId xmlns:a16="http://schemas.microsoft.com/office/drawing/2014/main" id="{161198D2-8778-3E57-AC1F-51F0B5D389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Losango 49">
              <a:extLst>
                <a:ext uri="{FF2B5EF4-FFF2-40B4-BE49-F238E27FC236}">
                  <a16:creationId xmlns:a16="http://schemas.microsoft.com/office/drawing/2014/main" id="{910F4273-FEA6-43DC-39FC-E74166E3AE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5" name="Agrupar 51">
            <a:extLst>
              <a:ext uri="{FF2B5EF4-FFF2-40B4-BE49-F238E27FC236}">
                <a16:creationId xmlns:a16="http://schemas.microsoft.com/office/drawing/2014/main" id="{3EAEEDC5-7729-6EA0-A356-67A81FA089B0}"/>
              </a:ext>
            </a:extLst>
          </p:cNvPr>
          <p:cNvGrpSpPr/>
          <p:nvPr/>
        </p:nvGrpSpPr>
        <p:grpSpPr>
          <a:xfrm rot="10800000">
            <a:off x="2107017" y="378339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6" name="Conector de Seta Reta 52">
              <a:extLst>
                <a:ext uri="{FF2B5EF4-FFF2-40B4-BE49-F238E27FC236}">
                  <a16:creationId xmlns:a16="http://schemas.microsoft.com/office/drawing/2014/main" id="{B26F3F5A-B587-E03C-9014-F4619ABE7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osango 53">
              <a:extLst>
                <a:ext uri="{FF2B5EF4-FFF2-40B4-BE49-F238E27FC236}">
                  <a16:creationId xmlns:a16="http://schemas.microsoft.com/office/drawing/2014/main" id="{A114230C-83B7-7E22-1F43-B141AEF08E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FFFF"/>
                </a:solidFill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FA92B97-3A13-9425-2342-9E53056679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E42976-0266-7736-09D1-F0CE12557A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27D47D55-42C3-4ADD-57C6-E8AEACD5D056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CABAD681-528D-F5A6-AE4D-579C1A806F1B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E3F1F8-DBAE-D15E-351B-08B1FD36AE72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E8C16E-0044-40C7-BE05-B83712D6BDB5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093643B7-E8CB-70EF-2C82-1A8176E5A4EE}"/>
              </a:ext>
            </a:extLst>
          </p:cNvPr>
          <p:cNvSpPr txBox="1"/>
          <p:nvPr/>
        </p:nvSpPr>
        <p:spPr>
          <a:xfrm>
            <a:off x="4896426" y="2044007"/>
            <a:ext cx="2825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i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  <a:cs typeface="Times New Roman"/>
              </a:rPr>
              <a:t>Pergunta</a:t>
            </a:r>
          </a:p>
        </p:txBody>
      </p:sp>
      <p:sp>
        <p:nvSpPr>
          <p:cNvPr id="35" name="CaixaDeTexto 13">
            <a:extLst>
              <a:ext uri="{FF2B5EF4-FFF2-40B4-BE49-F238E27FC236}">
                <a16:creationId xmlns:a16="http://schemas.microsoft.com/office/drawing/2014/main" id="{B9F033BF-8BE7-25DA-0081-DB85D9E1C571}"/>
              </a:ext>
            </a:extLst>
          </p:cNvPr>
          <p:cNvSpPr txBox="1"/>
          <p:nvPr/>
        </p:nvSpPr>
        <p:spPr>
          <a:xfrm>
            <a:off x="1939578" y="2288343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Pergunta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proposta</a:t>
            </a:r>
            <a:endParaRPr lang="pt-BR" sz="1000">
              <a:solidFill>
                <a:srgbClr val="7F7F7F"/>
              </a:solidFill>
              <a:latin typeface="Montserrat"/>
              <a:cs typeface="Times New Roman"/>
            </a:endParaRPr>
          </a:p>
        </p:txBody>
      </p:sp>
      <p:grpSp>
        <p:nvGrpSpPr>
          <p:cNvPr id="36" name="Agrupar 38">
            <a:extLst>
              <a:ext uri="{FF2B5EF4-FFF2-40B4-BE49-F238E27FC236}">
                <a16:creationId xmlns:a16="http://schemas.microsoft.com/office/drawing/2014/main" id="{56D7DABF-C5D8-F1F4-53CF-B1885EAECF3E}"/>
              </a:ext>
            </a:extLst>
          </p:cNvPr>
          <p:cNvGrpSpPr/>
          <p:nvPr/>
        </p:nvGrpSpPr>
        <p:grpSpPr>
          <a:xfrm rot="10800000">
            <a:off x="1939578" y="2141394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37" name="Conector de Seta Reta 39">
              <a:extLst>
                <a:ext uri="{FF2B5EF4-FFF2-40B4-BE49-F238E27FC236}">
                  <a16:creationId xmlns:a16="http://schemas.microsoft.com/office/drawing/2014/main" id="{12427657-7328-E92B-F374-2430A1A44D3F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osango 43">
              <a:extLst>
                <a:ext uri="{FF2B5EF4-FFF2-40B4-BE49-F238E27FC236}">
                  <a16:creationId xmlns:a16="http://schemas.microsoft.com/office/drawing/2014/main" id="{88AC7028-3DF2-AC8F-893A-DA52DCC9E5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234B9178-E87C-1128-6231-EED99E470C0D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C0D658-EECD-09EE-6D2B-DBF6934AB02E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41" name="CaixaDeTexto 8">
            <a:extLst>
              <a:ext uri="{FF2B5EF4-FFF2-40B4-BE49-F238E27FC236}">
                <a16:creationId xmlns:a16="http://schemas.microsoft.com/office/drawing/2014/main" id="{FC04F493-D525-C234-080B-E0A2A7D7504D}"/>
              </a:ext>
            </a:extLst>
          </p:cNvPr>
          <p:cNvSpPr txBox="1"/>
          <p:nvPr/>
        </p:nvSpPr>
        <p:spPr>
          <a:xfrm>
            <a:off x="5054805" y="2861891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</a:p>
        </p:txBody>
      </p:sp>
      <p:sp>
        <p:nvSpPr>
          <p:cNvPr id="42" name="CaixaDeTexto 13">
            <a:extLst>
              <a:ext uri="{FF2B5EF4-FFF2-40B4-BE49-F238E27FC236}">
                <a16:creationId xmlns:a16="http://schemas.microsoft.com/office/drawing/2014/main" id="{77C8F5E4-C4B6-64E6-FE66-609A316202C7}"/>
              </a:ext>
            </a:extLst>
          </p:cNvPr>
          <p:cNvSpPr txBox="1"/>
          <p:nvPr/>
        </p:nvSpPr>
        <p:spPr>
          <a:xfrm>
            <a:off x="2002260" y="3106227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Téorica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fundamentação</a:t>
            </a:r>
            <a:endParaRPr lang="en-US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3" name="Agrupar 38">
            <a:extLst>
              <a:ext uri="{FF2B5EF4-FFF2-40B4-BE49-F238E27FC236}">
                <a16:creationId xmlns:a16="http://schemas.microsoft.com/office/drawing/2014/main" id="{2213F220-EA9F-4C1C-A04F-D71DDC490C37}"/>
              </a:ext>
            </a:extLst>
          </p:cNvPr>
          <p:cNvGrpSpPr/>
          <p:nvPr/>
        </p:nvGrpSpPr>
        <p:grpSpPr>
          <a:xfrm rot="10800000">
            <a:off x="2097957" y="2959278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44" name="Conector de Seta Reta 39">
              <a:extLst>
                <a:ext uri="{FF2B5EF4-FFF2-40B4-BE49-F238E27FC236}">
                  <a16:creationId xmlns:a16="http://schemas.microsoft.com/office/drawing/2014/main" id="{61F4C1B4-EA52-B600-CAA9-2C2B0D57DFC7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osango 43">
              <a:extLst>
                <a:ext uri="{FF2B5EF4-FFF2-40B4-BE49-F238E27FC236}">
                  <a16:creationId xmlns:a16="http://schemas.microsoft.com/office/drawing/2014/main" id="{57ACC175-F5FB-C920-F430-6CF2C1ECA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7" name="CaixaDeTexto 12">
            <a:extLst>
              <a:ext uri="{FF2B5EF4-FFF2-40B4-BE49-F238E27FC236}">
                <a16:creationId xmlns:a16="http://schemas.microsoft.com/office/drawing/2014/main" id="{8A2EDEFE-92A7-BE8E-A5C7-BC6AF33A7551}"/>
              </a:ext>
            </a:extLst>
          </p:cNvPr>
          <p:cNvSpPr txBox="1"/>
          <p:nvPr/>
        </p:nvSpPr>
        <p:spPr>
          <a:xfrm>
            <a:off x="4108439" y="5355391"/>
            <a:ext cx="428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 Empírica</a:t>
            </a:r>
          </a:p>
        </p:txBody>
      </p:sp>
      <p:sp>
        <p:nvSpPr>
          <p:cNvPr id="48" name="CaixaDeTexto 14">
            <a:extLst>
              <a:ext uri="{FF2B5EF4-FFF2-40B4-BE49-F238E27FC236}">
                <a16:creationId xmlns:a16="http://schemas.microsoft.com/office/drawing/2014/main" id="{799F74ED-392D-EC7F-5EF5-7C01E232CAEE}"/>
              </a:ext>
            </a:extLst>
          </p:cNvPr>
          <p:cNvSpPr txBox="1"/>
          <p:nvPr/>
        </p:nvSpPr>
        <p:spPr>
          <a:xfrm>
            <a:off x="1177838" y="5613639"/>
            <a:ext cx="273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dos dados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realização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 teste empírico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9" name="Agrupar 47">
            <a:extLst>
              <a:ext uri="{FF2B5EF4-FFF2-40B4-BE49-F238E27FC236}">
                <a16:creationId xmlns:a16="http://schemas.microsoft.com/office/drawing/2014/main" id="{1A1EF67A-FF6B-3E18-0610-27F72B44A9EA}"/>
              </a:ext>
            </a:extLst>
          </p:cNvPr>
          <p:cNvGrpSpPr/>
          <p:nvPr/>
        </p:nvGrpSpPr>
        <p:grpSpPr>
          <a:xfrm rot="10800000">
            <a:off x="1202890" y="547443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50" name="Conector de Seta Reta 48">
              <a:extLst>
                <a:ext uri="{FF2B5EF4-FFF2-40B4-BE49-F238E27FC236}">
                  <a16:creationId xmlns:a16="http://schemas.microsoft.com/office/drawing/2014/main" id="{39B8D0D4-633B-D9BB-1162-4E94F288DB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Losango 49">
              <a:extLst>
                <a:ext uri="{FF2B5EF4-FFF2-40B4-BE49-F238E27FC236}">
                  <a16:creationId xmlns:a16="http://schemas.microsoft.com/office/drawing/2014/main" id="{176671B4-E41A-CD47-A3A7-C0C97F7B72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562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0F146C-89B5-EB90-3DBB-3884526E86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AD2358-6AFA-940D-0B39-1FBA1494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solidFill>
                  <a:srgbClr val="F0F6FC"/>
                </a:solidFill>
                <a:latin typeface="Montserrat"/>
              </a:rPr>
              <a:t>Como o médico escolhe onde trabalhar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4ED9C3-3C54-D164-32D9-30A472DD3F0F}"/>
              </a:ext>
            </a:extLst>
          </p:cNvPr>
          <p:cNvSpPr/>
          <p:nvPr/>
        </p:nvSpPr>
        <p:spPr>
          <a:xfrm>
            <a:off x="6454989" y="3857699"/>
            <a:ext cx="4246455" cy="26422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56429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932AE2-1856-7258-120A-4337AF0F362A}"/>
              </a:ext>
            </a:extLst>
          </p:cNvPr>
          <p:cNvSpPr/>
          <p:nvPr/>
        </p:nvSpPr>
        <p:spPr>
          <a:xfrm>
            <a:off x="1366085" y="3924872"/>
            <a:ext cx="3951466" cy="6111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56429"/>
              </a:solidFill>
              <a:latin typeface="Montserrat" panose="00000500000000000000" pitchFamily="2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F3E5567-D04D-047F-CEC4-BA0621FC0568}"/>
              </a:ext>
            </a:extLst>
          </p:cNvPr>
          <p:cNvCxnSpPr>
            <a:cxnSpLocks/>
          </p:cNvCxnSpPr>
          <p:nvPr/>
        </p:nvCxnSpPr>
        <p:spPr>
          <a:xfrm rot="5400000">
            <a:off x="1911687" y="1977685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F51D414-E6C9-562A-BCB4-2E421107F83B}"/>
              </a:ext>
            </a:extLst>
          </p:cNvPr>
          <p:cNvCxnSpPr>
            <a:cxnSpLocks/>
          </p:cNvCxnSpPr>
          <p:nvPr/>
        </p:nvCxnSpPr>
        <p:spPr>
          <a:xfrm rot="5400000">
            <a:off x="3694109" y="1997564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4CA28A6-6CF4-D27C-2FDC-2748783BCDD3}"/>
              </a:ext>
            </a:extLst>
          </p:cNvPr>
          <p:cNvCxnSpPr>
            <a:cxnSpLocks/>
          </p:cNvCxnSpPr>
          <p:nvPr/>
        </p:nvCxnSpPr>
        <p:spPr>
          <a:xfrm rot="5400000">
            <a:off x="5555671" y="1966379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523DB5D-6490-D7EF-1338-F19CF1DC2D7F}"/>
              </a:ext>
            </a:extLst>
          </p:cNvPr>
          <p:cNvCxnSpPr>
            <a:cxnSpLocks/>
          </p:cNvCxnSpPr>
          <p:nvPr/>
        </p:nvCxnSpPr>
        <p:spPr>
          <a:xfrm rot="5400000">
            <a:off x="7684458" y="1997564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67BC014-55CC-69AF-12BB-55C87B6F2ACF}"/>
              </a:ext>
            </a:extLst>
          </p:cNvPr>
          <p:cNvSpPr/>
          <p:nvPr/>
        </p:nvSpPr>
        <p:spPr>
          <a:xfrm>
            <a:off x="1802843" y="998323"/>
            <a:ext cx="7889358" cy="723061"/>
          </a:xfrm>
          <a:prstGeom prst="rect">
            <a:avLst/>
          </a:prstGeom>
          <a:solidFill>
            <a:schemeClr val="bg1"/>
          </a:solidFill>
          <a:ln w="38100">
            <a:solidFill>
              <a:srgbClr val="1147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8E1E4-9E6F-C8A8-A67F-394A2595E966}"/>
              </a:ext>
            </a:extLst>
          </p:cNvPr>
          <p:cNvSpPr txBox="1"/>
          <p:nvPr/>
        </p:nvSpPr>
        <p:spPr>
          <a:xfrm>
            <a:off x="5818189" y="2378511"/>
            <a:ext cx="1338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A8A762-1185-A539-168F-AAB260B851B1}"/>
              </a:ext>
            </a:extLst>
          </p:cNvPr>
          <p:cNvSpPr txBox="1"/>
          <p:nvPr/>
        </p:nvSpPr>
        <p:spPr>
          <a:xfrm>
            <a:off x="3970264" y="2389010"/>
            <a:ext cx="1338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24C52-0550-9B8E-EF86-442084F4E98F}"/>
              </a:ext>
            </a:extLst>
          </p:cNvPr>
          <p:cNvSpPr txBox="1"/>
          <p:nvPr/>
        </p:nvSpPr>
        <p:spPr>
          <a:xfrm>
            <a:off x="2154907" y="2396306"/>
            <a:ext cx="1498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CA34B7-1F39-71DB-4F75-F5789293AAD1}"/>
              </a:ext>
            </a:extLst>
          </p:cNvPr>
          <p:cNvSpPr txBox="1"/>
          <p:nvPr/>
        </p:nvSpPr>
        <p:spPr>
          <a:xfrm>
            <a:off x="7954983" y="2396306"/>
            <a:ext cx="22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  <a:r>
              <a:rPr lang="ar-AE" sz="1200">
                <a:latin typeface="Montserrat" panose="00000500000000000000" pitchFamily="2" charset="0"/>
              </a:rPr>
              <a:t>.</a:t>
            </a:r>
            <a:endParaRPr lang="pt-BR" sz="1200">
              <a:latin typeface="Montserrat" panose="00000500000000000000" pitchFamily="2" charset="0"/>
            </a:endParaRPr>
          </a:p>
        </p:txBody>
      </p:sp>
      <p:cxnSp>
        <p:nvCxnSpPr>
          <p:cNvPr id="24" name="Conector reto 19">
            <a:extLst>
              <a:ext uri="{FF2B5EF4-FFF2-40B4-BE49-F238E27FC236}">
                <a16:creationId xmlns:a16="http://schemas.microsoft.com/office/drawing/2014/main" id="{32E1527A-5045-2C12-A5EC-6848B9BC7328}"/>
              </a:ext>
            </a:extLst>
          </p:cNvPr>
          <p:cNvCxnSpPr>
            <a:cxnSpLocks/>
          </p:cNvCxnSpPr>
          <p:nvPr/>
        </p:nvCxnSpPr>
        <p:spPr>
          <a:xfrm flipH="1">
            <a:off x="1450452" y="3673097"/>
            <a:ext cx="3690508" cy="0"/>
          </a:xfrm>
          <a:prstGeom prst="line">
            <a:avLst/>
          </a:prstGeom>
          <a:ln>
            <a:solidFill>
              <a:srgbClr val="16513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1760E95-3D04-53B0-5356-B2E917D8B817}"/>
              </a:ext>
            </a:extLst>
          </p:cNvPr>
          <p:cNvSpPr/>
          <p:nvPr/>
        </p:nvSpPr>
        <p:spPr>
          <a:xfrm>
            <a:off x="1366084" y="4735946"/>
            <a:ext cx="1696720" cy="526045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C016F9-B086-005E-8AB7-A6BF23BF5CF7}"/>
              </a:ext>
            </a:extLst>
          </p:cNvPr>
          <p:cNvSpPr/>
          <p:nvPr/>
        </p:nvSpPr>
        <p:spPr>
          <a:xfrm>
            <a:off x="3670865" y="4735946"/>
            <a:ext cx="1646685" cy="494755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A2D2D4-5C04-6472-C96C-9F63EA1F7046}"/>
                  </a:ext>
                </a:extLst>
              </p:cNvPr>
              <p:cNvSpPr txBox="1"/>
              <p:nvPr/>
            </p:nvSpPr>
            <p:spPr>
              <a:xfrm>
                <a:off x="4002829" y="4801674"/>
                <a:ext cx="1205401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pt-BR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A2D2D4-5C04-6472-C96C-9F63EA1F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829" y="4801674"/>
                <a:ext cx="1205401" cy="3782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5E51CB-E864-3B0F-A00D-A7F4CCA49786}"/>
                  </a:ext>
                </a:extLst>
              </p:cNvPr>
              <p:cNvSpPr txBox="1"/>
              <p:nvPr/>
            </p:nvSpPr>
            <p:spPr>
              <a:xfrm>
                <a:off x="1416119" y="4755121"/>
                <a:ext cx="1646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pt-BR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5E51CB-E864-3B0F-A00D-A7F4CCA4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119" y="4755121"/>
                <a:ext cx="16466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quals 28">
            <a:extLst>
              <a:ext uri="{FF2B5EF4-FFF2-40B4-BE49-F238E27FC236}">
                <a16:creationId xmlns:a16="http://schemas.microsoft.com/office/drawing/2014/main" id="{74B28495-1C41-E361-07F8-132E1BD30C25}"/>
              </a:ext>
            </a:extLst>
          </p:cNvPr>
          <p:cNvSpPr/>
          <p:nvPr/>
        </p:nvSpPr>
        <p:spPr>
          <a:xfrm>
            <a:off x="3128196" y="4844145"/>
            <a:ext cx="477520" cy="293301"/>
          </a:xfrm>
          <a:prstGeom prst="mathEqual">
            <a:avLst/>
          </a:prstGeom>
          <a:solidFill>
            <a:srgbClr val="CBCBCB"/>
          </a:solidFill>
          <a:ln w="12700">
            <a:solidFill>
              <a:srgbClr val="3A9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805F51-A684-45A1-AC2B-6C1FCA0B6098}"/>
              </a:ext>
            </a:extLst>
          </p:cNvPr>
          <p:cNvSpPr txBox="1"/>
          <p:nvPr/>
        </p:nvSpPr>
        <p:spPr>
          <a:xfrm>
            <a:off x="1268465" y="5394049"/>
            <a:ext cx="199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rgbClr val="056429"/>
                </a:solidFill>
                <a:latin typeface="Montserrat" panose="00000500000000000000" pitchFamily="2" charset="0"/>
              </a:rPr>
              <a:t>X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E4B51A-3BD5-78A5-B841-EBB45A5C421A}"/>
              </a:ext>
            </a:extLst>
          </p:cNvPr>
          <p:cNvSpPr txBox="1"/>
          <p:nvPr/>
        </p:nvSpPr>
        <p:spPr>
          <a:xfrm>
            <a:off x="3811135" y="5422836"/>
            <a:ext cx="1498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rgbClr val="056429"/>
                </a:solidFill>
                <a:latin typeface="Montserrat" panose="00000500000000000000" pitchFamily="2" charset="0"/>
              </a:rPr>
              <a:t>X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2201AD-5AFA-89D4-708C-19A1F7A48855}"/>
              </a:ext>
            </a:extLst>
          </p:cNvPr>
          <p:cNvSpPr txBox="1"/>
          <p:nvPr/>
        </p:nvSpPr>
        <p:spPr>
          <a:xfrm>
            <a:off x="6454990" y="4764515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pt-BR"/>
          </a:p>
        </p:txBody>
      </p:sp>
      <p:cxnSp>
        <p:nvCxnSpPr>
          <p:cNvPr id="34" name="Conector reto 19">
            <a:extLst>
              <a:ext uri="{FF2B5EF4-FFF2-40B4-BE49-F238E27FC236}">
                <a16:creationId xmlns:a16="http://schemas.microsoft.com/office/drawing/2014/main" id="{22A96305-9DC7-563E-C0F9-D12AECF16E04}"/>
              </a:ext>
            </a:extLst>
          </p:cNvPr>
          <p:cNvCxnSpPr>
            <a:cxnSpLocks/>
          </p:cNvCxnSpPr>
          <p:nvPr/>
        </p:nvCxnSpPr>
        <p:spPr>
          <a:xfrm flipH="1">
            <a:off x="6626710" y="3662100"/>
            <a:ext cx="3690508" cy="0"/>
          </a:xfrm>
          <a:prstGeom prst="line">
            <a:avLst/>
          </a:prstGeom>
          <a:ln>
            <a:solidFill>
              <a:srgbClr val="16513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B98B469-69B2-9988-D313-06712BC99E25}"/>
              </a:ext>
            </a:extLst>
          </p:cNvPr>
          <p:cNvSpPr/>
          <p:nvPr/>
        </p:nvSpPr>
        <p:spPr>
          <a:xfrm>
            <a:off x="6449482" y="3824114"/>
            <a:ext cx="4262122" cy="352824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5D6807-1226-CEF9-7024-0D32C9EB33C8}"/>
              </a:ext>
            </a:extLst>
          </p:cNvPr>
          <p:cNvSpPr/>
          <p:nvPr/>
        </p:nvSpPr>
        <p:spPr>
          <a:xfrm>
            <a:off x="6454988" y="4704440"/>
            <a:ext cx="4262057" cy="352824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C96347A-61B9-6831-D35F-1F7D89F5306D}"/>
              </a:ext>
            </a:extLst>
          </p:cNvPr>
          <p:cNvSpPr/>
          <p:nvPr/>
        </p:nvSpPr>
        <p:spPr>
          <a:xfrm>
            <a:off x="6449482" y="5602665"/>
            <a:ext cx="4262122" cy="352824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0DC811-3565-337C-D41E-DD6BCB3E25E6}"/>
              </a:ext>
            </a:extLst>
          </p:cNvPr>
          <p:cNvSpPr txBox="1"/>
          <p:nvPr/>
        </p:nvSpPr>
        <p:spPr>
          <a:xfrm>
            <a:off x="1940272" y="3414933"/>
            <a:ext cx="3200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</a:rPr>
              <a:t>Derivação da Condição Ótima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DB3325-20F0-5A60-E701-3EBB263E6184}"/>
              </a:ext>
            </a:extLst>
          </p:cNvPr>
          <p:cNvSpPr txBox="1"/>
          <p:nvPr/>
        </p:nvSpPr>
        <p:spPr>
          <a:xfrm>
            <a:off x="6804612" y="3405873"/>
            <a:ext cx="3998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</a:rPr>
              <a:t>   Desdobramentos Microeconômicos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C5854-1F3E-B33B-3309-106F7639A4F4}"/>
                  </a:ext>
                </a:extLst>
              </p:cNvPr>
              <p:cNvSpPr txBox="1"/>
              <p:nvPr/>
            </p:nvSpPr>
            <p:spPr>
              <a:xfrm>
                <a:off x="2265491" y="1045286"/>
                <a:ext cx="6553781" cy="686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tabLst>
                    <a:tab pos="45085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𝑖𝑚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𝑖𝑚𝑡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𝑚𝑡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𝑖𝑚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,    </m:t>
                      </m:r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de-DE" i="1">
                          <a:latin typeface="Cambria Math" panose="02040503050406030204" pitchFamily="18" charset="0"/>
                        </a:rPr>
                        <m:t>∈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C5854-1F3E-B33B-3309-106F7639A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491" y="1045286"/>
                <a:ext cx="6553781" cy="6867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342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0F146C-89B5-EB90-3DBB-3884526E86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AD2358-6AFA-940D-0B39-1FBA1494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A infraestrutura reduz os custos de atuação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4ED9C3-3C54-D164-32D9-30A472DD3F0F}"/>
              </a:ext>
            </a:extLst>
          </p:cNvPr>
          <p:cNvSpPr/>
          <p:nvPr/>
        </p:nvSpPr>
        <p:spPr>
          <a:xfrm>
            <a:off x="6454989" y="3857699"/>
            <a:ext cx="4246455" cy="26422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56429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932AE2-1856-7258-120A-4337AF0F362A}"/>
              </a:ext>
            </a:extLst>
          </p:cNvPr>
          <p:cNvSpPr/>
          <p:nvPr/>
        </p:nvSpPr>
        <p:spPr>
          <a:xfrm>
            <a:off x="1366085" y="3924872"/>
            <a:ext cx="3951466" cy="6111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56429"/>
              </a:solidFill>
              <a:latin typeface="Montserrat" panose="00000500000000000000" pitchFamily="2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F3E5567-D04D-047F-CEC4-BA0621FC0568}"/>
              </a:ext>
            </a:extLst>
          </p:cNvPr>
          <p:cNvCxnSpPr>
            <a:cxnSpLocks/>
          </p:cNvCxnSpPr>
          <p:nvPr/>
        </p:nvCxnSpPr>
        <p:spPr>
          <a:xfrm rot="5400000">
            <a:off x="1911687" y="1977685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F51D414-E6C9-562A-BCB4-2E421107F83B}"/>
              </a:ext>
            </a:extLst>
          </p:cNvPr>
          <p:cNvCxnSpPr>
            <a:cxnSpLocks/>
          </p:cNvCxnSpPr>
          <p:nvPr/>
        </p:nvCxnSpPr>
        <p:spPr>
          <a:xfrm rot="5400000">
            <a:off x="3694109" y="1997564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4CA28A6-6CF4-D27C-2FDC-2748783BCDD3}"/>
              </a:ext>
            </a:extLst>
          </p:cNvPr>
          <p:cNvCxnSpPr>
            <a:cxnSpLocks/>
          </p:cNvCxnSpPr>
          <p:nvPr/>
        </p:nvCxnSpPr>
        <p:spPr>
          <a:xfrm rot="5400000">
            <a:off x="5555671" y="1966379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523DB5D-6490-D7EF-1338-F19CF1DC2D7F}"/>
              </a:ext>
            </a:extLst>
          </p:cNvPr>
          <p:cNvCxnSpPr>
            <a:cxnSpLocks/>
          </p:cNvCxnSpPr>
          <p:nvPr/>
        </p:nvCxnSpPr>
        <p:spPr>
          <a:xfrm rot="5400000">
            <a:off x="7684458" y="1997564"/>
            <a:ext cx="889538" cy="286686"/>
          </a:xfrm>
          <a:prstGeom prst="bentConnector3">
            <a:avLst>
              <a:gd name="adj1" fmla="val 8128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67BC014-55CC-69AF-12BB-55C87B6F2ACF}"/>
              </a:ext>
            </a:extLst>
          </p:cNvPr>
          <p:cNvSpPr/>
          <p:nvPr/>
        </p:nvSpPr>
        <p:spPr>
          <a:xfrm>
            <a:off x="1802843" y="1066057"/>
            <a:ext cx="7889358" cy="723061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B79C36-EDB8-C3C8-9E83-27FEC7A169EF}"/>
                  </a:ext>
                </a:extLst>
              </p:cNvPr>
              <p:cNvSpPr txBox="1"/>
              <p:nvPr/>
            </p:nvSpPr>
            <p:spPr>
              <a:xfrm>
                <a:off x="1286898" y="1108433"/>
                <a:ext cx="8759923" cy="28007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pt-BR" sz="2600">
                  <a:solidFill>
                    <a:schemeClr val="bg1"/>
                  </a:solidFill>
                </a:endParaRPr>
              </a:p>
              <a:p>
                <a:endParaRPr lang="pt-BR" sz="2600">
                  <a:solidFill>
                    <a:schemeClr val="bg1"/>
                  </a:solidFill>
                </a:endParaRPr>
              </a:p>
              <a:p>
                <a:endParaRPr lang="pt-BR" sz="2600">
                  <a:solidFill>
                    <a:schemeClr val="bg1"/>
                  </a:solidFill>
                </a:endParaRPr>
              </a:p>
              <a:p>
                <a:endParaRPr lang="pt-BR" sz="2600">
                  <a:solidFill>
                    <a:schemeClr val="bg1"/>
                  </a:solidFill>
                </a:endParaRPr>
              </a:p>
              <a:p>
                <a:endParaRPr lang="pt-BR" sz="2600">
                  <a:solidFill>
                    <a:schemeClr val="bg1"/>
                  </a:solidFill>
                </a:endParaRPr>
              </a:p>
              <a:p>
                <a:endParaRPr lang="pt-BR" sz="2600">
                  <a:solidFill>
                    <a:schemeClr val="bg1"/>
                  </a:solidFill>
                </a:endParaRPr>
              </a:p>
              <a:p>
                <a:endParaRPr lang="pt-BR" sz="26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B79C36-EDB8-C3C8-9E83-27FEC7A16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898" y="1108433"/>
                <a:ext cx="8759923" cy="28007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9A8E1E4-9E6F-C8A8-A67F-394A2595E966}"/>
              </a:ext>
            </a:extLst>
          </p:cNvPr>
          <p:cNvSpPr txBox="1"/>
          <p:nvPr/>
        </p:nvSpPr>
        <p:spPr>
          <a:xfrm>
            <a:off x="5818189" y="2378511"/>
            <a:ext cx="1338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A8A762-1185-A539-168F-AAB260B851B1}"/>
              </a:ext>
            </a:extLst>
          </p:cNvPr>
          <p:cNvSpPr txBox="1"/>
          <p:nvPr/>
        </p:nvSpPr>
        <p:spPr>
          <a:xfrm>
            <a:off x="3970264" y="2389010"/>
            <a:ext cx="1338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24C52-0550-9B8E-EF86-442084F4E98F}"/>
              </a:ext>
            </a:extLst>
          </p:cNvPr>
          <p:cNvSpPr txBox="1"/>
          <p:nvPr/>
        </p:nvSpPr>
        <p:spPr>
          <a:xfrm>
            <a:off x="2154907" y="2396306"/>
            <a:ext cx="1498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CA34B7-1F39-71DB-4F75-F5789293AAD1}"/>
              </a:ext>
            </a:extLst>
          </p:cNvPr>
          <p:cNvSpPr txBox="1"/>
          <p:nvPr/>
        </p:nvSpPr>
        <p:spPr>
          <a:xfrm>
            <a:off x="7954983" y="2396306"/>
            <a:ext cx="22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Montserrat" panose="00000500000000000000" pitchFamily="2" charset="0"/>
              </a:rPr>
              <a:t>X</a:t>
            </a:r>
            <a:r>
              <a:rPr lang="ar-AE" sz="1200">
                <a:latin typeface="Montserrat" panose="00000500000000000000" pitchFamily="2" charset="0"/>
              </a:rPr>
              <a:t>.</a:t>
            </a:r>
            <a:endParaRPr lang="pt-BR" sz="1200">
              <a:latin typeface="Montserrat" panose="00000500000000000000" pitchFamily="2" charset="0"/>
            </a:endParaRPr>
          </a:p>
        </p:txBody>
      </p:sp>
      <p:cxnSp>
        <p:nvCxnSpPr>
          <p:cNvPr id="24" name="Conector reto 19">
            <a:extLst>
              <a:ext uri="{FF2B5EF4-FFF2-40B4-BE49-F238E27FC236}">
                <a16:creationId xmlns:a16="http://schemas.microsoft.com/office/drawing/2014/main" id="{32E1527A-5045-2C12-A5EC-6848B9BC7328}"/>
              </a:ext>
            </a:extLst>
          </p:cNvPr>
          <p:cNvCxnSpPr>
            <a:cxnSpLocks/>
          </p:cNvCxnSpPr>
          <p:nvPr/>
        </p:nvCxnSpPr>
        <p:spPr>
          <a:xfrm flipH="1">
            <a:off x="1450452" y="3673097"/>
            <a:ext cx="3690508" cy="0"/>
          </a:xfrm>
          <a:prstGeom prst="line">
            <a:avLst/>
          </a:prstGeom>
          <a:ln>
            <a:solidFill>
              <a:srgbClr val="16513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1760E95-3D04-53B0-5356-B2E917D8B817}"/>
              </a:ext>
            </a:extLst>
          </p:cNvPr>
          <p:cNvSpPr/>
          <p:nvPr/>
        </p:nvSpPr>
        <p:spPr>
          <a:xfrm>
            <a:off x="1366084" y="4735946"/>
            <a:ext cx="1696720" cy="526045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C016F9-B086-005E-8AB7-A6BF23BF5CF7}"/>
              </a:ext>
            </a:extLst>
          </p:cNvPr>
          <p:cNvSpPr/>
          <p:nvPr/>
        </p:nvSpPr>
        <p:spPr>
          <a:xfrm>
            <a:off x="3670865" y="4735946"/>
            <a:ext cx="1646685" cy="494755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Montserrat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A2D2D4-5C04-6472-C96C-9F63EA1F7046}"/>
                  </a:ext>
                </a:extLst>
              </p:cNvPr>
              <p:cNvSpPr txBox="1"/>
              <p:nvPr/>
            </p:nvSpPr>
            <p:spPr>
              <a:xfrm>
                <a:off x="4002829" y="4801674"/>
                <a:ext cx="1205401" cy="378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pt-BR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A2D2D4-5C04-6472-C96C-9F63EA1F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829" y="4801674"/>
                <a:ext cx="1205401" cy="378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5E51CB-E864-3B0F-A00D-A7F4CCA49786}"/>
                  </a:ext>
                </a:extLst>
              </p:cNvPr>
              <p:cNvSpPr txBox="1"/>
              <p:nvPr/>
            </p:nvSpPr>
            <p:spPr>
              <a:xfrm>
                <a:off x="1416119" y="4755121"/>
                <a:ext cx="16466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pt-BR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5E51CB-E864-3B0F-A00D-A7F4CCA4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119" y="4755121"/>
                <a:ext cx="16466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quals 28">
            <a:extLst>
              <a:ext uri="{FF2B5EF4-FFF2-40B4-BE49-F238E27FC236}">
                <a16:creationId xmlns:a16="http://schemas.microsoft.com/office/drawing/2014/main" id="{74B28495-1C41-E361-07F8-132E1BD30C25}"/>
              </a:ext>
            </a:extLst>
          </p:cNvPr>
          <p:cNvSpPr/>
          <p:nvPr/>
        </p:nvSpPr>
        <p:spPr>
          <a:xfrm>
            <a:off x="3128196" y="4844145"/>
            <a:ext cx="477520" cy="293301"/>
          </a:xfrm>
          <a:prstGeom prst="mathEqual">
            <a:avLst/>
          </a:prstGeom>
          <a:solidFill>
            <a:srgbClr val="CBCBCB"/>
          </a:solidFill>
          <a:ln w="12700">
            <a:solidFill>
              <a:srgbClr val="3A9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805F51-A684-45A1-AC2B-6C1FCA0B6098}"/>
              </a:ext>
            </a:extLst>
          </p:cNvPr>
          <p:cNvSpPr txBox="1"/>
          <p:nvPr/>
        </p:nvSpPr>
        <p:spPr>
          <a:xfrm>
            <a:off x="1268465" y="5394049"/>
            <a:ext cx="199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rgbClr val="056429"/>
                </a:solidFill>
                <a:latin typeface="Montserrat" panose="00000500000000000000" pitchFamily="2" charset="0"/>
              </a:rPr>
              <a:t>X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E4B51A-3BD5-78A5-B841-EBB45A5C421A}"/>
              </a:ext>
            </a:extLst>
          </p:cNvPr>
          <p:cNvSpPr txBox="1"/>
          <p:nvPr/>
        </p:nvSpPr>
        <p:spPr>
          <a:xfrm>
            <a:off x="3811135" y="5422836"/>
            <a:ext cx="1498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rgbClr val="056429"/>
                </a:solidFill>
                <a:latin typeface="Montserrat" panose="00000500000000000000" pitchFamily="2" charset="0"/>
              </a:rPr>
              <a:t>X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2201AD-5AFA-89D4-708C-19A1F7A48855}"/>
              </a:ext>
            </a:extLst>
          </p:cNvPr>
          <p:cNvSpPr txBox="1"/>
          <p:nvPr/>
        </p:nvSpPr>
        <p:spPr>
          <a:xfrm>
            <a:off x="6454990" y="4764515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pt-BR"/>
          </a:p>
        </p:txBody>
      </p:sp>
      <p:cxnSp>
        <p:nvCxnSpPr>
          <p:cNvPr id="34" name="Conector reto 19">
            <a:extLst>
              <a:ext uri="{FF2B5EF4-FFF2-40B4-BE49-F238E27FC236}">
                <a16:creationId xmlns:a16="http://schemas.microsoft.com/office/drawing/2014/main" id="{22A96305-9DC7-563E-C0F9-D12AECF16E04}"/>
              </a:ext>
            </a:extLst>
          </p:cNvPr>
          <p:cNvCxnSpPr>
            <a:cxnSpLocks/>
          </p:cNvCxnSpPr>
          <p:nvPr/>
        </p:nvCxnSpPr>
        <p:spPr>
          <a:xfrm flipH="1">
            <a:off x="6626710" y="3662100"/>
            <a:ext cx="3690508" cy="0"/>
          </a:xfrm>
          <a:prstGeom prst="line">
            <a:avLst/>
          </a:prstGeom>
          <a:ln>
            <a:solidFill>
              <a:srgbClr val="16513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B98B469-69B2-9988-D313-06712BC99E25}"/>
              </a:ext>
            </a:extLst>
          </p:cNvPr>
          <p:cNvSpPr/>
          <p:nvPr/>
        </p:nvSpPr>
        <p:spPr>
          <a:xfrm>
            <a:off x="6449482" y="3824114"/>
            <a:ext cx="4262122" cy="352824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5D6807-1226-CEF9-7024-0D32C9EB33C8}"/>
              </a:ext>
            </a:extLst>
          </p:cNvPr>
          <p:cNvSpPr/>
          <p:nvPr/>
        </p:nvSpPr>
        <p:spPr>
          <a:xfrm>
            <a:off x="6454988" y="4704440"/>
            <a:ext cx="4262057" cy="352824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C96347A-61B9-6831-D35F-1F7D89F5306D}"/>
              </a:ext>
            </a:extLst>
          </p:cNvPr>
          <p:cNvSpPr/>
          <p:nvPr/>
        </p:nvSpPr>
        <p:spPr>
          <a:xfrm>
            <a:off x="6449482" y="5602665"/>
            <a:ext cx="4262122" cy="352824"/>
          </a:xfrm>
          <a:prstGeom prst="rect">
            <a:avLst/>
          </a:prstGeom>
          <a:solidFill>
            <a:srgbClr val="18401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Montserrat" panose="00000500000000000000" pitchFamily="2" charset="0"/>
              </a:rPr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0DC811-3565-337C-D41E-DD6BCB3E25E6}"/>
              </a:ext>
            </a:extLst>
          </p:cNvPr>
          <p:cNvSpPr txBox="1"/>
          <p:nvPr/>
        </p:nvSpPr>
        <p:spPr>
          <a:xfrm>
            <a:off x="1940272" y="3414933"/>
            <a:ext cx="3200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</a:rPr>
              <a:t>Derivação da Condição Ótima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DB3325-20F0-5A60-E701-3EBB263E6184}"/>
              </a:ext>
            </a:extLst>
          </p:cNvPr>
          <p:cNvSpPr txBox="1"/>
          <p:nvPr/>
        </p:nvSpPr>
        <p:spPr>
          <a:xfrm>
            <a:off x="6804612" y="3405873"/>
            <a:ext cx="3998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</a:rPr>
              <a:t>   Desdobramentos Microeconômicos</a:t>
            </a:r>
          </a:p>
        </p:txBody>
      </p:sp>
    </p:spTree>
    <p:extLst>
      <p:ext uri="{BB962C8B-B14F-4D97-AF65-F5344CB8AC3E}">
        <p14:creationId xmlns:p14="http://schemas.microsoft.com/office/powerpoint/2010/main" val="2473799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7F7A-F16A-0BCE-07AA-67E22198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EE2C4-FC82-B1C5-CD9C-3736C218150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B78B5-0329-2F58-48E4-74B0DC774E6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72514-114D-68F1-A927-74D63707C6B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14/09/2026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534570-2239-379C-E0EF-9C50DF88D84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F7588-827E-1D5D-0A81-55B4BCA139B1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6C6F9F-22E1-B809-F6E0-EFFCFF9A2705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A14773-A450-E732-55DC-7920A9AAE674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B58D14-0590-E364-CD77-1FDC9F51101E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B9A860-62B5-D375-03A6-C95430D22498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12" name="CaixaDeTexto 8">
            <a:extLst>
              <a:ext uri="{FF2B5EF4-FFF2-40B4-BE49-F238E27FC236}">
                <a16:creationId xmlns:a16="http://schemas.microsoft.com/office/drawing/2014/main" id="{92F29A6F-71BB-C45C-6E63-59A38F3359D2}"/>
              </a:ext>
            </a:extLst>
          </p:cNvPr>
          <p:cNvSpPr txBox="1"/>
          <p:nvPr/>
        </p:nvSpPr>
        <p:spPr>
          <a:xfrm>
            <a:off x="4450117" y="1272790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Motivação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C547D80D-03BB-3C49-6E19-5CBBA3867E33}"/>
              </a:ext>
            </a:extLst>
          </p:cNvPr>
          <p:cNvSpPr txBox="1"/>
          <p:nvPr/>
        </p:nvSpPr>
        <p:spPr>
          <a:xfrm>
            <a:off x="5012265" y="3688982"/>
            <a:ext cx="3924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 Teórico</a:t>
            </a:r>
          </a:p>
        </p:txBody>
      </p:sp>
      <p:sp>
        <p:nvSpPr>
          <p:cNvPr id="14" name="CaixaDeTexto 12">
            <a:extLst>
              <a:ext uri="{FF2B5EF4-FFF2-40B4-BE49-F238E27FC236}">
                <a16:creationId xmlns:a16="http://schemas.microsoft.com/office/drawing/2014/main" id="{F7C46663-C81B-2824-2881-5F5610D9A7A1}"/>
              </a:ext>
            </a:extLst>
          </p:cNvPr>
          <p:cNvSpPr txBox="1"/>
          <p:nvPr/>
        </p:nvSpPr>
        <p:spPr>
          <a:xfrm>
            <a:off x="4753482" y="4586302"/>
            <a:ext cx="223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</a:p>
        </p:txBody>
      </p:sp>
      <p:sp>
        <p:nvSpPr>
          <p:cNvPr id="15" name="CaixaDeTexto 13">
            <a:extLst>
              <a:ext uri="{FF2B5EF4-FFF2-40B4-BE49-F238E27FC236}">
                <a16:creationId xmlns:a16="http://schemas.microsoft.com/office/drawing/2014/main" id="{AB8EEAF2-806C-FDB0-4EAF-4F2B2E73B4BE}"/>
              </a:ext>
            </a:extLst>
          </p:cNvPr>
          <p:cNvSpPr txBox="1"/>
          <p:nvPr/>
        </p:nvSpPr>
        <p:spPr>
          <a:xfrm>
            <a:off x="1493269" y="1539704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Por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que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a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pergunta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é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importante</a:t>
            </a:r>
            <a:endParaRPr lang="en-US" sz="1000">
              <a:solidFill>
                <a:schemeClr val="tx1">
                  <a:lumMod val="49000"/>
                  <a:lumOff val="51000"/>
                </a:schemeClr>
              </a:solidFill>
              <a:latin typeface="Montserrat"/>
            </a:endParaRPr>
          </a:p>
        </p:txBody>
      </p:sp>
      <p:sp>
        <p:nvSpPr>
          <p:cNvPr id="16" name="CaixaDeTexto 14">
            <a:extLst>
              <a:ext uri="{FF2B5EF4-FFF2-40B4-BE49-F238E27FC236}">
                <a16:creationId xmlns:a16="http://schemas.microsoft.com/office/drawing/2014/main" id="{BE6B9F4A-DE66-D15E-6980-6EB034490DE8}"/>
              </a:ext>
            </a:extLst>
          </p:cNvPr>
          <p:cNvSpPr txBox="1"/>
          <p:nvPr/>
        </p:nvSpPr>
        <p:spPr>
          <a:xfrm>
            <a:off x="2107016" y="3921088"/>
            <a:ext cx="273692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Aplicação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microeconômica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e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modelo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porposto</a:t>
            </a:r>
            <a:endParaRPr lang="pt-BR" sz="1000">
              <a:solidFill>
                <a:srgbClr val="7F7F7F"/>
              </a:solidFill>
              <a:latin typeface="Montserrat"/>
              <a:cs typeface="Times New Roman"/>
            </a:endParaRPr>
          </a:p>
        </p:txBody>
      </p:sp>
      <p:sp>
        <p:nvSpPr>
          <p:cNvPr id="17" name="CaixaDeTexto 14">
            <a:extLst>
              <a:ext uri="{FF2B5EF4-FFF2-40B4-BE49-F238E27FC236}">
                <a16:creationId xmlns:a16="http://schemas.microsoft.com/office/drawing/2014/main" id="{90C0E85F-CD8E-38F8-8371-C735C71DF75E}"/>
              </a:ext>
            </a:extLst>
          </p:cNvPr>
          <p:cNvSpPr txBox="1"/>
          <p:nvPr/>
        </p:nvSpPr>
        <p:spPr>
          <a:xfrm>
            <a:off x="1822880" y="4844550"/>
            <a:ext cx="2736922" cy="2462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  <a:r>
              <a:rPr lang="en-US" sz="1000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formuladas</a:t>
            </a:r>
            <a:endParaRPr lang="pt-BR" sz="1000">
              <a:solidFill>
                <a:srgbClr val="FFFFF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8F7E646-C5A6-E83D-202F-A1BDE50C9B24}"/>
              </a:ext>
            </a:extLst>
          </p:cNvPr>
          <p:cNvSpPr/>
          <p:nvPr/>
        </p:nvSpPr>
        <p:spPr>
          <a:xfrm rot="10800000">
            <a:off x="-3452695" y="114875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38">
            <a:extLst>
              <a:ext uri="{FF2B5EF4-FFF2-40B4-BE49-F238E27FC236}">
                <a16:creationId xmlns:a16="http://schemas.microsoft.com/office/drawing/2014/main" id="{9DD8DA25-D83B-F754-354A-52932B1E6E86}"/>
              </a:ext>
            </a:extLst>
          </p:cNvPr>
          <p:cNvGrpSpPr/>
          <p:nvPr/>
        </p:nvGrpSpPr>
        <p:grpSpPr>
          <a:xfrm rot="10800000">
            <a:off x="1493269" y="1392755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20" name="Conector de Seta Reta 39">
              <a:extLst>
                <a:ext uri="{FF2B5EF4-FFF2-40B4-BE49-F238E27FC236}">
                  <a16:creationId xmlns:a16="http://schemas.microsoft.com/office/drawing/2014/main" id="{B99E1D5A-6EAC-0BF8-5A41-E4D9921CA4F1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osango 43">
              <a:extLst>
                <a:ext uri="{FF2B5EF4-FFF2-40B4-BE49-F238E27FC236}">
                  <a16:creationId xmlns:a16="http://schemas.microsoft.com/office/drawing/2014/main" id="{D1CB4555-4F27-BB52-24C8-ECD30C4B6C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2" name="Agrupar 47">
            <a:extLst>
              <a:ext uri="{FF2B5EF4-FFF2-40B4-BE49-F238E27FC236}">
                <a16:creationId xmlns:a16="http://schemas.microsoft.com/office/drawing/2014/main" id="{BF238BF0-DB53-7686-C768-A5273FE46E88}"/>
              </a:ext>
            </a:extLst>
          </p:cNvPr>
          <p:cNvGrpSpPr/>
          <p:nvPr/>
        </p:nvGrpSpPr>
        <p:grpSpPr>
          <a:xfrm rot="10800000">
            <a:off x="1847932" y="4705343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3" name="Conector de Seta Reta 48">
              <a:extLst>
                <a:ext uri="{FF2B5EF4-FFF2-40B4-BE49-F238E27FC236}">
                  <a16:creationId xmlns:a16="http://schemas.microsoft.com/office/drawing/2014/main" id="{68DF4BE4-B9DB-38E3-7659-18A815036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Losango 49">
              <a:extLst>
                <a:ext uri="{FF2B5EF4-FFF2-40B4-BE49-F238E27FC236}">
                  <a16:creationId xmlns:a16="http://schemas.microsoft.com/office/drawing/2014/main" id="{3EF7271E-787B-5F0E-BF1B-4CD716F7C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5" name="Agrupar 51">
            <a:extLst>
              <a:ext uri="{FF2B5EF4-FFF2-40B4-BE49-F238E27FC236}">
                <a16:creationId xmlns:a16="http://schemas.microsoft.com/office/drawing/2014/main" id="{F5554BC7-43A6-2393-52BC-E5AD6FB5234D}"/>
              </a:ext>
            </a:extLst>
          </p:cNvPr>
          <p:cNvGrpSpPr/>
          <p:nvPr/>
        </p:nvGrpSpPr>
        <p:grpSpPr>
          <a:xfrm rot="10800000">
            <a:off x="2107017" y="378339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6" name="Conector de Seta Reta 52">
              <a:extLst>
                <a:ext uri="{FF2B5EF4-FFF2-40B4-BE49-F238E27FC236}">
                  <a16:creationId xmlns:a16="http://schemas.microsoft.com/office/drawing/2014/main" id="{363DD454-4409-4C98-F818-7BCCA13CD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osango 53">
              <a:extLst>
                <a:ext uri="{FF2B5EF4-FFF2-40B4-BE49-F238E27FC236}">
                  <a16:creationId xmlns:a16="http://schemas.microsoft.com/office/drawing/2014/main" id="{44DF53BF-66C5-6090-BB01-480CC3A7E4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FFFF"/>
                </a:solidFill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0749450-70CB-A46F-66F2-47429AC3D6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66143BD-24C6-01E2-C673-085EE8C215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157AC8D-7016-8037-2DB9-E500BF7AD6B8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AE30D582-92B1-C1C2-BC74-145460445D8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4DF4C2-AA32-E405-1FC3-7AABC19B8278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BF2C2C-F875-DC90-FC54-5B3703374BCA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C7058B73-4559-4F37-BB0C-F376D295A771}"/>
              </a:ext>
            </a:extLst>
          </p:cNvPr>
          <p:cNvSpPr txBox="1"/>
          <p:nvPr/>
        </p:nvSpPr>
        <p:spPr>
          <a:xfrm>
            <a:off x="4896426" y="2044007"/>
            <a:ext cx="2825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i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  <a:cs typeface="Times New Roman"/>
              </a:rPr>
              <a:t>Pergunta</a:t>
            </a:r>
          </a:p>
        </p:txBody>
      </p:sp>
      <p:sp>
        <p:nvSpPr>
          <p:cNvPr id="35" name="CaixaDeTexto 13">
            <a:extLst>
              <a:ext uri="{FF2B5EF4-FFF2-40B4-BE49-F238E27FC236}">
                <a16:creationId xmlns:a16="http://schemas.microsoft.com/office/drawing/2014/main" id="{F04B402C-AD45-9242-B735-DE8C1CC5CDEA}"/>
              </a:ext>
            </a:extLst>
          </p:cNvPr>
          <p:cNvSpPr txBox="1"/>
          <p:nvPr/>
        </p:nvSpPr>
        <p:spPr>
          <a:xfrm>
            <a:off x="1939578" y="2288343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Pergunta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proposta</a:t>
            </a:r>
            <a:endParaRPr lang="pt-BR" sz="1000">
              <a:solidFill>
                <a:srgbClr val="7F7F7F"/>
              </a:solidFill>
              <a:latin typeface="Montserrat"/>
              <a:cs typeface="Times New Roman"/>
            </a:endParaRPr>
          </a:p>
        </p:txBody>
      </p:sp>
      <p:grpSp>
        <p:nvGrpSpPr>
          <p:cNvPr id="36" name="Agrupar 38">
            <a:extLst>
              <a:ext uri="{FF2B5EF4-FFF2-40B4-BE49-F238E27FC236}">
                <a16:creationId xmlns:a16="http://schemas.microsoft.com/office/drawing/2014/main" id="{A2823ADD-7A97-C5A5-8503-B689B55A3359}"/>
              </a:ext>
            </a:extLst>
          </p:cNvPr>
          <p:cNvGrpSpPr/>
          <p:nvPr/>
        </p:nvGrpSpPr>
        <p:grpSpPr>
          <a:xfrm rot="10800000">
            <a:off x="1939578" y="2141394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37" name="Conector de Seta Reta 39">
              <a:extLst>
                <a:ext uri="{FF2B5EF4-FFF2-40B4-BE49-F238E27FC236}">
                  <a16:creationId xmlns:a16="http://schemas.microsoft.com/office/drawing/2014/main" id="{681813F5-6FB0-F678-9E90-317E4C01BBF7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osango 43">
              <a:extLst>
                <a:ext uri="{FF2B5EF4-FFF2-40B4-BE49-F238E27FC236}">
                  <a16:creationId xmlns:a16="http://schemas.microsoft.com/office/drawing/2014/main" id="{FB75E6A1-B00D-52ED-6FFD-CA436D9CD8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4C7149-29B2-A6E6-972A-9BE63B697F7A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176597-8EFF-9A4A-D0CE-41058D67E3B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41" name="CaixaDeTexto 8">
            <a:extLst>
              <a:ext uri="{FF2B5EF4-FFF2-40B4-BE49-F238E27FC236}">
                <a16:creationId xmlns:a16="http://schemas.microsoft.com/office/drawing/2014/main" id="{76B2C434-05A1-1018-3562-F740790F32C0}"/>
              </a:ext>
            </a:extLst>
          </p:cNvPr>
          <p:cNvSpPr txBox="1"/>
          <p:nvPr/>
        </p:nvSpPr>
        <p:spPr>
          <a:xfrm>
            <a:off x="5054805" y="2861891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</a:p>
        </p:txBody>
      </p:sp>
      <p:sp>
        <p:nvSpPr>
          <p:cNvPr id="42" name="CaixaDeTexto 13">
            <a:extLst>
              <a:ext uri="{FF2B5EF4-FFF2-40B4-BE49-F238E27FC236}">
                <a16:creationId xmlns:a16="http://schemas.microsoft.com/office/drawing/2014/main" id="{E295BA95-2D2A-A2AC-C385-D9C6D956491A}"/>
              </a:ext>
            </a:extLst>
          </p:cNvPr>
          <p:cNvSpPr txBox="1"/>
          <p:nvPr/>
        </p:nvSpPr>
        <p:spPr>
          <a:xfrm>
            <a:off x="2002260" y="3106227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Téorica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fundamentação</a:t>
            </a:r>
            <a:endParaRPr lang="en-US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3" name="Agrupar 38">
            <a:extLst>
              <a:ext uri="{FF2B5EF4-FFF2-40B4-BE49-F238E27FC236}">
                <a16:creationId xmlns:a16="http://schemas.microsoft.com/office/drawing/2014/main" id="{F7A04237-2F37-7807-BD6A-38EDDDC12F44}"/>
              </a:ext>
            </a:extLst>
          </p:cNvPr>
          <p:cNvGrpSpPr/>
          <p:nvPr/>
        </p:nvGrpSpPr>
        <p:grpSpPr>
          <a:xfrm rot="10800000">
            <a:off x="2097957" y="2959278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44" name="Conector de Seta Reta 39">
              <a:extLst>
                <a:ext uri="{FF2B5EF4-FFF2-40B4-BE49-F238E27FC236}">
                  <a16:creationId xmlns:a16="http://schemas.microsoft.com/office/drawing/2014/main" id="{B8678B25-0CFA-F663-3D7B-D03AEF992254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osango 43">
              <a:extLst>
                <a:ext uri="{FF2B5EF4-FFF2-40B4-BE49-F238E27FC236}">
                  <a16:creationId xmlns:a16="http://schemas.microsoft.com/office/drawing/2014/main" id="{FFAA3969-B465-28E3-86D3-F155D7346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7" name="CaixaDeTexto 12">
            <a:extLst>
              <a:ext uri="{FF2B5EF4-FFF2-40B4-BE49-F238E27FC236}">
                <a16:creationId xmlns:a16="http://schemas.microsoft.com/office/drawing/2014/main" id="{1C672A29-4676-1872-D66C-85EE37F5CC70}"/>
              </a:ext>
            </a:extLst>
          </p:cNvPr>
          <p:cNvSpPr txBox="1"/>
          <p:nvPr/>
        </p:nvSpPr>
        <p:spPr>
          <a:xfrm>
            <a:off x="4108439" y="5355391"/>
            <a:ext cx="428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 Empírica</a:t>
            </a:r>
          </a:p>
        </p:txBody>
      </p:sp>
      <p:sp>
        <p:nvSpPr>
          <p:cNvPr id="48" name="CaixaDeTexto 14">
            <a:extLst>
              <a:ext uri="{FF2B5EF4-FFF2-40B4-BE49-F238E27FC236}">
                <a16:creationId xmlns:a16="http://schemas.microsoft.com/office/drawing/2014/main" id="{D4E29C1A-9998-29E7-1D57-6EFBCE682A0E}"/>
              </a:ext>
            </a:extLst>
          </p:cNvPr>
          <p:cNvSpPr txBox="1"/>
          <p:nvPr/>
        </p:nvSpPr>
        <p:spPr>
          <a:xfrm>
            <a:off x="1177838" y="5613639"/>
            <a:ext cx="273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dos dados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realização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 teste empírico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9" name="Agrupar 47">
            <a:extLst>
              <a:ext uri="{FF2B5EF4-FFF2-40B4-BE49-F238E27FC236}">
                <a16:creationId xmlns:a16="http://schemas.microsoft.com/office/drawing/2014/main" id="{5465DECC-B0B2-D4D3-9156-78975D1A0D7F}"/>
              </a:ext>
            </a:extLst>
          </p:cNvPr>
          <p:cNvGrpSpPr/>
          <p:nvPr/>
        </p:nvGrpSpPr>
        <p:grpSpPr>
          <a:xfrm rot="10800000">
            <a:off x="1202890" y="547443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50" name="Conector de Seta Reta 48">
              <a:extLst>
                <a:ext uri="{FF2B5EF4-FFF2-40B4-BE49-F238E27FC236}">
                  <a16:creationId xmlns:a16="http://schemas.microsoft.com/office/drawing/2014/main" id="{34C33C5C-35CE-6356-D533-FEE6E3DD05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Losango 49">
              <a:extLst>
                <a:ext uri="{FF2B5EF4-FFF2-40B4-BE49-F238E27FC236}">
                  <a16:creationId xmlns:a16="http://schemas.microsoft.com/office/drawing/2014/main" id="{C3F6A0CE-E716-6E8E-262F-86D2ED6362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405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89C2A9-1FE1-3820-81AF-28141BF8B9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84B37A-B3DE-F11B-76E7-E49EC370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b="1" i="0">
                <a:solidFill>
                  <a:srgbClr val="F0F6FC"/>
                </a:solidFill>
                <a:effectLst/>
              </a:rPr>
              <a:t>Da condição de aceitação saem duas hipóteses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2961C-C7D2-715E-BDB0-D1AED9347D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F9398-57CA-FB74-3ECE-1CDC34DBA1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52CEF1-58E0-88A4-C3CB-F44E02EF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1D9B16-8497-E3B4-199B-3EE7E65EDA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1058BF-CD6D-7E36-715D-8E6E1BA37E0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B937F8-EA2E-9E4A-9133-2024229ABC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645E88-02BF-37FC-B0B3-DA0875FD51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1A06E7-2C05-70B9-A7AD-BA40965D54A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13" name="Retângulo 4">
            <a:extLst>
              <a:ext uri="{FF2B5EF4-FFF2-40B4-BE49-F238E27FC236}">
                <a16:creationId xmlns:a16="http://schemas.microsoft.com/office/drawing/2014/main" id="{B78AA46F-90AF-D1FF-8EAC-A01D62419FC2}"/>
              </a:ext>
            </a:extLst>
          </p:cNvPr>
          <p:cNvSpPr/>
          <p:nvPr/>
        </p:nvSpPr>
        <p:spPr>
          <a:xfrm>
            <a:off x="0" y="643702"/>
            <a:ext cx="12192000" cy="6221035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BA01A287-04D2-99C8-274E-005B40711E99}"/>
              </a:ext>
            </a:extLst>
          </p:cNvPr>
          <p:cNvSpPr/>
          <p:nvPr/>
        </p:nvSpPr>
        <p:spPr>
          <a:xfrm rot="16200000">
            <a:off x="4714628" y="-1649101"/>
            <a:ext cx="2762250" cy="10602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E47137BB-208B-3877-A7C4-1CCFE68CB381}"/>
              </a:ext>
            </a:extLst>
          </p:cNvPr>
          <p:cNvSpPr/>
          <p:nvPr/>
        </p:nvSpPr>
        <p:spPr>
          <a:xfrm rot="16200000">
            <a:off x="5770434" y="-3348813"/>
            <a:ext cx="650639" cy="10602857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ixaDeTexto 3">
            <a:extLst>
              <a:ext uri="{FF2B5EF4-FFF2-40B4-BE49-F238E27FC236}">
                <a16:creationId xmlns:a16="http://schemas.microsoft.com/office/drawing/2014/main" id="{390550E7-1A75-C8ED-A1AE-66F7A0F55B7F}"/>
              </a:ext>
            </a:extLst>
          </p:cNvPr>
          <p:cNvSpPr txBox="1"/>
          <p:nvPr/>
        </p:nvSpPr>
        <p:spPr>
          <a:xfrm>
            <a:off x="1039891" y="3108060"/>
            <a:ext cx="10110283" cy="11378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>
                <a:latin typeface="Montserrat"/>
              </a:rPr>
              <a:t> I   </a:t>
            </a:r>
            <a:r>
              <a:rPr lang="pt-BR" sz="2400" b="1" i="0">
                <a:effectLst/>
                <a:latin typeface="Montserrat"/>
              </a:rPr>
              <a:t>Quanto maior o incentivo financeiro, maior a probabilidade de </a:t>
            </a:r>
            <a:r>
              <a:rPr lang="pt-BR" sz="2400" b="1">
                <a:latin typeface="Montserrat"/>
              </a:rPr>
              <a:t>ocupação</a:t>
            </a:r>
            <a:r>
              <a:rPr lang="pt-BR" sz="2400" b="1" i="0">
                <a:effectLst/>
                <a:latin typeface="Montserrat"/>
              </a:rPr>
              <a:t> da vaga</a:t>
            </a:r>
            <a:endParaRPr lang="pt-BR" sz="2400" b="1">
              <a:latin typeface="Montserra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1B53F1-6190-C02D-6F13-54303A8AE1C0}"/>
              </a:ext>
            </a:extLst>
          </p:cNvPr>
          <p:cNvSpPr/>
          <p:nvPr/>
        </p:nvSpPr>
        <p:spPr>
          <a:xfrm>
            <a:off x="1038649" y="3225114"/>
            <a:ext cx="444778" cy="449986"/>
          </a:xfrm>
          <a:prstGeom prst="ellipse">
            <a:avLst/>
          </a:prstGeom>
          <a:noFill/>
          <a:ln>
            <a:solidFill>
              <a:srgbClr val="0564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3">
            <a:extLst>
              <a:ext uri="{FF2B5EF4-FFF2-40B4-BE49-F238E27FC236}">
                <a16:creationId xmlns:a16="http://schemas.microsoft.com/office/drawing/2014/main" id="{4A489017-4DE9-7AF2-0EA5-38D2903DAF93}"/>
              </a:ext>
            </a:extLst>
          </p:cNvPr>
          <p:cNvSpPr txBox="1"/>
          <p:nvPr/>
        </p:nvSpPr>
        <p:spPr>
          <a:xfrm>
            <a:off x="3748931" y="1748712"/>
            <a:ext cx="45218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>
                <a:solidFill>
                  <a:schemeClr val="bg1"/>
                </a:solidFill>
                <a:latin typeface="Montserrat" panose="00000500000000000000" pitchFamily="2" charset="0"/>
              </a:rPr>
              <a:t>HIPÓTESE ECONÔMICA</a:t>
            </a:r>
            <a:endParaRPr lang="pt-BR" sz="22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68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9B2A4-655C-4DA6-9786-E1F832DD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106E5-4536-4F14-4901-6AA5C83D940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3AF7-2565-461F-47D3-C209B418B9E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8BFB-35F5-C0BA-C73C-7FB2B201D6A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14/09/2026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185ED85-2C2C-D4C0-9988-09D0205ED72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298DE-A9DD-B09E-5DC9-D367759FA8FC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7D1334-6927-57FB-1121-92C06710A61A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EB0AF-1856-73A9-8173-199455667DFB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A6575-5A7E-F0B5-8C38-D30701A064C9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44A7BA-AB9D-DB67-E586-D01447CFBE0E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12" name="CaixaDeTexto 8">
            <a:extLst>
              <a:ext uri="{FF2B5EF4-FFF2-40B4-BE49-F238E27FC236}">
                <a16:creationId xmlns:a16="http://schemas.microsoft.com/office/drawing/2014/main" id="{9A719C74-E08D-B6A7-8152-FF16C701DF4E}"/>
              </a:ext>
            </a:extLst>
          </p:cNvPr>
          <p:cNvSpPr txBox="1"/>
          <p:nvPr/>
        </p:nvSpPr>
        <p:spPr>
          <a:xfrm>
            <a:off x="4450117" y="1272790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Motivação</a:t>
            </a:r>
          </a:p>
        </p:txBody>
      </p:sp>
      <p:sp>
        <p:nvSpPr>
          <p:cNvPr id="13" name="CaixaDeTexto 10">
            <a:extLst>
              <a:ext uri="{FF2B5EF4-FFF2-40B4-BE49-F238E27FC236}">
                <a16:creationId xmlns:a16="http://schemas.microsoft.com/office/drawing/2014/main" id="{F3F5CED5-A6FC-B362-08C6-0ACB6F63743D}"/>
              </a:ext>
            </a:extLst>
          </p:cNvPr>
          <p:cNvSpPr txBox="1"/>
          <p:nvPr/>
        </p:nvSpPr>
        <p:spPr>
          <a:xfrm>
            <a:off x="5012265" y="3688982"/>
            <a:ext cx="3924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Modelo Teórico</a:t>
            </a:r>
          </a:p>
        </p:txBody>
      </p:sp>
      <p:sp>
        <p:nvSpPr>
          <p:cNvPr id="14" name="CaixaDeTexto 12">
            <a:extLst>
              <a:ext uri="{FF2B5EF4-FFF2-40B4-BE49-F238E27FC236}">
                <a16:creationId xmlns:a16="http://schemas.microsoft.com/office/drawing/2014/main" id="{0C3ABC64-C107-0145-FC77-5F402686AE13}"/>
              </a:ext>
            </a:extLst>
          </p:cNvPr>
          <p:cNvSpPr txBox="1"/>
          <p:nvPr/>
        </p:nvSpPr>
        <p:spPr>
          <a:xfrm>
            <a:off x="4753482" y="4586302"/>
            <a:ext cx="223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</a:p>
        </p:txBody>
      </p:sp>
      <p:sp>
        <p:nvSpPr>
          <p:cNvPr id="15" name="CaixaDeTexto 13">
            <a:extLst>
              <a:ext uri="{FF2B5EF4-FFF2-40B4-BE49-F238E27FC236}">
                <a16:creationId xmlns:a16="http://schemas.microsoft.com/office/drawing/2014/main" id="{1C1B0E79-03CD-9B1A-84B0-E6D8F793ACED}"/>
              </a:ext>
            </a:extLst>
          </p:cNvPr>
          <p:cNvSpPr txBox="1"/>
          <p:nvPr/>
        </p:nvSpPr>
        <p:spPr>
          <a:xfrm>
            <a:off x="1493269" y="1539704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Por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que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a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pergunta</a:t>
            </a:r>
            <a:r>
              <a:rPr lang="en-US" sz="1000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 é </a:t>
            </a:r>
            <a:r>
              <a:rPr lang="en-US" sz="1000" err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</a:rPr>
              <a:t>importante</a:t>
            </a:r>
            <a:endParaRPr lang="en-US" sz="1000">
              <a:solidFill>
                <a:schemeClr val="tx1">
                  <a:lumMod val="49000"/>
                  <a:lumOff val="51000"/>
                </a:schemeClr>
              </a:solidFill>
              <a:latin typeface="Montserrat"/>
            </a:endParaRPr>
          </a:p>
        </p:txBody>
      </p:sp>
      <p:sp>
        <p:nvSpPr>
          <p:cNvPr id="16" name="CaixaDeTexto 14">
            <a:extLst>
              <a:ext uri="{FF2B5EF4-FFF2-40B4-BE49-F238E27FC236}">
                <a16:creationId xmlns:a16="http://schemas.microsoft.com/office/drawing/2014/main" id="{88DF1B68-695C-E9FB-A575-41D14FA58074}"/>
              </a:ext>
            </a:extLst>
          </p:cNvPr>
          <p:cNvSpPr txBox="1"/>
          <p:nvPr/>
        </p:nvSpPr>
        <p:spPr>
          <a:xfrm>
            <a:off x="2107016" y="3921088"/>
            <a:ext cx="273692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Aplicação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microeconômica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e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modelo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porposto</a:t>
            </a:r>
            <a:endParaRPr lang="pt-BR" sz="1000">
              <a:solidFill>
                <a:srgbClr val="7F7F7F"/>
              </a:solidFill>
              <a:latin typeface="Montserrat"/>
              <a:cs typeface="Times New Roman"/>
            </a:endParaRPr>
          </a:p>
        </p:txBody>
      </p:sp>
      <p:sp>
        <p:nvSpPr>
          <p:cNvPr id="17" name="CaixaDeTexto 14">
            <a:extLst>
              <a:ext uri="{FF2B5EF4-FFF2-40B4-BE49-F238E27FC236}">
                <a16:creationId xmlns:a16="http://schemas.microsoft.com/office/drawing/2014/main" id="{B4BE89EA-661D-1A58-415F-3C8767B209F3}"/>
              </a:ext>
            </a:extLst>
          </p:cNvPr>
          <p:cNvSpPr txBox="1"/>
          <p:nvPr/>
        </p:nvSpPr>
        <p:spPr>
          <a:xfrm>
            <a:off x="1822880" y="4844550"/>
            <a:ext cx="2736922" cy="24622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Hipóteses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formuladas</a:t>
            </a:r>
            <a:endParaRPr lang="pt-BR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87AF0B51-A521-A5BA-E9C1-5A267C6A3DC8}"/>
              </a:ext>
            </a:extLst>
          </p:cNvPr>
          <p:cNvSpPr/>
          <p:nvPr/>
        </p:nvSpPr>
        <p:spPr>
          <a:xfrm rot="10800000">
            <a:off x="-3452695" y="114875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19" name="Agrupar 38">
            <a:extLst>
              <a:ext uri="{FF2B5EF4-FFF2-40B4-BE49-F238E27FC236}">
                <a16:creationId xmlns:a16="http://schemas.microsoft.com/office/drawing/2014/main" id="{C13D166F-0158-7F7E-D7F8-8F3B92F2542B}"/>
              </a:ext>
            </a:extLst>
          </p:cNvPr>
          <p:cNvGrpSpPr/>
          <p:nvPr/>
        </p:nvGrpSpPr>
        <p:grpSpPr>
          <a:xfrm rot="10800000">
            <a:off x="1493269" y="1392755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20" name="Conector de Seta Reta 39">
              <a:extLst>
                <a:ext uri="{FF2B5EF4-FFF2-40B4-BE49-F238E27FC236}">
                  <a16:creationId xmlns:a16="http://schemas.microsoft.com/office/drawing/2014/main" id="{C39AD6DD-5BB3-81AB-B718-93B84BFF9206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osango 43">
              <a:extLst>
                <a:ext uri="{FF2B5EF4-FFF2-40B4-BE49-F238E27FC236}">
                  <a16:creationId xmlns:a16="http://schemas.microsoft.com/office/drawing/2014/main" id="{97D6F470-828C-3D81-7478-A05E9E0EF7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2" name="Agrupar 47">
            <a:extLst>
              <a:ext uri="{FF2B5EF4-FFF2-40B4-BE49-F238E27FC236}">
                <a16:creationId xmlns:a16="http://schemas.microsoft.com/office/drawing/2014/main" id="{66689F68-BF99-E7C8-F1D1-5AB3893D87D2}"/>
              </a:ext>
            </a:extLst>
          </p:cNvPr>
          <p:cNvGrpSpPr/>
          <p:nvPr/>
        </p:nvGrpSpPr>
        <p:grpSpPr>
          <a:xfrm rot="10800000">
            <a:off x="1847932" y="4705343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3" name="Conector de Seta Reta 48">
              <a:extLst>
                <a:ext uri="{FF2B5EF4-FFF2-40B4-BE49-F238E27FC236}">
                  <a16:creationId xmlns:a16="http://schemas.microsoft.com/office/drawing/2014/main" id="{076C8899-0056-A72E-9E09-174623B34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Losango 49">
              <a:extLst>
                <a:ext uri="{FF2B5EF4-FFF2-40B4-BE49-F238E27FC236}">
                  <a16:creationId xmlns:a16="http://schemas.microsoft.com/office/drawing/2014/main" id="{A51E624D-28CC-A645-96F4-669C62F6A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grpSp>
        <p:nvGrpSpPr>
          <p:cNvPr id="25" name="Agrupar 51">
            <a:extLst>
              <a:ext uri="{FF2B5EF4-FFF2-40B4-BE49-F238E27FC236}">
                <a16:creationId xmlns:a16="http://schemas.microsoft.com/office/drawing/2014/main" id="{65071601-F6E2-2C25-1070-3D355127CF98}"/>
              </a:ext>
            </a:extLst>
          </p:cNvPr>
          <p:cNvGrpSpPr/>
          <p:nvPr/>
        </p:nvGrpSpPr>
        <p:grpSpPr>
          <a:xfrm rot="10800000">
            <a:off x="2107017" y="378339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26" name="Conector de Seta Reta 52">
              <a:extLst>
                <a:ext uri="{FF2B5EF4-FFF2-40B4-BE49-F238E27FC236}">
                  <a16:creationId xmlns:a16="http://schemas.microsoft.com/office/drawing/2014/main" id="{6CD6F03B-4907-28FD-892D-850A859B1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Losango 53">
              <a:extLst>
                <a:ext uri="{FF2B5EF4-FFF2-40B4-BE49-F238E27FC236}">
                  <a16:creationId xmlns:a16="http://schemas.microsoft.com/office/drawing/2014/main" id="{442D4549-0420-E108-2135-BC520142DC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FFFF"/>
                </a:solidFill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945C7E07-1B23-4484-CDB1-3D63B6268D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024853-6675-985C-99C2-92D3FC26B8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D543D56-72AB-5767-CB1B-0E85D29A8B0A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A4B98FE3-DBB6-5945-F557-1D64E9F103E6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9233CB-CAC2-C6B6-55EF-382460C7F013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A40920-D72C-8C40-3C05-52D3E7C90601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3D34E0A5-7A4C-69C2-9EFF-930437153C0C}"/>
              </a:ext>
            </a:extLst>
          </p:cNvPr>
          <p:cNvSpPr txBox="1"/>
          <p:nvPr/>
        </p:nvSpPr>
        <p:spPr>
          <a:xfrm>
            <a:off x="4896426" y="2044007"/>
            <a:ext cx="28252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i="1">
                <a:solidFill>
                  <a:schemeClr val="tx1">
                    <a:lumMod val="49000"/>
                    <a:lumOff val="51000"/>
                  </a:schemeClr>
                </a:solidFill>
                <a:latin typeface="Montserrat"/>
                <a:cs typeface="Times New Roman"/>
              </a:rPr>
              <a:t>Pergunta</a:t>
            </a:r>
          </a:p>
        </p:txBody>
      </p:sp>
      <p:sp>
        <p:nvSpPr>
          <p:cNvPr id="35" name="CaixaDeTexto 13">
            <a:extLst>
              <a:ext uri="{FF2B5EF4-FFF2-40B4-BE49-F238E27FC236}">
                <a16:creationId xmlns:a16="http://schemas.microsoft.com/office/drawing/2014/main" id="{8B63D298-E653-8894-5A7A-AE7B4410D28C}"/>
              </a:ext>
            </a:extLst>
          </p:cNvPr>
          <p:cNvSpPr txBox="1"/>
          <p:nvPr/>
        </p:nvSpPr>
        <p:spPr>
          <a:xfrm>
            <a:off x="1939578" y="2288343"/>
            <a:ext cx="281160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Pergunta</a:t>
            </a:r>
            <a:r>
              <a:rPr lang="en-US" sz="1000">
                <a:solidFill>
                  <a:srgbClr val="7F7F7F"/>
                </a:solidFill>
                <a:latin typeface="Montserrat"/>
                <a:cs typeface="Times New Roman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/>
                <a:cs typeface="Times New Roman"/>
              </a:rPr>
              <a:t>proposta</a:t>
            </a:r>
            <a:endParaRPr lang="pt-BR" sz="1000">
              <a:solidFill>
                <a:srgbClr val="7F7F7F"/>
              </a:solidFill>
              <a:latin typeface="Montserrat"/>
              <a:cs typeface="Times New Roman"/>
            </a:endParaRPr>
          </a:p>
        </p:txBody>
      </p:sp>
      <p:grpSp>
        <p:nvGrpSpPr>
          <p:cNvPr id="36" name="Agrupar 38">
            <a:extLst>
              <a:ext uri="{FF2B5EF4-FFF2-40B4-BE49-F238E27FC236}">
                <a16:creationId xmlns:a16="http://schemas.microsoft.com/office/drawing/2014/main" id="{C6A1F4C1-63C0-6669-7C12-C9E54085DC30}"/>
              </a:ext>
            </a:extLst>
          </p:cNvPr>
          <p:cNvGrpSpPr/>
          <p:nvPr/>
        </p:nvGrpSpPr>
        <p:grpSpPr>
          <a:xfrm rot="10800000">
            <a:off x="1939578" y="2141394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37" name="Conector de Seta Reta 39">
              <a:extLst>
                <a:ext uri="{FF2B5EF4-FFF2-40B4-BE49-F238E27FC236}">
                  <a16:creationId xmlns:a16="http://schemas.microsoft.com/office/drawing/2014/main" id="{5E193D27-F32E-B0C8-030C-44A3E28C6AEF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osango 43">
              <a:extLst>
                <a:ext uri="{FF2B5EF4-FFF2-40B4-BE49-F238E27FC236}">
                  <a16:creationId xmlns:a16="http://schemas.microsoft.com/office/drawing/2014/main" id="{62797306-6D32-5D53-099C-7D914AA42C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90D5A25F-AC85-4ADA-05E8-178491D9EEA1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F8C757-A65C-45C1-C75B-FCD70294036B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41" name="CaixaDeTexto 8">
            <a:extLst>
              <a:ext uri="{FF2B5EF4-FFF2-40B4-BE49-F238E27FC236}">
                <a16:creationId xmlns:a16="http://schemas.microsoft.com/office/drawing/2014/main" id="{529EA294-EA89-CFCA-8C91-A2537A14E63D}"/>
              </a:ext>
            </a:extLst>
          </p:cNvPr>
          <p:cNvSpPr txBox="1"/>
          <p:nvPr/>
        </p:nvSpPr>
        <p:spPr>
          <a:xfrm>
            <a:off x="5054805" y="2861891"/>
            <a:ext cx="282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</a:p>
        </p:txBody>
      </p:sp>
      <p:sp>
        <p:nvSpPr>
          <p:cNvPr id="42" name="CaixaDeTexto 13">
            <a:extLst>
              <a:ext uri="{FF2B5EF4-FFF2-40B4-BE49-F238E27FC236}">
                <a16:creationId xmlns:a16="http://schemas.microsoft.com/office/drawing/2014/main" id="{67F9D46C-3FB3-88E0-6263-1E960DF3C9F2}"/>
              </a:ext>
            </a:extLst>
          </p:cNvPr>
          <p:cNvSpPr txBox="1"/>
          <p:nvPr/>
        </p:nvSpPr>
        <p:spPr>
          <a:xfrm>
            <a:off x="2002260" y="3106227"/>
            <a:ext cx="281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Literatura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Téorica</a:t>
            </a:r>
            <a:r>
              <a: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para a </a:t>
            </a:r>
            <a:r>
              <a:rPr lang="en-US" sz="1000" err="1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fundamentação</a:t>
            </a:r>
            <a:endParaRPr lang="en-US" sz="1000">
              <a:solidFill>
                <a:srgbClr val="7F7F7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3" name="Agrupar 38">
            <a:extLst>
              <a:ext uri="{FF2B5EF4-FFF2-40B4-BE49-F238E27FC236}">
                <a16:creationId xmlns:a16="http://schemas.microsoft.com/office/drawing/2014/main" id="{91B6363F-EA82-9007-B056-F27962564D31}"/>
              </a:ext>
            </a:extLst>
          </p:cNvPr>
          <p:cNvGrpSpPr/>
          <p:nvPr/>
        </p:nvGrpSpPr>
        <p:grpSpPr>
          <a:xfrm rot="10800000">
            <a:off x="2097957" y="2959278"/>
            <a:ext cx="2811600" cy="252000"/>
            <a:chOff x="6022821" y="2646629"/>
            <a:chExt cx="2737179" cy="252000"/>
          </a:xfrm>
          <a:solidFill>
            <a:srgbClr val="80B281"/>
          </a:solidFill>
        </p:grpSpPr>
        <p:cxnSp>
          <p:nvCxnSpPr>
            <p:cNvPr id="44" name="Conector de Seta Reta 39">
              <a:extLst>
                <a:ext uri="{FF2B5EF4-FFF2-40B4-BE49-F238E27FC236}">
                  <a16:creationId xmlns:a16="http://schemas.microsoft.com/office/drawing/2014/main" id="{710DA8F4-5F85-93A0-C506-7EB15C242D38}"/>
                </a:ext>
              </a:extLst>
            </p:cNvPr>
            <p:cNvCxnSpPr/>
            <p:nvPr/>
          </p:nvCxnSpPr>
          <p:spPr>
            <a:xfrm flipH="1">
              <a:off x="6096000" y="2772629"/>
              <a:ext cx="2664000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osango 43">
              <a:extLst>
                <a:ext uri="{FF2B5EF4-FFF2-40B4-BE49-F238E27FC236}">
                  <a16:creationId xmlns:a16="http://schemas.microsoft.com/office/drawing/2014/main" id="{F6A9F293-CB21-1497-E605-7D9A887535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2821" y="2646629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7" name="CaixaDeTexto 12">
            <a:extLst>
              <a:ext uri="{FF2B5EF4-FFF2-40B4-BE49-F238E27FC236}">
                <a16:creationId xmlns:a16="http://schemas.microsoft.com/office/drawing/2014/main" id="{1A89AF01-B3B5-5385-D95F-1FA288EE83AB}"/>
              </a:ext>
            </a:extLst>
          </p:cNvPr>
          <p:cNvSpPr txBox="1"/>
          <p:nvPr/>
        </p:nvSpPr>
        <p:spPr>
          <a:xfrm>
            <a:off x="4108439" y="5355391"/>
            <a:ext cx="428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 Empírica</a:t>
            </a:r>
          </a:p>
        </p:txBody>
      </p:sp>
      <p:sp>
        <p:nvSpPr>
          <p:cNvPr id="48" name="CaixaDeTexto 14">
            <a:extLst>
              <a:ext uri="{FF2B5EF4-FFF2-40B4-BE49-F238E27FC236}">
                <a16:creationId xmlns:a16="http://schemas.microsoft.com/office/drawing/2014/main" id="{C79E7D4A-6B41-A034-EC75-460C990B5694}"/>
              </a:ext>
            </a:extLst>
          </p:cNvPr>
          <p:cNvSpPr txBox="1"/>
          <p:nvPr/>
        </p:nvSpPr>
        <p:spPr>
          <a:xfrm>
            <a:off x="1177838" y="5613639"/>
            <a:ext cx="273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Viabilidade</a:t>
            </a:r>
            <a:r>
              <a:rPr lang="en-US" sz="1000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dos dados para a </a:t>
            </a:r>
            <a:r>
              <a:rPr lang="en-US" sz="1000" err="1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realização</a:t>
            </a:r>
            <a:r>
              <a:rPr lang="en-US" sz="1000">
                <a:solidFill>
                  <a:srgbClr val="FFFFF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do teste empírico</a:t>
            </a:r>
            <a:endParaRPr lang="pt-BR" sz="1000">
              <a:solidFill>
                <a:srgbClr val="FFFFF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9" name="Agrupar 47">
            <a:extLst>
              <a:ext uri="{FF2B5EF4-FFF2-40B4-BE49-F238E27FC236}">
                <a16:creationId xmlns:a16="http://schemas.microsoft.com/office/drawing/2014/main" id="{947963E9-8282-F609-26C4-F4F181B56FCE}"/>
              </a:ext>
            </a:extLst>
          </p:cNvPr>
          <p:cNvGrpSpPr/>
          <p:nvPr/>
        </p:nvGrpSpPr>
        <p:grpSpPr>
          <a:xfrm rot="10800000">
            <a:off x="1202890" y="5474432"/>
            <a:ext cx="2810101" cy="252000"/>
            <a:chOff x="6098372" y="2214756"/>
            <a:chExt cx="2810101" cy="252000"/>
          </a:xfrm>
          <a:solidFill>
            <a:srgbClr val="80B281"/>
          </a:solidFill>
        </p:grpSpPr>
        <p:cxnSp>
          <p:nvCxnSpPr>
            <p:cNvPr id="50" name="Conector de Seta Reta 48">
              <a:extLst>
                <a:ext uri="{FF2B5EF4-FFF2-40B4-BE49-F238E27FC236}">
                  <a16:creationId xmlns:a16="http://schemas.microsoft.com/office/drawing/2014/main" id="{7B467DF4-5BAB-D9B8-FB1F-01457D6BA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1551" y="2340756"/>
              <a:ext cx="2736922" cy="0"/>
            </a:xfrm>
            <a:prstGeom prst="straightConnector1">
              <a:avLst/>
            </a:prstGeom>
            <a:grpFill/>
            <a:ln>
              <a:solidFill>
                <a:srgbClr val="80B281"/>
              </a:solidFill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Losango 49">
              <a:extLst>
                <a:ext uri="{FF2B5EF4-FFF2-40B4-BE49-F238E27FC236}">
                  <a16:creationId xmlns:a16="http://schemas.microsoft.com/office/drawing/2014/main" id="{FF3A3EAD-38F2-B8E1-0514-A0EEED4E4B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8372" y="2214756"/>
              <a:ext cx="252000" cy="252000"/>
            </a:xfrm>
            <a:prstGeom prst="diamond">
              <a:avLst/>
            </a:prstGeom>
            <a:grpFill/>
            <a:ln>
              <a:solidFill>
                <a:srgbClr val="80B2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5773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4186CA-0240-4CD2-612C-3B321C0B38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O desafio é separar o efeito da bolsa do efeito da vulnerabilidade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AADCA-85F9-828D-58B6-B36DE7826B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B10876-9644-26C3-0E72-ABA12F33467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33FAC8-8008-1E9A-2DF5-3BF87F674CB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405AB6-1BE5-EBD1-4B88-C47CA04DAAE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B4FEA0-7C63-4F54-17D4-F3335ADB87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BF225E-3E2F-56DF-81FC-5F656A8C02B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255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E317-6E52-F666-5C81-5294745E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AD2E81-9159-8CA6-1BC8-8E1BAEF023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62500" lnSpcReduction="20000"/>
          </a:bodyPr>
          <a:lstStyle/>
          <a:p>
            <a:endParaRPr lang="pt-BR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A9B6D407-3021-FF57-2046-630D1B57F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6D1A6-30D5-66CB-F272-D28D0713E7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2D32C-FABD-CED8-160B-EF7F456EE3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392346-EAA9-D48C-68DE-5142A385A5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7742EA-02E4-89E0-C8B6-5303D97627E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5B0000-D94C-B978-4221-512809A7127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5742A-6CC7-B975-C4D1-4AF45E0D56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511B7F-83C2-C4DB-35E5-BBE00B51CD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74D26B-5AA2-0EB9-F4AF-C06F5E5DBB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810FCB-4C59-FCBC-16F7-0F0E684F9968}"/>
              </a:ext>
            </a:extLst>
          </p:cNvPr>
          <p:cNvSpPr/>
          <p:nvPr/>
        </p:nvSpPr>
        <p:spPr>
          <a:xfrm>
            <a:off x="0" y="-32087"/>
            <a:ext cx="12192000" cy="6819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7406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Política direciona incentivos aos territórios mais vulneráveis</vt:lpstr>
      <vt:lpstr>Presença de especialistas cresceu em todos os níveis sociais</vt:lpstr>
      <vt:lpstr>PowerPoint Presentation</vt:lpstr>
      <vt:lpstr>II. Pergunta</vt:lpstr>
      <vt:lpstr>PowerPoint Presentation</vt:lpstr>
      <vt:lpstr>O modelo combina três elementos da teoria</vt:lpstr>
      <vt:lpstr>A escolha locacional maximiza a renda real líquida</vt:lpstr>
      <vt:lpstr>Amenidades e moradia definem quanto vale o salário</vt:lpstr>
      <vt:lpstr>Atender rende, cansa e gera benefício ao paciente</vt:lpstr>
      <vt:lpstr>PowerPoint Presentation</vt:lpstr>
      <vt:lpstr>Como o médico escolhe onde trabalhar</vt:lpstr>
      <vt:lpstr>A infraestrutura reduz os custos de atuação</vt:lpstr>
      <vt:lpstr>PowerPoint Presentation</vt:lpstr>
      <vt:lpstr>Da condição de aceitação saem duas hipóteses</vt:lpstr>
      <vt:lpstr>PowerPoint Presentation</vt:lpstr>
      <vt:lpstr>O desafio é separar o efeito da bolsa do efeito da vulnerabilidade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29</cp:revision>
  <dcterms:created xsi:type="dcterms:W3CDTF">2026-08-31T13:12:19Z</dcterms:created>
  <dcterms:modified xsi:type="dcterms:W3CDTF">2026-09-14T13:43:36Z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