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0" r:id="rId4"/>
    <p:sldMasterId id="2147483654" r:id="rId5"/>
  </p:sldMasterIdLst>
  <p:notesMasterIdLst>
    <p:notesMasterId r:id="rId26"/>
  </p:notesMasterIdLst>
  <p:sldIdLst>
    <p:sldId id="258" r:id="rId6"/>
    <p:sldId id="257" r:id="rId7"/>
    <p:sldId id="272" r:id="rId8"/>
    <p:sldId id="273" r:id="rId9"/>
    <p:sldId id="284" r:id="rId10"/>
    <p:sldId id="289" r:id="rId11"/>
    <p:sldId id="264" r:id="rId12"/>
    <p:sldId id="290" r:id="rId13"/>
    <p:sldId id="286" r:id="rId14"/>
    <p:sldId id="302" r:id="rId15"/>
    <p:sldId id="304" r:id="rId16"/>
    <p:sldId id="306" r:id="rId17"/>
    <p:sldId id="307" r:id="rId25"/>
    <p:sldId id="291" r:id="rId18"/>
    <p:sldId id="265" r:id="rId19"/>
    <p:sldId id="287" r:id="rId20"/>
    <p:sldId id="308" r:id="rId32"/>
    <p:sldId id="292" r:id="rId21"/>
    <p:sldId id="270" r:id="rId22"/>
    <p:sldId id="293" r:id="rId23"/>
    <p:sldId id="26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4719"/>
    <a:srgbClr val="7D9F81"/>
    <a:srgbClr val="D6E1D3"/>
    <a:srgbClr val="E2E9E0"/>
    <a:srgbClr val="C6D7C4"/>
    <a:srgbClr val="B9CDB6"/>
    <a:srgbClr val="B1C8AF"/>
    <a:srgbClr val="A9C0A7"/>
    <a:srgbClr val="9FBA9E"/>
    <a:srgbClr val="98B4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306FF0-EBC5-4939-8C28-FB7939CB6E19}" v="202" dt="2026-09-14T13:34:56.282"/>
    <p1510:client id="{36283729-4835-433C-AC39-DB0B8270AF98}" v="424" dt="2026-09-14T13:43:11.406"/>
    <p1510:client id="{58913B7D-8360-FF4E-99B4-CFF8BE72E06B}" v="580" dt="2026-09-14T13:43:31.796"/>
    <p1510:client id="{838D511B-F9A4-DD7E-E998-53E6EDC3D7F8}" v="246" dt="2026-09-14T13:30:54.414"/>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C:\Users\becap\AppData\Local\Packages\5319275A.WhatsAppDesktop_cv1g1gvanyjgm\LocalState\sessions\383D5C8476F6C674B14A5D60E420E111FBE135EE\transfers\2026-37\Dados%20gra&#769;ficos%20motivac&#807;a&#771;o.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becap\AppData\Local\Packages\5319275A.WhatsAppDesktop_cv1g1gvanyjgm\LocalState\sessions\383D5C8476F6C674B14A5D60E420E111FBE135EE\transfers\2026-37\Dados%20gra&#769;ficos%20motivac&#807;a&#771;o.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becap\AppData\Local\Packages\5319275A.WhatsAppDesktop_cv1g1gvanyjgm\LocalState\sessions\383D5C8476F6C674B14A5D60E420E111FBE135EE\transfers\2026-37\Dados%20gra&#769;ficos%20motivac&#807;a&#771;o.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C:\Users\becap\AppData\Local\Packages\5319275A.WhatsAppDesktop_cv1g1gvanyjgm\LocalState\sessions\383D5C8476F6C674B14A5D60E420E111FBE135EE\transfers\2026-37\Dados%20gra&#769;ficos%20motivac&#807;a&#771;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Especialistas_100k_hab!$B$1</c:f>
              <c:strCache>
                <c:ptCount val="1"/>
                <c:pt idx="0">
                  <c:v>Especialistas / 100 mil hab.</c:v>
                </c:pt>
              </c:strCache>
            </c:strRef>
          </c:tx>
          <c:spPr>
            <a:solidFill>
              <a:schemeClr val="accent1"/>
            </a:solidFill>
            <a:ln>
              <a:noFill/>
            </a:ln>
            <a:effectLst/>
          </c:spPr>
          <c:invertIfNegative val="0"/>
          <c:dPt>
            <c:idx val="0"/>
            <c:invertIfNegative val="0"/>
            <c:bubble3D val="0"/>
            <c:spPr>
              <a:solidFill>
                <a:srgbClr val="1B3A20"/>
              </a:solidFill>
              <a:ln>
                <a:noFill/>
              </a:ln>
              <a:effectLst/>
            </c:spPr>
            <c:extLst>
              <c:ext xmlns:c16="http://schemas.microsoft.com/office/drawing/2014/chart" uri="{C3380CC4-5D6E-409C-BE32-E72D297353CC}">
                <c16:uniqueId val="{00000001-3B8B-3743-A7E4-39F810EA9C10}"/>
              </c:ext>
            </c:extLst>
          </c:dPt>
          <c:dPt>
            <c:idx val="1"/>
            <c:invertIfNegative val="0"/>
            <c:bubble3D val="0"/>
            <c:spPr>
              <a:solidFill>
                <a:srgbClr val="275335"/>
              </a:solidFill>
              <a:ln>
                <a:noFill/>
              </a:ln>
              <a:effectLst/>
            </c:spPr>
            <c:extLst>
              <c:ext xmlns:c16="http://schemas.microsoft.com/office/drawing/2014/chart" uri="{C3380CC4-5D6E-409C-BE32-E72D297353CC}">
                <c16:uniqueId val="{00000003-3B8B-3743-A7E4-39F810EA9C10}"/>
              </c:ext>
            </c:extLst>
          </c:dPt>
          <c:dPt>
            <c:idx val="2"/>
            <c:invertIfNegative val="0"/>
            <c:bubble3D val="0"/>
            <c:spPr>
              <a:solidFill>
                <a:srgbClr val="396445"/>
              </a:solidFill>
              <a:ln>
                <a:noFill/>
              </a:ln>
              <a:effectLst/>
            </c:spPr>
            <c:extLst>
              <c:ext xmlns:c16="http://schemas.microsoft.com/office/drawing/2014/chart" uri="{C3380CC4-5D6E-409C-BE32-E72D297353CC}">
                <c16:uniqueId val="{00000005-3B8B-3743-A7E4-39F810EA9C10}"/>
              </c:ext>
            </c:extLst>
          </c:dPt>
          <c:dPt>
            <c:idx val="3"/>
            <c:invertIfNegative val="0"/>
            <c:bubble3D val="0"/>
            <c:spPr>
              <a:solidFill>
                <a:srgbClr val="477152"/>
              </a:solidFill>
              <a:ln>
                <a:noFill/>
              </a:ln>
              <a:effectLst/>
            </c:spPr>
            <c:extLst>
              <c:ext xmlns:c16="http://schemas.microsoft.com/office/drawing/2014/chart" uri="{C3380CC4-5D6E-409C-BE32-E72D297353CC}">
                <c16:uniqueId val="{00000007-3B8B-3743-A7E4-39F810EA9C10}"/>
              </c:ext>
            </c:extLst>
          </c:dPt>
          <c:dPt>
            <c:idx val="4"/>
            <c:invertIfNegative val="0"/>
            <c:bubble3D val="0"/>
            <c:spPr>
              <a:solidFill>
                <a:srgbClr val="598161"/>
              </a:solidFill>
              <a:ln>
                <a:noFill/>
              </a:ln>
              <a:effectLst/>
            </c:spPr>
            <c:extLst>
              <c:ext xmlns:c16="http://schemas.microsoft.com/office/drawing/2014/chart" uri="{C3380CC4-5D6E-409C-BE32-E72D297353CC}">
                <c16:uniqueId val="{00000009-3B8B-3743-A7E4-39F810EA9C10}"/>
              </c:ext>
            </c:extLst>
          </c:dPt>
          <c:dPt>
            <c:idx val="5"/>
            <c:invertIfNegative val="0"/>
            <c:bubble3D val="0"/>
            <c:spPr>
              <a:solidFill>
                <a:srgbClr val="698F6E"/>
              </a:solidFill>
              <a:ln>
                <a:noFill/>
              </a:ln>
              <a:effectLst/>
            </c:spPr>
            <c:extLst>
              <c:ext xmlns:c16="http://schemas.microsoft.com/office/drawing/2014/chart" uri="{C3380CC4-5D6E-409C-BE32-E72D297353CC}">
                <c16:uniqueId val="{0000000B-3B8B-3743-A7E4-39F810EA9C10}"/>
              </c:ext>
            </c:extLst>
          </c:dPt>
          <c:dPt>
            <c:idx val="6"/>
            <c:invertIfNegative val="0"/>
            <c:bubble3D val="0"/>
            <c:spPr>
              <a:solidFill>
                <a:srgbClr val="7D9F81"/>
              </a:solidFill>
              <a:ln>
                <a:noFill/>
              </a:ln>
              <a:effectLst/>
            </c:spPr>
            <c:extLst>
              <c:ext xmlns:c16="http://schemas.microsoft.com/office/drawing/2014/chart" uri="{C3380CC4-5D6E-409C-BE32-E72D297353CC}">
                <c16:uniqueId val="{0000000D-3B8B-3743-A7E4-39F810EA9C10}"/>
              </c:ext>
            </c:extLst>
          </c:dPt>
          <c:dPt>
            <c:idx val="7"/>
            <c:invertIfNegative val="0"/>
            <c:bubble3D val="0"/>
            <c:spPr>
              <a:solidFill>
                <a:srgbClr val="8BAA8D"/>
              </a:solidFill>
              <a:ln>
                <a:noFill/>
              </a:ln>
              <a:effectLst/>
            </c:spPr>
            <c:extLst>
              <c:ext xmlns:c16="http://schemas.microsoft.com/office/drawing/2014/chart" uri="{C3380CC4-5D6E-409C-BE32-E72D297353CC}">
                <c16:uniqueId val="{0000000F-3B8B-3743-A7E4-39F810EA9C10}"/>
              </c:ext>
            </c:extLst>
          </c:dPt>
          <c:dPt>
            <c:idx val="8"/>
            <c:invertIfNegative val="0"/>
            <c:bubble3D val="0"/>
            <c:spPr>
              <a:solidFill>
                <a:srgbClr val="98B497"/>
              </a:solidFill>
              <a:ln>
                <a:noFill/>
              </a:ln>
              <a:effectLst/>
            </c:spPr>
            <c:extLst>
              <c:ext xmlns:c16="http://schemas.microsoft.com/office/drawing/2014/chart" uri="{C3380CC4-5D6E-409C-BE32-E72D297353CC}">
                <c16:uniqueId val="{00000011-3B8B-3743-A7E4-39F810EA9C10}"/>
              </c:ext>
            </c:extLst>
          </c:dPt>
          <c:dPt>
            <c:idx val="9"/>
            <c:invertIfNegative val="0"/>
            <c:bubble3D val="0"/>
            <c:spPr>
              <a:solidFill>
                <a:srgbClr val="9FBA9E"/>
              </a:solidFill>
              <a:ln>
                <a:noFill/>
              </a:ln>
              <a:effectLst/>
            </c:spPr>
            <c:extLst>
              <c:ext xmlns:c16="http://schemas.microsoft.com/office/drawing/2014/chart" uri="{C3380CC4-5D6E-409C-BE32-E72D297353CC}">
                <c16:uniqueId val="{00000013-3B8B-3743-A7E4-39F810EA9C10}"/>
              </c:ext>
            </c:extLst>
          </c:dPt>
          <c:dPt>
            <c:idx val="10"/>
            <c:invertIfNegative val="0"/>
            <c:bubble3D val="0"/>
            <c:spPr>
              <a:solidFill>
                <a:srgbClr val="A9C0A7"/>
              </a:solidFill>
              <a:ln>
                <a:noFill/>
              </a:ln>
              <a:effectLst/>
            </c:spPr>
            <c:extLst>
              <c:ext xmlns:c16="http://schemas.microsoft.com/office/drawing/2014/chart" uri="{C3380CC4-5D6E-409C-BE32-E72D297353CC}">
                <c16:uniqueId val="{00000015-3B8B-3743-A7E4-39F810EA9C10}"/>
              </c:ext>
            </c:extLst>
          </c:dPt>
          <c:dPt>
            <c:idx val="11"/>
            <c:invertIfNegative val="0"/>
            <c:bubble3D val="0"/>
            <c:spPr>
              <a:solidFill>
                <a:srgbClr val="B1C8AF"/>
              </a:solidFill>
              <a:ln>
                <a:noFill/>
              </a:ln>
              <a:effectLst/>
            </c:spPr>
            <c:extLst>
              <c:ext xmlns:c16="http://schemas.microsoft.com/office/drawing/2014/chart" uri="{C3380CC4-5D6E-409C-BE32-E72D297353CC}">
                <c16:uniqueId val="{00000017-3B8B-3743-A7E4-39F810EA9C10}"/>
              </c:ext>
            </c:extLst>
          </c:dPt>
          <c:dPt>
            <c:idx val="12"/>
            <c:invertIfNegative val="0"/>
            <c:bubble3D val="0"/>
            <c:spPr>
              <a:solidFill>
                <a:srgbClr val="B9CDB6"/>
              </a:solidFill>
              <a:ln>
                <a:noFill/>
              </a:ln>
              <a:effectLst/>
            </c:spPr>
            <c:extLst>
              <c:ext xmlns:c16="http://schemas.microsoft.com/office/drawing/2014/chart" uri="{C3380CC4-5D6E-409C-BE32-E72D297353CC}">
                <c16:uniqueId val="{00000019-3B8B-3743-A7E4-39F810EA9C10}"/>
              </c:ext>
            </c:extLst>
          </c:dPt>
          <c:dPt>
            <c:idx val="13"/>
            <c:invertIfNegative val="0"/>
            <c:bubble3D val="0"/>
            <c:spPr>
              <a:solidFill>
                <a:srgbClr val="C6D7C4"/>
              </a:solidFill>
              <a:ln>
                <a:noFill/>
              </a:ln>
              <a:effectLst/>
            </c:spPr>
            <c:extLst>
              <c:ext xmlns:c16="http://schemas.microsoft.com/office/drawing/2014/chart" uri="{C3380CC4-5D6E-409C-BE32-E72D297353CC}">
                <c16:uniqueId val="{0000001B-3B8B-3743-A7E4-39F810EA9C10}"/>
              </c:ext>
            </c:extLst>
          </c:dPt>
          <c:dPt>
            <c:idx val="14"/>
            <c:invertIfNegative val="0"/>
            <c:bubble3D val="0"/>
            <c:spPr>
              <a:solidFill>
                <a:srgbClr val="D6E1D3"/>
              </a:solidFill>
              <a:ln>
                <a:noFill/>
              </a:ln>
              <a:effectLst/>
            </c:spPr>
            <c:extLst>
              <c:ext xmlns:c16="http://schemas.microsoft.com/office/drawing/2014/chart" uri="{C3380CC4-5D6E-409C-BE32-E72D297353CC}">
                <c16:uniqueId val="{0000001D-3B8B-3743-A7E4-39F810EA9C10}"/>
              </c:ext>
            </c:extLst>
          </c:dPt>
          <c:dPt>
            <c:idx val="15"/>
            <c:invertIfNegative val="0"/>
            <c:bubble3D val="0"/>
            <c:spPr>
              <a:solidFill>
                <a:srgbClr val="E2E9E0"/>
              </a:solidFill>
              <a:ln>
                <a:noFill/>
              </a:ln>
              <a:effectLst/>
            </c:spPr>
            <c:extLst>
              <c:ext xmlns:c16="http://schemas.microsoft.com/office/drawing/2014/chart" uri="{C3380CC4-5D6E-409C-BE32-E72D297353CC}">
                <c16:uniqueId val="{0000001F-3B8B-3743-A7E4-39F810EA9C10}"/>
              </c:ext>
            </c:extLst>
          </c:dPt>
          <c:dLbls>
            <c:dLbl>
              <c:idx val="0"/>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B8B-3743-A7E4-39F810EA9C10}"/>
                </c:ext>
              </c:extLst>
            </c:dLbl>
            <c:dLbl>
              <c:idx val="15"/>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3B8B-3743-A7E4-39F810EA9C10}"/>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ontserrat" panose="00000500000000000000" pitchFamily="2" charset="0"/>
                    <a:ea typeface="+mn-ea"/>
                    <a:cs typeface="+mn-cs"/>
                  </a:defRPr>
                </a:pPr>
                <a:endParaRPr lang="pt-BR"/>
              </a:p>
            </c:txPr>
            <c:dLblPos val="outEnd"/>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Especialistas_100k_hab!$A$2:$A$17</c:f>
              <c:strCache>
                <c:ptCount val="16"/>
                <c:pt idx="0">
                  <c:v>DF</c:v>
                </c:pt>
                <c:pt idx="1">
                  <c:v>SP</c:v>
                </c:pt>
                <c:pt idx="2">
                  <c:v>RJ</c:v>
                </c:pt>
                <c:pt idx="3">
                  <c:v>RS</c:v>
                </c:pt>
                <c:pt idx="4">
                  <c:v>SC</c:v>
                </c:pt>
                <c:pt idx="5">
                  <c:v>PR</c:v>
                </c:pt>
                <c:pt idx="6">
                  <c:v>ES</c:v>
                </c:pt>
                <c:pt idx="7">
                  <c:v>MG</c:v>
                </c:pt>
                <c:pt idx="8">
                  <c:v>MS</c:v>
                </c:pt>
                <c:pt idx="9">
                  <c:v>GO</c:v>
                </c:pt>
                <c:pt idx="10">
                  <c:v>MT</c:v>
                </c:pt>
                <c:pt idx="11">
                  <c:v>BA</c:v>
                </c:pt>
                <c:pt idx="12">
                  <c:v>PE</c:v>
                </c:pt>
                <c:pt idx="13">
                  <c:v>CE</c:v>
                </c:pt>
                <c:pt idx="14">
                  <c:v>PA</c:v>
                </c:pt>
                <c:pt idx="15">
                  <c:v>MA</c:v>
                </c:pt>
              </c:strCache>
            </c:strRef>
          </c:cat>
          <c:val>
            <c:numRef>
              <c:f>Especialistas_100k_hab!$B$2:$B$17</c:f>
              <c:numCache>
                <c:formatCode>General</c:formatCode>
                <c:ptCount val="16"/>
                <c:pt idx="0">
                  <c:v>453.5</c:v>
                </c:pt>
                <c:pt idx="1">
                  <c:v>414</c:v>
                </c:pt>
                <c:pt idx="2">
                  <c:v>390</c:v>
                </c:pt>
                <c:pt idx="3">
                  <c:v>375</c:v>
                </c:pt>
                <c:pt idx="4">
                  <c:v>355</c:v>
                </c:pt>
                <c:pt idx="5">
                  <c:v>345</c:v>
                </c:pt>
                <c:pt idx="6">
                  <c:v>325</c:v>
                </c:pt>
                <c:pt idx="7">
                  <c:v>310</c:v>
                </c:pt>
                <c:pt idx="8">
                  <c:v>275</c:v>
                </c:pt>
                <c:pt idx="9">
                  <c:v>260</c:v>
                </c:pt>
                <c:pt idx="10">
                  <c:v>240</c:v>
                </c:pt>
                <c:pt idx="11">
                  <c:v>215</c:v>
                </c:pt>
                <c:pt idx="12">
                  <c:v>195</c:v>
                </c:pt>
                <c:pt idx="13">
                  <c:v>165</c:v>
                </c:pt>
                <c:pt idx="14">
                  <c:v>145</c:v>
                </c:pt>
                <c:pt idx="15">
                  <c:v>68.2</c:v>
                </c:pt>
              </c:numCache>
            </c:numRef>
          </c:val>
          <c:extLst>
            <c:ext xmlns:c16="http://schemas.microsoft.com/office/drawing/2014/chart" uri="{C3380CC4-5D6E-409C-BE32-E72D297353CC}">
              <c16:uniqueId val="{00000020-3B8B-3743-A7E4-39F810EA9C10}"/>
            </c:ext>
          </c:extLst>
        </c:ser>
        <c:dLbls>
          <c:showLegendKey val="0"/>
          <c:showVal val="0"/>
          <c:showCatName val="0"/>
          <c:showSerName val="0"/>
          <c:showPercent val="0"/>
          <c:showBubbleSize val="0"/>
        </c:dLbls>
        <c:gapWidth val="35"/>
        <c:overlap val="-27"/>
        <c:axId val="1286443664"/>
        <c:axId val="1275612048"/>
      </c:barChart>
      <c:catAx>
        <c:axId val="128644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ontserrat" panose="00000500000000000000" pitchFamily="2" charset="0"/>
                <a:ea typeface="+mn-ea"/>
                <a:cs typeface="+mn-cs"/>
              </a:defRPr>
            </a:pPr>
            <a:endParaRPr lang="pt-BR"/>
          </a:p>
        </c:txPr>
        <c:crossAx val="1275612048"/>
        <c:crosses val="autoZero"/>
        <c:auto val="1"/>
        <c:lblAlgn val="ctr"/>
        <c:lblOffset val="100"/>
        <c:noMultiLvlLbl val="0"/>
      </c:catAx>
      <c:valAx>
        <c:axId val="127561204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r>
                  <a:rPr lang="pt-BR"/>
                  <a:t>Especialistas / 100.000 hab.</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endParaRPr lang="pt-B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ontserrat" panose="00000500000000000000" pitchFamily="2" charset="0"/>
                <a:ea typeface="+mn-ea"/>
                <a:cs typeface="+mn-cs"/>
              </a:defRPr>
            </a:pPr>
            <a:endParaRPr lang="pt-BR"/>
          </a:p>
        </c:txPr>
        <c:crossAx val="128644366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ontserrat" panose="00000500000000000000" pitchFamily="2" charset="0"/>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114719"/>
              </a:solidFill>
              <a:ln>
                <a:noFill/>
              </a:ln>
              <a:effectLst/>
            </c:spPr>
            <c:extLst>
              <c:ext xmlns:c16="http://schemas.microsoft.com/office/drawing/2014/chart" uri="{C3380CC4-5D6E-409C-BE32-E72D297353CC}">
                <c16:uniqueId val="{00000001-89D9-6C4E-9ADF-95ED375AE6B4}"/>
              </c:ext>
            </c:extLst>
          </c:dPt>
          <c:dPt>
            <c:idx val="1"/>
            <c:invertIfNegative val="0"/>
            <c:bubble3D val="0"/>
            <c:spPr>
              <a:solidFill>
                <a:srgbClr val="2D6041"/>
              </a:solidFill>
              <a:ln>
                <a:noFill/>
              </a:ln>
              <a:effectLst/>
            </c:spPr>
            <c:extLst>
              <c:ext xmlns:c16="http://schemas.microsoft.com/office/drawing/2014/chart" uri="{C3380CC4-5D6E-409C-BE32-E72D297353CC}">
                <c16:uniqueId val="{00000003-89D9-6C4E-9ADF-95ED375AE6B4}"/>
              </c:ext>
            </c:extLst>
          </c:dPt>
          <c:dPt>
            <c:idx val="2"/>
            <c:invertIfNegative val="0"/>
            <c:bubble3D val="0"/>
            <c:spPr>
              <a:solidFill>
                <a:srgbClr val="567F60"/>
              </a:solidFill>
              <a:ln>
                <a:noFill/>
              </a:ln>
              <a:effectLst/>
            </c:spPr>
            <c:extLst>
              <c:ext xmlns:c16="http://schemas.microsoft.com/office/drawing/2014/chart" uri="{C3380CC4-5D6E-409C-BE32-E72D297353CC}">
                <c16:uniqueId val="{00000005-89D9-6C4E-9ADF-95ED375AE6B4}"/>
              </c:ext>
            </c:extLst>
          </c:dPt>
          <c:dPt>
            <c:idx val="3"/>
            <c:invertIfNegative val="0"/>
            <c:bubble3D val="0"/>
            <c:spPr>
              <a:solidFill>
                <a:srgbClr val="75987C"/>
              </a:solidFill>
              <a:ln>
                <a:noFill/>
              </a:ln>
              <a:effectLst/>
            </c:spPr>
            <c:extLst>
              <c:ext xmlns:c16="http://schemas.microsoft.com/office/drawing/2014/chart" uri="{C3380CC4-5D6E-409C-BE32-E72D297353CC}">
                <c16:uniqueId val="{00000007-89D9-6C4E-9ADF-95ED375AE6B4}"/>
              </c:ext>
            </c:extLst>
          </c:dPt>
          <c:dPt>
            <c:idx val="4"/>
            <c:invertIfNegative val="0"/>
            <c:bubble3D val="0"/>
            <c:spPr>
              <a:solidFill>
                <a:srgbClr val="A1B7A2"/>
              </a:solidFill>
              <a:ln>
                <a:noFill/>
              </a:ln>
              <a:effectLst/>
            </c:spPr>
            <c:extLst>
              <c:ext xmlns:c16="http://schemas.microsoft.com/office/drawing/2014/chart" uri="{C3380CC4-5D6E-409C-BE32-E72D297353CC}">
                <c16:uniqueId val="{00000009-89D9-6C4E-9ADF-95ED375AE6B4}"/>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ontserrat" panose="00000500000000000000" pitchFamily="2"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'Distancia_alta compl_xidade'!$A$2:$A$6</c:f>
              <c:strCache>
                <c:ptCount val="5"/>
                <c:pt idx="0">
                  <c:v>Norte</c:v>
                </c:pt>
                <c:pt idx="1">
                  <c:v>Centro-Oeste</c:v>
                </c:pt>
                <c:pt idx="2">
                  <c:v>Nordeste</c:v>
                </c:pt>
                <c:pt idx="3">
                  <c:v>Sudeste</c:v>
                </c:pt>
                <c:pt idx="4">
                  <c:v>Sul</c:v>
                </c:pt>
              </c:strCache>
            </c:strRef>
          </c:cat>
          <c:val>
            <c:numRef>
              <c:f>'Distancia_alta compl_xidade'!$B$2:$B$6</c:f>
              <c:numCache>
                <c:formatCode>General</c:formatCode>
                <c:ptCount val="5"/>
                <c:pt idx="0">
                  <c:v>276</c:v>
                </c:pt>
                <c:pt idx="1">
                  <c:v>256</c:v>
                </c:pt>
                <c:pt idx="2">
                  <c:v>179</c:v>
                </c:pt>
                <c:pt idx="3">
                  <c:v>107</c:v>
                </c:pt>
                <c:pt idx="4">
                  <c:v>101</c:v>
                </c:pt>
              </c:numCache>
            </c:numRef>
          </c:val>
          <c:extLst>
            <c:ext xmlns:c16="http://schemas.microsoft.com/office/drawing/2014/chart" uri="{C3380CC4-5D6E-409C-BE32-E72D297353CC}">
              <c16:uniqueId val="{0000000A-89D9-6C4E-9ADF-95ED375AE6B4}"/>
            </c:ext>
          </c:extLst>
        </c:ser>
        <c:dLbls>
          <c:dLblPos val="outEnd"/>
          <c:showLegendKey val="0"/>
          <c:showVal val="1"/>
          <c:showCatName val="0"/>
          <c:showSerName val="0"/>
          <c:showPercent val="0"/>
          <c:showBubbleSize val="0"/>
        </c:dLbls>
        <c:gapWidth val="92"/>
        <c:overlap val="-27"/>
        <c:axId val="1379009104"/>
        <c:axId val="1275623568"/>
      </c:barChart>
      <c:catAx>
        <c:axId val="1379009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ontserrat" panose="00000500000000000000" pitchFamily="2" charset="0"/>
                <a:ea typeface="+mn-ea"/>
                <a:cs typeface="+mn-cs"/>
              </a:defRPr>
            </a:pPr>
            <a:endParaRPr lang="pt-BR"/>
          </a:p>
        </c:txPr>
        <c:crossAx val="1275623568"/>
        <c:crosses val="autoZero"/>
        <c:auto val="1"/>
        <c:lblAlgn val="ctr"/>
        <c:lblOffset val="100"/>
        <c:noMultiLvlLbl val="0"/>
      </c:catAx>
      <c:valAx>
        <c:axId val="1275623568"/>
        <c:scaling>
          <c:orientation val="minMax"/>
          <c:max val="400"/>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r>
                  <a:rPr lang="pt-BR"/>
                  <a:t>Distância média (Km)</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endParaRPr lang="pt-B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ontserrat" panose="00000500000000000000" pitchFamily="2" charset="0"/>
                <a:ea typeface="+mn-ea"/>
                <a:cs typeface="+mn-cs"/>
              </a:defRPr>
            </a:pPr>
            <a:endParaRPr lang="pt-BR"/>
          </a:p>
        </c:txPr>
        <c:crossAx val="137900910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ontserrat" panose="00000500000000000000" pitchFamily="2" charset="0"/>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Especialista_antes_x_depois!$A$1</c:f>
              <c:strCache>
                <c:ptCount val="1"/>
                <c:pt idx="0">
                  <c:v>Especialistas existentes (2024)</c:v>
                </c:pt>
              </c:strCache>
            </c:strRef>
          </c:tx>
          <c:spPr>
            <a:solidFill>
              <a:srgbClr val="A1B7A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ontserrat" panose="000005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Especialista_antes_x_depois!$A$2:$A$6</c:f>
              <c:strCache>
                <c:ptCount val="5"/>
                <c:pt idx="0">
                  <c:v>Nordeste</c:v>
                </c:pt>
                <c:pt idx="1">
                  <c:v>Norte</c:v>
                </c:pt>
                <c:pt idx="2">
                  <c:v>Centro-Oeste</c:v>
                </c:pt>
                <c:pt idx="3">
                  <c:v>Sudeste</c:v>
                </c:pt>
                <c:pt idx="4">
                  <c:v>Sul</c:v>
                </c:pt>
              </c:strCache>
            </c:strRef>
          </c:cat>
          <c:val>
            <c:numRef>
              <c:f>Especialista_antes_x_depois!$B$2:$B$6</c:f>
              <c:numCache>
                <c:formatCode>0.00%</c:formatCode>
                <c:ptCount val="5"/>
                <c:pt idx="0">
                  <c:v>0.14499999999999999</c:v>
                </c:pt>
                <c:pt idx="1">
                  <c:v>5.8999999999999997E-2</c:v>
                </c:pt>
                <c:pt idx="2">
                  <c:v>7.4999999999999997E-2</c:v>
                </c:pt>
                <c:pt idx="3">
                  <c:v>0.55400000000000005</c:v>
                </c:pt>
                <c:pt idx="4">
                  <c:v>0.16700000000000001</c:v>
                </c:pt>
              </c:numCache>
            </c:numRef>
          </c:val>
          <c:extLst>
            <c:ext xmlns:c16="http://schemas.microsoft.com/office/drawing/2014/chart" uri="{C3380CC4-5D6E-409C-BE32-E72D297353CC}">
              <c16:uniqueId val="{00000000-09AC-8242-BFD9-AB916F3E972C}"/>
            </c:ext>
          </c:extLst>
        </c:ser>
        <c:ser>
          <c:idx val="1"/>
          <c:order val="1"/>
          <c:tx>
            <c:strRef>
              <c:f>Especialista_antes_x_depois!$D$1</c:f>
              <c:strCache>
                <c:ptCount val="1"/>
                <c:pt idx="0">
                  <c:v>PMM-E (ativos em 2025)</c:v>
                </c:pt>
              </c:strCache>
            </c:strRef>
          </c:tx>
          <c:spPr>
            <a:solidFill>
              <a:srgbClr val="114719"/>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ontserrat" panose="000005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Especialista_antes_x_depois!$A$2:$A$6</c:f>
              <c:strCache>
                <c:ptCount val="5"/>
                <c:pt idx="0">
                  <c:v>Nordeste</c:v>
                </c:pt>
                <c:pt idx="1">
                  <c:v>Norte</c:v>
                </c:pt>
                <c:pt idx="2">
                  <c:v>Centro-Oeste</c:v>
                </c:pt>
                <c:pt idx="3">
                  <c:v>Sudeste</c:v>
                </c:pt>
                <c:pt idx="4">
                  <c:v>Sul</c:v>
                </c:pt>
              </c:strCache>
            </c:strRef>
          </c:cat>
          <c:val>
            <c:numRef>
              <c:f>Especialista_antes_x_depois!$F$2:$F$6</c:f>
              <c:numCache>
                <c:formatCode>0.00%</c:formatCode>
                <c:ptCount val="5"/>
                <c:pt idx="0">
                  <c:v>0.60299999999999998</c:v>
                </c:pt>
                <c:pt idx="1">
                  <c:v>0.121</c:v>
                </c:pt>
                <c:pt idx="2">
                  <c:v>3.7999999999999999E-2</c:v>
                </c:pt>
                <c:pt idx="3">
                  <c:v>0.22900000000000001</c:v>
                </c:pt>
                <c:pt idx="4">
                  <c:v>8.9999999999999993E-3</c:v>
                </c:pt>
              </c:numCache>
            </c:numRef>
          </c:val>
          <c:extLst>
            <c:ext xmlns:c16="http://schemas.microsoft.com/office/drawing/2014/chart" uri="{C3380CC4-5D6E-409C-BE32-E72D297353CC}">
              <c16:uniqueId val="{00000001-09AC-8242-BFD9-AB916F3E972C}"/>
            </c:ext>
          </c:extLst>
        </c:ser>
        <c:dLbls>
          <c:showLegendKey val="0"/>
          <c:showVal val="0"/>
          <c:showCatName val="0"/>
          <c:showSerName val="0"/>
          <c:showPercent val="0"/>
          <c:showBubbleSize val="0"/>
        </c:dLbls>
        <c:gapWidth val="70"/>
        <c:overlap val="-19"/>
        <c:axId val="1276569120"/>
        <c:axId val="573757168"/>
      </c:barChart>
      <c:catAx>
        <c:axId val="1276569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crossAx val="573757168"/>
        <c:crosses val="autoZero"/>
        <c:auto val="1"/>
        <c:lblAlgn val="ctr"/>
        <c:lblOffset val="100"/>
        <c:noMultiLvlLbl val="0"/>
      </c:catAx>
      <c:valAx>
        <c:axId val="573757168"/>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r>
                  <a:rPr lang="pt-BR"/>
                  <a:t>Participação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crossAx val="1276569120"/>
        <c:crosses val="autoZero"/>
        <c:crossBetween val="between"/>
        <c:majorUnit val="0.2"/>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ontserrat" panose="00000500000000000000" pitchFamily="2"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D6E1D3"/>
              </a:solidFill>
              <a:ln>
                <a:noFill/>
              </a:ln>
              <a:effectLst/>
            </c:spPr>
            <c:extLst>
              <c:ext xmlns:c16="http://schemas.microsoft.com/office/drawing/2014/chart" uri="{C3380CC4-5D6E-409C-BE32-E72D297353CC}">
                <c16:uniqueId val="{00000001-DDFB-7F4A-8BF9-36853CC0E04C}"/>
              </c:ext>
            </c:extLst>
          </c:dPt>
          <c:dPt>
            <c:idx val="1"/>
            <c:invertIfNegative val="0"/>
            <c:bubble3D val="0"/>
            <c:spPr>
              <a:solidFill>
                <a:srgbClr val="7D9F81"/>
              </a:solidFill>
              <a:ln>
                <a:noFill/>
              </a:ln>
              <a:effectLst/>
            </c:spPr>
            <c:extLst>
              <c:ext xmlns:c16="http://schemas.microsoft.com/office/drawing/2014/chart" uri="{C3380CC4-5D6E-409C-BE32-E72D297353CC}">
                <c16:uniqueId val="{00000003-DDFB-7F4A-8BF9-36853CC0E04C}"/>
              </c:ext>
            </c:extLst>
          </c:dPt>
          <c:dPt>
            <c:idx val="2"/>
            <c:invertIfNegative val="0"/>
            <c:bubble3D val="0"/>
            <c:spPr>
              <a:solidFill>
                <a:srgbClr val="114719"/>
              </a:solidFill>
              <a:ln>
                <a:noFill/>
              </a:ln>
              <a:effectLst/>
            </c:spPr>
            <c:extLst>
              <c:ext xmlns:c16="http://schemas.microsoft.com/office/drawing/2014/chart" uri="{C3380CC4-5D6E-409C-BE32-E72D297353CC}">
                <c16:uniqueId val="{00000005-DDFB-7F4A-8BF9-36853CC0E04C}"/>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ontserrat" panose="000005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Valor_bolsas!$B$2:$B$4</c:f>
              <c:strCache>
                <c:ptCount val="3"/>
                <c:pt idx="0">
                  <c:v>Faixa 3                         (Vulnerabilidade baixa)</c:v>
                </c:pt>
                <c:pt idx="1">
                  <c:v>Faixa 2                    (Vulnerabilidade intermediária)</c:v>
                </c:pt>
                <c:pt idx="2">
                  <c:v>Faixa 1                         (Vulnerabilidade alta)</c:v>
                </c:pt>
              </c:strCache>
            </c:strRef>
          </c:cat>
          <c:val>
            <c:numRef>
              <c:f>Valor_bolsas!$C$2:$C$4</c:f>
              <c:numCache>
                <c:formatCode>"R$"#,##0_);[Red]\("R$"#,##0\)</c:formatCode>
                <c:ptCount val="3"/>
                <c:pt idx="0">
                  <c:v>10000</c:v>
                </c:pt>
                <c:pt idx="1">
                  <c:v>15000</c:v>
                </c:pt>
                <c:pt idx="2">
                  <c:v>20000</c:v>
                </c:pt>
              </c:numCache>
            </c:numRef>
          </c:val>
          <c:extLst>
            <c:ext xmlns:c16="http://schemas.microsoft.com/office/drawing/2014/chart" uri="{C3380CC4-5D6E-409C-BE32-E72D297353CC}">
              <c16:uniqueId val="{00000006-DDFB-7F4A-8BF9-36853CC0E04C}"/>
            </c:ext>
          </c:extLst>
        </c:ser>
        <c:dLbls>
          <c:showLegendKey val="0"/>
          <c:showVal val="0"/>
          <c:showCatName val="0"/>
          <c:showSerName val="0"/>
          <c:showPercent val="0"/>
          <c:showBubbleSize val="0"/>
        </c:dLbls>
        <c:gapWidth val="96"/>
        <c:overlap val="-27"/>
        <c:axId val="1328534608"/>
        <c:axId val="826493712"/>
      </c:barChart>
      <c:catAx>
        <c:axId val="1328534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crossAx val="826493712"/>
        <c:crosses val="autoZero"/>
        <c:auto val="1"/>
        <c:lblAlgn val="ctr"/>
        <c:lblOffset val="100"/>
        <c:noMultiLvlLbl val="0"/>
      </c:catAx>
      <c:valAx>
        <c:axId val="82649371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r>
                  <a:rPr lang="pt-BR"/>
                  <a:t>Incentivo financeiro</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title>
        <c:numFmt formatCode="&quot;R$&quot;#,##0_);[Red]\(&quot;R$&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crossAx val="13285346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ontserrat" panose="00000500000000000000" pitchFamily="2"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D7527D-0062-4AB5-B30F-1482946D3681}" type="datetimeFigureOut">
              <a:rPr lang="pt-BR" smtClean="0"/>
              <a:t>14/09/2026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80BF30-08A7-443A-9E64-B9D9CF122147}" type="slidenum">
              <a:rPr lang="pt-BR" smtClean="0"/>
              <a:t>‹#›</a:t>
            </a:fld>
            <a:endParaRPr lang="pt-BR"/>
          </a:p>
        </p:txBody>
      </p:sp>
    </p:spTree>
    <p:extLst>
      <p:ext uri="{BB962C8B-B14F-4D97-AF65-F5344CB8AC3E}">
        <p14:creationId xmlns:p14="http://schemas.microsoft.com/office/powerpoint/2010/main" val="3490633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35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9020742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4703697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764DE79-268F-4C1A-8933-263129D2AF90}" type="datetimeFigureOut">
              <a:rPr lang="en-US" dirty="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6971378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0756092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pt-BR"/>
              <a:t>Clique para editar o título Mestre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Date Placeholder 6"/>
          <p:cNvSpPr>
            <a:spLocks noGrp="1"/>
          </p:cNvSpPr>
          <p:nvPr>
            <p:ph type="dt" sz="half" idx="10"/>
          </p:nvPr>
        </p:nvSpPr>
        <p:spPr/>
        <p:txBody>
          <a:bodyPr/>
          <a:lstStyle/>
          <a:p>
            <a:fld id="{C764DE79-268F-4C1A-8933-263129D2AF90}" type="datetimeFigureOut">
              <a:rPr lang="en-US" dirty="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0071273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Date Placeholder 2"/>
          <p:cNvSpPr>
            <a:spLocks noGrp="1"/>
          </p:cNvSpPr>
          <p:nvPr>
            <p:ph type="dt" sz="half" idx="10"/>
          </p:nvPr>
        </p:nvSpPr>
        <p:spPr/>
        <p:txBody>
          <a:bodyPr/>
          <a:lstStyle/>
          <a:p>
            <a:fld id="{C764DE79-268F-4C1A-8933-263129D2AF90}" type="datetimeFigureOut">
              <a:rPr lang="en-US" dirty="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7032051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3731863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C764DE79-268F-4C1A-8933-263129D2AF90}" type="datetimeFigureOut">
              <a:rPr lang="en-US" dirty="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214903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C764DE79-268F-4C1A-8933-263129D2AF90}" type="datetimeFigureOut">
              <a:rPr lang="en-US" dirty="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3328693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3076906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pt-BR"/>
              <a:t>Clique para editar o título Mestre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282620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34692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ext Placeholder 19">
            <a:extLst>
              <a:ext uri="{FF2B5EF4-FFF2-40B4-BE49-F238E27FC236}">
                <a16:creationId xmlns:a16="http://schemas.microsoft.com/office/drawing/2014/main" id="{D3B444F9-1006-AF3F-627A-A30A0847EAE5}"/>
              </a:ext>
            </a:extLst>
          </p:cNvPr>
          <p:cNvSpPr>
            <a:spLocks noGrp="1"/>
          </p:cNvSpPr>
          <p:nvPr>
            <p:ph type="body" sz="quarter" idx="18"/>
          </p:nvPr>
        </p:nvSpPr>
        <p:spPr>
          <a:xfrm>
            <a:off x="542135" y="6675112"/>
            <a:ext cx="5553866" cy="154648"/>
          </a:xfrm>
          <a:prstGeom prst="rect">
            <a:avLst/>
          </a:prstGeom>
        </p:spPr>
        <p:txBody>
          <a:bodyPr/>
          <a:lstStyle>
            <a:lvl1pPr marL="0" indent="0">
              <a:buNone/>
              <a:defRPr sz="800" i="1">
                <a:solidFill>
                  <a:schemeClr val="tx1">
                    <a:lumMod val="75000"/>
                    <a:lumOff val="25000"/>
                  </a:schemeClr>
                </a:solidFill>
                <a:latin typeface="Montserrat" panose="00000500000000000000" pitchFamily="2" charset="0"/>
              </a:defRPr>
            </a:lvl1pPr>
          </a:lstStyle>
          <a:p>
            <a:pPr lvl="0"/>
            <a:r>
              <a:rPr lang="pt-BR"/>
              <a:t>Clique para editar os estilos de texto Mestres</a:t>
            </a:r>
          </a:p>
        </p:txBody>
      </p:sp>
      <p:sp>
        <p:nvSpPr>
          <p:cNvPr id="8" name="Title Placeholder 1">
            <a:extLst>
              <a:ext uri="{FF2B5EF4-FFF2-40B4-BE49-F238E27FC236}">
                <a16:creationId xmlns:a16="http://schemas.microsoft.com/office/drawing/2014/main" id="{E1323DE9-74B9-A598-C651-5054B6E00637}"/>
              </a:ext>
            </a:extLst>
          </p:cNvPr>
          <p:cNvSpPr>
            <a:spLocks noGrp="1"/>
          </p:cNvSpPr>
          <p:nvPr>
            <p:ph type="title" hasCustomPrompt="1"/>
          </p:nvPr>
        </p:nvSpPr>
        <p:spPr>
          <a:xfrm>
            <a:off x="96401" y="38251"/>
            <a:ext cx="11527643" cy="555135"/>
          </a:xfrm>
          <a:prstGeom prst="rect">
            <a:avLst/>
          </a:prstGeom>
        </p:spPr>
        <p:txBody>
          <a:bodyPr vert="horz" lIns="91440" tIns="45720" rIns="91440" bIns="45720" rtlCol="0" anchor="ctr">
            <a:normAutofit/>
          </a:bodyPr>
          <a:lstStyle>
            <a:lvl1pPr>
              <a:defRPr sz="2400" b="1">
                <a:solidFill>
                  <a:schemeClr val="bg1"/>
                </a:solidFill>
                <a:latin typeface="Montserrat" panose="00000500000000000000" pitchFamily="2" charset="0"/>
              </a:defRPr>
            </a:lvl1pPr>
          </a:lstStyle>
          <a:p>
            <a:r>
              <a:rPr lang="en-US" err="1"/>
              <a:t>XXXXXXXX</a:t>
            </a:r>
            <a:endParaRPr lang="en-US"/>
          </a:p>
        </p:txBody>
      </p:sp>
      <p:sp>
        <p:nvSpPr>
          <p:cNvPr id="9" name="Text Placeholder 6">
            <a:extLst>
              <a:ext uri="{FF2B5EF4-FFF2-40B4-BE49-F238E27FC236}">
                <a16:creationId xmlns:a16="http://schemas.microsoft.com/office/drawing/2014/main" id="{87DD48AC-33B5-46D6-D3C1-57D5EBACE65B}"/>
              </a:ext>
            </a:extLst>
          </p:cNvPr>
          <p:cNvSpPr>
            <a:spLocks noGrp="1"/>
          </p:cNvSpPr>
          <p:nvPr>
            <p:ph type="body" sz="quarter" idx="19" hasCustomPrompt="1"/>
          </p:nvPr>
        </p:nvSpPr>
        <p:spPr>
          <a:xfrm>
            <a:off x="96401" y="820408"/>
            <a:ext cx="5593566" cy="303226"/>
          </a:xfrm>
          <a:prstGeom prst="rect">
            <a:avLst/>
          </a:prstGeom>
        </p:spPr>
        <p:txBody>
          <a:bodyPr/>
          <a:lstStyle>
            <a:lvl1pPr marL="0" indent="0">
              <a:buNone/>
              <a:defRPr sz="1400" b="1">
                <a:solidFill>
                  <a:schemeClr val="tx1"/>
                </a:solidFill>
                <a:latin typeface="Montserrat" panose="00000500000000000000" pitchFamily="2" charset="0"/>
              </a:defRPr>
            </a:lvl1pPr>
          </a:lstStyle>
          <a:p>
            <a:pPr lvl="0"/>
            <a:r>
              <a:rPr lang="en-US"/>
              <a:t>I. </a:t>
            </a:r>
            <a:r>
              <a:rPr lang="en-US" err="1"/>
              <a:t>Adicione</a:t>
            </a:r>
            <a:r>
              <a:rPr lang="en-US"/>
              <a:t> o </a:t>
            </a:r>
            <a:r>
              <a:rPr lang="en-US" err="1"/>
              <a:t>Título</a:t>
            </a:r>
            <a:r>
              <a:rPr lang="en-US"/>
              <a:t> do </a:t>
            </a:r>
            <a:r>
              <a:rPr lang="en-US" err="1"/>
              <a:t>Espaço</a:t>
            </a:r>
            <a:endParaRPr lang="en-US"/>
          </a:p>
        </p:txBody>
      </p:sp>
      <p:sp>
        <p:nvSpPr>
          <p:cNvPr id="10" name="Text Placeholder 6">
            <a:extLst>
              <a:ext uri="{FF2B5EF4-FFF2-40B4-BE49-F238E27FC236}">
                <a16:creationId xmlns:a16="http://schemas.microsoft.com/office/drawing/2014/main" id="{E54DF821-251C-F27E-3802-90F323818494}"/>
              </a:ext>
            </a:extLst>
          </p:cNvPr>
          <p:cNvSpPr>
            <a:spLocks noGrp="1"/>
          </p:cNvSpPr>
          <p:nvPr>
            <p:ph type="body" sz="quarter" idx="20" hasCustomPrompt="1"/>
          </p:nvPr>
        </p:nvSpPr>
        <p:spPr>
          <a:xfrm>
            <a:off x="96401" y="1105702"/>
            <a:ext cx="5593565" cy="197609"/>
          </a:xfrm>
          <a:prstGeom prst="rect">
            <a:avLst/>
          </a:prstGeom>
        </p:spPr>
        <p:txBody>
          <a:bodyPr/>
          <a:lstStyle>
            <a:lvl1pPr marL="0" indent="0">
              <a:buNone/>
              <a:defRPr sz="1200" b="0">
                <a:solidFill>
                  <a:schemeClr val="tx1"/>
                </a:solidFill>
                <a:latin typeface="Montserrat" panose="00000500000000000000" pitchFamily="2" charset="0"/>
              </a:defRPr>
            </a:lvl1pPr>
          </a:lstStyle>
          <a:p>
            <a:pPr lvl="0"/>
            <a:r>
              <a:rPr lang="en-US" err="1"/>
              <a:t>Adicione</a:t>
            </a:r>
            <a:r>
              <a:rPr lang="en-US"/>
              <a:t> o </a:t>
            </a:r>
            <a:r>
              <a:rPr lang="en-US" err="1"/>
              <a:t>Subtítulo</a:t>
            </a:r>
            <a:r>
              <a:rPr lang="en-US"/>
              <a:t>’</a:t>
            </a:r>
          </a:p>
        </p:txBody>
      </p:sp>
      <p:sp>
        <p:nvSpPr>
          <p:cNvPr id="11" name="Text Placeholder 6">
            <a:extLst>
              <a:ext uri="{FF2B5EF4-FFF2-40B4-BE49-F238E27FC236}">
                <a16:creationId xmlns:a16="http://schemas.microsoft.com/office/drawing/2014/main" id="{822180D5-F5AE-E908-939E-72E57D6A182A}"/>
              </a:ext>
            </a:extLst>
          </p:cNvPr>
          <p:cNvSpPr>
            <a:spLocks noGrp="1"/>
          </p:cNvSpPr>
          <p:nvPr>
            <p:ph type="body" sz="quarter" idx="23" hasCustomPrompt="1"/>
          </p:nvPr>
        </p:nvSpPr>
        <p:spPr>
          <a:xfrm>
            <a:off x="96401" y="3711368"/>
            <a:ext cx="5593566" cy="303226"/>
          </a:xfrm>
          <a:prstGeom prst="rect">
            <a:avLst/>
          </a:prstGeom>
        </p:spPr>
        <p:txBody>
          <a:bodyPr/>
          <a:lstStyle>
            <a:lvl1pPr marL="0" indent="0">
              <a:buNone/>
              <a:defRPr sz="1400" b="1">
                <a:solidFill>
                  <a:schemeClr val="tx1"/>
                </a:solidFill>
                <a:latin typeface="Montserrat" panose="00000500000000000000" pitchFamily="2" charset="0"/>
              </a:defRPr>
            </a:lvl1pPr>
          </a:lstStyle>
          <a:p>
            <a:pPr lvl="0"/>
            <a:r>
              <a:rPr lang="en-US"/>
              <a:t>III. </a:t>
            </a:r>
            <a:r>
              <a:rPr lang="en-US" err="1"/>
              <a:t>Adicione</a:t>
            </a:r>
            <a:r>
              <a:rPr lang="en-US"/>
              <a:t> o </a:t>
            </a:r>
            <a:r>
              <a:rPr lang="en-US" err="1"/>
              <a:t>Título</a:t>
            </a:r>
            <a:r>
              <a:rPr lang="en-US"/>
              <a:t> do </a:t>
            </a:r>
            <a:r>
              <a:rPr lang="en-US" err="1"/>
              <a:t>Espaço</a:t>
            </a:r>
            <a:endParaRPr lang="en-US"/>
          </a:p>
        </p:txBody>
      </p:sp>
      <p:sp>
        <p:nvSpPr>
          <p:cNvPr id="12" name="Text Placeholder 6">
            <a:extLst>
              <a:ext uri="{FF2B5EF4-FFF2-40B4-BE49-F238E27FC236}">
                <a16:creationId xmlns:a16="http://schemas.microsoft.com/office/drawing/2014/main" id="{AA7E4745-F5C0-57EC-C4EE-23C7AE1723D9}"/>
              </a:ext>
            </a:extLst>
          </p:cNvPr>
          <p:cNvSpPr>
            <a:spLocks noGrp="1"/>
          </p:cNvSpPr>
          <p:nvPr>
            <p:ph type="body" sz="quarter" idx="24" hasCustomPrompt="1"/>
          </p:nvPr>
        </p:nvSpPr>
        <p:spPr>
          <a:xfrm>
            <a:off x="96401" y="3996662"/>
            <a:ext cx="5593565" cy="197609"/>
          </a:xfrm>
          <a:prstGeom prst="rect">
            <a:avLst/>
          </a:prstGeom>
        </p:spPr>
        <p:txBody>
          <a:bodyPr/>
          <a:lstStyle>
            <a:lvl1pPr marL="0" indent="0">
              <a:buNone/>
              <a:defRPr sz="1200" b="0">
                <a:solidFill>
                  <a:schemeClr val="tx1"/>
                </a:solidFill>
                <a:latin typeface="Montserrat" panose="00000500000000000000" pitchFamily="2" charset="0"/>
              </a:defRPr>
            </a:lvl1pPr>
          </a:lstStyle>
          <a:p>
            <a:pPr lvl="0"/>
            <a:r>
              <a:rPr lang="en-US" err="1"/>
              <a:t>Adicione</a:t>
            </a:r>
            <a:r>
              <a:rPr lang="en-US"/>
              <a:t> o </a:t>
            </a:r>
            <a:r>
              <a:rPr lang="en-US" err="1"/>
              <a:t>Subtítulo</a:t>
            </a:r>
            <a:r>
              <a:rPr lang="en-US"/>
              <a:t>’</a:t>
            </a:r>
          </a:p>
        </p:txBody>
      </p:sp>
      <p:sp>
        <p:nvSpPr>
          <p:cNvPr id="13" name="Text Placeholder 6">
            <a:extLst>
              <a:ext uri="{FF2B5EF4-FFF2-40B4-BE49-F238E27FC236}">
                <a16:creationId xmlns:a16="http://schemas.microsoft.com/office/drawing/2014/main" id="{27C4E54D-FD02-1A8B-E46D-3439E9604D09}"/>
              </a:ext>
            </a:extLst>
          </p:cNvPr>
          <p:cNvSpPr>
            <a:spLocks noGrp="1"/>
          </p:cNvSpPr>
          <p:nvPr>
            <p:ph type="body" sz="quarter" idx="25" hasCustomPrompt="1"/>
          </p:nvPr>
        </p:nvSpPr>
        <p:spPr>
          <a:xfrm>
            <a:off x="6009521" y="3711368"/>
            <a:ext cx="5593566" cy="303226"/>
          </a:xfrm>
          <a:prstGeom prst="rect">
            <a:avLst/>
          </a:prstGeom>
        </p:spPr>
        <p:txBody>
          <a:bodyPr/>
          <a:lstStyle>
            <a:lvl1pPr marL="0" indent="0">
              <a:buNone/>
              <a:defRPr sz="1400" b="1">
                <a:solidFill>
                  <a:schemeClr val="tx1"/>
                </a:solidFill>
                <a:latin typeface="Montserrat" panose="00000500000000000000" pitchFamily="2" charset="0"/>
              </a:defRPr>
            </a:lvl1pPr>
          </a:lstStyle>
          <a:p>
            <a:pPr lvl="0"/>
            <a:r>
              <a:rPr lang="en-US"/>
              <a:t>IV. </a:t>
            </a:r>
            <a:r>
              <a:rPr lang="en-US" err="1"/>
              <a:t>Adicione</a:t>
            </a:r>
            <a:r>
              <a:rPr lang="en-US"/>
              <a:t> o </a:t>
            </a:r>
            <a:r>
              <a:rPr lang="en-US" err="1"/>
              <a:t>Título</a:t>
            </a:r>
            <a:r>
              <a:rPr lang="en-US"/>
              <a:t> do </a:t>
            </a:r>
            <a:r>
              <a:rPr lang="en-US" err="1"/>
              <a:t>Espaço</a:t>
            </a:r>
            <a:endParaRPr lang="en-US"/>
          </a:p>
        </p:txBody>
      </p:sp>
      <p:sp>
        <p:nvSpPr>
          <p:cNvPr id="14" name="Text Placeholder 6">
            <a:extLst>
              <a:ext uri="{FF2B5EF4-FFF2-40B4-BE49-F238E27FC236}">
                <a16:creationId xmlns:a16="http://schemas.microsoft.com/office/drawing/2014/main" id="{2C437402-58A6-DC18-5B92-9D36FFBDF4A1}"/>
              </a:ext>
            </a:extLst>
          </p:cNvPr>
          <p:cNvSpPr>
            <a:spLocks noGrp="1"/>
          </p:cNvSpPr>
          <p:nvPr>
            <p:ph type="body" sz="quarter" idx="26" hasCustomPrompt="1"/>
          </p:nvPr>
        </p:nvSpPr>
        <p:spPr>
          <a:xfrm>
            <a:off x="6009521" y="3996662"/>
            <a:ext cx="5593565" cy="197609"/>
          </a:xfrm>
          <a:prstGeom prst="rect">
            <a:avLst/>
          </a:prstGeom>
        </p:spPr>
        <p:txBody>
          <a:bodyPr/>
          <a:lstStyle>
            <a:lvl1pPr marL="0" indent="0">
              <a:buNone/>
              <a:defRPr sz="1200" b="0">
                <a:solidFill>
                  <a:schemeClr val="tx1"/>
                </a:solidFill>
                <a:latin typeface="Montserrat" panose="00000500000000000000" pitchFamily="2" charset="0"/>
              </a:defRPr>
            </a:lvl1pPr>
          </a:lstStyle>
          <a:p>
            <a:pPr lvl="0"/>
            <a:r>
              <a:rPr lang="en-US" err="1"/>
              <a:t>Adicione</a:t>
            </a:r>
            <a:r>
              <a:rPr lang="en-US"/>
              <a:t> o </a:t>
            </a:r>
            <a:r>
              <a:rPr lang="en-US" err="1"/>
              <a:t>Subtítulo</a:t>
            </a:r>
            <a:r>
              <a:rPr lang="en-US"/>
              <a:t>’</a:t>
            </a:r>
          </a:p>
        </p:txBody>
      </p:sp>
      <p:sp>
        <p:nvSpPr>
          <p:cNvPr id="15" name="Text Placeholder 6">
            <a:extLst>
              <a:ext uri="{FF2B5EF4-FFF2-40B4-BE49-F238E27FC236}">
                <a16:creationId xmlns:a16="http://schemas.microsoft.com/office/drawing/2014/main" id="{A843A59A-E738-6E74-ABCE-84D2254013A3}"/>
              </a:ext>
            </a:extLst>
          </p:cNvPr>
          <p:cNvSpPr>
            <a:spLocks noGrp="1"/>
          </p:cNvSpPr>
          <p:nvPr>
            <p:ph type="body" sz="quarter" idx="27" hasCustomPrompt="1"/>
          </p:nvPr>
        </p:nvSpPr>
        <p:spPr>
          <a:xfrm>
            <a:off x="5975148" y="820408"/>
            <a:ext cx="5593566" cy="303226"/>
          </a:xfrm>
          <a:prstGeom prst="rect">
            <a:avLst/>
          </a:prstGeom>
        </p:spPr>
        <p:txBody>
          <a:bodyPr/>
          <a:lstStyle>
            <a:lvl1pPr marL="0" indent="0">
              <a:buNone/>
              <a:defRPr sz="1400" b="1">
                <a:solidFill>
                  <a:schemeClr val="tx1"/>
                </a:solidFill>
                <a:latin typeface="Montserrat" panose="00000500000000000000" pitchFamily="2" charset="0"/>
              </a:defRPr>
            </a:lvl1pPr>
          </a:lstStyle>
          <a:p>
            <a:pPr lvl="0"/>
            <a:r>
              <a:rPr lang="en-US"/>
              <a:t>II. </a:t>
            </a:r>
            <a:r>
              <a:rPr lang="en-US" err="1"/>
              <a:t>Adicione</a:t>
            </a:r>
            <a:r>
              <a:rPr lang="en-US"/>
              <a:t> o </a:t>
            </a:r>
            <a:r>
              <a:rPr lang="en-US" err="1"/>
              <a:t>Título</a:t>
            </a:r>
            <a:r>
              <a:rPr lang="en-US"/>
              <a:t> do </a:t>
            </a:r>
            <a:r>
              <a:rPr lang="en-US" err="1"/>
              <a:t>Espaço</a:t>
            </a:r>
            <a:endParaRPr lang="en-US"/>
          </a:p>
        </p:txBody>
      </p:sp>
      <p:sp>
        <p:nvSpPr>
          <p:cNvPr id="16" name="Text Placeholder 6">
            <a:extLst>
              <a:ext uri="{FF2B5EF4-FFF2-40B4-BE49-F238E27FC236}">
                <a16:creationId xmlns:a16="http://schemas.microsoft.com/office/drawing/2014/main" id="{EB9B89CE-F2D7-EE26-E1F7-0F9522F8AD71}"/>
              </a:ext>
            </a:extLst>
          </p:cNvPr>
          <p:cNvSpPr>
            <a:spLocks noGrp="1"/>
          </p:cNvSpPr>
          <p:nvPr>
            <p:ph type="body" sz="quarter" idx="28" hasCustomPrompt="1"/>
          </p:nvPr>
        </p:nvSpPr>
        <p:spPr>
          <a:xfrm>
            <a:off x="5975148" y="1105702"/>
            <a:ext cx="5593565" cy="197609"/>
          </a:xfrm>
          <a:prstGeom prst="rect">
            <a:avLst/>
          </a:prstGeom>
        </p:spPr>
        <p:txBody>
          <a:bodyPr/>
          <a:lstStyle>
            <a:lvl1pPr marL="0" indent="0">
              <a:buNone/>
              <a:defRPr sz="1200" b="0">
                <a:solidFill>
                  <a:schemeClr val="tx1"/>
                </a:solidFill>
                <a:latin typeface="Montserrat" panose="00000500000000000000" pitchFamily="2" charset="0"/>
              </a:defRPr>
            </a:lvl1pPr>
          </a:lstStyle>
          <a:p>
            <a:pPr lvl="0"/>
            <a:r>
              <a:rPr lang="en-US" err="1"/>
              <a:t>Adicione</a:t>
            </a:r>
            <a:r>
              <a:rPr lang="en-US"/>
              <a:t> o </a:t>
            </a:r>
            <a:r>
              <a:rPr lang="en-US" err="1"/>
              <a:t>Subtítulo</a:t>
            </a:r>
            <a:r>
              <a:rPr lang="en-US"/>
              <a:t>’</a:t>
            </a:r>
          </a:p>
        </p:txBody>
      </p:sp>
    </p:spTree>
    <p:extLst>
      <p:ext uri="{BB962C8B-B14F-4D97-AF65-F5344CB8AC3E}">
        <p14:creationId xmlns:p14="http://schemas.microsoft.com/office/powerpoint/2010/main" val="365914319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Text Placeholder 19">
            <a:extLst>
              <a:ext uri="{FF2B5EF4-FFF2-40B4-BE49-F238E27FC236}">
                <a16:creationId xmlns:a16="http://schemas.microsoft.com/office/drawing/2014/main" id="{D3B444F9-1006-AF3F-627A-A30A0847EAE5}"/>
              </a:ext>
            </a:extLst>
          </p:cNvPr>
          <p:cNvSpPr>
            <a:spLocks noGrp="1"/>
          </p:cNvSpPr>
          <p:nvPr>
            <p:ph type="body" sz="quarter" idx="18"/>
          </p:nvPr>
        </p:nvSpPr>
        <p:spPr>
          <a:xfrm>
            <a:off x="542135" y="6675112"/>
            <a:ext cx="5553866" cy="154648"/>
          </a:xfrm>
          <a:prstGeom prst="rect">
            <a:avLst/>
          </a:prstGeom>
        </p:spPr>
        <p:txBody>
          <a:bodyPr/>
          <a:lstStyle>
            <a:lvl1pPr marL="0" indent="0">
              <a:buNone/>
              <a:defRPr sz="800" i="1">
                <a:solidFill>
                  <a:schemeClr val="tx1">
                    <a:lumMod val="75000"/>
                    <a:lumOff val="25000"/>
                  </a:schemeClr>
                </a:solidFill>
                <a:latin typeface="Montserrat" panose="00000500000000000000" pitchFamily="2" charset="0"/>
              </a:defRPr>
            </a:lvl1pPr>
          </a:lstStyle>
          <a:p>
            <a:pPr lvl="0"/>
            <a:r>
              <a:rPr lang="pt-BR"/>
              <a:t>Clique para editar os estilos de texto Mestres</a:t>
            </a:r>
          </a:p>
        </p:txBody>
      </p:sp>
      <p:sp>
        <p:nvSpPr>
          <p:cNvPr id="8" name="Title Placeholder 1">
            <a:extLst>
              <a:ext uri="{FF2B5EF4-FFF2-40B4-BE49-F238E27FC236}">
                <a16:creationId xmlns:a16="http://schemas.microsoft.com/office/drawing/2014/main" id="{E1323DE9-74B9-A598-C651-5054B6E00637}"/>
              </a:ext>
            </a:extLst>
          </p:cNvPr>
          <p:cNvSpPr>
            <a:spLocks noGrp="1"/>
          </p:cNvSpPr>
          <p:nvPr>
            <p:ph type="title" hasCustomPrompt="1"/>
          </p:nvPr>
        </p:nvSpPr>
        <p:spPr>
          <a:xfrm>
            <a:off x="96401" y="38251"/>
            <a:ext cx="11527643" cy="555135"/>
          </a:xfrm>
          <a:prstGeom prst="rect">
            <a:avLst/>
          </a:prstGeom>
        </p:spPr>
        <p:txBody>
          <a:bodyPr vert="horz" lIns="91440" tIns="45720" rIns="91440" bIns="45720" rtlCol="0" anchor="ctr">
            <a:normAutofit/>
          </a:bodyPr>
          <a:lstStyle>
            <a:lvl1pPr>
              <a:defRPr sz="2400" b="1">
                <a:solidFill>
                  <a:schemeClr val="bg1"/>
                </a:solidFill>
                <a:latin typeface="Montserrat" panose="00000500000000000000" pitchFamily="2" charset="0"/>
              </a:defRPr>
            </a:lvl1pPr>
          </a:lstStyle>
          <a:p>
            <a:r>
              <a:rPr lang="en-US" err="1"/>
              <a:t>XXXXXXXX</a:t>
            </a:r>
            <a:endParaRPr lang="en-US"/>
          </a:p>
        </p:txBody>
      </p:sp>
      <p:sp>
        <p:nvSpPr>
          <p:cNvPr id="9" name="Text Placeholder 6">
            <a:extLst>
              <a:ext uri="{FF2B5EF4-FFF2-40B4-BE49-F238E27FC236}">
                <a16:creationId xmlns:a16="http://schemas.microsoft.com/office/drawing/2014/main" id="{87DD48AC-33B5-46D6-D3C1-57D5EBACE65B}"/>
              </a:ext>
            </a:extLst>
          </p:cNvPr>
          <p:cNvSpPr>
            <a:spLocks noGrp="1"/>
          </p:cNvSpPr>
          <p:nvPr>
            <p:ph type="body" sz="quarter" idx="19" hasCustomPrompt="1"/>
          </p:nvPr>
        </p:nvSpPr>
        <p:spPr>
          <a:xfrm>
            <a:off x="96401" y="820408"/>
            <a:ext cx="5593566" cy="303226"/>
          </a:xfrm>
          <a:prstGeom prst="rect">
            <a:avLst/>
          </a:prstGeom>
        </p:spPr>
        <p:txBody>
          <a:bodyPr/>
          <a:lstStyle>
            <a:lvl1pPr marL="0" indent="0">
              <a:buNone/>
              <a:defRPr sz="1400" b="1">
                <a:solidFill>
                  <a:schemeClr val="tx1"/>
                </a:solidFill>
                <a:latin typeface="Montserrat" panose="00000500000000000000" pitchFamily="2" charset="0"/>
              </a:defRPr>
            </a:lvl1pPr>
          </a:lstStyle>
          <a:p>
            <a:pPr lvl="0"/>
            <a:r>
              <a:rPr lang="en-US"/>
              <a:t>I. </a:t>
            </a:r>
            <a:r>
              <a:rPr lang="en-US" err="1"/>
              <a:t>Adicione</a:t>
            </a:r>
            <a:r>
              <a:rPr lang="en-US"/>
              <a:t> o </a:t>
            </a:r>
            <a:r>
              <a:rPr lang="en-US" err="1"/>
              <a:t>Título</a:t>
            </a:r>
            <a:r>
              <a:rPr lang="en-US"/>
              <a:t> do </a:t>
            </a:r>
            <a:r>
              <a:rPr lang="en-US" err="1"/>
              <a:t>Espaço</a:t>
            </a:r>
            <a:endParaRPr lang="en-US"/>
          </a:p>
        </p:txBody>
      </p:sp>
      <p:sp>
        <p:nvSpPr>
          <p:cNvPr id="10" name="Text Placeholder 6">
            <a:extLst>
              <a:ext uri="{FF2B5EF4-FFF2-40B4-BE49-F238E27FC236}">
                <a16:creationId xmlns:a16="http://schemas.microsoft.com/office/drawing/2014/main" id="{E54DF821-251C-F27E-3802-90F323818494}"/>
              </a:ext>
            </a:extLst>
          </p:cNvPr>
          <p:cNvSpPr>
            <a:spLocks noGrp="1"/>
          </p:cNvSpPr>
          <p:nvPr>
            <p:ph type="body" sz="quarter" idx="20" hasCustomPrompt="1"/>
          </p:nvPr>
        </p:nvSpPr>
        <p:spPr>
          <a:xfrm>
            <a:off x="96401" y="1105702"/>
            <a:ext cx="5593565" cy="197609"/>
          </a:xfrm>
          <a:prstGeom prst="rect">
            <a:avLst/>
          </a:prstGeom>
        </p:spPr>
        <p:txBody>
          <a:bodyPr/>
          <a:lstStyle>
            <a:lvl1pPr marL="0" indent="0">
              <a:buNone/>
              <a:defRPr sz="1200" b="0">
                <a:solidFill>
                  <a:schemeClr val="tx1"/>
                </a:solidFill>
                <a:latin typeface="Montserrat" panose="00000500000000000000" pitchFamily="2" charset="0"/>
              </a:defRPr>
            </a:lvl1pPr>
          </a:lstStyle>
          <a:p>
            <a:pPr lvl="0"/>
            <a:r>
              <a:rPr lang="en-US" err="1"/>
              <a:t>Adicione</a:t>
            </a:r>
            <a:r>
              <a:rPr lang="en-US"/>
              <a:t> o </a:t>
            </a:r>
            <a:r>
              <a:rPr lang="en-US" err="1"/>
              <a:t>Subtítulo</a:t>
            </a:r>
            <a:r>
              <a:rPr lang="en-US"/>
              <a:t>’</a:t>
            </a:r>
          </a:p>
        </p:txBody>
      </p:sp>
      <p:sp>
        <p:nvSpPr>
          <p:cNvPr id="15" name="Text Placeholder 6">
            <a:extLst>
              <a:ext uri="{FF2B5EF4-FFF2-40B4-BE49-F238E27FC236}">
                <a16:creationId xmlns:a16="http://schemas.microsoft.com/office/drawing/2014/main" id="{A843A59A-E738-6E74-ABCE-84D2254013A3}"/>
              </a:ext>
            </a:extLst>
          </p:cNvPr>
          <p:cNvSpPr>
            <a:spLocks noGrp="1"/>
          </p:cNvSpPr>
          <p:nvPr>
            <p:ph type="body" sz="quarter" idx="27" hasCustomPrompt="1"/>
          </p:nvPr>
        </p:nvSpPr>
        <p:spPr>
          <a:xfrm>
            <a:off x="5975148" y="820408"/>
            <a:ext cx="5593566" cy="303226"/>
          </a:xfrm>
          <a:prstGeom prst="rect">
            <a:avLst/>
          </a:prstGeom>
        </p:spPr>
        <p:txBody>
          <a:bodyPr/>
          <a:lstStyle>
            <a:lvl1pPr marL="0" indent="0">
              <a:buNone/>
              <a:defRPr sz="1400" b="1">
                <a:solidFill>
                  <a:schemeClr val="tx1"/>
                </a:solidFill>
                <a:latin typeface="Montserrat" panose="00000500000000000000" pitchFamily="2" charset="0"/>
              </a:defRPr>
            </a:lvl1pPr>
          </a:lstStyle>
          <a:p>
            <a:pPr lvl="0"/>
            <a:r>
              <a:rPr lang="en-US"/>
              <a:t>II. </a:t>
            </a:r>
            <a:r>
              <a:rPr lang="en-US" err="1"/>
              <a:t>Adicione</a:t>
            </a:r>
            <a:r>
              <a:rPr lang="en-US"/>
              <a:t> o </a:t>
            </a:r>
            <a:r>
              <a:rPr lang="en-US" err="1"/>
              <a:t>Título</a:t>
            </a:r>
            <a:r>
              <a:rPr lang="en-US"/>
              <a:t> do </a:t>
            </a:r>
            <a:r>
              <a:rPr lang="en-US" err="1"/>
              <a:t>Espaço</a:t>
            </a:r>
            <a:endParaRPr lang="en-US"/>
          </a:p>
        </p:txBody>
      </p:sp>
      <p:sp>
        <p:nvSpPr>
          <p:cNvPr id="16" name="Text Placeholder 6">
            <a:extLst>
              <a:ext uri="{FF2B5EF4-FFF2-40B4-BE49-F238E27FC236}">
                <a16:creationId xmlns:a16="http://schemas.microsoft.com/office/drawing/2014/main" id="{EB9B89CE-F2D7-EE26-E1F7-0F9522F8AD71}"/>
              </a:ext>
            </a:extLst>
          </p:cNvPr>
          <p:cNvSpPr>
            <a:spLocks noGrp="1"/>
          </p:cNvSpPr>
          <p:nvPr>
            <p:ph type="body" sz="quarter" idx="28" hasCustomPrompt="1"/>
          </p:nvPr>
        </p:nvSpPr>
        <p:spPr>
          <a:xfrm>
            <a:off x="5975148" y="1105702"/>
            <a:ext cx="5593565" cy="197609"/>
          </a:xfrm>
          <a:prstGeom prst="rect">
            <a:avLst/>
          </a:prstGeom>
        </p:spPr>
        <p:txBody>
          <a:bodyPr/>
          <a:lstStyle>
            <a:lvl1pPr marL="0" indent="0">
              <a:buNone/>
              <a:defRPr sz="1200" b="0">
                <a:solidFill>
                  <a:schemeClr val="tx1"/>
                </a:solidFill>
                <a:latin typeface="Montserrat" panose="00000500000000000000" pitchFamily="2" charset="0"/>
              </a:defRPr>
            </a:lvl1pPr>
          </a:lstStyle>
          <a:p>
            <a:pPr lvl="0"/>
            <a:r>
              <a:rPr lang="en-US" err="1"/>
              <a:t>Adicione</a:t>
            </a:r>
            <a:r>
              <a:rPr lang="en-US"/>
              <a:t> o </a:t>
            </a:r>
            <a:r>
              <a:rPr lang="en-US" err="1"/>
              <a:t>Subtítulo</a:t>
            </a:r>
            <a:r>
              <a:rPr lang="en-US"/>
              <a:t>’</a:t>
            </a:r>
          </a:p>
        </p:txBody>
      </p:sp>
    </p:spTree>
    <p:extLst>
      <p:ext uri="{BB962C8B-B14F-4D97-AF65-F5344CB8AC3E}">
        <p14:creationId xmlns:p14="http://schemas.microsoft.com/office/powerpoint/2010/main" val="29160625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slideLayout" Target="../slideLayouts/slideLayout15.xml"/><Relationship Id="rId15" Type="http://schemas.openxmlformats.org/officeDocument/2006/relationships/theme" Target="../theme/theme2.xml"/><Relationship Id="rId16" Type="http://schemas.openxmlformats.org/officeDocument/2006/relationships/image" Target="../media/image1.png"/><Relationship Id="rId17"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4746CDE0-88FF-89A6-2A88-842B39588D25}"/>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artisticPhotocopy trans="0" detail="0"/>
                    </a14:imgEffect>
                  </a14:imgLayer>
                </a14:imgProps>
              </a:ext>
              <a:ext uri="{28A0092B-C50C-407E-A947-70E740481C1C}">
                <a14:useLocalDpi xmlns:a14="http://schemas.microsoft.com/office/drawing/2010/main" val="0"/>
              </a:ext>
            </a:extLst>
          </a:blip>
          <a:srcRect/>
          <a:stretch>
            <a:fillRect/>
          </a:stretch>
        </p:blipFill>
        <p:spPr bwMode="auto">
          <a:xfrm>
            <a:off x="11082814" y="131532"/>
            <a:ext cx="955584" cy="370764"/>
          </a:xfrm>
          <a:prstGeom prst="rect">
            <a:avLst/>
          </a:prstGeom>
          <a:noFill/>
          <a:extLst>
            <a:ext uri="{909E8E84-426E-40DD-AFC4-6F175D3DCCD1}">
              <a14:hiddenFill xmlns:a14="http://schemas.microsoft.com/office/drawing/2010/main">
                <a:solidFill>
                  <a:srgbClr val="FFFFFF"/>
                </a:solidFill>
              </a14:hiddenFill>
            </a:ext>
          </a:extLst>
        </p:spPr>
      </p:pic>
      <p:sp>
        <p:nvSpPr>
          <p:cNvPr id="15" name="Retângulo 11">
            <a:extLst>
              <a:ext uri="{FF2B5EF4-FFF2-40B4-BE49-F238E27FC236}">
                <a16:creationId xmlns:a16="http://schemas.microsoft.com/office/drawing/2014/main" id="{6A237113-A397-7EE1-5A04-85D6E69C6F52}"/>
              </a:ext>
            </a:extLst>
          </p:cNvPr>
          <p:cNvSpPr/>
          <p:nvPr userDrawn="1"/>
        </p:nvSpPr>
        <p:spPr>
          <a:xfrm>
            <a:off x="62997" y="-1"/>
            <a:ext cx="2471643" cy="68580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Picture 15">
            <a:extLst>
              <a:ext uri="{FF2B5EF4-FFF2-40B4-BE49-F238E27FC236}">
                <a16:creationId xmlns:a16="http://schemas.microsoft.com/office/drawing/2014/main" id="{7121A603-83D0-22E9-055B-C441B4E515B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17" name="Seta: Pentágono 1">
            <a:extLst>
              <a:ext uri="{FF2B5EF4-FFF2-40B4-BE49-F238E27FC236}">
                <a16:creationId xmlns:a16="http://schemas.microsoft.com/office/drawing/2014/main" id="{80005EE4-7739-28E3-7D31-82F649FFB4A0}"/>
              </a:ext>
            </a:extLst>
          </p:cNvPr>
          <p:cNvSpPr/>
          <p:nvPr userDrawn="1"/>
        </p:nvSpPr>
        <p:spPr>
          <a:xfrm>
            <a:off x="4577" y="6441621"/>
            <a:ext cx="11428854" cy="54941"/>
          </a:xfrm>
          <a:prstGeom prst="homePlate">
            <a:avLst>
              <a:gd name="adj" fmla="val 57237"/>
            </a:avLst>
          </a:prstGeom>
          <a:solidFill>
            <a:srgbClr val="1147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ctangle 17">
            <a:extLst>
              <a:ext uri="{FF2B5EF4-FFF2-40B4-BE49-F238E27FC236}">
                <a16:creationId xmlns:a16="http://schemas.microsoft.com/office/drawing/2014/main" id="{936585DA-14E3-404D-6A53-CBADB9A4BC2E}"/>
              </a:ext>
            </a:extLst>
          </p:cNvPr>
          <p:cNvSpPr/>
          <p:nvPr userDrawn="1"/>
        </p:nvSpPr>
        <p:spPr>
          <a:xfrm>
            <a:off x="0" y="-2"/>
            <a:ext cx="12192001" cy="6876412"/>
          </a:xfrm>
          <a:prstGeom prst="rect">
            <a:avLst/>
          </a:prstGeom>
          <a:solidFill>
            <a:schemeClr val="bg1">
              <a:lumMod val="8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1" name="Straight Connector 20">
            <a:extLst>
              <a:ext uri="{FF2B5EF4-FFF2-40B4-BE49-F238E27FC236}">
                <a16:creationId xmlns:a16="http://schemas.microsoft.com/office/drawing/2014/main" id="{1C295FB8-A933-8199-CF10-7AD2069990AA}"/>
              </a:ext>
            </a:extLst>
          </p:cNvPr>
          <p:cNvCxnSpPr>
            <a:cxnSpLocks/>
          </p:cNvCxnSpPr>
          <p:nvPr userDrawn="1"/>
        </p:nvCxnSpPr>
        <p:spPr>
          <a:xfrm>
            <a:off x="792492" y="2858474"/>
            <a:ext cx="10484923" cy="4404"/>
          </a:xfrm>
          <a:prstGeom prst="line">
            <a:avLst/>
          </a:prstGeom>
          <a:ln>
            <a:solidFill>
              <a:srgbClr val="056429"/>
            </a:solidFill>
          </a:ln>
        </p:spPr>
        <p:style>
          <a:lnRef idx="2">
            <a:schemeClr val="accent1"/>
          </a:lnRef>
          <a:fillRef idx="0">
            <a:schemeClr val="accent1"/>
          </a:fillRef>
          <a:effectRef idx="1">
            <a:schemeClr val="accent1"/>
          </a:effectRef>
          <a:fontRef idx="minor">
            <a:schemeClr val="tx1"/>
          </a:fontRef>
        </p:style>
      </p:cxnSp>
      <p:sp>
        <p:nvSpPr>
          <p:cNvPr id="23" name="Title Placeholder 1">
            <a:extLst>
              <a:ext uri="{FF2B5EF4-FFF2-40B4-BE49-F238E27FC236}">
                <a16:creationId xmlns:a16="http://schemas.microsoft.com/office/drawing/2014/main" id="{3BB53381-9738-8DCB-6452-DC0DDFDE021D}"/>
              </a:ext>
            </a:extLst>
          </p:cNvPr>
          <p:cNvSpPr txBox="1">
            <a:spLocks/>
          </p:cNvSpPr>
          <p:nvPr userDrawn="1"/>
        </p:nvSpPr>
        <p:spPr>
          <a:xfrm>
            <a:off x="-163373" y="5953550"/>
            <a:ext cx="11769851" cy="5551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bg1"/>
                </a:solidFill>
                <a:latin typeface="Montserrat" panose="00000500000000000000" pitchFamily="2" charset="0"/>
                <a:ea typeface="+mj-ea"/>
                <a:cs typeface="+mj-cs"/>
              </a:defRPr>
            </a:lvl1pPr>
          </a:lstStyle>
          <a:p>
            <a:pPr algn="ctr"/>
            <a:r>
              <a:rPr lang="pt-BR" sz="1400" b="0" i="1">
                <a:solidFill>
                  <a:schemeClr val="tx1"/>
                </a:solidFill>
              </a:rPr>
              <a:t>Grupo 2 - Gabriel </a:t>
            </a:r>
            <a:r>
              <a:rPr lang="pt-BR" sz="1400" b="0" i="1" err="1">
                <a:solidFill>
                  <a:schemeClr val="tx1"/>
                </a:solidFill>
              </a:rPr>
              <a:t>Benegra</a:t>
            </a:r>
            <a:r>
              <a:rPr lang="pt-BR" sz="1400" b="0" i="1">
                <a:solidFill>
                  <a:schemeClr val="tx1"/>
                </a:solidFill>
              </a:rPr>
              <a:t> | Felipe Barros | Bernardo Gomes | Vinicius </a:t>
            </a:r>
            <a:r>
              <a:rPr lang="pt-BR" sz="1400" b="0" i="1" err="1">
                <a:solidFill>
                  <a:schemeClr val="tx1"/>
                </a:solidFill>
              </a:rPr>
              <a:t>Sbruzzi</a:t>
            </a:r>
            <a:r>
              <a:rPr lang="pt-BR" sz="1400" b="0" i="1">
                <a:solidFill>
                  <a:schemeClr val="tx1"/>
                </a:solidFill>
              </a:rPr>
              <a:t> | Felipe Marques | </a:t>
            </a:r>
            <a:r>
              <a:rPr lang="pt-BR" sz="1400" b="0" i="1" err="1">
                <a:solidFill>
                  <a:schemeClr val="tx1"/>
                </a:solidFill>
              </a:rPr>
              <a:t>Kauã</a:t>
            </a:r>
            <a:r>
              <a:rPr lang="pt-BR" sz="1400" b="0" i="1">
                <a:solidFill>
                  <a:schemeClr val="tx1"/>
                </a:solidFill>
              </a:rPr>
              <a:t> Santos</a:t>
            </a:r>
            <a:endParaRPr lang="en-US" sz="1400" b="0" i="1">
              <a:solidFill>
                <a:schemeClr val="tx1"/>
              </a:solidFill>
            </a:endParaRPr>
          </a:p>
        </p:txBody>
      </p:sp>
      <p:sp>
        <p:nvSpPr>
          <p:cNvPr id="3" name="Retângulo 2">
            <a:extLst>
              <a:ext uri="{FF2B5EF4-FFF2-40B4-BE49-F238E27FC236}">
                <a16:creationId xmlns:a16="http://schemas.microsoft.com/office/drawing/2014/main" id="{494C6341-8154-8EBB-44DF-326C0874563F}"/>
              </a:ext>
            </a:extLst>
          </p:cNvPr>
          <p:cNvSpPr/>
          <p:nvPr userDrawn="1"/>
        </p:nvSpPr>
        <p:spPr>
          <a:xfrm>
            <a:off x="11491850" y="4586988"/>
            <a:ext cx="700149" cy="22710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535340621"/>
      </p:ext>
    </p:extLst>
  </p:cSld>
  <p:clrMap bg1="lt1" tx1="dk1" bg2="lt2" tx2="dk2" accent1="accent1" accent2="accent2" accent3="accent3" accent4="accent4" accent5="accent5" accent6="accent6" hlink="hlink" folHlink="folHlink"/>
  <p:sldLayoutIdLst>
    <p:sldLayoutId id="214748365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
        <p:nvSpPr>
          <p:cNvPr id="7" name="Rectangle 7">
            <a:extLst>
              <a:ext uri="{FF2B5EF4-FFF2-40B4-BE49-F238E27FC236}">
                <a16:creationId xmlns:a16="http://schemas.microsoft.com/office/drawing/2014/main" id="{B1B09DE7-FAC2-4ED9-12C8-DB40D887E893}"/>
              </a:ext>
            </a:extLst>
          </p:cNvPr>
          <p:cNvSpPr/>
          <p:nvPr userDrawn="1"/>
        </p:nvSpPr>
        <p:spPr>
          <a:xfrm rot="16200000">
            <a:off x="5773800" y="-5772461"/>
            <a:ext cx="644400" cy="12192000"/>
          </a:xfrm>
          <a:prstGeom prst="rect">
            <a:avLst/>
          </a:prstGeom>
          <a:gradFill>
            <a:gsLst>
              <a:gs pos="100000">
                <a:srgbClr val="8AD594"/>
              </a:gs>
              <a:gs pos="70000">
                <a:srgbClr val="1D4D24"/>
              </a:gs>
              <a:gs pos="39000">
                <a:srgbClr val="133418"/>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8">
            <a:extLst>
              <a:ext uri="{FF2B5EF4-FFF2-40B4-BE49-F238E27FC236}">
                <a16:creationId xmlns:a16="http://schemas.microsoft.com/office/drawing/2014/main" id="{20AF2047-A578-BB66-A1A0-8565BCDE87B5}"/>
              </a:ext>
            </a:extLst>
          </p:cNvPr>
          <p:cNvGrpSpPr/>
          <p:nvPr userDrawn="1"/>
        </p:nvGrpSpPr>
        <p:grpSpPr>
          <a:xfrm>
            <a:off x="7451386" y="-1"/>
            <a:ext cx="4777529" cy="627979"/>
            <a:chOff x="7945414" y="0"/>
            <a:chExt cx="4028761" cy="638366"/>
          </a:xfrm>
        </p:grpSpPr>
        <p:sp>
          <p:nvSpPr>
            <p:cNvPr id="9" name="object 39">
              <a:extLst>
                <a:ext uri="{FF2B5EF4-FFF2-40B4-BE49-F238E27FC236}">
                  <a16:creationId xmlns:a16="http://schemas.microsoft.com/office/drawing/2014/main" id="{DA474A2B-4975-85C4-9C0A-3971BE53EDBB}"/>
                </a:ext>
              </a:extLst>
            </p:cNvPr>
            <p:cNvSpPr/>
            <p:nvPr userDrawn="1"/>
          </p:nvSpPr>
          <p:spPr>
            <a:xfrm>
              <a:off x="7945414" y="2"/>
              <a:ext cx="1526674" cy="630990"/>
            </a:xfrm>
            <a:prstGeom prst="rtTriangle">
              <a:avLst/>
            </a:prstGeom>
            <a:gradFill flip="none" rotWithShape="1">
              <a:gsLst>
                <a:gs pos="68000">
                  <a:srgbClr val="235F2C"/>
                </a:gs>
                <a:gs pos="27000">
                  <a:srgbClr val="1B4922"/>
                </a:gs>
              </a:gsLst>
              <a:lin ang="0" scaled="1"/>
              <a:tileRect/>
            </a:gradFill>
          </p:spPr>
          <p:txBody>
            <a:bodyPr wrap="square" lIns="0" tIns="0" rIns="0" bIns="0" rtlCol="0"/>
            <a:lstStyle/>
            <a:p>
              <a:endParaRPr/>
            </a:p>
          </p:txBody>
        </p:sp>
        <p:sp>
          <p:nvSpPr>
            <p:cNvPr id="10" name="object 39">
              <a:extLst>
                <a:ext uri="{FF2B5EF4-FFF2-40B4-BE49-F238E27FC236}">
                  <a16:creationId xmlns:a16="http://schemas.microsoft.com/office/drawing/2014/main" id="{D5FEA038-9DED-AAAF-A13C-3653101851F5}"/>
                </a:ext>
              </a:extLst>
            </p:cNvPr>
            <p:cNvSpPr/>
            <p:nvPr userDrawn="1"/>
          </p:nvSpPr>
          <p:spPr>
            <a:xfrm>
              <a:off x="8779443" y="1"/>
              <a:ext cx="1526674" cy="630990"/>
            </a:xfrm>
            <a:prstGeom prst="rtTriangle">
              <a:avLst/>
            </a:prstGeom>
            <a:gradFill flip="none" rotWithShape="1">
              <a:gsLst>
                <a:gs pos="34000">
                  <a:srgbClr val="2B7636"/>
                </a:gs>
                <a:gs pos="68000">
                  <a:srgbClr val="328A3F"/>
                </a:gs>
              </a:gsLst>
              <a:lin ang="0" scaled="1"/>
              <a:tileRect/>
            </a:gradFill>
          </p:spPr>
          <p:txBody>
            <a:bodyPr wrap="square" lIns="0" tIns="0" rIns="0" bIns="0" rtlCol="0"/>
            <a:lstStyle/>
            <a:p>
              <a:endParaRPr/>
            </a:p>
          </p:txBody>
        </p:sp>
        <p:sp>
          <p:nvSpPr>
            <p:cNvPr id="11" name="object 39">
              <a:extLst>
                <a:ext uri="{FF2B5EF4-FFF2-40B4-BE49-F238E27FC236}">
                  <a16:creationId xmlns:a16="http://schemas.microsoft.com/office/drawing/2014/main" id="{C4F0C5CE-3E9F-DF48-CEAF-A90D3E32D679}"/>
                </a:ext>
              </a:extLst>
            </p:cNvPr>
            <p:cNvSpPr/>
            <p:nvPr userDrawn="1"/>
          </p:nvSpPr>
          <p:spPr>
            <a:xfrm>
              <a:off x="9613472" y="0"/>
              <a:ext cx="1526674" cy="630990"/>
            </a:xfrm>
            <a:prstGeom prst="rtTriangle">
              <a:avLst/>
            </a:prstGeom>
            <a:gradFill flip="none" rotWithShape="1">
              <a:gsLst>
                <a:gs pos="70000">
                  <a:srgbClr val="3CA64B"/>
                </a:gs>
                <a:gs pos="39000">
                  <a:srgbClr val="389A46"/>
                </a:gs>
              </a:gsLst>
              <a:lin ang="0" scaled="1"/>
              <a:tileRect/>
            </a:gradFill>
          </p:spPr>
          <p:txBody>
            <a:bodyPr wrap="square" lIns="0" tIns="0" rIns="0" bIns="0" rtlCol="0"/>
            <a:lstStyle/>
            <a:p>
              <a:endParaRPr/>
            </a:p>
          </p:txBody>
        </p:sp>
        <p:sp>
          <p:nvSpPr>
            <p:cNvPr id="12" name="object 39">
              <a:extLst>
                <a:ext uri="{FF2B5EF4-FFF2-40B4-BE49-F238E27FC236}">
                  <a16:creationId xmlns:a16="http://schemas.microsoft.com/office/drawing/2014/main" id="{CD95D092-E55C-CC16-93B5-99B84E935A85}"/>
                </a:ext>
              </a:extLst>
            </p:cNvPr>
            <p:cNvSpPr/>
            <p:nvPr userDrawn="1"/>
          </p:nvSpPr>
          <p:spPr>
            <a:xfrm>
              <a:off x="10447501" y="1340"/>
              <a:ext cx="1526674" cy="637026"/>
            </a:xfrm>
            <a:prstGeom prst="rtTriangle">
              <a:avLst/>
            </a:prstGeom>
            <a:gradFill flip="none" rotWithShape="1">
              <a:gsLst>
                <a:gs pos="70000">
                  <a:srgbClr val="50C060"/>
                </a:gs>
                <a:gs pos="39000">
                  <a:srgbClr val="62C670"/>
                </a:gs>
              </a:gsLst>
              <a:lin ang="0" scaled="1"/>
              <a:tileRect/>
            </a:gradFill>
          </p:spPr>
          <p:txBody>
            <a:bodyPr wrap="square" lIns="0" tIns="0" rIns="0" bIns="0" rtlCol="0"/>
            <a:lstStyle/>
            <a:p>
              <a:endParaRPr/>
            </a:p>
          </p:txBody>
        </p:sp>
      </p:grpSp>
      <p:pic>
        <p:nvPicPr>
          <p:cNvPr id="13" name="Picture 2">
            <a:extLst>
              <a:ext uri="{FF2B5EF4-FFF2-40B4-BE49-F238E27FC236}">
                <a16:creationId xmlns:a16="http://schemas.microsoft.com/office/drawing/2014/main" id="{019BA6DF-26FF-F704-FFF4-777670686B4D}"/>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artisticPhotocopy trans="0" detail="0"/>
                    </a14:imgEffect>
                  </a14:imgLayer>
                </a14:imgProps>
              </a:ext>
              <a:ext uri="{28A0092B-C50C-407E-A947-70E740481C1C}">
                <a14:useLocalDpi xmlns:a14="http://schemas.microsoft.com/office/drawing/2010/main" val="0"/>
              </a:ext>
            </a:extLst>
          </a:blip>
          <a:srcRect/>
          <a:stretch>
            <a:fillRect/>
          </a:stretch>
        </p:blipFill>
        <p:spPr bwMode="auto">
          <a:xfrm>
            <a:off x="11082814" y="131532"/>
            <a:ext cx="955584" cy="370764"/>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Agrupar 12">
            <a:extLst>
              <a:ext uri="{FF2B5EF4-FFF2-40B4-BE49-F238E27FC236}">
                <a16:creationId xmlns:a16="http://schemas.microsoft.com/office/drawing/2014/main" id="{E78BD19A-0D39-41F3-3003-3977D6843AD8}"/>
              </a:ext>
            </a:extLst>
          </p:cNvPr>
          <p:cNvGrpSpPr/>
          <p:nvPr userDrawn="1"/>
        </p:nvGrpSpPr>
        <p:grpSpPr>
          <a:xfrm>
            <a:off x="-5238944" y="796697"/>
            <a:ext cx="3564000" cy="4749592"/>
            <a:chOff x="-4981837" y="1224860"/>
            <a:chExt cx="3564000" cy="4749592"/>
          </a:xfrm>
        </p:grpSpPr>
        <p:sp>
          <p:nvSpPr>
            <p:cNvPr id="15" name="Rectangle 11">
              <a:extLst>
                <a:ext uri="{FF2B5EF4-FFF2-40B4-BE49-F238E27FC236}">
                  <a16:creationId xmlns:a16="http://schemas.microsoft.com/office/drawing/2014/main" id="{AD944268-344C-8C2F-4D9D-359CC02927DA}"/>
                </a:ext>
              </a:extLst>
            </p:cNvPr>
            <p:cNvSpPr/>
            <p:nvPr userDrawn="1"/>
          </p:nvSpPr>
          <p:spPr>
            <a:xfrm rot="16200000">
              <a:off x="-4981836" y="4786452"/>
              <a:ext cx="1188000" cy="118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6" name="Rectangle 12">
              <a:extLst>
                <a:ext uri="{FF2B5EF4-FFF2-40B4-BE49-F238E27FC236}">
                  <a16:creationId xmlns:a16="http://schemas.microsoft.com/office/drawing/2014/main" id="{6C9F4315-F18C-3228-6412-1ABE23A21D6F}"/>
                </a:ext>
              </a:extLst>
            </p:cNvPr>
            <p:cNvSpPr/>
            <p:nvPr userDrawn="1"/>
          </p:nvSpPr>
          <p:spPr>
            <a:xfrm rot="16200000">
              <a:off x="-3793837" y="1224861"/>
              <a:ext cx="1188000" cy="1188000"/>
            </a:xfrm>
            <a:prstGeom prst="rect">
              <a:avLst/>
            </a:prstGeom>
            <a:solidFill>
              <a:srgbClr val="1B6F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7" name="Rectangle 13">
              <a:extLst>
                <a:ext uri="{FF2B5EF4-FFF2-40B4-BE49-F238E27FC236}">
                  <a16:creationId xmlns:a16="http://schemas.microsoft.com/office/drawing/2014/main" id="{E8D86182-EA28-A36A-F26A-8B627051A2C6}"/>
                </a:ext>
              </a:extLst>
            </p:cNvPr>
            <p:cNvSpPr/>
            <p:nvPr userDrawn="1"/>
          </p:nvSpPr>
          <p:spPr>
            <a:xfrm rot="16200000">
              <a:off x="-3793836" y="2412058"/>
              <a:ext cx="1188000" cy="1188000"/>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8" name="Rectangle 14">
              <a:extLst>
                <a:ext uri="{FF2B5EF4-FFF2-40B4-BE49-F238E27FC236}">
                  <a16:creationId xmlns:a16="http://schemas.microsoft.com/office/drawing/2014/main" id="{7B0FE874-D8BA-0805-AD07-9CCED5CD071E}"/>
                </a:ext>
              </a:extLst>
            </p:cNvPr>
            <p:cNvSpPr/>
            <p:nvPr userDrawn="1"/>
          </p:nvSpPr>
          <p:spPr>
            <a:xfrm rot="16200000">
              <a:off x="-3793836" y="3599255"/>
              <a:ext cx="1188000" cy="118800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9" name="Rectangle 16">
              <a:extLst>
                <a:ext uri="{FF2B5EF4-FFF2-40B4-BE49-F238E27FC236}">
                  <a16:creationId xmlns:a16="http://schemas.microsoft.com/office/drawing/2014/main" id="{F2C8A2DB-56DA-8635-4B6F-B87AFAE78624}"/>
                </a:ext>
              </a:extLst>
            </p:cNvPr>
            <p:cNvSpPr/>
            <p:nvPr userDrawn="1"/>
          </p:nvSpPr>
          <p:spPr>
            <a:xfrm rot="16200000">
              <a:off x="-3793836" y="4786452"/>
              <a:ext cx="1188000" cy="118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0" name="Rectangle 17">
              <a:extLst>
                <a:ext uri="{FF2B5EF4-FFF2-40B4-BE49-F238E27FC236}">
                  <a16:creationId xmlns:a16="http://schemas.microsoft.com/office/drawing/2014/main" id="{00B4AD2D-5A97-F402-C442-E8A6D4D1C988}"/>
                </a:ext>
              </a:extLst>
            </p:cNvPr>
            <p:cNvSpPr/>
            <p:nvPr userDrawn="1"/>
          </p:nvSpPr>
          <p:spPr>
            <a:xfrm rot="16200000">
              <a:off x="-4981837" y="2412057"/>
              <a:ext cx="1188000" cy="11880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1" name="Rectangle 18">
              <a:extLst>
                <a:ext uri="{FF2B5EF4-FFF2-40B4-BE49-F238E27FC236}">
                  <a16:creationId xmlns:a16="http://schemas.microsoft.com/office/drawing/2014/main" id="{F3D2BA38-A4B4-3343-7EB8-0DD6EE3D665C}"/>
                </a:ext>
              </a:extLst>
            </p:cNvPr>
            <p:cNvSpPr/>
            <p:nvPr userDrawn="1"/>
          </p:nvSpPr>
          <p:spPr>
            <a:xfrm rot="16200000">
              <a:off x="-4981836" y="3599254"/>
              <a:ext cx="1188000" cy="118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2" name="Rectangle 19">
              <a:extLst>
                <a:ext uri="{FF2B5EF4-FFF2-40B4-BE49-F238E27FC236}">
                  <a16:creationId xmlns:a16="http://schemas.microsoft.com/office/drawing/2014/main" id="{95709C78-D5AF-7605-DD57-D152C2D2143E}"/>
                </a:ext>
              </a:extLst>
            </p:cNvPr>
            <p:cNvSpPr/>
            <p:nvPr userDrawn="1"/>
          </p:nvSpPr>
          <p:spPr>
            <a:xfrm rot="16200000">
              <a:off x="-4981837" y="1224860"/>
              <a:ext cx="1188000" cy="1188000"/>
            </a:xfrm>
            <a:prstGeom prst="rect">
              <a:avLst/>
            </a:prstGeom>
            <a:solidFill>
              <a:srgbClr val="1147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3" name="Rectangle 12">
              <a:extLst>
                <a:ext uri="{FF2B5EF4-FFF2-40B4-BE49-F238E27FC236}">
                  <a16:creationId xmlns:a16="http://schemas.microsoft.com/office/drawing/2014/main" id="{074C0049-A358-FE17-EDC8-5C1F01BC53A7}"/>
                </a:ext>
              </a:extLst>
            </p:cNvPr>
            <p:cNvSpPr/>
            <p:nvPr/>
          </p:nvSpPr>
          <p:spPr>
            <a:xfrm rot="16200000">
              <a:off x="-2605838" y="1224861"/>
              <a:ext cx="1188000" cy="1188000"/>
            </a:xfrm>
            <a:prstGeom prst="rect">
              <a:avLst/>
            </a:prstGeom>
            <a:solidFill>
              <a:srgbClr val="2082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4" name="Rectangle 13">
              <a:extLst>
                <a:ext uri="{FF2B5EF4-FFF2-40B4-BE49-F238E27FC236}">
                  <a16:creationId xmlns:a16="http://schemas.microsoft.com/office/drawing/2014/main" id="{955043F6-89A1-56FB-3782-96B7E7B6E516}"/>
                </a:ext>
              </a:extLst>
            </p:cNvPr>
            <p:cNvSpPr/>
            <p:nvPr/>
          </p:nvSpPr>
          <p:spPr>
            <a:xfrm rot="16200000">
              <a:off x="-2605837" y="2412058"/>
              <a:ext cx="1188000" cy="1188000"/>
            </a:xfrm>
            <a:prstGeom prst="rect">
              <a:avLst/>
            </a:prstGeom>
            <a:solidFill>
              <a:schemeClr val="accent3">
                <a:lumMod val="20000"/>
                <a:lumOff val="80000"/>
                <a:alpha val="713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5" name="Rectangle 14">
              <a:extLst>
                <a:ext uri="{FF2B5EF4-FFF2-40B4-BE49-F238E27FC236}">
                  <a16:creationId xmlns:a16="http://schemas.microsoft.com/office/drawing/2014/main" id="{D3813CF5-2289-23A5-59EF-1EC29AB79A9E}"/>
                </a:ext>
              </a:extLst>
            </p:cNvPr>
            <p:cNvSpPr/>
            <p:nvPr/>
          </p:nvSpPr>
          <p:spPr>
            <a:xfrm rot="16200000">
              <a:off x="-2605837" y="3599255"/>
              <a:ext cx="1188000" cy="11880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6" name="Rectangle 16">
              <a:extLst>
                <a:ext uri="{FF2B5EF4-FFF2-40B4-BE49-F238E27FC236}">
                  <a16:creationId xmlns:a16="http://schemas.microsoft.com/office/drawing/2014/main" id="{1778AA98-7C10-7AD0-AAE1-CCA6BE939A69}"/>
                </a:ext>
              </a:extLst>
            </p:cNvPr>
            <p:cNvSpPr/>
            <p:nvPr/>
          </p:nvSpPr>
          <p:spPr>
            <a:xfrm rot="16200000">
              <a:off x="-2605837" y="4786452"/>
              <a:ext cx="1188000" cy="11880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grpSp>
      <p:cxnSp>
        <p:nvCxnSpPr>
          <p:cNvPr id="27" name="Straight Connector 27">
            <a:extLst>
              <a:ext uri="{FF2B5EF4-FFF2-40B4-BE49-F238E27FC236}">
                <a16:creationId xmlns:a16="http://schemas.microsoft.com/office/drawing/2014/main" id="{341B6652-A938-0152-5BB5-1D5694688FB8}"/>
              </a:ext>
            </a:extLst>
          </p:cNvPr>
          <p:cNvCxnSpPr>
            <a:cxnSpLocks/>
          </p:cNvCxnSpPr>
          <p:nvPr userDrawn="1"/>
        </p:nvCxnSpPr>
        <p:spPr>
          <a:xfrm>
            <a:off x="107004" y="6654369"/>
            <a:ext cx="11528802" cy="0"/>
          </a:xfrm>
          <a:prstGeom prst="line">
            <a:avLst/>
          </a:prstGeom>
          <a:ln w="158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1449787"/>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53"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30.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png"/><Relationship Id="rId3" Type="http://schemas.microsoft.com/office/2007/relationships/hdphoto" Target="../media/hdphoto2.wdp"/><Relationship Id="rId4" Type="http://schemas.openxmlformats.org/officeDocument/2006/relationships/image" Target="../media/image15.png"/><Relationship Id="rId5" Type="http://schemas.microsoft.com/office/2007/relationships/hdphoto" Target="../media/hdphoto3.wdp"/><Relationship Id="rId6" Type="http://schemas.openxmlformats.org/officeDocument/2006/relationships/image" Target="../media/image16.png"/><Relationship Id="rId7" Type="http://schemas.microsoft.com/office/2007/relationships/hdphoto" Target="../media/hdphoto4.wdp"/><Relationship Id="rId8" Type="http://schemas.openxmlformats.org/officeDocument/2006/relationships/image" Target="../media/image17.png"/><Relationship Id="rId9" Type="http://schemas.microsoft.com/office/2007/relationships/hdphoto" Target="../media/hdphoto5.wdp"/><Relationship Id="rId10" Type="http://schemas.openxmlformats.org/officeDocument/2006/relationships/image" Target="../media/image18.png"/><Relationship Id="rId11" Type="http://schemas.microsoft.com/office/2007/relationships/hdphoto" Target="../media/hdphoto6.wdp"/><Relationship Id="rId12" Type="http://schemas.openxmlformats.org/officeDocument/2006/relationships/image" Target="../media/image19.png"/><Relationship Id="rId13" Type="http://schemas.microsoft.com/office/2007/relationships/hdphoto" Target="../media/hdphoto7.wdp"/><Relationship Id="rId14" Type="http://schemas.openxmlformats.org/officeDocument/2006/relationships/image" Target="../media/image20.png"/><Relationship Id="rId15" Type="http://schemas.microsoft.com/office/2007/relationships/hdphoto" Target="../media/hdphoto8.wdp"/><Relationship Id="rId16" Type="http://schemas.openxmlformats.org/officeDocument/2006/relationships/image" Target="../media/image21.png"/><Relationship Id="rId17" Type="http://schemas.microsoft.com/office/2007/relationships/hdphoto" Target="../media/hdphoto9.wdp"/><Relationship Id="rId18" Type="http://schemas.openxmlformats.org/officeDocument/2006/relationships/image" Target="../media/image22.png"/><Relationship Id="rId19" Type="http://schemas.microsoft.com/office/2007/relationships/hdphoto" Target="../media/hdphoto10.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9.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5.png"/><Relationship Id="rId3" Type="http://schemas.openxmlformats.org/officeDocument/2006/relationships/image" Target="../media/image33.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9D27EBB-ACB5-DE21-B248-D305A7C2A4B7}"/>
              </a:ext>
            </a:extLst>
          </p:cNvPr>
          <p:cNvSpPr txBox="1"/>
          <p:nvPr/>
        </p:nvSpPr>
        <p:spPr>
          <a:xfrm>
            <a:off x="694944" y="1566963"/>
            <a:ext cx="9491472" cy="1292662"/>
          </a:xfrm>
          <a:prstGeom prst="rect">
            <a:avLst/>
          </a:prstGeom>
          <a:noFill/>
        </p:spPr>
        <p:txBody>
          <a:bodyPr wrap="square" rtlCol="0">
            <a:spAutoFit/>
          </a:bodyPr>
          <a:lstStyle/>
          <a:p>
            <a:pPr algn="just"/>
            <a:r>
              <a:rPr lang="pt-BR" sz="2600" b="1">
                <a:latin typeface="Montserrat" panose="00000500000000000000" pitchFamily="2" charset="0"/>
              </a:rPr>
              <a:t>Bolsa-formação como diferencial compensatório: um modelo de escolha racional para o preenchimento e a permanência de vagas no PMM-E</a:t>
            </a:r>
          </a:p>
        </p:txBody>
      </p:sp>
    </p:spTree>
    <p:extLst>
      <p:ext uri="{BB962C8B-B14F-4D97-AF65-F5344CB8AC3E}">
        <p14:creationId xmlns:p14="http://schemas.microsoft.com/office/powerpoint/2010/main" val="3002064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F847CB-BF89-93DB-2886-D3E4CB39BB88}"/>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B666CE2A-EBF8-9FC2-8BD6-7FBC0459757F}"/>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3E1A09B4-1C3A-1041-C926-13EEED06ADA9}"/>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pt-BR"/>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B7E79B-8647-4B7A-AB06-CE9034CA7501}" type="datetimeFigureOut">
              <a:rPr lang="pt-BR" smtClean="0"/>
              <a:pPr/>
              <a:t>14/09/2026</a:t>
            </a:fld>
            <a:endParaRPr lang="pt-BR"/>
          </a:p>
        </p:txBody>
      </p:sp>
      <p:sp>
        <p:nvSpPr>
          <p:cNvPr id="5" name="Slide Number Placeholder 5">
            <a:extLst>
              <a:ext uri="{FF2B5EF4-FFF2-40B4-BE49-F238E27FC236}">
                <a16:creationId xmlns:a16="http://schemas.microsoft.com/office/drawing/2014/main" id="{FFFBE438-712F-D0EB-874C-8DB7BA812024}"/>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pt-B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B357A3-503C-42D5-B2E3-09AB65DED10B}" type="slidenum">
              <a:rPr lang="pt-BR" smtClean="0"/>
              <a:pPr/>
              <a:t>2</a:t>
            </a:fld>
            <a:endParaRPr lang="pt-BR"/>
          </a:p>
        </p:txBody>
      </p:sp>
      <p:sp>
        <p:nvSpPr>
          <p:cNvPr id="6" name="Rectangle 5">
            <a:extLst>
              <a:ext uri="{FF2B5EF4-FFF2-40B4-BE49-F238E27FC236}">
                <a16:creationId xmlns:a16="http://schemas.microsoft.com/office/drawing/2014/main" id="{B1D8C290-DA8C-D3BF-1AF8-95BC886A7AF2}"/>
              </a:ext>
            </a:extLst>
          </p:cNvPr>
          <p:cNvSpPr/>
          <p:nvPr/>
        </p:nvSpPr>
        <p:spPr>
          <a:xfrm>
            <a:off x="0" y="0"/>
            <a:ext cx="12194747" cy="6858000"/>
          </a:xfrm>
          <a:prstGeom prst="rect">
            <a:avLst/>
          </a:prstGeom>
          <a:solidFill>
            <a:srgbClr val="2F73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2">
                  <a:lumMod val="90000"/>
                </a:schemeClr>
              </a:solidFill>
            </a:endParaRPr>
          </a:p>
        </p:txBody>
      </p:sp>
      <p:sp>
        <p:nvSpPr>
          <p:cNvPr id="7" name="Text Placeholder 3">
            <a:extLst>
              <a:ext uri="{FF2B5EF4-FFF2-40B4-BE49-F238E27FC236}">
                <a16:creationId xmlns:a16="http://schemas.microsoft.com/office/drawing/2014/main" id="{66C5F6C7-D4E9-2A02-223D-C24C16EAB636}"/>
              </a:ext>
            </a:extLst>
          </p:cNvPr>
          <p:cNvSpPr txBox="1">
            <a:spLocks/>
          </p:cNvSpPr>
          <p:nvPr/>
        </p:nvSpPr>
        <p:spPr>
          <a:xfrm>
            <a:off x="126501" y="101463"/>
            <a:ext cx="6010020" cy="4666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err="1">
                <a:solidFill>
                  <a:schemeClr val="bg1"/>
                </a:solidFill>
                <a:latin typeface="Montserrat" panose="00000500000000000000" pitchFamily="2" charset="0"/>
              </a:rPr>
              <a:t>Sumário</a:t>
            </a:r>
            <a:endParaRPr lang="pt-BR" b="1">
              <a:solidFill>
                <a:schemeClr val="bg1"/>
              </a:solidFill>
              <a:latin typeface="Montserrat" panose="00000500000000000000" pitchFamily="2" charset="0"/>
            </a:endParaRPr>
          </a:p>
        </p:txBody>
      </p:sp>
      <p:sp>
        <p:nvSpPr>
          <p:cNvPr id="8" name="Rectangle 7">
            <a:extLst>
              <a:ext uri="{FF2B5EF4-FFF2-40B4-BE49-F238E27FC236}">
                <a16:creationId xmlns:a16="http://schemas.microsoft.com/office/drawing/2014/main" id="{AEA3B8BD-E24B-F13E-DEF3-BC7FBC6CC3D1}"/>
              </a:ext>
            </a:extLst>
          </p:cNvPr>
          <p:cNvSpPr/>
          <p:nvPr/>
        </p:nvSpPr>
        <p:spPr>
          <a:xfrm>
            <a:off x="2724167" y="831819"/>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0" name="Rectangle 9">
            <a:extLst>
              <a:ext uri="{FF2B5EF4-FFF2-40B4-BE49-F238E27FC236}">
                <a16:creationId xmlns:a16="http://schemas.microsoft.com/office/drawing/2014/main" id="{D3BFF2AD-C28C-4049-4321-32D359360E48}"/>
              </a:ext>
            </a:extLst>
          </p:cNvPr>
          <p:cNvSpPr/>
          <p:nvPr/>
        </p:nvSpPr>
        <p:spPr>
          <a:xfrm>
            <a:off x="3078859" y="4975528"/>
            <a:ext cx="3694414" cy="2793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1" name="Rectangle 10">
            <a:extLst>
              <a:ext uri="{FF2B5EF4-FFF2-40B4-BE49-F238E27FC236}">
                <a16:creationId xmlns:a16="http://schemas.microsoft.com/office/drawing/2014/main" id="{03991714-B168-1FB0-E402-338E2C887AA5}"/>
              </a:ext>
            </a:extLst>
          </p:cNvPr>
          <p:cNvSpPr/>
          <p:nvPr/>
        </p:nvSpPr>
        <p:spPr>
          <a:xfrm>
            <a:off x="2714295" y="831819"/>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12" name="CaixaDeTexto 8">
            <a:extLst>
              <a:ext uri="{FF2B5EF4-FFF2-40B4-BE49-F238E27FC236}">
                <a16:creationId xmlns:a16="http://schemas.microsoft.com/office/drawing/2014/main" id="{C66B4066-948C-E4F4-5BDD-152F644632C6}"/>
              </a:ext>
            </a:extLst>
          </p:cNvPr>
          <p:cNvSpPr txBox="1"/>
          <p:nvPr/>
        </p:nvSpPr>
        <p:spPr>
          <a:xfrm>
            <a:off x="4450117" y="1272790"/>
            <a:ext cx="2825252" cy="461665"/>
          </a:xfrm>
          <a:prstGeom prst="rect">
            <a:avLst/>
          </a:prstGeom>
          <a:noFill/>
        </p:spPr>
        <p:txBody>
          <a:bodyPr wrap="square" rtlCol="0">
            <a:spAutoFit/>
          </a:bodyPr>
          <a:lstStyle/>
          <a:p>
            <a:r>
              <a:rPr lang="pt-BR" sz="2400" b="1" i="1">
                <a:solidFill>
                  <a:schemeClr val="bg1"/>
                </a:solidFill>
                <a:latin typeface="Montserrat" panose="00000500000000000000" pitchFamily="2" charset="0"/>
                <a:cs typeface="Times New Roman" panose="02020603050405020304" pitchFamily="18" charset="0"/>
              </a:rPr>
              <a:t>Motivação</a:t>
            </a:r>
          </a:p>
        </p:txBody>
      </p:sp>
      <p:sp>
        <p:nvSpPr>
          <p:cNvPr id="13" name="CaixaDeTexto 10">
            <a:extLst>
              <a:ext uri="{FF2B5EF4-FFF2-40B4-BE49-F238E27FC236}">
                <a16:creationId xmlns:a16="http://schemas.microsoft.com/office/drawing/2014/main" id="{0DFB5CFE-5C0D-5A4B-71DE-1AFF1F104201}"/>
              </a:ext>
            </a:extLst>
          </p:cNvPr>
          <p:cNvSpPr txBox="1"/>
          <p:nvPr/>
        </p:nvSpPr>
        <p:spPr>
          <a:xfrm>
            <a:off x="5012265" y="3688982"/>
            <a:ext cx="3924311" cy="461665"/>
          </a:xfrm>
          <a:prstGeom prst="rect">
            <a:avLst/>
          </a:prstGeom>
          <a:noFill/>
        </p:spPr>
        <p:txBody>
          <a:bodyPr wrap="square" lIns="91440" tIns="45720" rIns="91440" bIns="45720" rtlCol="0" anchor="t">
            <a:spAutoFit/>
          </a:bodyPr>
          <a:lstStyle/>
          <a:p>
            <a:r>
              <a:rPr lang="pt-BR" sz="2400" b="1" i="1">
                <a:solidFill>
                  <a:srgbClr val="7F7F7F"/>
                </a:solidFill>
                <a:latin typeface="Montserrat"/>
                <a:cs typeface="Times New Roman"/>
              </a:rPr>
              <a:t>Modelo Teórico</a:t>
            </a:r>
          </a:p>
        </p:txBody>
      </p:sp>
      <p:sp>
        <p:nvSpPr>
          <p:cNvPr id="14" name="CaixaDeTexto 12">
            <a:extLst>
              <a:ext uri="{FF2B5EF4-FFF2-40B4-BE49-F238E27FC236}">
                <a16:creationId xmlns:a16="http://schemas.microsoft.com/office/drawing/2014/main" id="{7DCEFCB9-93D4-8D56-00FE-73A23C8D6BD4}"/>
              </a:ext>
            </a:extLst>
          </p:cNvPr>
          <p:cNvSpPr txBox="1"/>
          <p:nvPr/>
        </p:nvSpPr>
        <p:spPr>
          <a:xfrm>
            <a:off x="4753482" y="4586302"/>
            <a:ext cx="2235406"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Hipóteses</a:t>
            </a:r>
          </a:p>
        </p:txBody>
      </p:sp>
      <p:sp>
        <p:nvSpPr>
          <p:cNvPr id="15" name="CaixaDeTexto 13">
            <a:extLst>
              <a:ext uri="{FF2B5EF4-FFF2-40B4-BE49-F238E27FC236}">
                <a16:creationId xmlns:a16="http://schemas.microsoft.com/office/drawing/2014/main" id="{F1FE8221-DACE-3AEE-DB10-9E296257F615}"/>
              </a:ext>
            </a:extLst>
          </p:cNvPr>
          <p:cNvSpPr txBox="1"/>
          <p:nvPr/>
        </p:nvSpPr>
        <p:spPr>
          <a:xfrm>
            <a:off x="1493269" y="1539704"/>
            <a:ext cx="2811600" cy="246221"/>
          </a:xfrm>
          <a:prstGeom prst="rect">
            <a:avLst/>
          </a:prstGeom>
          <a:noFill/>
        </p:spPr>
        <p:txBody>
          <a:bodyPr wrap="square" lIns="91440" tIns="45720" rIns="91440" bIns="45720" rtlCol="0" anchor="t">
            <a:spAutoFit/>
          </a:bodyPr>
          <a:lstStyle/>
          <a:p>
            <a:r>
              <a:rPr lang="en-US" sz="1000">
                <a:solidFill>
                  <a:srgbClr val="EAEAEA"/>
                </a:solidFill>
                <a:latin typeface="Montserrat"/>
              </a:rPr>
              <a:t>Por </a:t>
            </a:r>
            <a:r>
              <a:rPr lang="en-US" sz="1000" err="1">
                <a:solidFill>
                  <a:srgbClr val="EAEAEA"/>
                </a:solidFill>
                <a:latin typeface="Montserrat"/>
              </a:rPr>
              <a:t>que</a:t>
            </a:r>
            <a:r>
              <a:rPr lang="en-US" sz="1000">
                <a:solidFill>
                  <a:srgbClr val="EAEAEA"/>
                </a:solidFill>
                <a:latin typeface="Montserrat"/>
              </a:rPr>
              <a:t> a </a:t>
            </a:r>
            <a:r>
              <a:rPr lang="en-US" sz="1000" err="1">
                <a:solidFill>
                  <a:srgbClr val="EAEAEA"/>
                </a:solidFill>
                <a:latin typeface="Montserrat"/>
              </a:rPr>
              <a:t>pergunta</a:t>
            </a:r>
            <a:r>
              <a:rPr lang="en-US" sz="1000">
                <a:solidFill>
                  <a:srgbClr val="EAEAEA"/>
                </a:solidFill>
                <a:latin typeface="Montserrat"/>
              </a:rPr>
              <a:t> é </a:t>
            </a:r>
            <a:r>
              <a:rPr lang="en-US" sz="1000" err="1">
                <a:solidFill>
                  <a:srgbClr val="EAEAEA"/>
                </a:solidFill>
                <a:latin typeface="Montserrat"/>
              </a:rPr>
              <a:t>importante</a:t>
            </a:r>
          </a:p>
        </p:txBody>
      </p:sp>
      <p:sp>
        <p:nvSpPr>
          <p:cNvPr id="16" name="CaixaDeTexto 14">
            <a:extLst>
              <a:ext uri="{FF2B5EF4-FFF2-40B4-BE49-F238E27FC236}">
                <a16:creationId xmlns:a16="http://schemas.microsoft.com/office/drawing/2014/main" id="{FFFD8B2D-07B6-44CC-8D07-531AA65CD827}"/>
              </a:ext>
            </a:extLst>
          </p:cNvPr>
          <p:cNvSpPr txBox="1"/>
          <p:nvPr/>
        </p:nvSpPr>
        <p:spPr>
          <a:xfrm>
            <a:off x="2107016" y="3921088"/>
            <a:ext cx="2736923" cy="400110"/>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Aplicação</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microeconômica</a:t>
            </a:r>
            <a:r>
              <a:rPr lang="en-US" sz="1000">
                <a:solidFill>
                  <a:srgbClr val="7F7F7F"/>
                </a:solidFill>
                <a:latin typeface="Montserrat" panose="00000500000000000000" pitchFamily="2" charset="0"/>
                <a:cs typeface="Times New Roman" panose="02020603050405020304" pitchFamily="18" charset="0"/>
              </a:rPr>
              <a:t> e </a:t>
            </a:r>
            <a:r>
              <a:rPr lang="en-US" sz="1000" err="1">
                <a:solidFill>
                  <a:srgbClr val="7F7F7F"/>
                </a:solidFill>
                <a:latin typeface="Montserrat" panose="00000500000000000000" pitchFamily="2" charset="0"/>
                <a:cs typeface="Times New Roman" panose="02020603050405020304" pitchFamily="18" charset="0"/>
              </a:rPr>
              <a:t>modelo</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proposto</a:t>
            </a:r>
            <a:endParaRPr lang="pt-BR" sz="1000">
              <a:solidFill>
                <a:srgbClr val="7F7F7F"/>
              </a:solidFill>
              <a:latin typeface="Montserrat" panose="00000500000000000000" pitchFamily="2" charset="0"/>
              <a:cs typeface="Times New Roman" panose="02020603050405020304" pitchFamily="18" charset="0"/>
            </a:endParaRPr>
          </a:p>
        </p:txBody>
      </p:sp>
      <p:sp>
        <p:nvSpPr>
          <p:cNvPr id="17" name="CaixaDeTexto 14">
            <a:extLst>
              <a:ext uri="{FF2B5EF4-FFF2-40B4-BE49-F238E27FC236}">
                <a16:creationId xmlns:a16="http://schemas.microsoft.com/office/drawing/2014/main" id="{A9746828-D288-7020-DC73-DB641AD6253E}"/>
              </a:ext>
            </a:extLst>
          </p:cNvPr>
          <p:cNvSpPr txBox="1"/>
          <p:nvPr/>
        </p:nvSpPr>
        <p:spPr>
          <a:xfrm>
            <a:off x="1822880" y="4844550"/>
            <a:ext cx="2736922" cy="246221"/>
          </a:xfrm>
          <a:prstGeom prst="rect">
            <a:avLst/>
          </a:prstGeom>
          <a:noFill/>
          <a:ln>
            <a:solidFill>
              <a:schemeClr val="tx1">
                <a:lumMod val="50000"/>
                <a:lumOff val="50000"/>
              </a:schemeClr>
            </a:solidFill>
          </a:ln>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Hipóteses</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formuladas</a:t>
            </a:r>
            <a:endParaRPr lang="pt-BR" sz="1000">
              <a:solidFill>
                <a:srgbClr val="7F7F7F"/>
              </a:solidFill>
              <a:latin typeface="Montserrat" panose="00000500000000000000" pitchFamily="2" charset="0"/>
              <a:cs typeface="Times New Roman" panose="02020603050405020304" pitchFamily="18" charset="0"/>
            </a:endParaRPr>
          </a:p>
        </p:txBody>
      </p:sp>
      <p:sp>
        <p:nvSpPr>
          <p:cNvPr id="18" name="Rosca 3">
            <a:extLst>
              <a:ext uri="{FF2B5EF4-FFF2-40B4-BE49-F238E27FC236}">
                <a16:creationId xmlns:a16="http://schemas.microsoft.com/office/drawing/2014/main" id="{5054A291-2287-D22E-41C9-55B04B4A2F55}"/>
              </a:ext>
            </a:extLst>
          </p:cNvPr>
          <p:cNvSpPr/>
          <p:nvPr/>
        </p:nvSpPr>
        <p:spPr>
          <a:xfrm rot="10800000">
            <a:off x="-3452695" y="1148756"/>
            <a:ext cx="5396231" cy="4932209"/>
          </a:xfrm>
          <a:prstGeom prst="donut">
            <a:avLst>
              <a:gd name="adj" fmla="val 5392"/>
            </a:avLst>
          </a:prstGeom>
          <a:gradFill>
            <a:gsLst>
              <a:gs pos="0">
                <a:schemeClr val="accent3">
                  <a:lumMod val="50000"/>
                </a:schemeClr>
              </a:gs>
              <a:gs pos="55180">
                <a:srgbClr val="1B6F27"/>
              </a:gs>
              <a:gs pos="99000">
                <a:srgbClr val="20822E"/>
              </a:gs>
            </a:gsLst>
            <a:lin ang="5400000" scaled="1"/>
          </a:gra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nvGrpSpPr>
          <p:cNvPr id="19" name="Agrupar 38">
            <a:extLst>
              <a:ext uri="{FF2B5EF4-FFF2-40B4-BE49-F238E27FC236}">
                <a16:creationId xmlns:a16="http://schemas.microsoft.com/office/drawing/2014/main" id="{91F52397-35E2-3ECF-143D-D0BB132C6495}"/>
              </a:ext>
            </a:extLst>
          </p:cNvPr>
          <p:cNvGrpSpPr/>
          <p:nvPr/>
        </p:nvGrpSpPr>
        <p:grpSpPr>
          <a:xfrm rot="10800000">
            <a:off x="1493269" y="1392755"/>
            <a:ext cx="2811600" cy="252000"/>
            <a:chOff x="6022821" y="2646629"/>
            <a:chExt cx="2737179" cy="252000"/>
          </a:xfrm>
          <a:solidFill>
            <a:srgbClr val="80B281"/>
          </a:solidFill>
        </p:grpSpPr>
        <p:cxnSp>
          <p:nvCxnSpPr>
            <p:cNvPr id="20" name="Conector de Seta Reta 39">
              <a:extLst>
                <a:ext uri="{FF2B5EF4-FFF2-40B4-BE49-F238E27FC236}">
                  <a16:creationId xmlns:a16="http://schemas.microsoft.com/office/drawing/2014/main" id="{BE3E255D-A87D-5C5E-D794-B9B6C7D0E862}"/>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1" name="Losango 43">
              <a:extLst>
                <a:ext uri="{FF2B5EF4-FFF2-40B4-BE49-F238E27FC236}">
                  <a16:creationId xmlns:a16="http://schemas.microsoft.com/office/drawing/2014/main" id="{93769A5F-785B-47E2-E387-05AB4A5B29F5}"/>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2" name="Agrupar 47">
            <a:extLst>
              <a:ext uri="{FF2B5EF4-FFF2-40B4-BE49-F238E27FC236}">
                <a16:creationId xmlns:a16="http://schemas.microsoft.com/office/drawing/2014/main" id="{5AE7BCAE-0583-C697-C191-728059D939E5}"/>
              </a:ext>
            </a:extLst>
          </p:cNvPr>
          <p:cNvGrpSpPr/>
          <p:nvPr/>
        </p:nvGrpSpPr>
        <p:grpSpPr>
          <a:xfrm rot="10800000">
            <a:off x="1847932" y="4705343"/>
            <a:ext cx="2810101" cy="252000"/>
            <a:chOff x="6098372" y="2214756"/>
            <a:chExt cx="2810101" cy="252000"/>
          </a:xfrm>
          <a:solidFill>
            <a:srgbClr val="80B281"/>
          </a:solidFill>
        </p:grpSpPr>
        <p:cxnSp>
          <p:nvCxnSpPr>
            <p:cNvPr id="23" name="Conector de Seta Reta 48">
              <a:extLst>
                <a:ext uri="{FF2B5EF4-FFF2-40B4-BE49-F238E27FC236}">
                  <a16:creationId xmlns:a16="http://schemas.microsoft.com/office/drawing/2014/main" id="{6F04FCC9-0B56-4511-5D41-CF98120F5AEF}"/>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4" name="Losango 49">
              <a:extLst>
                <a:ext uri="{FF2B5EF4-FFF2-40B4-BE49-F238E27FC236}">
                  <a16:creationId xmlns:a16="http://schemas.microsoft.com/office/drawing/2014/main" id="{AF096A1A-A037-F8F7-66AC-27E5C390176C}"/>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5" name="Agrupar 51">
            <a:extLst>
              <a:ext uri="{FF2B5EF4-FFF2-40B4-BE49-F238E27FC236}">
                <a16:creationId xmlns:a16="http://schemas.microsoft.com/office/drawing/2014/main" id="{EE42A200-E76A-3609-CD63-90C670BAD70C}"/>
              </a:ext>
            </a:extLst>
          </p:cNvPr>
          <p:cNvGrpSpPr/>
          <p:nvPr/>
        </p:nvGrpSpPr>
        <p:grpSpPr>
          <a:xfrm rot="10800000">
            <a:off x="2107017" y="3783392"/>
            <a:ext cx="2810101" cy="252000"/>
            <a:chOff x="6098372" y="2214756"/>
            <a:chExt cx="2810101" cy="252000"/>
          </a:xfrm>
          <a:solidFill>
            <a:srgbClr val="80B281"/>
          </a:solidFill>
        </p:grpSpPr>
        <p:cxnSp>
          <p:nvCxnSpPr>
            <p:cNvPr id="26" name="Conector de Seta Reta 52">
              <a:extLst>
                <a:ext uri="{FF2B5EF4-FFF2-40B4-BE49-F238E27FC236}">
                  <a16:creationId xmlns:a16="http://schemas.microsoft.com/office/drawing/2014/main" id="{D336F2E5-B864-BDC3-1FF2-F392B7B2600D}"/>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7" name="Losango 53">
              <a:extLst>
                <a:ext uri="{FF2B5EF4-FFF2-40B4-BE49-F238E27FC236}">
                  <a16:creationId xmlns:a16="http://schemas.microsoft.com/office/drawing/2014/main" id="{8D9D7459-C9C5-8159-250F-EFBAFA6B69E1}"/>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pic>
        <p:nvPicPr>
          <p:cNvPr id="28" name="Picture 27">
            <a:extLst>
              <a:ext uri="{FF2B5EF4-FFF2-40B4-BE49-F238E27FC236}">
                <a16:creationId xmlns:a16="http://schemas.microsoft.com/office/drawing/2014/main" id="{471EB06D-EF9B-2934-FE53-7A9933272AF3}"/>
              </a:ext>
            </a:extLst>
          </p:cNvPr>
          <p:cNvPicPr>
            <a:picLocks noChangeAspect="1"/>
          </p:cNvPicPr>
          <p:nvPr/>
        </p:nvPicPr>
        <p:blipFill rotWithShape="1">
          <a:blip r:embed="rId2">
            <a:extLst>
              <a:ext uri="{28A0092B-C50C-407E-A947-70E740481C1C}">
                <a14:useLocalDpi xmlns:a14="http://schemas.microsoft.com/office/drawing/2010/main" val="0"/>
              </a:ext>
            </a:extLst>
          </a:blip>
          <a:srcRect l="10011" t="25381" r="35435" b="13771"/>
          <a:stretch>
            <a:fillRect/>
          </a:stretch>
        </p:blipFill>
        <p:spPr>
          <a:xfrm>
            <a:off x="6451240" y="5396"/>
            <a:ext cx="4691990" cy="3849420"/>
          </a:xfrm>
          <a:prstGeom prst="flowChartMerge">
            <a:avLst/>
          </a:prstGeom>
        </p:spPr>
      </p:pic>
      <p:pic>
        <p:nvPicPr>
          <p:cNvPr id="29" name="Picture 28">
            <a:extLst>
              <a:ext uri="{FF2B5EF4-FFF2-40B4-BE49-F238E27FC236}">
                <a16:creationId xmlns:a16="http://schemas.microsoft.com/office/drawing/2014/main" id="{E12CCAF0-0DF7-335B-DF8B-E15A76E41FCF}"/>
              </a:ext>
            </a:extLst>
          </p:cNvPr>
          <p:cNvPicPr>
            <a:picLocks noChangeAspect="1"/>
          </p:cNvPicPr>
          <p:nvPr/>
        </p:nvPicPr>
        <p:blipFill rotWithShape="1">
          <a:blip r:embed="rId2">
            <a:extLst>
              <a:ext uri="{28A0092B-C50C-407E-A947-70E740481C1C}">
                <a14:useLocalDpi xmlns:a14="http://schemas.microsoft.com/office/drawing/2010/main" val="0"/>
              </a:ext>
            </a:extLst>
          </a:blip>
          <a:srcRect l="52936" t="21443" r="302" b="2100"/>
          <a:stretch>
            <a:fillRect/>
          </a:stretch>
        </p:blipFill>
        <p:spPr>
          <a:xfrm>
            <a:off x="8312055" y="2581690"/>
            <a:ext cx="3930266" cy="4283997"/>
          </a:xfrm>
          <a:prstGeom prst="triangle">
            <a:avLst/>
          </a:prstGeom>
        </p:spPr>
      </p:pic>
      <p:sp>
        <p:nvSpPr>
          <p:cNvPr id="30" name="Isosceles Triangle 29">
            <a:extLst>
              <a:ext uri="{FF2B5EF4-FFF2-40B4-BE49-F238E27FC236}">
                <a16:creationId xmlns:a16="http://schemas.microsoft.com/office/drawing/2014/main" id="{B677286E-5FB3-5595-9606-F456BE8ED0E4}"/>
              </a:ext>
            </a:extLst>
          </p:cNvPr>
          <p:cNvSpPr/>
          <p:nvPr/>
        </p:nvSpPr>
        <p:spPr>
          <a:xfrm>
            <a:off x="8297140" y="2574003"/>
            <a:ext cx="3930266" cy="4283997"/>
          </a:xfrm>
          <a:prstGeom prst="triangl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Flowchart: Merge 30">
            <a:extLst>
              <a:ext uri="{FF2B5EF4-FFF2-40B4-BE49-F238E27FC236}">
                <a16:creationId xmlns:a16="http://schemas.microsoft.com/office/drawing/2014/main" id="{8DC5BD2F-BA19-AE5C-58C3-22DF17CE69CE}"/>
              </a:ext>
            </a:extLst>
          </p:cNvPr>
          <p:cNvSpPr/>
          <p:nvPr/>
        </p:nvSpPr>
        <p:spPr>
          <a:xfrm>
            <a:off x="6451240" y="0"/>
            <a:ext cx="4681825" cy="3849420"/>
          </a:xfrm>
          <a:prstGeom prst="flowChartMerg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sp>
        <p:nvSpPr>
          <p:cNvPr id="32" name="Rectangle 31">
            <a:extLst>
              <a:ext uri="{FF2B5EF4-FFF2-40B4-BE49-F238E27FC236}">
                <a16:creationId xmlns:a16="http://schemas.microsoft.com/office/drawing/2014/main" id="{8352176A-612B-038C-6543-7FCC05F8AEB3}"/>
              </a:ext>
            </a:extLst>
          </p:cNvPr>
          <p:cNvSpPr/>
          <p:nvPr/>
        </p:nvSpPr>
        <p:spPr>
          <a:xfrm>
            <a:off x="3177302" y="1671066"/>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33" name="Rectangle 32">
            <a:extLst>
              <a:ext uri="{FF2B5EF4-FFF2-40B4-BE49-F238E27FC236}">
                <a16:creationId xmlns:a16="http://schemas.microsoft.com/office/drawing/2014/main" id="{83A63C9A-EE3B-8596-BE59-69D5328B82F0}"/>
              </a:ext>
            </a:extLst>
          </p:cNvPr>
          <p:cNvSpPr/>
          <p:nvPr/>
        </p:nvSpPr>
        <p:spPr>
          <a:xfrm>
            <a:off x="3167430" y="1671066"/>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34" name="CaixaDeTexto 8">
            <a:extLst>
              <a:ext uri="{FF2B5EF4-FFF2-40B4-BE49-F238E27FC236}">
                <a16:creationId xmlns:a16="http://schemas.microsoft.com/office/drawing/2014/main" id="{928A8EDE-B23B-2622-4114-D1D45423FE69}"/>
              </a:ext>
            </a:extLst>
          </p:cNvPr>
          <p:cNvSpPr txBox="1"/>
          <p:nvPr/>
        </p:nvSpPr>
        <p:spPr>
          <a:xfrm>
            <a:off x="4896426" y="2044007"/>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Pergunta</a:t>
            </a:r>
          </a:p>
        </p:txBody>
      </p:sp>
      <p:sp>
        <p:nvSpPr>
          <p:cNvPr id="35" name="CaixaDeTexto 13">
            <a:extLst>
              <a:ext uri="{FF2B5EF4-FFF2-40B4-BE49-F238E27FC236}">
                <a16:creationId xmlns:a16="http://schemas.microsoft.com/office/drawing/2014/main" id="{5FF31F79-BEDD-1D4D-6A00-FA18BA596BAC}"/>
              </a:ext>
            </a:extLst>
          </p:cNvPr>
          <p:cNvSpPr txBox="1"/>
          <p:nvPr/>
        </p:nvSpPr>
        <p:spPr>
          <a:xfrm>
            <a:off x="1939578" y="2288343"/>
            <a:ext cx="2811600" cy="246221"/>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Pergunta</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proposta</a:t>
            </a:r>
            <a:endParaRPr lang="pt-BR" sz="1000">
              <a:solidFill>
                <a:srgbClr val="7F7F7F"/>
              </a:solidFill>
              <a:latin typeface="Montserrat" panose="00000500000000000000" pitchFamily="2" charset="0"/>
              <a:cs typeface="Times New Roman" panose="02020603050405020304" pitchFamily="18" charset="0"/>
            </a:endParaRPr>
          </a:p>
        </p:txBody>
      </p:sp>
      <p:grpSp>
        <p:nvGrpSpPr>
          <p:cNvPr id="36" name="Agrupar 38">
            <a:extLst>
              <a:ext uri="{FF2B5EF4-FFF2-40B4-BE49-F238E27FC236}">
                <a16:creationId xmlns:a16="http://schemas.microsoft.com/office/drawing/2014/main" id="{21C72D03-5B84-59A4-C507-A8B69E68B13C}"/>
              </a:ext>
            </a:extLst>
          </p:cNvPr>
          <p:cNvGrpSpPr/>
          <p:nvPr/>
        </p:nvGrpSpPr>
        <p:grpSpPr>
          <a:xfrm rot="10800000">
            <a:off x="1939578" y="2141394"/>
            <a:ext cx="2811600" cy="252000"/>
            <a:chOff x="6022821" y="2646629"/>
            <a:chExt cx="2737179" cy="252000"/>
          </a:xfrm>
          <a:solidFill>
            <a:srgbClr val="80B281"/>
          </a:solidFill>
        </p:grpSpPr>
        <p:cxnSp>
          <p:nvCxnSpPr>
            <p:cNvPr id="37" name="Conector de Seta Reta 39">
              <a:extLst>
                <a:ext uri="{FF2B5EF4-FFF2-40B4-BE49-F238E27FC236}">
                  <a16:creationId xmlns:a16="http://schemas.microsoft.com/office/drawing/2014/main" id="{B37DBECF-3B90-4B4B-1334-25E732A7154D}"/>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38" name="Losango 43">
              <a:extLst>
                <a:ext uri="{FF2B5EF4-FFF2-40B4-BE49-F238E27FC236}">
                  <a16:creationId xmlns:a16="http://schemas.microsoft.com/office/drawing/2014/main" id="{82DD2062-2416-A77F-1882-64C22106B6C7}"/>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
        <p:nvSpPr>
          <p:cNvPr id="39" name="Rectangle 38">
            <a:extLst>
              <a:ext uri="{FF2B5EF4-FFF2-40B4-BE49-F238E27FC236}">
                <a16:creationId xmlns:a16="http://schemas.microsoft.com/office/drawing/2014/main" id="{832A9C57-34DF-FB16-2B9F-114FB93B9E6D}"/>
              </a:ext>
            </a:extLst>
          </p:cNvPr>
          <p:cNvSpPr/>
          <p:nvPr/>
        </p:nvSpPr>
        <p:spPr>
          <a:xfrm>
            <a:off x="3328855" y="2827588"/>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40" name="Rectangle 39">
            <a:extLst>
              <a:ext uri="{FF2B5EF4-FFF2-40B4-BE49-F238E27FC236}">
                <a16:creationId xmlns:a16="http://schemas.microsoft.com/office/drawing/2014/main" id="{6E59272C-94D4-F952-C487-0466F138090A}"/>
              </a:ext>
            </a:extLst>
          </p:cNvPr>
          <p:cNvSpPr/>
          <p:nvPr/>
        </p:nvSpPr>
        <p:spPr>
          <a:xfrm>
            <a:off x="3153778" y="2421054"/>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rgbClr val="7F7F7F"/>
              </a:solidFill>
            </a:endParaRPr>
          </a:p>
        </p:txBody>
      </p:sp>
      <p:sp>
        <p:nvSpPr>
          <p:cNvPr id="41" name="CaixaDeTexto 8">
            <a:extLst>
              <a:ext uri="{FF2B5EF4-FFF2-40B4-BE49-F238E27FC236}">
                <a16:creationId xmlns:a16="http://schemas.microsoft.com/office/drawing/2014/main" id="{3CD04C7A-A464-2EE1-FB60-C1D2CDB9C055}"/>
              </a:ext>
            </a:extLst>
          </p:cNvPr>
          <p:cNvSpPr txBox="1"/>
          <p:nvPr/>
        </p:nvSpPr>
        <p:spPr>
          <a:xfrm>
            <a:off x="5054805" y="2861891"/>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Literatura</a:t>
            </a:r>
          </a:p>
        </p:txBody>
      </p:sp>
      <p:sp>
        <p:nvSpPr>
          <p:cNvPr id="42" name="CaixaDeTexto 13">
            <a:extLst>
              <a:ext uri="{FF2B5EF4-FFF2-40B4-BE49-F238E27FC236}">
                <a16:creationId xmlns:a16="http://schemas.microsoft.com/office/drawing/2014/main" id="{98E89465-4FA9-A4C3-07FC-17AEA9B4510A}"/>
              </a:ext>
            </a:extLst>
          </p:cNvPr>
          <p:cNvSpPr txBox="1"/>
          <p:nvPr/>
        </p:nvSpPr>
        <p:spPr>
          <a:xfrm>
            <a:off x="2002260" y="3106227"/>
            <a:ext cx="2811600" cy="246221"/>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Literatura</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Teórica</a:t>
            </a:r>
            <a:r>
              <a:rPr lang="en-US" sz="1000">
                <a:solidFill>
                  <a:srgbClr val="7F7F7F"/>
                </a:solidFill>
                <a:latin typeface="Montserrat" panose="00000500000000000000" pitchFamily="2" charset="0"/>
                <a:cs typeface="Times New Roman" panose="02020603050405020304" pitchFamily="18" charset="0"/>
              </a:rPr>
              <a:t> para a </a:t>
            </a:r>
            <a:r>
              <a:rPr lang="en-US" sz="1000" err="1">
                <a:solidFill>
                  <a:srgbClr val="7F7F7F"/>
                </a:solidFill>
                <a:latin typeface="Montserrat" panose="00000500000000000000" pitchFamily="2" charset="0"/>
                <a:cs typeface="Times New Roman" panose="02020603050405020304" pitchFamily="18" charset="0"/>
              </a:rPr>
              <a:t>fundamentação</a:t>
            </a:r>
            <a:endParaRPr lang="en-US" sz="1000">
              <a:solidFill>
                <a:srgbClr val="7F7F7F"/>
              </a:solidFill>
              <a:latin typeface="Montserrat" panose="00000500000000000000" pitchFamily="2" charset="0"/>
              <a:cs typeface="Times New Roman" panose="02020603050405020304" pitchFamily="18" charset="0"/>
            </a:endParaRPr>
          </a:p>
        </p:txBody>
      </p:sp>
      <p:grpSp>
        <p:nvGrpSpPr>
          <p:cNvPr id="43" name="Agrupar 38">
            <a:extLst>
              <a:ext uri="{FF2B5EF4-FFF2-40B4-BE49-F238E27FC236}">
                <a16:creationId xmlns:a16="http://schemas.microsoft.com/office/drawing/2014/main" id="{0AFAFF67-D3E5-BE41-D9BD-E2EEF9523EE6}"/>
              </a:ext>
            </a:extLst>
          </p:cNvPr>
          <p:cNvGrpSpPr/>
          <p:nvPr/>
        </p:nvGrpSpPr>
        <p:grpSpPr>
          <a:xfrm rot="10800000">
            <a:off x="2097957" y="2959278"/>
            <a:ext cx="2811600" cy="252000"/>
            <a:chOff x="6022821" y="2646629"/>
            <a:chExt cx="2737179" cy="252000"/>
          </a:xfrm>
          <a:solidFill>
            <a:srgbClr val="80B281"/>
          </a:solidFill>
        </p:grpSpPr>
        <p:cxnSp>
          <p:nvCxnSpPr>
            <p:cNvPr id="44" name="Conector de Seta Reta 39">
              <a:extLst>
                <a:ext uri="{FF2B5EF4-FFF2-40B4-BE49-F238E27FC236}">
                  <a16:creationId xmlns:a16="http://schemas.microsoft.com/office/drawing/2014/main" id="{CC3EB051-3BAA-E155-E389-65992D203E27}"/>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45" name="Losango 43">
              <a:extLst>
                <a:ext uri="{FF2B5EF4-FFF2-40B4-BE49-F238E27FC236}">
                  <a16:creationId xmlns:a16="http://schemas.microsoft.com/office/drawing/2014/main" id="{3691BC71-74D0-C871-BB86-FE74944F1553}"/>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7" name="CaixaDeTexto 12">
            <a:extLst>
              <a:ext uri="{FF2B5EF4-FFF2-40B4-BE49-F238E27FC236}">
                <a16:creationId xmlns:a16="http://schemas.microsoft.com/office/drawing/2014/main" id="{77271566-7986-A8C8-33C3-5E2FE3DC06CD}"/>
              </a:ext>
            </a:extLst>
          </p:cNvPr>
          <p:cNvSpPr txBox="1"/>
          <p:nvPr/>
        </p:nvSpPr>
        <p:spPr>
          <a:xfrm>
            <a:off x="4108439" y="5355391"/>
            <a:ext cx="4286931"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Viabilidade Empírica</a:t>
            </a:r>
          </a:p>
        </p:txBody>
      </p:sp>
      <p:sp>
        <p:nvSpPr>
          <p:cNvPr id="48" name="CaixaDeTexto 14">
            <a:extLst>
              <a:ext uri="{FF2B5EF4-FFF2-40B4-BE49-F238E27FC236}">
                <a16:creationId xmlns:a16="http://schemas.microsoft.com/office/drawing/2014/main" id="{60C0D11C-045E-7C52-2585-51963A34CF06}"/>
              </a:ext>
            </a:extLst>
          </p:cNvPr>
          <p:cNvSpPr txBox="1"/>
          <p:nvPr/>
        </p:nvSpPr>
        <p:spPr>
          <a:xfrm>
            <a:off x="1177838" y="5613639"/>
            <a:ext cx="2736922" cy="400110"/>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Viabilidade</a:t>
            </a:r>
            <a:r>
              <a:rPr lang="en-US" sz="1000">
                <a:solidFill>
                  <a:srgbClr val="7F7F7F"/>
                </a:solidFill>
                <a:latin typeface="Montserrat" panose="00000500000000000000" pitchFamily="2" charset="0"/>
                <a:cs typeface="Times New Roman" panose="02020603050405020304" pitchFamily="18" charset="0"/>
              </a:rPr>
              <a:t> dos dados para a </a:t>
            </a:r>
            <a:r>
              <a:rPr lang="en-US" sz="1000" err="1">
                <a:solidFill>
                  <a:srgbClr val="7F7F7F"/>
                </a:solidFill>
                <a:latin typeface="Montserrat" panose="00000500000000000000" pitchFamily="2" charset="0"/>
                <a:cs typeface="Times New Roman" panose="02020603050405020304" pitchFamily="18" charset="0"/>
              </a:rPr>
              <a:t>realização</a:t>
            </a:r>
            <a:r>
              <a:rPr lang="en-US" sz="1000">
                <a:solidFill>
                  <a:srgbClr val="7F7F7F"/>
                </a:solidFill>
                <a:latin typeface="Montserrat" panose="00000500000000000000" pitchFamily="2" charset="0"/>
                <a:cs typeface="Times New Roman" panose="02020603050405020304" pitchFamily="18" charset="0"/>
              </a:rPr>
              <a:t> do teste empírico</a:t>
            </a:r>
            <a:endParaRPr lang="pt-BR" sz="1000">
              <a:solidFill>
                <a:srgbClr val="7F7F7F"/>
              </a:solidFill>
              <a:latin typeface="Montserrat" panose="00000500000000000000" pitchFamily="2" charset="0"/>
              <a:cs typeface="Times New Roman" panose="02020603050405020304" pitchFamily="18" charset="0"/>
            </a:endParaRPr>
          </a:p>
        </p:txBody>
      </p:sp>
      <p:grpSp>
        <p:nvGrpSpPr>
          <p:cNvPr id="49" name="Agrupar 47">
            <a:extLst>
              <a:ext uri="{FF2B5EF4-FFF2-40B4-BE49-F238E27FC236}">
                <a16:creationId xmlns:a16="http://schemas.microsoft.com/office/drawing/2014/main" id="{1BAAA7D1-76F6-01B3-AF20-5B0F3C77FE0D}"/>
              </a:ext>
            </a:extLst>
          </p:cNvPr>
          <p:cNvGrpSpPr/>
          <p:nvPr/>
        </p:nvGrpSpPr>
        <p:grpSpPr>
          <a:xfrm rot="10800000">
            <a:off x="1202890" y="5474432"/>
            <a:ext cx="2810101" cy="252000"/>
            <a:chOff x="6098372" y="2214756"/>
            <a:chExt cx="2810101" cy="252000"/>
          </a:xfrm>
          <a:solidFill>
            <a:srgbClr val="80B281"/>
          </a:solidFill>
        </p:grpSpPr>
        <p:cxnSp>
          <p:nvCxnSpPr>
            <p:cNvPr id="50" name="Conector de Seta Reta 48">
              <a:extLst>
                <a:ext uri="{FF2B5EF4-FFF2-40B4-BE49-F238E27FC236}">
                  <a16:creationId xmlns:a16="http://schemas.microsoft.com/office/drawing/2014/main" id="{8982D8CC-56AF-D748-FA8C-7AC246857A2F}"/>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51" name="Losango 49">
              <a:extLst>
                <a:ext uri="{FF2B5EF4-FFF2-40B4-BE49-F238E27FC236}">
                  <a16:creationId xmlns:a16="http://schemas.microsoft.com/office/drawing/2014/main" id="{8B1C89C4-3154-638F-8C44-1BA3C135144E}"/>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Tree>
    <p:extLst>
      <p:ext uri="{BB962C8B-B14F-4D97-AF65-F5344CB8AC3E}">
        <p14:creationId xmlns:p14="http://schemas.microsoft.com/office/powerpoint/2010/main" val="243000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59F54C-2DCF-8105-C178-F76D6C10DC73}"/>
              </a:ext>
            </a:extLst>
          </p:cNvPr>
          <p:cNvSpPr>
            <a:spLocks noGrp="1"/>
          </p:cNvSpPr>
          <p:nvPr>
            <p:ph type="body" sz="quarter" idx="18"/>
          </p:nvPr>
        </p:nvSpPr>
        <p:spPr/>
        <p:txBody>
          <a:bodyPr>
            <a:normAutofit fontScale="62500" lnSpcReduction="20000"/>
          </a:bodyPr>
          <a:lstStyle/>
          <a:p>
            <a:endParaRPr lang="pt-BR"/>
          </a:p>
        </p:txBody>
      </p:sp>
      <p:sp>
        <p:nvSpPr>
          <p:cNvPr id="3" name="Title 2">
            <a:extLst>
              <a:ext uri="{FF2B5EF4-FFF2-40B4-BE49-F238E27FC236}">
                <a16:creationId xmlns:a16="http://schemas.microsoft.com/office/drawing/2014/main" id="{F33F0DF1-831B-C8EE-9529-7A1584C93111}"/>
              </a:ext>
            </a:extLst>
          </p:cNvPr>
          <p:cNvSpPr>
            <a:spLocks noGrp="1"/>
          </p:cNvSpPr>
          <p:nvPr>
            <p:ph type="title"/>
          </p:nvPr>
        </p:nvSpPr>
        <p:spPr>
          <a:xfrm>
            <a:off x="96401" y="49540"/>
            <a:ext cx="11527643" cy="555135"/>
          </a:xfrm>
        </p:spPr>
        <p:txBody>
          <a:bodyPr/>
          <a:lstStyle/>
          <a:p>
            <a:r>
              <a:rPr lang="pt-BR" sz="2400" b="1" i="0">
                <a:solidFill>
                  <a:srgbClr val="F0F6FC"/>
                </a:solidFill>
                <a:effectLst/>
              </a:rPr>
              <a:t>A escassez de especialistas não é de número, é de lugar</a:t>
            </a:r>
            <a:endParaRPr lang="pt-BR"/>
          </a:p>
        </p:txBody>
      </p:sp>
      <p:sp>
        <p:nvSpPr>
          <p:cNvPr id="7" name="Text Placeholder 3">
            <a:extLst>
              <a:ext uri="{FF2B5EF4-FFF2-40B4-BE49-F238E27FC236}">
                <a16:creationId xmlns:a16="http://schemas.microsoft.com/office/drawing/2014/main" id="{C4D91091-551A-3521-80D9-88AA240C7C35}"/>
              </a:ext>
            </a:extLst>
          </p:cNvPr>
          <p:cNvSpPr>
            <a:spLocks noGrp="1"/>
          </p:cNvSpPr>
          <p:nvPr>
            <p:ph type="body" sz="quarter" idx="19"/>
          </p:nvPr>
        </p:nvSpPr>
        <p:spPr>
          <a:xfrm>
            <a:off x="96400" y="718808"/>
            <a:ext cx="5736363" cy="301466"/>
          </a:xfrm>
        </p:spPr>
        <p:txBody>
          <a:bodyPr/>
          <a:lstStyle/>
          <a:p>
            <a:r>
              <a:rPr lang="pt-BR"/>
              <a:t>I. Escassez de especialistas é concentrada territorialmente</a:t>
            </a:r>
          </a:p>
          <a:p>
            <a:endParaRPr lang="pt-BR"/>
          </a:p>
        </p:txBody>
      </p:sp>
      <p:sp>
        <p:nvSpPr>
          <p:cNvPr id="8" name="Text Placeholder 4">
            <a:extLst>
              <a:ext uri="{FF2B5EF4-FFF2-40B4-BE49-F238E27FC236}">
                <a16:creationId xmlns:a16="http://schemas.microsoft.com/office/drawing/2014/main" id="{5F20F580-F193-F790-FA49-A7BA188D3EB5}"/>
              </a:ext>
            </a:extLst>
          </p:cNvPr>
          <p:cNvSpPr>
            <a:spLocks noGrp="1"/>
          </p:cNvSpPr>
          <p:nvPr>
            <p:ph type="body" sz="quarter" idx="20"/>
          </p:nvPr>
        </p:nvSpPr>
        <p:spPr>
          <a:xfrm>
            <a:off x="96401" y="1004102"/>
            <a:ext cx="5593565" cy="197609"/>
          </a:xfrm>
        </p:spPr>
        <p:txBody>
          <a:bodyPr>
            <a:noAutofit/>
          </a:bodyPr>
          <a:lstStyle/>
          <a:p>
            <a:r>
              <a:rPr lang="pt-BR" sz="1000"/>
              <a:t>Especialistas por 100 mil habitantes, por UF — 2024</a:t>
            </a:r>
          </a:p>
        </p:txBody>
      </p:sp>
      <p:sp>
        <p:nvSpPr>
          <p:cNvPr id="10" name="Text Placeholder 9">
            <a:extLst>
              <a:ext uri="{FF2B5EF4-FFF2-40B4-BE49-F238E27FC236}">
                <a16:creationId xmlns:a16="http://schemas.microsoft.com/office/drawing/2014/main" id="{294AB9AB-586C-C31A-9B88-135210E5EABB}"/>
              </a:ext>
            </a:extLst>
          </p:cNvPr>
          <p:cNvSpPr txBox="1">
            <a:spLocks/>
          </p:cNvSpPr>
          <p:nvPr/>
        </p:nvSpPr>
        <p:spPr>
          <a:xfrm>
            <a:off x="5975147" y="718808"/>
            <a:ext cx="6094363" cy="30322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kern="1200">
                <a:solidFill>
                  <a:schemeClr val="tx1"/>
                </a:solidFill>
                <a:latin typeface="Montserrat"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II. O acesso a serviços especializados exige longas distâncias</a:t>
            </a:r>
          </a:p>
          <a:p>
            <a:endParaRPr lang="pt-BR"/>
          </a:p>
        </p:txBody>
      </p:sp>
      <p:sp>
        <p:nvSpPr>
          <p:cNvPr id="11" name="Text Placeholder 10">
            <a:extLst>
              <a:ext uri="{FF2B5EF4-FFF2-40B4-BE49-F238E27FC236}">
                <a16:creationId xmlns:a16="http://schemas.microsoft.com/office/drawing/2014/main" id="{8ECA22AA-3A37-0DB2-B9CE-A340D0644D2D}"/>
              </a:ext>
            </a:extLst>
          </p:cNvPr>
          <p:cNvSpPr txBox="1">
            <a:spLocks/>
          </p:cNvSpPr>
          <p:nvPr/>
        </p:nvSpPr>
        <p:spPr>
          <a:xfrm>
            <a:off x="5975148" y="1004102"/>
            <a:ext cx="6120451" cy="13954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200" b="0" kern="1200">
                <a:solidFill>
                  <a:schemeClr val="tx1"/>
                </a:solidFill>
                <a:latin typeface="Montserrat"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sz="900"/>
              <a:t>Deslocamento médio da população para serviços de alta complexidade (km)</a:t>
            </a:r>
          </a:p>
        </p:txBody>
      </p:sp>
      <p:pic>
        <p:nvPicPr>
          <p:cNvPr id="16" name="Imagem 15">
            <a:extLst>
              <a:ext uri="{FF2B5EF4-FFF2-40B4-BE49-F238E27FC236}">
                <a16:creationId xmlns:a16="http://schemas.microsoft.com/office/drawing/2014/main" id="{BC6F6E1E-9C7F-105C-D78F-39AE4F6FB058}"/>
              </a:ext>
            </a:extLst>
          </p:cNvPr>
          <p:cNvPicPr>
            <a:picLocks noChangeAspect="1"/>
          </p:cNvPicPr>
          <p:nvPr/>
        </p:nvPicPr>
        <p:blipFill>
          <a:blip r:embed="rId4"/>
          <a:stretch>
            <a:fillRect/>
          </a:stretch>
        </p:blipFill>
        <p:spPr>
          <a:xfrm>
            <a:off x="787436" y="3518587"/>
            <a:ext cx="4354290" cy="1747219"/>
          </a:xfrm>
          <a:prstGeom prst="rect">
            <a:avLst/>
          </a:prstGeom>
        </p:spPr>
      </p:pic>
      <p:pic>
        <p:nvPicPr>
          <p:cNvPr id="17" name="Imagem 16">
            <a:extLst>
              <a:ext uri="{FF2B5EF4-FFF2-40B4-BE49-F238E27FC236}">
                <a16:creationId xmlns:a16="http://schemas.microsoft.com/office/drawing/2014/main" id="{B6A88CE3-6E82-6A6A-25FB-28F49054CBBE}"/>
              </a:ext>
            </a:extLst>
          </p:cNvPr>
          <p:cNvPicPr>
            <a:picLocks noChangeAspect="1"/>
          </p:cNvPicPr>
          <p:nvPr/>
        </p:nvPicPr>
        <p:blipFill>
          <a:blip r:embed="rId5"/>
          <a:stretch>
            <a:fillRect/>
          </a:stretch>
        </p:blipFill>
        <p:spPr>
          <a:xfrm>
            <a:off x="6781883" y="3518587"/>
            <a:ext cx="4506979" cy="1782048"/>
          </a:xfrm>
          <a:prstGeom prst="rect">
            <a:avLst/>
          </a:prstGeom>
        </p:spPr>
      </p:pic>
      <p:pic>
        <p:nvPicPr>
          <p:cNvPr id="18" name="Imagem 17">
            <a:extLst>
              <a:ext uri="{FF2B5EF4-FFF2-40B4-BE49-F238E27FC236}">
                <a16:creationId xmlns:a16="http://schemas.microsoft.com/office/drawing/2014/main" id="{D84B9164-4452-4239-1241-4FB4E6103169}"/>
              </a:ext>
            </a:extLst>
          </p:cNvPr>
          <p:cNvPicPr>
            <a:picLocks noChangeAspect="1"/>
          </p:cNvPicPr>
          <p:nvPr/>
        </p:nvPicPr>
        <p:blipFill>
          <a:blip r:embed="rId6"/>
          <a:stretch>
            <a:fillRect/>
          </a:stretch>
        </p:blipFill>
        <p:spPr>
          <a:xfrm>
            <a:off x="2088947" y="5266944"/>
            <a:ext cx="7772400" cy="1083174"/>
          </a:xfrm>
          <a:prstGeom prst="rect">
            <a:avLst/>
          </a:prstGeom>
        </p:spPr>
      </p:pic>
      <p:pic>
        <p:nvPicPr>
          <p:cNvPr id="19" name="Picture 18" descr="especialistas_extremos_uf.png"/>
          <p:cNvPicPr>
            <a:picLocks noChangeAspect="1"/>
          </p:cNvPicPr>
          <p:nvPr/>
        </p:nvPicPr>
        <p:blipFill>
          <a:blip r:embed="rId7"/>
          <a:stretch>
            <a:fillRect/>
          </a:stretch>
        </p:blipFill>
        <p:spPr>
          <a:xfrm>
            <a:off x="91440" y="1316736"/>
            <a:ext cx="5468112" cy="2137514"/>
          </a:xfrm>
          <a:prstGeom prst="rect">
            <a:avLst/>
          </a:prstGeom>
        </p:spPr>
      </p:pic>
      <p:pic>
        <p:nvPicPr>
          <p:cNvPr id="20" name="Picture 19" descr="image.png"/>
          <p:cNvPicPr>
            <a:picLocks noChangeAspect="1"/>
          </p:cNvPicPr>
          <p:nvPr/>
        </p:nvPicPr>
        <p:blipFill>
          <a:blip r:embed="rId8"/>
          <a:stretch>
            <a:fillRect/>
          </a:stretch>
        </p:blipFill>
        <p:spPr>
          <a:xfrm>
            <a:off x="7018960" y="1335024"/>
            <a:ext cx="3866032" cy="2121408"/>
          </a:xfrm>
          <a:prstGeom prst="rect">
            <a:avLst/>
          </a:prstGeom>
        </p:spPr>
      </p:pic>
      <p:sp>
        <p:nvSpPr>
          <p:cNvPr id="21" name="TextBox 20"/>
          <p:cNvSpPr txBox="1"/>
          <p:nvPr/>
        </p:nvSpPr>
        <p:spPr>
          <a:xfrm>
            <a:off x="128016" y="6419088"/>
            <a:ext cx="11795760" cy="219456"/>
          </a:xfrm>
          <a:prstGeom prst="rect">
            <a:avLst/>
          </a:prstGeom>
          <a:noFill/>
          <a:ln>
            <a:noFill/>
          </a:ln>
        </p:spPr>
        <p:txBody>
          <a:bodyPr wrap="square" anchor="t" lIns="0" rIns="0" tIns="0" bIns="0">
            <a:spAutoFit/>
          </a:bodyPr>
          <a:lstStyle/>
          <a:p>
            <a:pPr algn="l">
              <a:lnSpc>
                <a:spcPct val="100000"/>
              </a:lnSpc>
              <a:buNone/>
            </a:pPr>
            <a:r>
              <a:rPr sz="700" b="0" i="1">
                <a:solidFill>
                  <a:srgbClr val="7F7F7F"/>
                </a:solidFill>
                <a:latin typeface="Montserrat"/>
              </a:rPr>
              <a:t>Fontes: Scheffer, M. (coord.). Demografia Médica no Brasil 2025 (FMUSP/AMB), dez/2024; IBGE, Regiões de Influência das Cidades — REGIC 2018; Portaria GM/MS nº 7.061/2025, que reconheceu situação de urgência em saúde pública na atenção especializada, por 24 meses. O painel da esquerda traz apenas as quatro unidades da federação que a fonte reporta; o da direita mede o custo do paciente, não o do médico.</a:t>
            </a:r>
          </a:p>
        </p:txBody>
      </p:sp>
    </p:spTree>
    <p:extLst>
      <p:ext uri="{BB962C8B-B14F-4D97-AF65-F5344CB8AC3E}">
        <p14:creationId xmlns:p14="http://schemas.microsoft.com/office/powerpoint/2010/main" val="940414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59F54C-2DCF-8105-C178-F76D6C10DC73}"/>
              </a:ext>
            </a:extLst>
          </p:cNvPr>
          <p:cNvSpPr>
            <a:spLocks noGrp="1"/>
          </p:cNvSpPr>
          <p:nvPr>
            <p:ph type="body" sz="quarter" idx="18"/>
          </p:nvPr>
        </p:nvSpPr>
        <p:spPr/>
        <p:txBody>
          <a:bodyPr>
            <a:normAutofit fontScale="62500" lnSpcReduction="20000"/>
          </a:bodyPr>
          <a:lstStyle/>
          <a:p>
            <a:endParaRPr lang="pt-BR"/>
          </a:p>
        </p:txBody>
      </p:sp>
      <p:sp>
        <p:nvSpPr>
          <p:cNvPr id="3" name="Title 2">
            <a:extLst>
              <a:ext uri="{FF2B5EF4-FFF2-40B4-BE49-F238E27FC236}">
                <a16:creationId xmlns:a16="http://schemas.microsoft.com/office/drawing/2014/main" id="{F33F0DF1-831B-C8EE-9529-7A1584C93111}"/>
              </a:ext>
            </a:extLst>
          </p:cNvPr>
          <p:cNvSpPr>
            <a:spLocks noGrp="1"/>
          </p:cNvSpPr>
          <p:nvPr>
            <p:ph type="title"/>
          </p:nvPr>
        </p:nvSpPr>
        <p:spPr/>
        <p:txBody>
          <a:bodyPr>
            <a:normAutofit/>
          </a:bodyPr>
          <a:lstStyle/>
          <a:p>
            <a:pPr algn="l"/>
            <a:r>
              <a:rPr lang="pt-BR"/>
              <a:t>A bolsa do PMM-E é fixada por regra territorial</a:t>
            </a:r>
            <a:endParaRPr lang="pt-BR" b="1" i="0">
              <a:solidFill>
                <a:srgbClr val="F0F6FC"/>
              </a:solidFill>
              <a:effectLst/>
            </a:endParaRPr>
          </a:p>
        </p:txBody>
      </p:sp>
      <p:sp>
        <p:nvSpPr>
          <p:cNvPr id="10" name="TextBox 9"/>
          <p:cNvSpPr txBox="1"/>
          <p:nvPr/>
        </p:nvSpPr>
        <p:spPr>
          <a:xfrm>
            <a:off x="128016" y="731520"/>
            <a:ext cx="5669280" cy="219456"/>
          </a:xfrm>
          <a:prstGeom prst="rect">
            <a:avLst/>
          </a:prstGeom>
          <a:noFill/>
          <a:ln>
            <a:noFill/>
          </a:ln>
        </p:spPr>
        <p:txBody>
          <a:bodyPr wrap="square" anchor="t" lIns="0" rIns="0" tIns="0" bIns="0">
            <a:spAutoFit/>
          </a:bodyPr>
          <a:lstStyle/>
          <a:p>
            <a:pPr algn="l">
              <a:lnSpc>
                <a:spcPct val="100000"/>
              </a:lnSpc>
              <a:buNone/>
            </a:pPr>
            <a:r>
              <a:rPr sz="1000" b="1" i="0">
                <a:solidFill>
                  <a:srgbClr val="056429"/>
                </a:solidFill>
                <a:latin typeface="Montserrat"/>
              </a:rPr>
              <a:t>O QUE O PROGRAMA É</a:t>
            </a:r>
          </a:p>
        </p:txBody>
      </p:sp>
      <p:cxnSp>
        <p:nvCxnSpPr>
          <p:cNvPr id="11" name="Connector 10"/>
          <p:cNvCxnSpPr/>
          <p:nvPr/>
        </p:nvCxnSpPr>
        <p:spPr>
          <a:xfrm>
            <a:off x="128016" y="950976"/>
            <a:ext cx="5669280" cy="0"/>
          </a:xfrm>
          <a:prstGeom prst="line">
            <a:avLst/>
          </a:prstGeom>
          <a:ln w="15875">
            <a:solidFill>
              <a:srgbClr val="80B28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1440" y="1005840"/>
            <a:ext cx="5760720" cy="1536192"/>
          </a:xfrm>
          <a:prstGeom prst="rect">
            <a:avLst/>
          </a:prstGeom>
          <a:noFill/>
          <a:ln>
            <a:noFill/>
          </a:ln>
        </p:spPr>
        <p:txBody>
          <a:bodyPr wrap="square" anchor="t" lIns="54864" rIns="54864" tIns="38404" bIns="38404">
            <a:spAutoFit/>
          </a:bodyPr>
          <a:lstStyle/>
          <a:p>
            <a:pPr algn="l" indent="-171450" marL="171450">
              <a:lnSpc>
                <a:spcPct val="95000"/>
              </a:lnSpc>
              <a:spcAft>
                <a:spcPts val="500"/>
              </a:spcAft>
              <a:buClr>
                <a:srgbClr val="80B281"/>
              </a:buClr>
              <a:buSzPct val="90000"/>
              <a:buFont typeface="Arial"/>
              <a:buChar char="•"/>
            </a:pPr>
            <a:r>
              <a:rPr sz="1050" b="1" i="0">
                <a:solidFill>
                  <a:srgbClr val="114719"/>
                </a:solidFill>
                <a:latin typeface="Montserrat"/>
              </a:rPr>
              <a:t>Bolsa-formação mensal</a:t>
            </a:r>
            <a:r>
              <a:rPr sz="1050" b="0" i="0">
                <a:solidFill>
                  <a:srgbClr val="3A3A3A"/>
                </a:solidFill>
                <a:latin typeface="Montserrat"/>
              </a:rPr>
              <a:t> do Ministério da Saúde. Não é emprego nem concurso: não há vínculo.</a:t>
            </a:r>
          </a:p>
          <a:p>
            <a:pPr algn="l" indent="-171450" marL="171450">
              <a:lnSpc>
                <a:spcPct val="95000"/>
              </a:lnSpc>
              <a:spcAft>
                <a:spcPts val="500"/>
              </a:spcAft>
              <a:buClr>
                <a:srgbClr val="80B281"/>
              </a:buClr>
              <a:buSzPct val="90000"/>
              <a:buFont typeface="Arial"/>
              <a:buChar char="•"/>
            </a:pPr>
            <a:r>
              <a:rPr sz="1050" b="1" i="0">
                <a:solidFill>
                  <a:srgbClr val="114719"/>
                </a:solidFill>
                <a:latin typeface="Montserrat"/>
              </a:rPr>
              <a:t>Aprimoramento em serviço de 12 meses</a:t>
            </a:r>
            <a:r>
              <a:rPr sz="1050" b="0" i="0">
                <a:solidFill>
                  <a:srgbClr val="3A3A3A"/>
                </a:solidFill>
                <a:latin typeface="Montserrat"/>
              </a:rPr>
              <a:t>, 20 horas semanais em estabelecimento do SUS, com supervisão de instituição formadora.</a:t>
            </a:r>
          </a:p>
          <a:p>
            <a:pPr algn="l" indent="-171450" marL="171450">
              <a:lnSpc>
                <a:spcPct val="95000"/>
              </a:lnSpc>
              <a:spcAft>
                <a:spcPts val="500"/>
              </a:spcAft>
              <a:buClr>
                <a:srgbClr val="80B281"/>
              </a:buClr>
              <a:buSzPct val="90000"/>
              <a:buFont typeface="Arial"/>
              <a:buChar char="•"/>
            </a:pPr>
            <a:r>
              <a:rPr sz="1050" b="1" i="0">
                <a:solidFill>
                  <a:srgbClr val="114719"/>
                </a:solidFill>
                <a:latin typeface="Montserrat"/>
              </a:rPr>
              <a:t>16 cursos de especialidade</a:t>
            </a:r>
            <a:r>
              <a:rPr sz="1050" b="0" i="0">
                <a:solidFill>
                  <a:srgbClr val="3A3A3A"/>
                </a:solidFill>
                <a:latin typeface="Montserrat"/>
              </a:rPr>
              <a:t>, concentrados no câncer e no diagnóstico que o SUS mais espera.</a:t>
            </a:r>
          </a:p>
          <a:p>
            <a:pPr algn="l" indent="-171450" marL="171450">
              <a:lnSpc>
                <a:spcPct val="95000"/>
              </a:lnSpc>
              <a:buClr>
                <a:srgbClr val="80B281"/>
              </a:buClr>
              <a:buSzPct val="90000"/>
              <a:buFont typeface="Arial"/>
              <a:buChar char="•"/>
            </a:pPr>
            <a:r>
              <a:rPr sz="1050" b="1" i="0">
                <a:solidFill>
                  <a:srgbClr val="114719"/>
                </a:solidFill>
                <a:latin typeface="Montserrat"/>
              </a:rPr>
              <a:t>O serviço não pode substituir</a:t>
            </a:r>
            <a:r>
              <a:rPr sz="1050" b="0" i="0">
                <a:solidFill>
                  <a:srgbClr val="3A3A3A"/>
                </a:solidFill>
                <a:latin typeface="Montserrat"/>
              </a:rPr>
              <a:t> profissional já contratado: a vaga é acréscimo, não troca.</a:t>
            </a:r>
          </a:p>
        </p:txBody>
      </p:sp>
      <p:sp>
        <p:nvSpPr>
          <p:cNvPr id="13" name="TextBox 12"/>
          <p:cNvSpPr txBox="1"/>
          <p:nvPr/>
        </p:nvSpPr>
        <p:spPr>
          <a:xfrm>
            <a:off x="128016" y="2670048"/>
            <a:ext cx="5669280" cy="219456"/>
          </a:xfrm>
          <a:prstGeom prst="rect">
            <a:avLst/>
          </a:prstGeom>
          <a:noFill/>
          <a:ln>
            <a:noFill/>
          </a:ln>
        </p:spPr>
        <p:txBody>
          <a:bodyPr wrap="square" anchor="t" lIns="0" rIns="0" tIns="0" bIns="0">
            <a:spAutoFit/>
          </a:bodyPr>
          <a:lstStyle/>
          <a:p>
            <a:pPr algn="l">
              <a:lnSpc>
                <a:spcPct val="100000"/>
              </a:lnSpc>
              <a:buNone/>
            </a:pPr>
            <a:r>
              <a:rPr sz="1000" b="1" i="0">
                <a:solidFill>
                  <a:srgbClr val="056429"/>
                </a:solidFill>
                <a:latin typeface="Montserrat"/>
              </a:rPr>
              <a:t>COMO A VAGA CHEGA AO MÉDICO</a:t>
            </a:r>
          </a:p>
        </p:txBody>
      </p:sp>
      <p:cxnSp>
        <p:nvCxnSpPr>
          <p:cNvPr id="14" name="Connector 13"/>
          <p:cNvCxnSpPr/>
          <p:nvPr/>
        </p:nvCxnSpPr>
        <p:spPr>
          <a:xfrm>
            <a:off x="128016" y="2889504"/>
            <a:ext cx="5669280" cy="0"/>
          </a:xfrm>
          <a:prstGeom prst="line">
            <a:avLst/>
          </a:prstGeom>
          <a:ln w="15875">
            <a:solidFill>
              <a:srgbClr val="80B28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28016" y="2999232"/>
            <a:ext cx="310896" cy="310896"/>
          </a:xfrm>
          <a:prstGeom prst="rect">
            <a:avLst/>
          </a:prstGeom>
          <a:solidFill>
            <a:srgbClr val="114719"/>
          </a:solidFill>
          <a:ln>
            <a:noFill/>
          </a:ln>
        </p:spPr>
        <p:txBody>
          <a:bodyPr wrap="square" anchor="ctr" lIns="0" rIns="0" tIns="0" bIns="0">
            <a:spAutoFit/>
          </a:bodyPr>
          <a:lstStyle/>
          <a:p>
            <a:pPr algn="ctr">
              <a:buNone/>
            </a:pPr>
            <a:r>
              <a:rPr sz="1100" b="1" i="0">
                <a:solidFill>
                  <a:srgbClr val="FFFFFF"/>
                </a:solidFill>
                <a:latin typeface="Montserrat"/>
              </a:rPr>
              <a:t>1</a:t>
            </a:r>
          </a:p>
        </p:txBody>
      </p:sp>
      <p:sp>
        <p:nvSpPr>
          <p:cNvPr id="16" name="TextBox 15"/>
          <p:cNvSpPr txBox="1"/>
          <p:nvPr/>
        </p:nvSpPr>
        <p:spPr>
          <a:xfrm>
            <a:off x="493776" y="2953512"/>
            <a:ext cx="5394960" cy="566928"/>
          </a:xfrm>
          <a:prstGeom prst="rect">
            <a:avLst/>
          </a:prstGeom>
          <a:noFill/>
          <a:ln>
            <a:noFill/>
          </a:ln>
        </p:spPr>
        <p:txBody>
          <a:bodyPr wrap="square" anchor="t" lIns="36576" rIns="36576" tIns="25603" bIns="25603">
            <a:spAutoFit/>
          </a:bodyPr>
          <a:lstStyle/>
          <a:p>
            <a:pPr algn="l">
              <a:lnSpc>
                <a:spcPct val="95000"/>
              </a:lnSpc>
              <a:buNone/>
            </a:pPr>
            <a:r>
              <a:rPr sz="1050" b="0" i="0">
                <a:solidFill>
                  <a:srgbClr val="3A3A3A"/>
                </a:solidFill>
                <a:latin typeface="Montserrat"/>
              </a:rPr>
              <a:t>Estado ou município indica serviço e especialidade; a comissão bipartite prioriza.</a:t>
            </a:r>
          </a:p>
        </p:txBody>
      </p:sp>
      <p:sp>
        <p:nvSpPr>
          <p:cNvPr id="17" name="TextBox 16"/>
          <p:cNvSpPr txBox="1"/>
          <p:nvPr/>
        </p:nvSpPr>
        <p:spPr>
          <a:xfrm>
            <a:off x="128016" y="3621024"/>
            <a:ext cx="310896" cy="310896"/>
          </a:xfrm>
          <a:prstGeom prst="rect">
            <a:avLst/>
          </a:prstGeom>
          <a:solidFill>
            <a:srgbClr val="114719"/>
          </a:solidFill>
          <a:ln>
            <a:noFill/>
          </a:ln>
        </p:spPr>
        <p:txBody>
          <a:bodyPr wrap="square" anchor="ctr" lIns="0" rIns="0" tIns="0" bIns="0">
            <a:spAutoFit/>
          </a:bodyPr>
          <a:lstStyle/>
          <a:p>
            <a:pPr algn="ctr">
              <a:buNone/>
            </a:pPr>
            <a:r>
              <a:rPr sz="1100" b="1" i="0">
                <a:solidFill>
                  <a:srgbClr val="FFFFFF"/>
                </a:solidFill>
                <a:latin typeface="Montserrat"/>
              </a:rPr>
              <a:t>2</a:t>
            </a:r>
          </a:p>
        </p:txBody>
      </p:sp>
      <p:sp>
        <p:nvSpPr>
          <p:cNvPr id="18" name="TextBox 17"/>
          <p:cNvSpPr txBox="1"/>
          <p:nvPr/>
        </p:nvSpPr>
        <p:spPr>
          <a:xfrm>
            <a:off x="493776" y="3575304"/>
            <a:ext cx="5394960" cy="566928"/>
          </a:xfrm>
          <a:prstGeom prst="rect">
            <a:avLst/>
          </a:prstGeom>
          <a:noFill/>
          <a:ln>
            <a:noFill/>
          </a:ln>
        </p:spPr>
        <p:txBody>
          <a:bodyPr wrap="square" anchor="t" lIns="36576" rIns="36576" tIns="25603" bIns="25603">
            <a:spAutoFit/>
          </a:bodyPr>
          <a:lstStyle/>
          <a:p>
            <a:pPr algn="l">
              <a:lnSpc>
                <a:spcPct val="95000"/>
              </a:lnSpc>
              <a:buNone/>
            </a:pPr>
            <a:r>
              <a:rPr sz="1050" b="0" i="0">
                <a:solidFill>
                  <a:srgbClr val="3A3A3A"/>
                </a:solidFill>
                <a:latin typeface="Montserrat"/>
              </a:rPr>
              <a:t>O Ministério publica o quadro de vagas: município, estabelecimento, curso e faixa de bolsa.</a:t>
            </a:r>
          </a:p>
        </p:txBody>
      </p:sp>
      <p:sp>
        <p:nvSpPr>
          <p:cNvPr id="19" name="TextBox 18"/>
          <p:cNvSpPr txBox="1"/>
          <p:nvPr/>
        </p:nvSpPr>
        <p:spPr>
          <a:xfrm>
            <a:off x="128016" y="4242816"/>
            <a:ext cx="310896" cy="310896"/>
          </a:xfrm>
          <a:prstGeom prst="rect">
            <a:avLst/>
          </a:prstGeom>
          <a:solidFill>
            <a:srgbClr val="114719"/>
          </a:solidFill>
          <a:ln>
            <a:noFill/>
          </a:ln>
        </p:spPr>
        <p:txBody>
          <a:bodyPr wrap="square" anchor="ctr" lIns="0" rIns="0" tIns="0" bIns="0">
            <a:spAutoFit/>
          </a:bodyPr>
          <a:lstStyle/>
          <a:p>
            <a:pPr algn="ctr">
              <a:buNone/>
            </a:pPr>
            <a:r>
              <a:rPr sz="1100" b="1" i="0">
                <a:solidFill>
                  <a:srgbClr val="FFFFFF"/>
                </a:solidFill>
                <a:latin typeface="Montserrat"/>
              </a:rPr>
              <a:t>3</a:t>
            </a:r>
          </a:p>
        </p:txBody>
      </p:sp>
      <p:sp>
        <p:nvSpPr>
          <p:cNvPr id="20" name="TextBox 19"/>
          <p:cNvSpPr txBox="1"/>
          <p:nvPr/>
        </p:nvSpPr>
        <p:spPr>
          <a:xfrm>
            <a:off x="493776" y="4197096"/>
            <a:ext cx="5394960" cy="566928"/>
          </a:xfrm>
          <a:prstGeom prst="rect">
            <a:avLst/>
          </a:prstGeom>
          <a:noFill/>
          <a:ln>
            <a:noFill/>
          </a:ln>
        </p:spPr>
        <p:txBody>
          <a:bodyPr wrap="square" anchor="t" lIns="36576" rIns="36576" tIns="25603" bIns="25603">
            <a:spAutoFit/>
          </a:bodyPr>
          <a:lstStyle/>
          <a:p>
            <a:pPr algn="l">
              <a:lnSpc>
                <a:spcPct val="95000"/>
              </a:lnSpc>
              <a:buNone/>
            </a:pPr>
            <a:r>
              <a:rPr sz="1050" b="0" i="0">
                <a:solidFill>
                  <a:srgbClr val="3A3A3A"/>
                </a:solidFill>
                <a:latin typeface="Montserrat"/>
              </a:rPr>
              <a:t>O médico escolhe até dois locais, em ordem de preferência, e é classificado por titulação e tempo de formação.</a:t>
            </a:r>
          </a:p>
        </p:txBody>
      </p:sp>
      <p:sp>
        <p:nvSpPr>
          <p:cNvPr id="21" name="TextBox 20"/>
          <p:cNvSpPr txBox="1"/>
          <p:nvPr/>
        </p:nvSpPr>
        <p:spPr>
          <a:xfrm>
            <a:off x="6309360" y="731520"/>
            <a:ext cx="5669280" cy="219456"/>
          </a:xfrm>
          <a:prstGeom prst="rect">
            <a:avLst/>
          </a:prstGeom>
          <a:noFill/>
          <a:ln>
            <a:noFill/>
          </a:ln>
        </p:spPr>
        <p:txBody>
          <a:bodyPr wrap="square" anchor="t" lIns="0" rIns="0" tIns="0" bIns="0">
            <a:spAutoFit/>
          </a:bodyPr>
          <a:lstStyle/>
          <a:p>
            <a:pPr algn="l">
              <a:lnSpc>
                <a:spcPct val="100000"/>
              </a:lnSpc>
              <a:buNone/>
            </a:pPr>
            <a:r>
              <a:rPr sz="1000" b="1" i="0">
                <a:solidFill>
                  <a:srgbClr val="056429"/>
                </a:solidFill>
                <a:latin typeface="Montserrat"/>
              </a:rPr>
              <a:t>O QUE DETERMINA O VALOR DA BOLSA</a:t>
            </a:r>
          </a:p>
        </p:txBody>
      </p:sp>
      <p:cxnSp>
        <p:nvCxnSpPr>
          <p:cNvPr id="22" name="Connector 21"/>
          <p:cNvCxnSpPr/>
          <p:nvPr/>
        </p:nvCxnSpPr>
        <p:spPr>
          <a:xfrm>
            <a:off x="6309360" y="950976"/>
            <a:ext cx="5669280" cy="0"/>
          </a:xfrm>
          <a:prstGeom prst="line">
            <a:avLst/>
          </a:prstGeom>
          <a:ln w="15875">
            <a:solidFill>
              <a:srgbClr val="80B28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272784" y="1005840"/>
            <a:ext cx="5760720" cy="877824"/>
          </a:xfrm>
          <a:prstGeom prst="rect">
            <a:avLst/>
          </a:prstGeom>
          <a:noFill/>
          <a:ln>
            <a:noFill/>
          </a:ln>
        </p:spPr>
        <p:txBody>
          <a:bodyPr wrap="square" anchor="t" lIns="36576" rIns="36576" tIns="25603" bIns="25603">
            <a:spAutoFit/>
          </a:bodyPr>
          <a:lstStyle/>
          <a:p>
            <a:pPr algn="l">
              <a:lnSpc>
                <a:spcPct val="95000"/>
              </a:lnSpc>
              <a:spcAft>
                <a:spcPts val="400"/>
              </a:spcAft>
              <a:buNone/>
            </a:pPr>
            <a:r>
              <a:rPr sz="1050" b="1" i="0">
                <a:solidFill>
                  <a:srgbClr val="114719"/>
                </a:solidFill>
                <a:latin typeface="Montserrat"/>
              </a:rPr>
              <a:t>A faixa vem do IVS do município</a:t>
            </a:r>
            <a:r>
              <a:rPr sz="1050" b="0" i="0">
                <a:solidFill>
                  <a:srgbClr val="3A3A3A"/>
                </a:solidFill>
                <a:latin typeface="Montserrat"/>
              </a:rPr>
              <a:t> — índice do Ipea que resume, de 0 a 1, infraestrutura urbana, capital humano, e renda e trabalho.</a:t>
            </a:r>
          </a:p>
          <a:p>
            <a:pPr algn="l">
              <a:lnSpc>
                <a:spcPct val="95000"/>
              </a:lnSpc>
              <a:buNone/>
            </a:pPr>
            <a:r>
              <a:rPr sz="1050" b="0" i="0">
                <a:solidFill>
                  <a:srgbClr val="3A3A3A"/>
                </a:solidFill>
                <a:latin typeface="Montserrat"/>
              </a:rPr>
              <a:t>O edital de 2025 agrupa as cinco categorias do índice em três faixas de valor.</a:t>
            </a:r>
          </a:p>
        </p:txBody>
      </p:sp>
      <p:pic>
        <p:nvPicPr>
          <p:cNvPr id="24" name="Picture 23" descr="bolsa_por_faixa.png"/>
          <p:cNvPicPr>
            <a:picLocks noChangeAspect="1"/>
          </p:cNvPicPr>
          <p:nvPr/>
        </p:nvPicPr>
        <p:blipFill>
          <a:blip r:embed="rId6"/>
          <a:stretch>
            <a:fillRect/>
          </a:stretch>
        </p:blipFill>
        <p:spPr>
          <a:xfrm>
            <a:off x="6382512" y="1993392"/>
            <a:ext cx="5486400" cy="2991578"/>
          </a:xfrm>
          <a:prstGeom prst="rect">
            <a:avLst/>
          </a:prstGeom>
        </p:spPr>
      </p:pic>
      <p:sp>
        <p:nvSpPr>
          <p:cNvPr id="25" name="TextBox 24"/>
          <p:cNvSpPr txBox="1"/>
          <p:nvPr/>
        </p:nvSpPr>
        <p:spPr>
          <a:xfrm>
            <a:off x="6309360" y="4846320"/>
            <a:ext cx="5623560" cy="658368"/>
          </a:xfrm>
          <a:prstGeom prst="rect">
            <a:avLst/>
          </a:prstGeom>
          <a:solidFill>
            <a:srgbClr val="EFF4F0"/>
          </a:solidFill>
          <a:ln>
            <a:noFill/>
          </a:ln>
        </p:spPr>
        <p:txBody>
          <a:bodyPr wrap="square" anchor="ctr" lIns="54864" rIns="54864" tIns="38404" bIns="38404">
            <a:spAutoFit/>
          </a:bodyPr>
          <a:lstStyle/>
          <a:p>
            <a:pPr algn="ctr">
              <a:lnSpc>
                <a:spcPct val="95000"/>
              </a:lnSpc>
              <a:buNone/>
            </a:pPr>
            <a:r>
              <a:rPr sz="1000" b="0" i="0">
                <a:solidFill>
                  <a:srgbClr val="7F7F7F"/>
                </a:solidFill>
                <a:latin typeface="Montserrat"/>
              </a:rPr>
              <a:t>No ciclo 1:  </a:t>
            </a:r>
            <a:r>
              <a:rPr sz="1050" b="1" i="0">
                <a:solidFill>
                  <a:srgbClr val="114719"/>
                </a:solidFill>
                <a:latin typeface="Montserrat"/>
              </a:rPr>
              <a:t>102</a:t>
            </a:r>
            <a:r>
              <a:rPr sz="1000" b="0" i="0">
                <a:solidFill>
                  <a:srgbClr val="3A3A3A"/>
                </a:solidFill>
                <a:latin typeface="Montserrat"/>
              </a:rPr>
              <a:t> municípios na Faixa 1,  </a:t>
            </a:r>
            <a:r>
              <a:rPr sz="1050" b="1" i="0">
                <a:solidFill>
                  <a:srgbClr val="114719"/>
                </a:solidFill>
                <a:latin typeface="Montserrat"/>
              </a:rPr>
              <a:t>107</a:t>
            </a:r>
            <a:r>
              <a:rPr sz="1000" b="0" i="0">
                <a:solidFill>
                  <a:srgbClr val="3A3A3A"/>
                </a:solidFill>
                <a:latin typeface="Montserrat"/>
              </a:rPr>
              <a:t> na Faixa 2,  </a:t>
            </a:r>
            <a:r>
              <a:rPr sz="1050" b="1" i="0">
                <a:solidFill>
                  <a:srgbClr val="114719"/>
                </a:solidFill>
                <a:latin typeface="Montserrat"/>
              </a:rPr>
              <a:t>159</a:t>
            </a:r>
            <a:r>
              <a:rPr sz="1000" b="0" i="0">
                <a:solidFill>
                  <a:srgbClr val="3A3A3A"/>
                </a:solidFill>
                <a:latin typeface="Montserrat"/>
              </a:rPr>
              <a:t> na Faixa 3.</a:t>
            </a:r>
          </a:p>
        </p:txBody>
      </p:sp>
      <p:sp>
        <p:nvSpPr>
          <p:cNvPr id="26" name="TextBox 25"/>
          <p:cNvSpPr txBox="1"/>
          <p:nvPr/>
        </p:nvSpPr>
        <p:spPr>
          <a:xfrm>
            <a:off x="128016" y="5669280"/>
            <a:ext cx="11795760" cy="621792"/>
          </a:xfrm>
          <a:prstGeom prst="rect">
            <a:avLst/>
          </a:prstGeom>
          <a:solidFill>
            <a:srgbClr val="EFF4F0"/>
          </a:solidFill>
          <a:ln w="15875">
            <a:solidFill>
              <a:srgbClr val="80B281"/>
            </a:solidFill>
          </a:ln>
        </p:spPr>
        <p:txBody>
          <a:bodyPr wrap="square" anchor="ctr" lIns="109728" rIns="109728" tIns="76809" bIns="76809">
            <a:spAutoFit/>
          </a:bodyPr>
          <a:lstStyle/>
          <a:p>
            <a:pPr algn="l">
              <a:lnSpc>
                <a:spcPct val="95000"/>
              </a:lnSpc>
              <a:buNone/>
            </a:pPr>
            <a:r>
              <a:rPr sz="1150" b="1" i="0">
                <a:solidFill>
                  <a:srgbClr val="114719"/>
                </a:solidFill>
                <a:latin typeface="Montserrat"/>
              </a:rPr>
              <a:t>O valor não depende da especialidade, da carga horária nem do que o médico produz. </a:t>
            </a:r>
            <a:r>
              <a:rPr sz="1150" b="0" i="0">
                <a:solidFill>
                  <a:srgbClr val="3A3A3A"/>
                </a:solidFill>
                <a:latin typeface="Montserrat"/>
              </a:rPr>
              <a:t>Depende de onde fica o município — e é essa regra, e só ela, que o trabalho estuda.</a:t>
            </a:r>
          </a:p>
        </p:txBody>
      </p:sp>
      <p:sp>
        <p:nvSpPr>
          <p:cNvPr id="27" name="TextBox 26"/>
          <p:cNvSpPr txBox="1"/>
          <p:nvPr/>
        </p:nvSpPr>
        <p:spPr>
          <a:xfrm>
            <a:off x="128016" y="6419088"/>
            <a:ext cx="11795760" cy="219456"/>
          </a:xfrm>
          <a:prstGeom prst="rect">
            <a:avLst/>
          </a:prstGeom>
          <a:noFill/>
          <a:ln>
            <a:noFill/>
          </a:ln>
        </p:spPr>
        <p:txBody>
          <a:bodyPr wrap="square" anchor="t" lIns="0" rIns="0" tIns="0" bIns="0">
            <a:spAutoFit/>
          </a:bodyPr>
          <a:lstStyle/>
          <a:p>
            <a:pPr algn="l">
              <a:lnSpc>
                <a:spcPct val="100000"/>
              </a:lnSpc>
              <a:buNone/>
            </a:pPr>
            <a:r>
              <a:rPr sz="700" b="0" i="1">
                <a:solidFill>
                  <a:srgbClr val="7F7F7F"/>
                </a:solidFill>
                <a:latin typeface="Montserrat"/>
              </a:rPr>
              <a:t>Fontes: Lei nº 15.233/2025, art. 22-D; Portaria GM/MS nº 7.177/2025; Edital SGTES/MS nº 3/2025 (DOU 24/07/2025), itens 1, 3–5, 10 e 11; quadro de vagas do ciclo 1, chamada 1 — 1.295 vagas estabelecimento–curso em 460 estabelecimentos e 368 municípios.</a:t>
            </a:r>
          </a:p>
        </p:txBody>
      </p:sp>
    </p:spTree>
    <p:extLst>
      <p:ext uri="{BB962C8B-B14F-4D97-AF65-F5344CB8AC3E}">
        <p14:creationId xmlns:p14="http://schemas.microsoft.com/office/powerpoint/2010/main" val="2322557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3F0DF1-831B-C8EE-9529-7A1584C93111}"/>
              </a:ext>
            </a:extLst>
          </p:cNvPr>
          <p:cNvSpPr>
            <a:spLocks noGrp="1"/>
          </p:cNvSpPr>
          <p:nvPr>
            <p:ph type="title"/>
          </p:nvPr>
        </p:nvSpPr>
        <p:spPr/>
        <p:txBody>
          <a:bodyPr>
            <a:normAutofit/>
          </a:bodyPr>
          <a:lstStyle/>
          <a:p>
            <a:pPr algn="l"/>
            <a:r>
              <a:rPr lang="pt-BR"/>
              <a:t>A presença de especialistas cresceu nas três faixas</a:t>
            </a:r>
            <a:endParaRPr lang="pt-BR" b="1" i="0">
              <a:solidFill>
                <a:srgbClr val="F0F6FC"/>
              </a:solidFill>
              <a:effectLst/>
            </a:endParaRPr>
          </a:p>
        </p:txBody>
      </p:sp>
      <p:pic>
        <p:nvPicPr>
          <p:cNvPr id="4" name="Picture 3" descr="oferta_antes_depois_por_faixa.png"/>
          <p:cNvPicPr>
            <a:picLocks noChangeAspect="1"/>
          </p:cNvPicPr>
          <p:nvPr/>
        </p:nvPicPr>
        <p:blipFill>
          <a:blip r:embed="rId4"/>
          <a:stretch>
            <a:fillRect/>
          </a:stretch>
        </p:blipFill>
        <p:spPr>
          <a:xfrm>
            <a:off x="91440" y="1115568"/>
            <a:ext cx="7973568" cy="3651710"/>
          </a:xfrm>
          <a:prstGeom prst="rect">
            <a:avLst/>
          </a:prstGeom>
        </p:spPr>
      </p:pic>
      <p:sp>
        <p:nvSpPr>
          <p:cNvPr id="5" name="TextBox 4"/>
          <p:cNvSpPr txBox="1"/>
          <p:nvPr/>
        </p:nvSpPr>
        <p:spPr>
          <a:xfrm>
            <a:off x="8247888" y="914400"/>
            <a:ext cx="3703320" cy="219456"/>
          </a:xfrm>
          <a:prstGeom prst="rect">
            <a:avLst/>
          </a:prstGeom>
          <a:noFill/>
          <a:ln>
            <a:noFill/>
          </a:ln>
        </p:spPr>
        <p:txBody>
          <a:bodyPr wrap="square" anchor="t" lIns="0" rIns="0" tIns="0" bIns="0">
            <a:spAutoFit/>
          </a:bodyPr>
          <a:lstStyle/>
          <a:p>
            <a:pPr algn="l">
              <a:lnSpc>
                <a:spcPct val="100000"/>
              </a:lnSpc>
              <a:buNone/>
            </a:pPr>
            <a:r>
              <a:rPr sz="1000" b="1" i="0">
                <a:solidFill>
                  <a:srgbClr val="056429"/>
                </a:solidFill>
                <a:latin typeface="Montserrat"/>
              </a:rPr>
              <a:t>O QUE O GRÁFICO MOSTRA</a:t>
            </a:r>
          </a:p>
        </p:txBody>
      </p:sp>
      <p:cxnSp>
        <p:nvCxnSpPr>
          <p:cNvPr id="6" name="Connector 5"/>
          <p:cNvCxnSpPr/>
          <p:nvPr/>
        </p:nvCxnSpPr>
        <p:spPr>
          <a:xfrm>
            <a:off x="8247888" y="1133856"/>
            <a:ext cx="3703320" cy="0"/>
          </a:xfrm>
          <a:prstGeom prst="line">
            <a:avLst/>
          </a:prstGeom>
          <a:ln w="15875">
            <a:solidFill>
              <a:srgbClr val="80B28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11312" y="1188720"/>
            <a:ext cx="3794760" cy="1316736"/>
          </a:xfrm>
          <a:prstGeom prst="rect">
            <a:avLst/>
          </a:prstGeom>
          <a:noFill/>
          <a:ln>
            <a:noFill/>
          </a:ln>
        </p:spPr>
        <p:txBody>
          <a:bodyPr wrap="square" anchor="t" lIns="54864" rIns="54864" tIns="38404" bIns="38404">
            <a:spAutoFit/>
          </a:bodyPr>
          <a:lstStyle/>
          <a:p>
            <a:pPr algn="l" indent="-171450" marL="171450">
              <a:lnSpc>
                <a:spcPct val="95000"/>
              </a:lnSpc>
              <a:spcAft>
                <a:spcPts val="500"/>
              </a:spcAft>
              <a:buClr>
                <a:srgbClr val="80B281"/>
              </a:buClr>
              <a:buSzPct val="90000"/>
              <a:buFont typeface="Arial"/>
              <a:buChar char="•"/>
            </a:pPr>
            <a:r>
              <a:rPr sz="1000" b="0" i="0">
                <a:solidFill>
                  <a:srgbClr val="3A3A3A"/>
                </a:solidFill>
                <a:latin typeface="Montserrat"/>
              </a:rPr>
              <a:t>As três faixas sobem a partir da publicação da oferta. A Faixa 1, de R$ 20 mil, vai de 17,4 a 22,0 especialistas por 100 mil habitantes.</a:t>
            </a:r>
          </a:p>
          <a:p>
            <a:pPr algn="l" indent="-171450" marL="171450">
              <a:lnSpc>
                <a:spcPct val="95000"/>
              </a:lnSpc>
              <a:spcAft>
                <a:spcPts val="500"/>
              </a:spcAft>
              <a:buClr>
                <a:srgbClr val="80B281"/>
              </a:buClr>
              <a:buSzPct val="90000"/>
              <a:buFont typeface="Arial"/>
              <a:buChar char="•"/>
            </a:pPr>
            <a:r>
              <a:rPr sz="1000" b="0" i="0">
                <a:solidFill>
                  <a:srgbClr val="3A3A3A"/>
                </a:solidFill>
                <a:latin typeface="Montserrat"/>
              </a:rPr>
              <a:t>A distância entre a Faixa 1 e as outras duas aumenta depois da homologação.</a:t>
            </a:r>
          </a:p>
        </p:txBody>
      </p:sp>
      <p:sp>
        <p:nvSpPr>
          <p:cNvPr id="8" name="TextBox 7"/>
          <p:cNvSpPr txBox="1"/>
          <p:nvPr/>
        </p:nvSpPr>
        <p:spPr>
          <a:xfrm>
            <a:off x="8247888" y="2560320"/>
            <a:ext cx="3703320" cy="219456"/>
          </a:xfrm>
          <a:prstGeom prst="rect">
            <a:avLst/>
          </a:prstGeom>
          <a:noFill/>
          <a:ln>
            <a:noFill/>
          </a:ln>
        </p:spPr>
        <p:txBody>
          <a:bodyPr wrap="square" anchor="t" lIns="0" rIns="0" tIns="0" bIns="0">
            <a:spAutoFit/>
          </a:bodyPr>
          <a:lstStyle/>
          <a:p>
            <a:pPr algn="l">
              <a:lnSpc>
                <a:spcPct val="100000"/>
              </a:lnSpc>
              <a:buNone/>
            </a:pPr>
            <a:r>
              <a:rPr sz="1000" b="1" i="0">
                <a:solidFill>
                  <a:srgbClr val="056429"/>
                </a:solidFill>
                <a:latin typeface="Montserrat"/>
              </a:rPr>
              <a:t>O QUE ISSO PODE SIGNIFICAR</a:t>
            </a:r>
          </a:p>
        </p:txBody>
      </p:sp>
      <p:cxnSp>
        <p:nvCxnSpPr>
          <p:cNvPr id="9" name="Connector 8"/>
          <p:cNvCxnSpPr/>
          <p:nvPr/>
        </p:nvCxnSpPr>
        <p:spPr>
          <a:xfrm>
            <a:off x="8247888" y="2779776"/>
            <a:ext cx="3703320" cy="0"/>
          </a:xfrm>
          <a:prstGeom prst="line">
            <a:avLst/>
          </a:prstGeom>
          <a:ln w="15875">
            <a:solidFill>
              <a:srgbClr val="80B28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11312" y="2834639"/>
            <a:ext cx="3794760" cy="1737360"/>
          </a:xfrm>
          <a:prstGeom prst="rect">
            <a:avLst/>
          </a:prstGeom>
          <a:noFill/>
          <a:ln>
            <a:noFill/>
          </a:ln>
        </p:spPr>
        <p:txBody>
          <a:bodyPr wrap="square" anchor="t" lIns="54864" rIns="54864" tIns="38404" bIns="38404">
            <a:spAutoFit/>
          </a:bodyPr>
          <a:lstStyle/>
          <a:p>
            <a:pPr algn="l" indent="-171450" marL="171450">
              <a:lnSpc>
                <a:spcPct val="95000"/>
              </a:lnSpc>
              <a:spcAft>
                <a:spcPts val="500"/>
              </a:spcAft>
              <a:buClr>
                <a:srgbClr val="80B281"/>
              </a:buClr>
              <a:buSzPct val="90000"/>
              <a:buFont typeface="Arial"/>
              <a:buChar char="•"/>
            </a:pPr>
            <a:r>
              <a:rPr sz="1000" b="0" i="0">
                <a:solidFill>
                  <a:srgbClr val="3A3A3A"/>
                </a:solidFill>
                <a:latin typeface="Montserrat"/>
              </a:rPr>
              <a:t>Que a bolsa maior atraiu profissionais para onde ela é maior.</a:t>
            </a:r>
          </a:p>
          <a:p>
            <a:pPr algn="l" indent="-171450" marL="171450">
              <a:lnSpc>
                <a:spcPct val="95000"/>
              </a:lnSpc>
              <a:spcAft>
                <a:spcPts val="500"/>
              </a:spcAft>
              <a:buClr>
                <a:srgbClr val="80B281"/>
              </a:buClr>
              <a:buSzPct val="90000"/>
              <a:buFont typeface="Arial"/>
              <a:buChar char="•"/>
            </a:pPr>
            <a:r>
              <a:rPr sz="1000" b="0" i="0">
                <a:solidFill>
                  <a:srgbClr val="3A3A3A"/>
                </a:solidFill>
                <a:latin typeface="Montserrat"/>
              </a:rPr>
              <a:t>Ou que as três faixas seguem uma tendência comum — do programa, do mercado ou do próprio cadastro — e o degrau apenas a acompanha.</a:t>
            </a:r>
          </a:p>
          <a:p>
            <a:pPr algn="l" indent="-171450" marL="171450">
              <a:lnSpc>
                <a:spcPct val="95000"/>
              </a:lnSpc>
              <a:spcAft>
                <a:spcPts val="500"/>
              </a:spcAft>
              <a:buClr>
                <a:srgbClr val="80B281"/>
              </a:buClr>
              <a:buSzPct val="90000"/>
              <a:buFont typeface="Arial"/>
              <a:buChar char="•"/>
            </a:pPr>
            <a:r>
              <a:rPr sz="1000" b="0" i="0">
                <a:solidFill>
                  <a:srgbClr val="3A3A3A"/>
                </a:solidFill>
                <a:latin typeface="Montserrat"/>
              </a:rPr>
              <a:t>Não há município fora do programa para comparar: todos os 368 receberam vaga.</a:t>
            </a:r>
          </a:p>
        </p:txBody>
      </p:sp>
      <p:sp>
        <p:nvSpPr>
          <p:cNvPr id="11" name="TextBox 10"/>
          <p:cNvSpPr txBox="1"/>
          <p:nvPr/>
        </p:nvSpPr>
        <p:spPr>
          <a:xfrm>
            <a:off x="8247888" y="4626864"/>
            <a:ext cx="3703320" cy="219456"/>
          </a:xfrm>
          <a:prstGeom prst="rect">
            <a:avLst/>
          </a:prstGeom>
          <a:noFill/>
          <a:ln>
            <a:noFill/>
          </a:ln>
        </p:spPr>
        <p:txBody>
          <a:bodyPr wrap="square" anchor="t" lIns="0" rIns="0" tIns="0" bIns="0">
            <a:spAutoFit/>
          </a:bodyPr>
          <a:lstStyle/>
          <a:p>
            <a:pPr algn="l">
              <a:lnSpc>
                <a:spcPct val="100000"/>
              </a:lnSpc>
              <a:buNone/>
            </a:pPr>
            <a:r>
              <a:rPr sz="1000" b="1" i="0">
                <a:solidFill>
                  <a:srgbClr val="114719"/>
                </a:solidFill>
                <a:latin typeface="Montserrat"/>
              </a:rPr>
              <a:t>O QUE QUEREMOS ENTENDER</a:t>
            </a:r>
          </a:p>
        </p:txBody>
      </p:sp>
      <p:cxnSp>
        <p:nvCxnSpPr>
          <p:cNvPr id="12" name="Connector 11"/>
          <p:cNvCxnSpPr/>
          <p:nvPr/>
        </p:nvCxnSpPr>
        <p:spPr>
          <a:xfrm>
            <a:off x="8247888" y="4846320"/>
            <a:ext cx="3703320" cy="0"/>
          </a:xfrm>
          <a:prstGeom prst="line">
            <a:avLst/>
          </a:prstGeom>
          <a:ln w="15875">
            <a:solidFill>
              <a:srgbClr val="11471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11312" y="4919472"/>
            <a:ext cx="3794760" cy="1078992"/>
          </a:xfrm>
          <a:prstGeom prst="rect">
            <a:avLst/>
          </a:prstGeom>
          <a:solidFill>
            <a:srgbClr val="EFF4F0"/>
          </a:solidFill>
          <a:ln w="15875">
            <a:solidFill>
              <a:srgbClr val="80B281"/>
            </a:solidFill>
          </a:ln>
        </p:spPr>
        <p:txBody>
          <a:bodyPr wrap="square" anchor="ctr" tIns="64007" bIns="64007">
            <a:spAutoFit/>
          </a:bodyPr>
          <a:lstStyle/>
          <a:p>
            <a:pPr algn="l">
              <a:lnSpc>
                <a:spcPct val="95000"/>
              </a:lnSpc>
              <a:buNone/>
            </a:pPr>
            <a:r>
              <a:rPr sz="1050" b="0" i="0">
                <a:solidFill>
                  <a:srgbClr val="3A3A3A"/>
                </a:solidFill>
                <a:latin typeface="Montserrat"/>
              </a:rPr>
              <a:t>Quanto desse crescimento é o </a:t>
            </a:r>
            <a:r>
              <a:rPr sz="1050" b="1" i="0">
                <a:solidFill>
                  <a:srgbClr val="114719"/>
                </a:solidFill>
                <a:latin typeface="Montserrat"/>
              </a:rPr>
              <a:t>preço</a:t>
            </a:r>
            <a:r>
              <a:rPr sz="1050" b="0" i="0">
                <a:solidFill>
                  <a:srgbClr val="3A3A3A"/>
                </a:solidFill>
                <a:latin typeface="Montserrat"/>
              </a:rPr>
              <a:t> que a política pôs sobre a vulnerabilidade — e quanto é o </a:t>
            </a:r>
            <a:r>
              <a:rPr sz="1050" b="1" i="0">
                <a:solidFill>
                  <a:srgbClr val="114719"/>
                </a:solidFill>
                <a:latin typeface="Montserrat"/>
              </a:rPr>
              <a:t>lugar</a:t>
            </a:r>
            <a:r>
              <a:rPr sz="1050" b="0" i="0">
                <a:solidFill>
                  <a:srgbClr val="3A3A3A"/>
                </a:solidFill>
                <a:latin typeface="Montserrat"/>
              </a:rPr>
              <a:t> que esse preço deveria compensar.</a:t>
            </a:r>
          </a:p>
        </p:txBody>
      </p:sp>
      <p:sp>
        <p:nvSpPr>
          <p:cNvPr id="14" name="TextBox 13"/>
          <p:cNvSpPr txBox="1"/>
          <p:nvPr/>
        </p:nvSpPr>
        <p:spPr>
          <a:xfrm>
            <a:off x="128016" y="6419088"/>
            <a:ext cx="11795760" cy="219456"/>
          </a:xfrm>
          <a:prstGeom prst="rect">
            <a:avLst/>
          </a:prstGeom>
          <a:noFill/>
          <a:ln>
            <a:noFill/>
          </a:ln>
        </p:spPr>
        <p:txBody>
          <a:bodyPr wrap="square" anchor="t" lIns="0" rIns="0" tIns="0" bIns="0">
            <a:spAutoFit/>
          </a:bodyPr>
          <a:lstStyle/>
          <a:p>
            <a:pPr algn="l">
              <a:lnSpc>
                <a:spcPct val="100000"/>
              </a:lnSpc>
              <a:buNone/>
            </a:pPr>
            <a:r>
              <a:rPr sz="700" b="0" i="1">
                <a:solidFill>
                  <a:srgbClr val="7F7F7F"/>
                </a:solidFill>
                <a:latin typeface="Montserrat"/>
              </a:rPr>
              <a:t>Leitura descritiva: sem município fora do programa, a figura não identifica efeito. Especialistas nos CBOs dos cursos com correspondência unívoca curso–CBO, CNES mensal jun/2024 a jul/2026; população do Censo 2022 (IBGE); faixa pela bolsa publicada na vaga.</a:t>
            </a:r>
          </a:p>
        </p:txBody>
      </p:sp>
    </p:spTree>
    <p:extLst>
      <p:ext uri="{BB962C8B-B14F-4D97-AF65-F5344CB8AC3E}">
        <p14:creationId xmlns:p14="http://schemas.microsoft.com/office/powerpoint/2010/main" val="1864653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4F51E-0401-AD70-A16D-C71FF37F4697}"/>
            </a:ext>
          </a:extLst>
        </p:cNvPr>
        <p:cNvGrpSpPr/>
        <p:nvPr/>
      </p:nvGrpSpPr>
      <p:grpSpPr>
        <a:xfrm>
          <a:off x="0" y="0"/>
          <a:ext cx="0" cy="0"/>
          <a:chOff x="0" y="0"/>
          <a:chExt cx="0" cy="0"/>
        </a:xfrm>
      </p:grpSpPr>
      <p:sp>
        <p:nvSpPr>
          <p:cNvPr id="2" name="Title Placeholder 1">
            <a:extLst>
              <a:ext uri="{FF2B5EF4-FFF2-40B4-BE49-F238E27FC236}">
                <a16:creationId xmlns:a16="http://schemas.microsoft.com/office/drawing/2014/main" id="{3A439CCD-7E8B-6F5C-E67D-E74117B01C0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508CE5EC-33EC-F99D-1E28-74B10D8D6653}"/>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8E517154-E072-E1CF-1D28-8271729BEBBE}"/>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pt-BR"/>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B7E79B-8647-4B7A-AB06-CE9034CA7501}" type="datetimeFigureOut">
              <a:rPr lang="pt-BR" smtClean="0"/>
              <a:pPr/>
              <a:t>14/09/2026</a:t>
            </a:fld>
            <a:endParaRPr lang="pt-BR"/>
          </a:p>
        </p:txBody>
      </p:sp>
      <p:sp>
        <p:nvSpPr>
          <p:cNvPr id="5" name="Slide Number Placeholder 5">
            <a:extLst>
              <a:ext uri="{FF2B5EF4-FFF2-40B4-BE49-F238E27FC236}">
                <a16:creationId xmlns:a16="http://schemas.microsoft.com/office/drawing/2014/main" id="{E388A684-6076-189A-D73D-47362FDE16B7}"/>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pt-B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B357A3-503C-42D5-B2E3-09AB65DED10B}" type="slidenum">
              <a:rPr lang="pt-BR" smtClean="0"/>
              <a:pPr/>
              <a:t>8</a:t>
            </a:fld>
            <a:endParaRPr lang="pt-BR"/>
          </a:p>
        </p:txBody>
      </p:sp>
      <p:sp>
        <p:nvSpPr>
          <p:cNvPr id="6" name="Rectangle 5">
            <a:extLst>
              <a:ext uri="{FF2B5EF4-FFF2-40B4-BE49-F238E27FC236}">
                <a16:creationId xmlns:a16="http://schemas.microsoft.com/office/drawing/2014/main" id="{03B58734-5393-226C-BD97-78DD849B31EB}"/>
              </a:ext>
            </a:extLst>
          </p:cNvPr>
          <p:cNvSpPr/>
          <p:nvPr/>
        </p:nvSpPr>
        <p:spPr>
          <a:xfrm>
            <a:off x="0" y="0"/>
            <a:ext cx="12194747" cy="6858000"/>
          </a:xfrm>
          <a:prstGeom prst="rect">
            <a:avLst/>
          </a:prstGeom>
          <a:solidFill>
            <a:srgbClr val="2F73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2">
                  <a:lumMod val="90000"/>
                </a:schemeClr>
              </a:solidFill>
            </a:endParaRPr>
          </a:p>
        </p:txBody>
      </p:sp>
      <p:sp>
        <p:nvSpPr>
          <p:cNvPr id="7" name="Text Placeholder 3">
            <a:extLst>
              <a:ext uri="{FF2B5EF4-FFF2-40B4-BE49-F238E27FC236}">
                <a16:creationId xmlns:a16="http://schemas.microsoft.com/office/drawing/2014/main" id="{E04D4F4A-EA63-B23F-B821-1FEC53B252AF}"/>
              </a:ext>
            </a:extLst>
          </p:cNvPr>
          <p:cNvSpPr txBox="1">
            <a:spLocks/>
          </p:cNvSpPr>
          <p:nvPr/>
        </p:nvSpPr>
        <p:spPr>
          <a:xfrm>
            <a:off x="126501" y="101463"/>
            <a:ext cx="6010020" cy="4666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err="1">
                <a:solidFill>
                  <a:schemeClr val="bg1"/>
                </a:solidFill>
                <a:latin typeface="Montserrat" panose="00000500000000000000" pitchFamily="2" charset="0"/>
              </a:rPr>
              <a:t>Sumário</a:t>
            </a:r>
            <a:endParaRPr lang="pt-BR" b="1">
              <a:solidFill>
                <a:schemeClr val="bg1"/>
              </a:solidFill>
              <a:latin typeface="Montserrat" panose="00000500000000000000" pitchFamily="2" charset="0"/>
            </a:endParaRPr>
          </a:p>
        </p:txBody>
      </p:sp>
      <p:sp>
        <p:nvSpPr>
          <p:cNvPr id="8" name="Rectangle 7">
            <a:extLst>
              <a:ext uri="{FF2B5EF4-FFF2-40B4-BE49-F238E27FC236}">
                <a16:creationId xmlns:a16="http://schemas.microsoft.com/office/drawing/2014/main" id="{9685C3C2-F597-37CB-F812-559213B36D66}"/>
              </a:ext>
            </a:extLst>
          </p:cNvPr>
          <p:cNvSpPr/>
          <p:nvPr/>
        </p:nvSpPr>
        <p:spPr>
          <a:xfrm>
            <a:off x="2724167" y="831819"/>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0" name="Rectangle 9">
            <a:extLst>
              <a:ext uri="{FF2B5EF4-FFF2-40B4-BE49-F238E27FC236}">
                <a16:creationId xmlns:a16="http://schemas.microsoft.com/office/drawing/2014/main" id="{93F359DE-8231-4415-B0A2-B40753808884}"/>
              </a:ext>
            </a:extLst>
          </p:cNvPr>
          <p:cNvSpPr/>
          <p:nvPr/>
        </p:nvSpPr>
        <p:spPr>
          <a:xfrm>
            <a:off x="3078859" y="4975528"/>
            <a:ext cx="3694414" cy="2793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1" name="Rectangle 10">
            <a:extLst>
              <a:ext uri="{FF2B5EF4-FFF2-40B4-BE49-F238E27FC236}">
                <a16:creationId xmlns:a16="http://schemas.microsoft.com/office/drawing/2014/main" id="{C8B2D208-8911-EBA9-FC61-85B9D9273357}"/>
              </a:ext>
            </a:extLst>
          </p:cNvPr>
          <p:cNvSpPr/>
          <p:nvPr/>
        </p:nvSpPr>
        <p:spPr>
          <a:xfrm>
            <a:off x="2714295" y="831819"/>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12" name="CaixaDeTexto 8">
            <a:extLst>
              <a:ext uri="{FF2B5EF4-FFF2-40B4-BE49-F238E27FC236}">
                <a16:creationId xmlns:a16="http://schemas.microsoft.com/office/drawing/2014/main" id="{1AF03201-91DE-0773-6A6B-A9020B46FB4D}"/>
              </a:ext>
            </a:extLst>
          </p:cNvPr>
          <p:cNvSpPr txBox="1"/>
          <p:nvPr/>
        </p:nvSpPr>
        <p:spPr>
          <a:xfrm>
            <a:off x="4450117" y="1272790"/>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Motivação</a:t>
            </a:r>
          </a:p>
        </p:txBody>
      </p:sp>
      <p:sp>
        <p:nvSpPr>
          <p:cNvPr id="13" name="CaixaDeTexto 10">
            <a:extLst>
              <a:ext uri="{FF2B5EF4-FFF2-40B4-BE49-F238E27FC236}">
                <a16:creationId xmlns:a16="http://schemas.microsoft.com/office/drawing/2014/main" id="{36B380D0-B550-8706-8797-433C4BD91021}"/>
              </a:ext>
            </a:extLst>
          </p:cNvPr>
          <p:cNvSpPr txBox="1"/>
          <p:nvPr/>
        </p:nvSpPr>
        <p:spPr>
          <a:xfrm>
            <a:off x="5012265" y="3688982"/>
            <a:ext cx="3924311"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Modelo Teórico</a:t>
            </a:r>
          </a:p>
        </p:txBody>
      </p:sp>
      <p:sp>
        <p:nvSpPr>
          <p:cNvPr id="14" name="CaixaDeTexto 12">
            <a:extLst>
              <a:ext uri="{FF2B5EF4-FFF2-40B4-BE49-F238E27FC236}">
                <a16:creationId xmlns:a16="http://schemas.microsoft.com/office/drawing/2014/main" id="{CC135AB5-D9F3-5BD9-9B73-120D888ACFF0}"/>
              </a:ext>
            </a:extLst>
          </p:cNvPr>
          <p:cNvSpPr txBox="1"/>
          <p:nvPr/>
        </p:nvSpPr>
        <p:spPr>
          <a:xfrm>
            <a:off x="4753482" y="4586302"/>
            <a:ext cx="2235406"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Hipóteses</a:t>
            </a:r>
          </a:p>
        </p:txBody>
      </p:sp>
      <p:sp>
        <p:nvSpPr>
          <p:cNvPr id="15" name="CaixaDeTexto 13">
            <a:extLst>
              <a:ext uri="{FF2B5EF4-FFF2-40B4-BE49-F238E27FC236}">
                <a16:creationId xmlns:a16="http://schemas.microsoft.com/office/drawing/2014/main" id="{FB42FE6D-DC69-73D2-2E52-0B5DDEB32A5A}"/>
              </a:ext>
            </a:extLst>
          </p:cNvPr>
          <p:cNvSpPr txBox="1"/>
          <p:nvPr/>
        </p:nvSpPr>
        <p:spPr>
          <a:xfrm>
            <a:off x="1493269" y="1539704"/>
            <a:ext cx="2811600" cy="246221"/>
          </a:xfrm>
          <a:prstGeom prst="rect">
            <a:avLst/>
          </a:prstGeom>
          <a:noFill/>
        </p:spPr>
        <p:txBody>
          <a:bodyPr wrap="square" lIns="91440" tIns="45720" rIns="91440" bIns="45720" rtlCol="0" anchor="t">
            <a:spAutoFit/>
          </a:bodyPr>
          <a:lstStyle/>
          <a:p>
            <a:r>
              <a:rPr lang="en-US" sz="1000">
                <a:solidFill>
                  <a:schemeClr val="tx1">
                    <a:lumMod val="49000"/>
                    <a:lumOff val="51000"/>
                  </a:schemeClr>
                </a:solidFill>
                <a:latin typeface="Montserrat"/>
              </a:rPr>
              <a:t>Por </a:t>
            </a:r>
            <a:r>
              <a:rPr lang="en-US" sz="1000" err="1">
                <a:solidFill>
                  <a:schemeClr val="tx1">
                    <a:lumMod val="49000"/>
                    <a:lumOff val="51000"/>
                  </a:schemeClr>
                </a:solidFill>
                <a:latin typeface="Montserrat"/>
              </a:rPr>
              <a:t>que</a:t>
            </a:r>
            <a:r>
              <a:rPr lang="en-US" sz="1000">
                <a:solidFill>
                  <a:schemeClr val="tx1">
                    <a:lumMod val="49000"/>
                    <a:lumOff val="51000"/>
                  </a:schemeClr>
                </a:solidFill>
                <a:latin typeface="Montserrat"/>
              </a:rPr>
              <a:t> a </a:t>
            </a:r>
            <a:r>
              <a:rPr lang="en-US" sz="1000" err="1">
                <a:solidFill>
                  <a:schemeClr val="tx1">
                    <a:lumMod val="49000"/>
                    <a:lumOff val="51000"/>
                  </a:schemeClr>
                </a:solidFill>
                <a:latin typeface="Montserrat"/>
              </a:rPr>
              <a:t>pergunta</a:t>
            </a:r>
            <a:r>
              <a:rPr lang="en-US" sz="1000">
                <a:solidFill>
                  <a:schemeClr val="tx1">
                    <a:lumMod val="49000"/>
                    <a:lumOff val="51000"/>
                  </a:schemeClr>
                </a:solidFill>
                <a:latin typeface="Montserrat"/>
              </a:rPr>
              <a:t> é </a:t>
            </a:r>
            <a:r>
              <a:rPr lang="en-US" sz="1000" err="1">
                <a:solidFill>
                  <a:schemeClr val="tx1">
                    <a:lumMod val="49000"/>
                    <a:lumOff val="51000"/>
                  </a:schemeClr>
                </a:solidFill>
                <a:latin typeface="Montserrat"/>
              </a:rPr>
              <a:t>importante</a:t>
            </a:r>
            <a:endParaRPr lang="en-US" sz="1000">
              <a:solidFill>
                <a:schemeClr val="tx1">
                  <a:lumMod val="49000"/>
                  <a:lumOff val="51000"/>
                </a:schemeClr>
              </a:solidFill>
              <a:latin typeface="Montserrat"/>
            </a:endParaRPr>
          </a:p>
        </p:txBody>
      </p:sp>
      <p:sp>
        <p:nvSpPr>
          <p:cNvPr id="16" name="CaixaDeTexto 14">
            <a:extLst>
              <a:ext uri="{FF2B5EF4-FFF2-40B4-BE49-F238E27FC236}">
                <a16:creationId xmlns:a16="http://schemas.microsoft.com/office/drawing/2014/main" id="{D5820396-6DD1-99FA-DEBB-920C58C24202}"/>
              </a:ext>
            </a:extLst>
          </p:cNvPr>
          <p:cNvSpPr txBox="1"/>
          <p:nvPr/>
        </p:nvSpPr>
        <p:spPr>
          <a:xfrm>
            <a:off x="2107016" y="3921088"/>
            <a:ext cx="2736923" cy="400110"/>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Aplicação</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microeconômica</a:t>
            </a:r>
            <a:r>
              <a:rPr lang="en-US" sz="1000">
                <a:solidFill>
                  <a:srgbClr val="7F7F7F"/>
                </a:solidFill>
                <a:latin typeface="Montserrat" panose="00000500000000000000" pitchFamily="2" charset="0"/>
                <a:cs typeface="Times New Roman" panose="02020603050405020304" pitchFamily="18" charset="0"/>
              </a:rPr>
              <a:t> e </a:t>
            </a:r>
            <a:r>
              <a:rPr lang="en-US" sz="1000" err="1">
                <a:solidFill>
                  <a:srgbClr val="7F7F7F"/>
                </a:solidFill>
                <a:latin typeface="Montserrat" panose="00000500000000000000" pitchFamily="2" charset="0"/>
                <a:cs typeface="Times New Roman" panose="02020603050405020304" pitchFamily="18" charset="0"/>
              </a:rPr>
              <a:t>modelo</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proposto</a:t>
            </a:r>
            <a:endParaRPr lang="pt-BR" sz="1000">
              <a:solidFill>
                <a:srgbClr val="7F7F7F"/>
              </a:solidFill>
              <a:latin typeface="Montserrat" panose="00000500000000000000" pitchFamily="2" charset="0"/>
              <a:cs typeface="Times New Roman" panose="02020603050405020304" pitchFamily="18" charset="0"/>
            </a:endParaRPr>
          </a:p>
        </p:txBody>
      </p:sp>
      <p:sp>
        <p:nvSpPr>
          <p:cNvPr id="17" name="CaixaDeTexto 14">
            <a:extLst>
              <a:ext uri="{FF2B5EF4-FFF2-40B4-BE49-F238E27FC236}">
                <a16:creationId xmlns:a16="http://schemas.microsoft.com/office/drawing/2014/main" id="{1837BC10-8CD9-4817-7212-AD70B2E4BC27}"/>
              </a:ext>
            </a:extLst>
          </p:cNvPr>
          <p:cNvSpPr txBox="1"/>
          <p:nvPr/>
        </p:nvSpPr>
        <p:spPr>
          <a:xfrm>
            <a:off x="1822880" y="4844550"/>
            <a:ext cx="2736922" cy="246221"/>
          </a:xfrm>
          <a:prstGeom prst="rect">
            <a:avLst/>
          </a:prstGeom>
          <a:noFill/>
          <a:ln>
            <a:solidFill>
              <a:schemeClr val="tx1">
                <a:lumMod val="50000"/>
                <a:lumOff val="50000"/>
              </a:schemeClr>
            </a:solidFill>
          </a:ln>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Hipóteses</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formuladas</a:t>
            </a:r>
            <a:endParaRPr lang="pt-BR" sz="1000">
              <a:solidFill>
                <a:srgbClr val="7F7F7F"/>
              </a:solidFill>
              <a:latin typeface="Montserrat" panose="00000500000000000000" pitchFamily="2" charset="0"/>
              <a:cs typeface="Times New Roman" panose="02020603050405020304" pitchFamily="18" charset="0"/>
            </a:endParaRPr>
          </a:p>
        </p:txBody>
      </p:sp>
      <p:sp>
        <p:nvSpPr>
          <p:cNvPr id="18" name="Rosca 3">
            <a:extLst>
              <a:ext uri="{FF2B5EF4-FFF2-40B4-BE49-F238E27FC236}">
                <a16:creationId xmlns:a16="http://schemas.microsoft.com/office/drawing/2014/main" id="{D50AE18C-4B59-E524-1216-5DBC4F2D79D9}"/>
              </a:ext>
            </a:extLst>
          </p:cNvPr>
          <p:cNvSpPr/>
          <p:nvPr/>
        </p:nvSpPr>
        <p:spPr>
          <a:xfrm rot="10800000">
            <a:off x="-3452695" y="1148756"/>
            <a:ext cx="5396231" cy="4932209"/>
          </a:xfrm>
          <a:prstGeom prst="donut">
            <a:avLst>
              <a:gd name="adj" fmla="val 5392"/>
            </a:avLst>
          </a:prstGeom>
          <a:gradFill>
            <a:gsLst>
              <a:gs pos="0">
                <a:schemeClr val="accent3">
                  <a:lumMod val="50000"/>
                </a:schemeClr>
              </a:gs>
              <a:gs pos="55180">
                <a:srgbClr val="1B6F27"/>
              </a:gs>
              <a:gs pos="99000">
                <a:srgbClr val="20822E"/>
              </a:gs>
            </a:gsLst>
            <a:lin ang="5400000" scaled="1"/>
          </a:gra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nvGrpSpPr>
          <p:cNvPr id="19" name="Agrupar 38">
            <a:extLst>
              <a:ext uri="{FF2B5EF4-FFF2-40B4-BE49-F238E27FC236}">
                <a16:creationId xmlns:a16="http://schemas.microsoft.com/office/drawing/2014/main" id="{77C64105-CAB4-EC34-982B-403A54AABEA3}"/>
              </a:ext>
            </a:extLst>
          </p:cNvPr>
          <p:cNvGrpSpPr/>
          <p:nvPr/>
        </p:nvGrpSpPr>
        <p:grpSpPr>
          <a:xfrm rot="10800000">
            <a:off x="1493269" y="1392755"/>
            <a:ext cx="2811600" cy="252000"/>
            <a:chOff x="6022821" y="2646629"/>
            <a:chExt cx="2737179" cy="252000"/>
          </a:xfrm>
          <a:solidFill>
            <a:srgbClr val="80B281"/>
          </a:solidFill>
        </p:grpSpPr>
        <p:cxnSp>
          <p:nvCxnSpPr>
            <p:cNvPr id="20" name="Conector de Seta Reta 39">
              <a:extLst>
                <a:ext uri="{FF2B5EF4-FFF2-40B4-BE49-F238E27FC236}">
                  <a16:creationId xmlns:a16="http://schemas.microsoft.com/office/drawing/2014/main" id="{EB8ABB09-D5CA-8B32-1C2A-8BD19D1767B2}"/>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1" name="Losango 43">
              <a:extLst>
                <a:ext uri="{FF2B5EF4-FFF2-40B4-BE49-F238E27FC236}">
                  <a16:creationId xmlns:a16="http://schemas.microsoft.com/office/drawing/2014/main" id="{7455DA8C-407E-0C40-6174-CDD16C8F3A8D}"/>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2" name="Agrupar 47">
            <a:extLst>
              <a:ext uri="{FF2B5EF4-FFF2-40B4-BE49-F238E27FC236}">
                <a16:creationId xmlns:a16="http://schemas.microsoft.com/office/drawing/2014/main" id="{0BDB20C1-CED5-944D-4782-50D5BB67E980}"/>
              </a:ext>
            </a:extLst>
          </p:cNvPr>
          <p:cNvGrpSpPr/>
          <p:nvPr/>
        </p:nvGrpSpPr>
        <p:grpSpPr>
          <a:xfrm rot="10800000">
            <a:off x="1847932" y="4705343"/>
            <a:ext cx="2810101" cy="252000"/>
            <a:chOff x="6098372" y="2214756"/>
            <a:chExt cx="2810101" cy="252000"/>
          </a:xfrm>
          <a:solidFill>
            <a:srgbClr val="80B281"/>
          </a:solidFill>
        </p:grpSpPr>
        <p:cxnSp>
          <p:nvCxnSpPr>
            <p:cNvPr id="23" name="Conector de Seta Reta 48">
              <a:extLst>
                <a:ext uri="{FF2B5EF4-FFF2-40B4-BE49-F238E27FC236}">
                  <a16:creationId xmlns:a16="http://schemas.microsoft.com/office/drawing/2014/main" id="{1004BEE8-3CAA-8F89-6B1A-72E62DE7F4E9}"/>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4" name="Losango 49">
              <a:extLst>
                <a:ext uri="{FF2B5EF4-FFF2-40B4-BE49-F238E27FC236}">
                  <a16:creationId xmlns:a16="http://schemas.microsoft.com/office/drawing/2014/main" id="{535BF1A1-D555-D86C-8E8D-886C61E8C21B}"/>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5" name="Agrupar 51">
            <a:extLst>
              <a:ext uri="{FF2B5EF4-FFF2-40B4-BE49-F238E27FC236}">
                <a16:creationId xmlns:a16="http://schemas.microsoft.com/office/drawing/2014/main" id="{505E0793-9147-9A14-2C14-381FEEAB1D31}"/>
              </a:ext>
            </a:extLst>
          </p:cNvPr>
          <p:cNvGrpSpPr/>
          <p:nvPr/>
        </p:nvGrpSpPr>
        <p:grpSpPr>
          <a:xfrm rot="10800000">
            <a:off x="2107017" y="3783392"/>
            <a:ext cx="2810101" cy="252000"/>
            <a:chOff x="6098372" y="2214756"/>
            <a:chExt cx="2810101" cy="252000"/>
          </a:xfrm>
          <a:solidFill>
            <a:srgbClr val="80B281"/>
          </a:solidFill>
        </p:grpSpPr>
        <p:cxnSp>
          <p:nvCxnSpPr>
            <p:cNvPr id="26" name="Conector de Seta Reta 52">
              <a:extLst>
                <a:ext uri="{FF2B5EF4-FFF2-40B4-BE49-F238E27FC236}">
                  <a16:creationId xmlns:a16="http://schemas.microsoft.com/office/drawing/2014/main" id="{36807832-D9F3-2CDC-B154-6D6E697C3392}"/>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7" name="Losango 53">
              <a:extLst>
                <a:ext uri="{FF2B5EF4-FFF2-40B4-BE49-F238E27FC236}">
                  <a16:creationId xmlns:a16="http://schemas.microsoft.com/office/drawing/2014/main" id="{8D80E8D4-11E9-6DAE-8080-E03BDE6E934B}"/>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pic>
        <p:nvPicPr>
          <p:cNvPr id="28" name="Picture 27">
            <a:extLst>
              <a:ext uri="{FF2B5EF4-FFF2-40B4-BE49-F238E27FC236}">
                <a16:creationId xmlns:a16="http://schemas.microsoft.com/office/drawing/2014/main" id="{23ABCEF1-BCBD-EB48-A928-3AFA1A0F1867}"/>
              </a:ext>
            </a:extLst>
          </p:cNvPr>
          <p:cNvPicPr>
            <a:picLocks noChangeAspect="1"/>
          </p:cNvPicPr>
          <p:nvPr/>
        </p:nvPicPr>
        <p:blipFill rotWithShape="1">
          <a:blip r:embed="rId2">
            <a:extLst>
              <a:ext uri="{28A0092B-C50C-407E-A947-70E740481C1C}">
                <a14:useLocalDpi xmlns:a14="http://schemas.microsoft.com/office/drawing/2010/main" val="0"/>
              </a:ext>
            </a:extLst>
          </a:blip>
          <a:srcRect l="10011" t="25381" r="35435" b="13771"/>
          <a:stretch>
            <a:fillRect/>
          </a:stretch>
        </p:blipFill>
        <p:spPr>
          <a:xfrm>
            <a:off x="6451240" y="5396"/>
            <a:ext cx="4691990" cy="3849420"/>
          </a:xfrm>
          <a:prstGeom prst="flowChartMerge">
            <a:avLst/>
          </a:prstGeom>
        </p:spPr>
      </p:pic>
      <p:pic>
        <p:nvPicPr>
          <p:cNvPr id="29" name="Picture 28">
            <a:extLst>
              <a:ext uri="{FF2B5EF4-FFF2-40B4-BE49-F238E27FC236}">
                <a16:creationId xmlns:a16="http://schemas.microsoft.com/office/drawing/2014/main" id="{769670A8-3F01-0FE8-ABD2-5EFFE712CCBB}"/>
              </a:ext>
            </a:extLst>
          </p:cNvPr>
          <p:cNvPicPr>
            <a:picLocks noChangeAspect="1"/>
          </p:cNvPicPr>
          <p:nvPr/>
        </p:nvPicPr>
        <p:blipFill rotWithShape="1">
          <a:blip r:embed="rId2">
            <a:extLst>
              <a:ext uri="{28A0092B-C50C-407E-A947-70E740481C1C}">
                <a14:useLocalDpi xmlns:a14="http://schemas.microsoft.com/office/drawing/2010/main" val="0"/>
              </a:ext>
            </a:extLst>
          </a:blip>
          <a:srcRect l="52936" t="21443" r="302" b="2100"/>
          <a:stretch>
            <a:fillRect/>
          </a:stretch>
        </p:blipFill>
        <p:spPr>
          <a:xfrm>
            <a:off x="8312055" y="2581690"/>
            <a:ext cx="3930266" cy="4283997"/>
          </a:xfrm>
          <a:prstGeom prst="triangle">
            <a:avLst/>
          </a:prstGeom>
        </p:spPr>
      </p:pic>
      <p:sp>
        <p:nvSpPr>
          <p:cNvPr id="30" name="Isosceles Triangle 29">
            <a:extLst>
              <a:ext uri="{FF2B5EF4-FFF2-40B4-BE49-F238E27FC236}">
                <a16:creationId xmlns:a16="http://schemas.microsoft.com/office/drawing/2014/main" id="{8BBFBA99-D19C-61E5-D035-5290D354127B}"/>
              </a:ext>
            </a:extLst>
          </p:cNvPr>
          <p:cNvSpPr/>
          <p:nvPr/>
        </p:nvSpPr>
        <p:spPr>
          <a:xfrm>
            <a:off x="8297140" y="2574003"/>
            <a:ext cx="3930266" cy="4283997"/>
          </a:xfrm>
          <a:prstGeom prst="triangl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Flowchart: Merge 30">
            <a:extLst>
              <a:ext uri="{FF2B5EF4-FFF2-40B4-BE49-F238E27FC236}">
                <a16:creationId xmlns:a16="http://schemas.microsoft.com/office/drawing/2014/main" id="{9125C4A8-4709-FA31-381B-4B5E172F8A8C}"/>
              </a:ext>
            </a:extLst>
          </p:cNvPr>
          <p:cNvSpPr/>
          <p:nvPr/>
        </p:nvSpPr>
        <p:spPr>
          <a:xfrm>
            <a:off x="6451240" y="0"/>
            <a:ext cx="4681825" cy="3849420"/>
          </a:xfrm>
          <a:prstGeom prst="flowChartMerg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sp>
        <p:nvSpPr>
          <p:cNvPr id="32" name="Rectangle 31">
            <a:extLst>
              <a:ext uri="{FF2B5EF4-FFF2-40B4-BE49-F238E27FC236}">
                <a16:creationId xmlns:a16="http://schemas.microsoft.com/office/drawing/2014/main" id="{E8B32F0D-988B-C180-0BEC-D28EFAA41681}"/>
              </a:ext>
            </a:extLst>
          </p:cNvPr>
          <p:cNvSpPr/>
          <p:nvPr/>
        </p:nvSpPr>
        <p:spPr>
          <a:xfrm>
            <a:off x="3177302" y="1671066"/>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33" name="Rectangle 32">
            <a:extLst>
              <a:ext uri="{FF2B5EF4-FFF2-40B4-BE49-F238E27FC236}">
                <a16:creationId xmlns:a16="http://schemas.microsoft.com/office/drawing/2014/main" id="{1F16E26D-4791-5D07-3EEE-66C93396B727}"/>
              </a:ext>
            </a:extLst>
          </p:cNvPr>
          <p:cNvSpPr/>
          <p:nvPr/>
        </p:nvSpPr>
        <p:spPr>
          <a:xfrm>
            <a:off x="3167430" y="1671066"/>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34" name="CaixaDeTexto 8">
            <a:extLst>
              <a:ext uri="{FF2B5EF4-FFF2-40B4-BE49-F238E27FC236}">
                <a16:creationId xmlns:a16="http://schemas.microsoft.com/office/drawing/2014/main" id="{BD443081-7C77-AFE8-2925-816E9438254D}"/>
              </a:ext>
            </a:extLst>
          </p:cNvPr>
          <p:cNvSpPr txBox="1"/>
          <p:nvPr/>
        </p:nvSpPr>
        <p:spPr>
          <a:xfrm>
            <a:off x="4896426" y="2044007"/>
            <a:ext cx="2825252" cy="461665"/>
          </a:xfrm>
          <a:prstGeom prst="rect">
            <a:avLst/>
          </a:prstGeom>
          <a:noFill/>
        </p:spPr>
        <p:txBody>
          <a:bodyPr wrap="square" lIns="91440" tIns="45720" rIns="91440" bIns="45720" rtlCol="0" anchor="t">
            <a:spAutoFit/>
          </a:bodyPr>
          <a:lstStyle/>
          <a:p>
            <a:r>
              <a:rPr lang="pt-BR" sz="2400" b="1" i="1">
                <a:solidFill>
                  <a:schemeClr val="bg1"/>
                </a:solidFill>
                <a:latin typeface="Montserrat"/>
                <a:cs typeface="Times New Roman"/>
              </a:rPr>
              <a:t>Pergunta</a:t>
            </a:r>
          </a:p>
        </p:txBody>
      </p:sp>
      <p:sp>
        <p:nvSpPr>
          <p:cNvPr id="35" name="CaixaDeTexto 13">
            <a:extLst>
              <a:ext uri="{FF2B5EF4-FFF2-40B4-BE49-F238E27FC236}">
                <a16:creationId xmlns:a16="http://schemas.microsoft.com/office/drawing/2014/main" id="{4A46FACC-6AFB-73D0-35AD-036B0FEC8480}"/>
              </a:ext>
            </a:extLst>
          </p:cNvPr>
          <p:cNvSpPr txBox="1"/>
          <p:nvPr/>
        </p:nvSpPr>
        <p:spPr>
          <a:xfrm>
            <a:off x="1939578" y="2288343"/>
            <a:ext cx="2811600" cy="246221"/>
          </a:xfrm>
          <a:prstGeom prst="rect">
            <a:avLst/>
          </a:prstGeom>
          <a:noFill/>
        </p:spPr>
        <p:txBody>
          <a:bodyPr wrap="square" lIns="91440" tIns="45720" rIns="91440" bIns="45720" rtlCol="0" anchor="t">
            <a:spAutoFit/>
          </a:bodyPr>
          <a:lstStyle/>
          <a:p>
            <a:r>
              <a:rPr lang="en-US" sz="1000" err="1">
                <a:solidFill>
                  <a:schemeClr val="bg1"/>
                </a:solidFill>
                <a:latin typeface="Montserrat"/>
                <a:cs typeface="Times New Roman"/>
              </a:rPr>
              <a:t>Pergunta</a:t>
            </a:r>
            <a:r>
              <a:rPr lang="en-US" sz="1000">
                <a:solidFill>
                  <a:schemeClr val="bg1"/>
                </a:solidFill>
                <a:latin typeface="Montserrat"/>
                <a:cs typeface="Times New Roman"/>
              </a:rPr>
              <a:t> </a:t>
            </a:r>
            <a:r>
              <a:rPr lang="en-US" sz="1000" err="1">
                <a:solidFill>
                  <a:schemeClr val="bg1"/>
                </a:solidFill>
                <a:latin typeface="Montserrat"/>
                <a:cs typeface="Times New Roman"/>
              </a:rPr>
              <a:t>proposta</a:t>
            </a:r>
            <a:endParaRPr lang="pt-BR" sz="1000">
              <a:solidFill>
                <a:schemeClr val="bg1"/>
              </a:solidFill>
              <a:latin typeface="Montserrat"/>
              <a:cs typeface="Times New Roman"/>
            </a:endParaRPr>
          </a:p>
        </p:txBody>
      </p:sp>
      <p:grpSp>
        <p:nvGrpSpPr>
          <p:cNvPr id="36" name="Agrupar 38">
            <a:extLst>
              <a:ext uri="{FF2B5EF4-FFF2-40B4-BE49-F238E27FC236}">
                <a16:creationId xmlns:a16="http://schemas.microsoft.com/office/drawing/2014/main" id="{FD16A98E-1B80-1106-A92D-C16756DA634F}"/>
              </a:ext>
            </a:extLst>
          </p:cNvPr>
          <p:cNvGrpSpPr/>
          <p:nvPr/>
        </p:nvGrpSpPr>
        <p:grpSpPr>
          <a:xfrm rot="10800000">
            <a:off x="1939578" y="2141394"/>
            <a:ext cx="2811600" cy="252000"/>
            <a:chOff x="6022821" y="2646629"/>
            <a:chExt cx="2737179" cy="252000"/>
          </a:xfrm>
          <a:solidFill>
            <a:srgbClr val="80B281"/>
          </a:solidFill>
        </p:grpSpPr>
        <p:cxnSp>
          <p:nvCxnSpPr>
            <p:cNvPr id="37" name="Conector de Seta Reta 39">
              <a:extLst>
                <a:ext uri="{FF2B5EF4-FFF2-40B4-BE49-F238E27FC236}">
                  <a16:creationId xmlns:a16="http://schemas.microsoft.com/office/drawing/2014/main" id="{890999DF-D41E-C9C8-2ECD-E5D9F7A22EED}"/>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38" name="Losango 43">
              <a:extLst>
                <a:ext uri="{FF2B5EF4-FFF2-40B4-BE49-F238E27FC236}">
                  <a16:creationId xmlns:a16="http://schemas.microsoft.com/office/drawing/2014/main" id="{BA27EC7E-1ABB-FF15-738A-1440B7CF0ED7}"/>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
        <p:nvSpPr>
          <p:cNvPr id="39" name="Rectangle 38">
            <a:extLst>
              <a:ext uri="{FF2B5EF4-FFF2-40B4-BE49-F238E27FC236}">
                <a16:creationId xmlns:a16="http://schemas.microsoft.com/office/drawing/2014/main" id="{AA7B6032-3FC2-4E03-DF48-4FB97FE64F3A}"/>
              </a:ext>
            </a:extLst>
          </p:cNvPr>
          <p:cNvSpPr/>
          <p:nvPr/>
        </p:nvSpPr>
        <p:spPr>
          <a:xfrm>
            <a:off x="3328855" y="2827588"/>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40" name="Rectangle 39">
            <a:extLst>
              <a:ext uri="{FF2B5EF4-FFF2-40B4-BE49-F238E27FC236}">
                <a16:creationId xmlns:a16="http://schemas.microsoft.com/office/drawing/2014/main" id="{23C7E49B-79C1-A484-7F62-AB509A2DC892}"/>
              </a:ext>
            </a:extLst>
          </p:cNvPr>
          <p:cNvSpPr/>
          <p:nvPr/>
        </p:nvSpPr>
        <p:spPr>
          <a:xfrm>
            <a:off x="3153778" y="2421054"/>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rgbClr val="7F7F7F"/>
              </a:solidFill>
            </a:endParaRPr>
          </a:p>
        </p:txBody>
      </p:sp>
      <p:sp>
        <p:nvSpPr>
          <p:cNvPr id="41" name="CaixaDeTexto 8">
            <a:extLst>
              <a:ext uri="{FF2B5EF4-FFF2-40B4-BE49-F238E27FC236}">
                <a16:creationId xmlns:a16="http://schemas.microsoft.com/office/drawing/2014/main" id="{0E77DD7A-A9EE-301B-DD67-DBC938872EFA}"/>
              </a:ext>
            </a:extLst>
          </p:cNvPr>
          <p:cNvSpPr txBox="1"/>
          <p:nvPr/>
        </p:nvSpPr>
        <p:spPr>
          <a:xfrm>
            <a:off x="5054805" y="2861891"/>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Literatura</a:t>
            </a:r>
          </a:p>
        </p:txBody>
      </p:sp>
      <p:sp>
        <p:nvSpPr>
          <p:cNvPr id="42" name="CaixaDeTexto 13">
            <a:extLst>
              <a:ext uri="{FF2B5EF4-FFF2-40B4-BE49-F238E27FC236}">
                <a16:creationId xmlns:a16="http://schemas.microsoft.com/office/drawing/2014/main" id="{AA9A69D6-6053-3A5C-8E43-936E3C1F18FF}"/>
              </a:ext>
            </a:extLst>
          </p:cNvPr>
          <p:cNvSpPr txBox="1"/>
          <p:nvPr/>
        </p:nvSpPr>
        <p:spPr>
          <a:xfrm>
            <a:off x="2002260" y="3106227"/>
            <a:ext cx="2811600" cy="246221"/>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Literatura</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Teórica</a:t>
            </a:r>
            <a:r>
              <a:rPr lang="en-US" sz="1000">
                <a:solidFill>
                  <a:srgbClr val="7F7F7F"/>
                </a:solidFill>
                <a:latin typeface="Montserrat" panose="00000500000000000000" pitchFamily="2" charset="0"/>
                <a:cs typeface="Times New Roman" panose="02020603050405020304" pitchFamily="18" charset="0"/>
              </a:rPr>
              <a:t> para a </a:t>
            </a:r>
            <a:r>
              <a:rPr lang="en-US" sz="1000" err="1">
                <a:solidFill>
                  <a:srgbClr val="7F7F7F"/>
                </a:solidFill>
                <a:latin typeface="Montserrat" panose="00000500000000000000" pitchFamily="2" charset="0"/>
                <a:cs typeface="Times New Roman" panose="02020603050405020304" pitchFamily="18" charset="0"/>
              </a:rPr>
              <a:t>fundamentação</a:t>
            </a:r>
            <a:endParaRPr lang="en-US" sz="1000">
              <a:solidFill>
                <a:srgbClr val="7F7F7F"/>
              </a:solidFill>
              <a:latin typeface="Montserrat" panose="00000500000000000000" pitchFamily="2" charset="0"/>
              <a:cs typeface="Times New Roman" panose="02020603050405020304" pitchFamily="18" charset="0"/>
            </a:endParaRPr>
          </a:p>
        </p:txBody>
      </p:sp>
      <p:grpSp>
        <p:nvGrpSpPr>
          <p:cNvPr id="43" name="Agrupar 38">
            <a:extLst>
              <a:ext uri="{FF2B5EF4-FFF2-40B4-BE49-F238E27FC236}">
                <a16:creationId xmlns:a16="http://schemas.microsoft.com/office/drawing/2014/main" id="{E1D63BD0-FA1E-3749-C1A0-09F3108C6484}"/>
              </a:ext>
            </a:extLst>
          </p:cNvPr>
          <p:cNvGrpSpPr/>
          <p:nvPr/>
        </p:nvGrpSpPr>
        <p:grpSpPr>
          <a:xfrm rot="10800000">
            <a:off x="2097957" y="2959278"/>
            <a:ext cx="2811600" cy="252000"/>
            <a:chOff x="6022821" y="2646629"/>
            <a:chExt cx="2737179" cy="252000"/>
          </a:xfrm>
          <a:solidFill>
            <a:srgbClr val="80B281"/>
          </a:solidFill>
        </p:grpSpPr>
        <p:cxnSp>
          <p:nvCxnSpPr>
            <p:cNvPr id="44" name="Conector de Seta Reta 39">
              <a:extLst>
                <a:ext uri="{FF2B5EF4-FFF2-40B4-BE49-F238E27FC236}">
                  <a16:creationId xmlns:a16="http://schemas.microsoft.com/office/drawing/2014/main" id="{6FB5C1AE-1A4F-D465-BB76-9A7166FC31D1}"/>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45" name="Losango 43">
              <a:extLst>
                <a:ext uri="{FF2B5EF4-FFF2-40B4-BE49-F238E27FC236}">
                  <a16:creationId xmlns:a16="http://schemas.microsoft.com/office/drawing/2014/main" id="{968A78CD-6B31-9188-1C95-D8B44EA54D36}"/>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7" name="CaixaDeTexto 12">
            <a:extLst>
              <a:ext uri="{FF2B5EF4-FFF2-40B4-BE49-F238E27FC236}">
                <a16:creationId xmlns:a16="http://schemas.microsoft.com/office/drawing/2014/main" id="{C96C0BB4-6A4B-CFD9-700B-31A6A6AF0335}"/>
              </a:ext>
            </a:extLst>
          </p:cNvPr>
          <p:cNvSpPr txBox="1"/>
          <p:nvPr/>
        </p:nvSpPr>
        <p:spPr>
          <a:xfrm>
            <a:off x="4108439" y="5355391"/>
            <a:ext cx="4286931"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Viabilidade Empírica</a:t>
            </a:r>
          </a:p>
        </p:txBody>
      </p:sp>
      <p:sp>
        <p:nvSpPr>
          <p:cNvPr id="48" name="CaixaDeTexto 14">
            <a:extLst>
              <a:ext uri="{FF2B5EF4-FFF2-40B4-BE49-F238E27FC236}">
                <a16:creationId xmlns:a16="http://schemas.microsoft.com/office/drawing/2014/main" id="{8CCC8438-F228-074B-E0AB-D055B327E4AF}"/>
              </a:ext>
            </a:extLst>
          </p:cNvPr>
          <p:cNvSpPr txBox="1"/>
          <p:nvPr/>
        </p:nvSpPr>
        <p:spPr>
          <a:xfrm>
            <a:off x="1177838" y="5613639"/>
            <a:ext cx="2736922" cy="400110"/>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Viabilidade</a:t>
            </a:r>
            <a:r>
              <a:rPr lang="en-US" sz="1000">
                <a:solidFill>
                  <a:srgbClr val="7F7F7F"/>
                </a:solidFill>
                <a:latin typeface="Montserrat" panose="00000500000000000000" pitchFamily="2" charset="0"/>
                <a:cs typeface="Times New Roman" panose="02020603050405020304" pitchFamily="18" charset="0"/>
              </a:rPr>
              <a:t> dos dados para a </a:t>
            </a:r>
            <a:r>
              <a:rPr lang="en-US" sz="1000" err="1">
                <a:solidFill>
                  <a:srgbClr val="7F7F7F"/>
                </a:solidFill>
                <a:latin typeface="Montserrat" panose="00000500000000000000" pitchFamily="2" charset="0"/>
                <a:cs typeface="Times New Roman" panose="02020603050405020304" pitchFamily="18" charset="0"/>
              </a:rPr>
              <a:t>realização</a:t>
            </a:r>
            <a:r>
              <a:rPr lang="en-US" sz="1000">
                <a:solidFill>
                  <a:srgbClr val="7F7F7F"/>
                </a:solidFill>
                <a:latin typeface="Montserrat" panose="00000500000000000000" pitchFamily="2" charset="0"/>
                <a:cs typeface="Times New Roman" panose="02020603050405020304" pitchFamily="18" charset="0"/>
              </a:rPr>
              <a:t> do teste empírico</a:t>
            </a:r>
            <a:endParaRPr lang="pt-BR" sz="1000">
              <a:solidFill>
                <a:srgbClr val="7F7F7F"/>
              </a:solidFill>
              <a:latin typeface="Montserrat" panose="00000500000000000000" pitchFamily="2" charset="0"/>
              <a:cs typeface="Times New Roman" panose="02020603050405020304" pitchFamily="18" charset="0"/>
            </a:endParaRPr>
          </a:p>
        </p:txBody>
      </p:sp>
      <p:grpSp>
        <p:nvGrpSpPr>
          <p:cNvPr id="49" name="Agrupar 47">
            <a:extLst>
              <a:ext uri="{FF2B5EF4-FFF2-40B4-BE49-F238E27FC236}">
                <a16:creationId xmlns:a16="http://schemas.microsoft.com/office/drawing/2014/main" id="{1CA3DE71-A296-72EC-9134-FD28547AC005}"/>
              </a:ext>
            </a:extLst>
          </p:cNvPr>
          <p:cNvGrpSpPr/>
          <p:nvPr/>
        </p:nvGrpSpPr>
        <p:grpSpPr>
          <a:xfrm rot="10800000">
            <a:off x="1202890" y="5474432"/>
            <a:ext cx="2810101" cy="252000"/>
            <a:chOff x="6098372" y="2214756"/>
            <a:chExt cx="2810101" cy="252000"/>
          </a:xfrm>
          <a:solidFill>
            <a:srgbClr val="80B281"/>
          </a:solidFill>
        </p:grpSpPr>
        <p:cxnSp>
          <p:nvCxnSpPr>
            <p:cNvPr id="50" name="Conector de Seta Reta 48">
              <a:extLst>
                <a:ext uri="{FF2B5EF4-FFF2-40B4-BE49-F238E27FC236}">
                  <a16:creationId xmlns:a16="http://schemas.microsoft.com/office/drawing/2014/main" id="{844F4944-D54B-0054-B8B5-A392D7552018}"/>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51" name="Losango 49">
              <a:extLst>
                <a:ext uri="{FF2B5EF4-FFF2-40B4-BE49-F238E27FC236}">
                  <a16:creationId xmlns:a16="http://schemas.microsoft.com/office/drawing/2014/main" id="{01112019-100A-1A49-2BCE-572E0227B96D}"/>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Tree>
    <p:extLst>
      <p:ext uri="{BB962C8B-B14F-4D97-AF65-F5344CB8AC3E}">
        <p14:creationId xmlns:p14="http://schemas.microsoft.com/office/powerpoint/2010/main" val="1406780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37D92-50FF-D308-0466-0C2574CAFFBC}"/>
            </a:ext>
          </a:extLst>
        </p:cNvPr>
        <p:cNvGrpSpPr/>
        <p:nvPr/>
      </p:nvGrpSpPr>
      <p:grpSpPr>
        <a:xfrm>
          <a:off x="0" y="0"/>
          <a:ext cx="0" cy="0"/>
          <a:chOff x="0" y="0"/>
          <a:chExt cx="0" cy="0"/>
        </a:xfrm>
      </p:grpSpPr>
      <p:pic>
        <p:nvPicPr>
          <p:cNvPr id="14" name="Imagem 13">
            <a:extLst>
              <a:ext uri="{FF2B5EF4-FFF2-40B4-BE49-F238E27FC236}">
                <a16:creationId xmlns:a16="http://schemas.microsoft.com/office/drawing/2014/main" id="{F250EB01-DE85-1B18-B1B4-7134A04EEDE3}"/>
              </a:ext>
            </a:extLst>
          </p:cNvPr>
          <p:cNvPicPr>
            <a:picLocks noChangeAspect="1"/>
          </p:cNvPicPr>
          <p:nvPr/>
        </p:nvPicPr>
        <p:blipFill>
          <a:blip r:embed="rId2"/>
          <a:stretch>
            <a:fillRect/>
          </a:stretch>
        </p:blipFill>
        <p:spPr>
          <a:xfrm>
            <a:off x="0" y="1319483"/>
            <a:ext cx="5514690" cy="2268331"/>
          </a:xfrm>
          <a:prstGeom prst="rect">
            <a:avLst/>
          </a:prstGeom>
        </p:spPr>
      </p:pic>
      <p:sp>
        <p:nvSpPr>
          <p:cNvPr id="2" name="Text Placeholder 1">
            <a:extLst>
              <a:ext uri="{FF2B5EF4-FFF2-40B4-BE49-F238E27FC236}">
                <a16:creationId xmlns:a16="http://schemas.microsoft.com/office/drawing/2014/main" id="{DA0B0350-FDA9-5869-646B-2536EA60B879}"/>
              </a:ext>
            </a:extLst>
          </p:cNvPr>
          <p:cNvSpPr>
            <a:spLocks noGrp="1"/>
          </p:cNvSpPr>
          <p:nvPr>
            <p:ph type="body" sz="quarter" idx="18"/>
          </p:nvPr>
        </p:nvSpPr>
        <p:spPr>
          <a:xfrm>
            <a:off x="-50469" y="6660392"/>
            <a:ext cx="12119980" cy="197608"/>
          </a:xfrm>
        </p:spPr>
        <p:txBody>
          <a:bodyPr>
            <a:normAutofit lnSpcReduction="10000"/>
          </a:bodyPr>
          <a:lstStyle/>
          <a:p>
            <a:r>
              <a:rPr lang="pt-BR" b="1"/>
              <a:t>Fontes:</a:t>
            </a:r>
            <a:r>
              <a:rPr lang="pt-BR"/>
              <a:t> Scheffer, M. (coord.). </a:t>
            </a:r>
            <a:r>
              <a:rPr lang="pt-BR" i="1"/>
              <a:t>Demografia Médica no Brasil 2025</a:t>
            </a:r>
            <a:r>
              <a:rPr lang="pt-BR"/>
              <a:t>; IBGE. </a:t>
            </a:r>
            <a:r>
              <a:rPr lang="pt-BR" i="1"/>
              <a:t>Regiões de Influência das Cidades — REGIC 2018</a:t>
            </a:r>
            <a:r>
              <a:rPr lang="pt-BR"/>
              <a:t> ; Ministério da Saúde, </a:t>
            </a:r>
            <a:r>
              <a:rPr lang="pt-BR" i="1"/>
              <a:t>PMM-E</a:t>
            </a:r>
            <a:r>
              <a:rPr lang="pt-BR"/>
              <a:t>, Edital e painéis/resultados administrativos do programa.</a:t>
            </a:r>
          </a:p>
          <a:p>
            <a:endParaRPr lang="pt-BR"/>
          </a:p>
        </p:txBody>
      </p:sp>
      <p:sp>
        <p:nvSpPr>
          <p:cNvPr id="13" name="Título 12">
            <a:extLst>
              <a:ext uri="{FF2B5EF4-FFF2-40B4-BE49-F238E27FC236}">
                <a16:creationId xmlns:a16="http://schemas.microsoft.com/office/drawing/2014/main" id="{C2AF3A45-89C0-9DC1-D7A3-2AC541F43410}"/>
              </a:ext>
            </a:extLst>
          </p:cNvPr>
          <p:cNvSpPr>
            <a:spLocks noGrp="1"/>
          </p:cNvSpPr>
          <p:nvPr>
            <p:ph type="title"/>
          </p:nvPr>
        </p:nvSpPr>
        <p:spPr>
          <a:ln>
            <a:noFill/>
          </a:ln>
        </p:spPr>
        <p:txBody>
          <a:bodyPr>
            <a:normAutofit/>
          </a:bodyPr>
          <a:lstStyle/>
          <a:p>
            <a:r>
              <a:rPr lang="pt-BR"/>
              <a:t>II. Pergunta</a:t>
            </a:r>
          </a:p>
        </p:txBody>
      </p:sp>
      <p:sp>
        <p:nvSpPr>
          <p:cNvPr id="4" name="Text Placeholder 3">
            <a:extLst>
              <a:ext uri="{FF2B5EF4-FFF2-40B4-BE49-F238E27FC236}">
                <a16:creationId xmlns:a16="http://schemas.microsoft.com/office/drawing/2014/main" id="{01D493B8-7FAB-3C7E-259E-40C059B9C733}"/>
              </a:ext>
            </a:extLst>
          </p:cNvPr>
          <p:cNvSpPr>
            <a:spLocks noGrp="1"/>
          </p:cNvSpPr>
          <p:nvPr>
            <p:ph type="body" sz="quarter" idx="19"/>
          </p:nvPr>
        </p:nvSpPr>
        <p:spPr>
          <a:xfrm>
            <a:off x="96400" y="820408"/>
            <a:ext cx="5736363" cy="301466"/>
          </a:xfrm>
        </p:spPr>
        <p:txBody>
          <a:bodyPr/>
          <a:lstStyle/>
          <a:p>
            <a:r>
              <a:rPr lang="pt-BR"/>
              <a:t>Escassez de especialistas é concentrada territorialmente</a:t>
            </a:r>
          </a:p>
          <a:p>
            <a:endParaRPr lang="pt-BR"/>
          </a:p>
        </p:txBody>
      </p:sp>
      <p:sp>
        <p:nvSpPr>
          <p:cNvPr id="5" name="Text Placeholder 4">
            <a:extLst>
              <a:ext uri="{FF2B5EF4-FFF2-40B4-BE49-F238E27FC236}">
                <a16:creationId xmlns:a16="http://schemas.microsoft.com/office/drawing/2014/main" id="{7C02F913-882A-F780-96D8-636D6D37C0C8}"/>
              </a:ext>
            </a:extLst>
          </p:cNvPr>
          <p:cNvSpPr>
            <a:spLocks noGrp="1"/>
          </p:cNvSpPr>
          <p:nvPr>
            <p:ph type="body" sz="quarter" idx="20"/>
          </p:nvPr>
        </p:nvSpPr>
        <p:spPr/>
        <p:txBody>
          <a:bodyPr>
            <a:normAutofit fontScale="77500" lnSpcReduction="20000"/>
          </a:bodyPr>
          <a:lstStyle/>
          <a:p>
            <a:r>
              <a:rPr lang="pt-BR"/>
              <a:t>Médicos especialistas por 100 mil habitantes, por UF — 2024</a:t>
            </a:r>
          </a:p>
        </p:txBody>
      </p:sp>
      <p:sp>
        <p:nvSpPr>
          <p:cNvPr id="6" name="Text Placeholder 5">
            <a:extLst>
              <a:ext uri="{FF2B5EF4-FFF2-40B4-BE49-F238E27FC236}">
                <a16:creationId xmlns:a16="http://schemas.microsoft.com/office/drawing/2014/main" id="{00984A8C-5AB1-5FD9-D769-FE9DABDE369B}"/>
              </a:ext>
            </a:extLst>
          </p:cNvPr>
          <p:cNvSpPr>
            <a:spLocks noGrp="1"/>
          </p:cNvSpPr>
          <p:nvPr>
            <p:ph type="body" sz="quarter" idx="23"/>
          </p:nvPr>
        </p:nvSpPr>
        <p:spPr>
          <a:xfrm>
            <a:off x="96400" y="3711368"/>
            <a:ext cx="6405635" cy="285294"/>
          </a:xfrm>
        </p:spPr>
        <p:txBody>
          <a:bodyPr/>
          <a:lstStyle/>
          <a:p>
            <a:r>
              <a:rPr lang="pt-BR"/>
              <a:t>Há bolsas maiores para municípios mais vulneráveis</a:t>
            </a:r>
          </a:p>
          <a:p>
            <a:endParaRPr lang="pt-BR"/>
          </a:p>
        </p:txBody>
      </p:sp>
      <p:sp>
        <p:nvSpPr>
          <p:cNvPr id="7" name="Text Placeholder 6">
            <a:extLst>
              <a:ext uri="{FF2B5EF4-FFF2-40B4-BE49-F238E27FC236}">
                <a16:creationId xmlns:a16="http://schemas.microsoft.com/office/drawing/2014/main" id="{70F7C3A1-82C0-CE19-2577-AFF07EB2DCAB}"/>
              </a:ext>
            </a:extLst>
          </p:cNvPr>
          <p:cNvSpPr>
            <a:spLocks noGrp="1"/>
          </p:cNvSpPr>
          <p:nvPr>
            <p:ph type="body" sz="quarter" idx="24"/>
          </p:nvPr>
        </p:nvSpPr>
        <p:spPr/>
        <p:txBody>
          <a:bodyPr>
            <a:normAutofit fontScale="77500" lnSpcReduction="20000"/>
          </a:bodyPr>
          <a:lstStyle/>
          <a:p>
            <a:r>
              <a:rPr lang="pt-BR"/>
              <a:t>Valor mensal da bolsa-formação por faixa de atração/vulnerabilidade</a:t>
            </a:r>
          </a:p>
        </p:txBody>
      </p:sp>
      <p:sp>
        <p:nvSpPr>
          <p:cNvPr id="8" name="Text Placeholder 7">
            <a:extLst>
              <a:ext uri="{FF2B5EF4-FFF2-40B4-BE49-F238E27FC236}">
                <a16:creationId xmlns:a16="http://schemas.microsoft.com/office/drawing/2014/main" id="{1580867B-BD64-09F6-346F-E1D43FEA6FF6}"/>
              </a:ext>
            </a:extLst>
          </p:cNvPr>
          <p:cNvSpPr>
            <a:spLocks noGrp="1"/>
          </p:cNvSpPr>
          <p:nvPr>
            <p:ph type="body" sz="quarter" idx="25"/>
          </p:nvPr>
        </p:nvSpPr>
        <p:spPr>
          <a:xfrm>
            <a:off x="6009521" y="3711368"/>
            <a:ext cx="5848182" cy="285294"/>
          </a:xfrm>
        </p:spPr>
        <p:txBody>
          <a:bodyPr/>
          <a:lstStyle/>
          <a:p>
            <a:r>
              <a:rPr lang="pt-BR"/>
              <a:t>O PMM-E foi direcionado aos territórios menos assistidos</a:t>
            </a:r>
          </a:p>
        </p:txBody>
      </p:sp>
      <p:sp>
        <p:nvSpPr>
          <p:cNvPr id="9" name="Text Placeholder 8">
            <a:extLst>
              <a:ext uri="{FF2B5EF4-FFF2-40B4-BE49-F238E27FC236}">
                <a16:creationId xmlns:a16="http://schemas.microsoft.com/office/drawing/2014/main" id="{8D2394EC-B4B9-F3AF-4030-A12B4B6417F2}"/>
              </a:ext>
            </a:extLst>
          </p:cNvPr>
          <p:cNvSpPr>
            <a:spLocks noGrp="1"/>
          </p:cNvSpPr>
          <p:nvPr>
            <p:ph type="body" sz="quarter" idx="26"/>
          </p:nvPr>
        </p:nvSpPr>
        <p:spPr>
          <a:xfrm>
            <a:off x="6009521" y="3996662"/>
            <a:ext cx="6305382" cy="212272"/>
          </a:xfrm>
        </p:spPr>
        <p:txBody>
          <a:bodyPr>
            <a:normAutofit fontScale="92500" lnSpcReduction="20000"/>
          </a:bodyPr>
          <a:lstStyle/>
          <a:p>
            <a:r>
              <a:rPr lang="pt-BR"/>
              <a:t>Distribuição dos especialistas existentes (2024) ativos no PMM-E (2025)</a:t>
            </a:r>
          </a:p>
          <a:p>
            <a:endParaRPr lang="pt-BR"/>
          </a:p>
        </p:txBody>
      </p:sp>
      <p:sp>
        <p:nvSpPr>
          <p:cNvPr id="10" name="Text Placeholder 9">
            <a:extLst>
              <a:ext uri="{FF2B5EF4-FFF2-40B4-BE49-F238E27FC236}">
                <a16:creationId xmlns:a16="http://schemas.microsoft.com/office/drawing/2014/main" id="{26866680-110B-EEA6-4BB0-70745E38DA7B}"/>
              </a:ext>
            </a:extLst>
          </p:cNvPr>
          <p:cNvSpPr>
            <a:spLocks noGrp="1"/>
          </p:cNvSpPr>
          <p:nvPr>
            <p:ph type="body" sz="quarter" idx="27"/>
          </p:nvPr>
        </p:nvSpPr>
        <p:spPr>
          <a:xfrm>
            <a:off x="5975147" y="820408"/>
            <a:ext cx="6094363" cy="303226"/>
          </a:xfrm>
        </p:spPr>
        <p:txBody>
          <a:bodyPr/>
          <a:lstStyle/>
          <a:p>
            <a:r>
              <a:rPr lang="pt-BR"/>
              <a:t>O acesso a serviços especializados exige longas distâncias</a:t>
            </a:r>
          </a:p>
          <a:p>
            <a:endParaRPr lang="pt-BR"/>
          </a:p>
        </p:txBody>
      </p:sp>
      <p:sp>
        <p:nvSpPr>
          <p:cNvPr id="11" name="Text Placeholder 10">
            <a:extLst>
              <a:ext uri="{FF2B5EF4-FFF2-40B4-BE49-F238E27FC236}">
                <a16:creationId xmlns:a16="http://schemas.microsoft.com/office/drawing/2014/main" id="{27E7E62C-0554-B3CE-DB33-8E0CCE9D30B1}"/>
              </a:ext>
            </a:extLst>
          </p:cNvPr>
          <p:cNvSpPr>
            <a:spLocks noGrp="1"/>
          </p:cNvSpPr>
          <p:nvPr>
            <p:ph type="body" sz="quarter" idx="28"/>
          </p:nvPr>
        </p:nvSpPr>
        <p:spPr>
          <a:xfrm>
            <a:off x="5975148" y="1105702"/>
            <a:ext cx="6120451" cy="139545"/>
          </a:xfrm>
        </p:spPr>
        <p:txBody>
          <a:bodyPr>
            <a:normAutofit fontScale="32500" lnSpcReduction="20000"/>
          </a:bodyPr>
          <a:lstStyle/>
          <a:p>
            <a:r>
              <a:rPr lang="pt-BR"/>
              <a:t>Deslocamento médio da população para serviços de alta complexidade (km)</a:t>
            </a:r>
          </a:p>
          <a:p>
            <a:endParaRPr lang="pt-BR"/>
          </a:p>
        </p:txBody>
      </p:sp>
      <p:pic>
        <p:nvPicPr>
          <p:cNvPr id="20" name="Imagem 19">
            <a:extLst>
              <a:ext uri="{FF2B5EF4-FFF2-40B4-BE49-F238E27FC236}">
                <a16:creationId xmlns:a16="http://schemas.microsoft.com/office/drawing/2014/main" id="{E21D74DC-65D5-B45B-FE0B-63893A42827E}"/>
              </a:ext>
            </a:extLst>
          </p:cNvPr>
          <p:cNvPicPr>
            <a:picLocks noChangeAspect="1"/>
          </p:cNvPicPr>
          <p:nvPr/>
        </p:nvPicPr>
        <p:blipFill>
          <a:blip r:embed="rId3"/>
          <a:stretch>
            <a:fillRect/>
          </a:stretch>
        </p:blipFill>
        <p:spPr>
          <a:xfrm>
            <a:off x="6214110" y="1405864"/>
            <a:ext cx="5115639" cy="2202950"/>
          </a:xfrm>
          <a:prstGeom prst="rect">
            <a:avLst/>
          </a:prstGeom>
        </p:spPr>
      </p:pic>
      <p:pic>
        <p:nvPicPr>
          <p:cNvPr id="21" name="Imagem 20">
            <a:extLst>
              <a:ext uri="{FF2B5EF4-FFF2-40B4-BE49-F238E27FC236}">
                <a16:creationId xmlns:a16="http://schemas.microsoft.com/office/drawing/2014/main" id="{0110F3EE-04E1-EB69-EF13-46E35389983B}"/>
              </a:ext>
            </a:extLst>
          </p:cNvPr>
          <p:cNvPicPr>
            <a:picLocks noChangeAspect="1"/>
          </p:cNvPicPr>
          <p:nvPr/>
        </p:nvPicPr>
        <p:blipFill>
          <a:blip r:embed="rId4"/>
          <a:stretch>
            <a:fillRect/>
          </a:stretch>
        </p:blipFill>
        <p:spPr>
          <a:xfrm>
            <a:off x="125896" y="4387965"/>
            <a:ext cx="5467820" cy="2078732"/>
          </a:xfrm>
          <a:prstGeom prst="rect">
            <a:avLst/>
          </a:prstGeom>
        </p:spPr>
      </p:pic>
      <p:pic>
        <p:nvPicPr>
          <p:cNvPr id="23" name="Imagem 22">
            <a:extLst>
              <a:ext uri="{FF2B5EF4-FFF2-40B4-BE49-F238E27FC236}">
                <a16:creationId xmlns:a16="http://schemas.microsoft.com/office/drawing/2014/main" id="{FC323189-1997-DF3E-9A6E-45E3ED2DBE47}"/>
              </a:ext>
            </a:extLst>
          </p:cNvPr>
          <p:cNvPicPr>
            <a:picLocks noChangeAspect="1"/>
          </p:cNvPicPr>
          <p:nvPr/>
        </p:nvPicPr>
        <p:blipFill>
          <a:blip r:embed="rId5"/>
          <a:stretch>
            <a:fillRect/>
          </a:stretch>
        </p:blipFill>
        <p:spPr>
          <a:xfrm>
            <a:off x="6148462" y="4334877"/>
            <a:ext cx="5648897" cy="2288060"/>
          </a:xfrm>
          <a:prstGeom prst="rect">
            <a:avLst/>
          </a:prstGeom>
        </p:spPr>
      </p:pic>
      <p:sp>
        <p:nvSpPr>
          <p:cNvPr id="15" name="Title 2">
            <a:extLst>
              <a:ext uri="{FF2B5EF4-FFF2-40B4-BE49-F238E27FC236}">
                <a16:creationId xmlns:a16="http://schemas.microsoft.com/office/drawing/2014/main" id="{A4AED3FD-28F9-199E-2779-656A0B0BF4D8}"/>
              </a:ext>
            </a:extLst>
          </p:cNvPr>
          <p:cNvSpPr txBox="1">
            <a:spLocks/>
          </p:cNvSpPr>
          <p:nvPr/>
        </p:nvSpPr>
        <p:spPr>
          <a:xfrm>
            <a:off x="248801" y="190651"/>
            <a:ext cx="11527643" cy="5551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bg1"/>
                </a:solidFill>
                <a:latin typeface="Montserrat" panose="00000500000000000000" pitchFamily="2" charset="0"/>
                <a:ea typeface="+mj-ea"/>
                <a:cs typeface="+mj-cs"/>
              </a:defRPr>
            </a:lvl1pPr>
          </a:lstStyle>
          <a:p>
            <a:endParaRPr lang="pt-BR"/>
          </a:p>
        </p:txBody>
      </p:sp>
      <p:sp>
        <p:nvSpPr>
          <p:cNvPr id="18" name="Retângulo 17">
            <a:extLst>
              <a:ext uri="{FF2B5EF4-FFF2-40B4-BE49-F238E27FC236}">
                <a16:creationId xmlns:a16="http://schemas.microsoft.com/office/drawing/2014/main" id="{3E779F17-3D33-0858-8B29-D11399915AF9}"/>
              </a:ext>
            </a:extLst>
          </p:cNvPr>
          <p:cNvSpPr/>
          <p:nvPr/>
        </p:nvSpPr>
        <p:spPr>
          <a:xfrm>
            <a:off x="-642198" y="643683"/>
            <a:ext cx="13303437" cy="6241379"/>
          </a:xfrm>
          <a:prstGeom prst="rect">
            <a:avLst/>
          </a:prstGeom>
          <a:solidFill>
            <a:srgbClr val="BFBFBF">
              <a:alpha val="7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ctangle 27">
            <a:extLst>
              <a:ext uri="{FF2B5EF4-FFF2-40B4-BE49-F238E27FC236}">
                <a16:creationId xmlns:a16="http://schemas.microsoft.com/office/drawing/2014/main" id="{E37E030D-F236-8CA1-A671-64E5AF3D9CED}"/>
              </a:ext>
            </a:extLst>
          </p:cNvPr>
          <p:cNvSpPr/>
          <p:nvPr/>
        </p:nvSpPr>
        <p:spPr>
          <a:xfrm rot="16200000">
            <a:off x="5101443" y="-2838750"/>
            <a:ext cx="1884192" cy="12997682"/>
          </a:xfrm>
          <a:prstGeom prst="rect">
            <a:avLst/>
          </a:prstGeom>
          <a:gradFill>
            <a:gsLst>
              <a:gs pos="100000">
                <a:srgbClr val="8AD594"/>
              </a:gs>
              <a:gs pos="70000">
                <a:srgbClr val="1D4D24"/>
              </a:gs>
              <a:gs pos="39000">
                <a:srgbClr val="133418"/>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aixaDeTexto 3">
            <a:extLst>
              <a:ext uri="{FF2B5EF4-FFF2-40B4-BE49-F238E27FC236}">
                <a16:creationId xmlns:a16="http://schemas.microsoft.com/office/drawing/2014/main" id="{18F44A67-F10E-188D-1D94-E26C0828BF50}"/>
              </a:ext>
            </a:extLst>
          </p:cNvPr>
          <p:cNvSpPr txBox="1"/>
          <p:nvPr/>
        </p:nvSpPr>
        <p:spPr>
          <a:xfrm>
            <a:off x="235112" y="2827503"/>
            <a:ext cx="11830965" cy="1569660"/>
          </a:xfrm>
          <a:prstGeom prst="rect">
            <a:avLst/>
          </a:prstGeom>
          <a:noFill/>
        </p:spPr>
        <p:txBody>
          <a:bodyPr wrap="square" lIns="91440" tIns="45720" rIns="91440" bIns="45720" rtlCol="0" anchor="ctr">
            <a:spAutoFit/>
          </a:bodyPr>
          <a:lstStyle/>
          <a:p>
            <a:pPr algn="ctr"/>
            <a:r>
              <a:rPr lang="pt-BR" sz="3200" b="1" i="1" dirty="0">
                <a:solidFill>
                  <a:schemeClr val="bg1"/>
                </a:solidFill>
                <a:latin typeface="Montserrat"/>
                <a:ea typeface="+mn-lt"/>
                <a:cs typeface="+mn-lt"/>
              </a:rPr>
              <a:t>Um aumento na remuneração do PMM-E consegue atrair especialistas para municípios mais vulneráveis?</a:t>
            </a:r>
            <a:endParaRPr lang="en-US">
              <a:solidFill>
                <a:schemeClr val="bg1"/>
              </a:solidFill>
              <a:ea typeface="Calibri"/>
              <a:cs typeface="Calibri"/>
            </a:endParaRPr>
          </a:p>
        </p:txBody>
      </p:sp>
    </p:spTree>
    <p:extLst>
      <p:ext uri="{BB962C8B-B14F-4D97-AF65-F5344CB8AC3E}">
        <p14:creationId xmlns:p14="http://schemas.microsoft.com/office/powerpoint/2010/main" val="4144928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F79B5-B1BB-C362-68BC-87FC17DE139C}"/>
            </a:ext>
          </a:extLst>
        </p:cNvPr>
        <p:cNvGrpSpPr/>
        <p:nvPr/>
      </p:nvGrpSpPr>
      <p:grpSpPr>
        <a:xfrm>
          <a:off x="0" y="0"/>
          <a:ext cx="0" cy="0"/>
          <a:chOff x="0" y="0"/>
          <a:chExt cx="0" cy="0"/>
        </a:xfrm>
      </p:grpSpPr>
      <p:sp>
        <p:nvSpPr>
          <p:cNvPr id="2" name="Title Placeholder 1">
            <a:extLst>
              <a:ext uri="{FF2B5EF4-FFF2-40B4-BE49-F238E27FC236}">
                <a16:creationId xmlns:a16="http://schemas.microsoft.com/office/drawing/2014/main" id="{3CF695F5-6E3E-FC2D-65F6-94BA2927BEDE}"/>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E734382A-22F3-BEC3-DEB3-60BA474D7D7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9DA66E9D-147E-B1D9-35F3-9AD3F95D09D1}"/>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pt-BR"/>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B7E79B-8647-4B7A-AB06-CE9034CA7501}" type="datetimeFigureOut">
              <a:rPr lang="pt-BR" smtClean="0"/>
              <a:pPr/>
              <a:t>14/09/2026</a:t>
            </a:fld>
            <a:endParaRPr lang="pt-BR"/>
          </a:p>
        </p:txBody>
      </p:sp>
      <p:sp>
        <p:nvSpPr>
          <p:cNvPr id="5" name="Slide Number Placeholder 5">
            <a:extLst>
              <a:ext uri="{FF2B5EF4-FFF2-40B4-BE49-F238E27FC236}">
                <a16:creationId xmlns:a16="http://schemas.microsoft.com/office/drawing/2014/main" id="{42011C57-6A89-74BE-0E25-1BAD6EFBA2A8}"/>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pt-B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B357A3-503C-42D5-B2E3-09AB65DED10B}" type="slidenum">
              <a:rPr lang="pt-BR" smtClean="0"/>
              <a:pPr/>
              <a:t>10</a:t>
            </a:fld>
            <a:endParaRPr lang="pt-BR"/>
          </a:p>
        </p:txBody>
      </p:sp>
      <p:sp>
        <p:nvSpPr>
          <p:cNvPr id="6" name="Rectangle 5">
            <a:extLst>
              <a:ext uri="{FF2B5EF4-FFF2-40B4-BE49-F238E27FC236}">
                <a16:creationId xmlns:a16="http://schemas.microsoft.com/office/drawing/2014/main" id="{70FD5864-10B2-A8F1-D678-778B5681DF77}"/>
              </a:ext>
            </a:extLst>
          </p:cNvPr>
          <p:cNvSpPr/>
          <p:nvPr/>
        </p:nvSpPr>
        <p:spPr>
          <a:xfrm>
            <a:off x="0" y="0"/>
            <a:ext cx="12194747" cy="6858000"/>
          </a:xfrm>
          <a:prstGeom prst="rect">
            <a:avLst/>
          </a:prstGeom>
          <a:solidFill>
            <a:srgbClr val="2F73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2">
                  <a:lumMod val="90000"/>
                </a:schemeClr>
              </a:solidFill>
            </a:endParaRPr>
          </a:p>
        </p:txBody>
      </p:sp>
      <p:sp>
        <p:nvSpPr>
          <p:cNvPr id="7" name="Text Placeholder 3">
            <a:extLst>
              <a:ext uri="{FF2B5EF4-FFF2-40B4-BE49-F238E27FC236}">
                <a16:creationId xmlns:a16="http://schemas.microsoft.com/office/drawing/2014/main" id="{43451404-D81B-3441-C85E-967A0FA1DDF0}"/>
              </a:ext>
            </a:extLst>
          </p:cNvPr>
          <p:cNvSpPr txBox="1">
            <a:spLocks/>
          </p:cNvSpPr>
          <p:nvPr/>
        </p:nvSpPr>
        <p:spPr>
          <a:xfrm>
            <a:off x="126501" y="101463"/>
            <a:ext cx="6010020" cy="4666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err="1">
                <a:solidFill>
                  <a:schemeClr val="bg1"/>
                </a:solidFill>
                <a:latin typeface="Montserrat" panose="00000500000000000000" pitchFamily="2" charset="0"/>
              </a:rPr>
              <a:t>Sumário</a:t>
            </a:r>
            <a:endParaRPr lang="pt-BR" b="1">
              <a:solidFill>
                <a:schemeClr val="bg1"/>
              </a:solidFill>
              <a:latin typeface="Montserrat" panose="00000500000000000000" pitchFamily="2" charset="0"/>
            </a:endParaRPr>
          </a:p>
        </p:txBody>
      </p:sp>
      <p:sp>
        <p:nvSpPr>
          <p:cNvPr id="8" name="Rectangle 7">
            <a:extLst>
              <a:ext uri="{FF2B5EF4-FFF2-40B4-BE49-F238E27FC236}">
                <a16:creationId xmlns:a16="http://schemas.microsoft.com/office/drawing/2014/main" id="{02738AA4-765F-019E-9FFA-32DADCA784E6}"/>
              </a:ext>
            </a:extLst>
          </p:cNvPr>
          <p:cNvSpPr/>
          <p:nvPr/>
        </p:nvSpPr>
        <p:spPr>
          <a:xfrm>
            <a:off x="2724167" y="831819"/>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0" name="Rectangle 9">
            <a:extLst>
              <a:ext uri="{FF2B5EF4-FFF2-40B4-BE49-F238E27FC236}">
                <a16:creationId xmlns:a16="http://schemas.microsoft.com/office/drawing/2014/main" id="{C11DF1F7-3C49-FFEA-2FBA-A28E6E0B8831}"/>
              </a:ext>
            </a:extLst>
          </p:cNvPr>
          <p:cNvSpPr/>
          <p:nvPr/>
        </p:nvSpPr>
        <p:spPr>
          <a:xfrm>
            <a:off x="3078859" y="4975528"/>
            <a:ext cx="3694414" cy="2793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1" name="Rectangle 10">
            <a:extLst>
              <a:ext uri="{FF2B5EF4-FFF2-40B4-BE49-F238E27FC236}">
                <a16:creationId xmlns:a16="http://schemas.microsoft.com/office/drawing/2014/main" id="{F774E05B-05B1-F168-7E9A-2C55F9BCC910}"/>
              </a:ext>
            </a:extLst>
          </p:cNvPr>
          <p:cNvSpPr/>
          <p:nvPr/>
        </p:nvSpPr>
        <p:spPr>
          <a:xfrm>
            <a:off x="2714295" y="831819"/>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12" name="CaixaDeTexto 8">
            <a:extLst>
              <a:ext uri="{FF2B5EF4-FFF2-40B4-BE49-F238E27FC236}">
                <a16:creationId xmlns:a16="http://schemas.microsoft.com/office/drawing/2014/main" id="{4CFDD3F6-0115-8F53-3B70-7B239F533045}"/>
              </a:ext>
            </a:extLst>
          </p:cNvPr>
          <p:cNvSpPr txBox="1"/>
          <p:nvPr/>
        </p:nvSpPr>
        <p:spPr>
          <a:xfrm>
            <a:off x="4450117" y="1272790"/>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Motivação</a:t>
            </a:r>
          </a:p>
        </p:txBody>
      </p:sp>
      <p:sp>
        <p:nvSpPr>
          <p:cNvPr id="13" name="CaixaDeTexto 10">
            <a:extLst>
              <a:ext uri="{FF2B5EF4-FFF2-40B4-BE49-F238E27FC236}">
                <a16:creationId xmlns:a16="http://schemas.microsoft.com/office/drawing/2014/main" id="{8B9EB043-C560-6782-3224-CB961463C25B}"/>
              </a:ext>
            </a:extLst>
          </p:cNvPr>
          <p:cNvSpPr txBox="1"/>
          <p:nvPr/>
        </p:nvSpPr>
        <p:spPr>
          <a:xfrm>
            <a:off x="5012265" y="3688982"/>
            <a:ext cx="3924311"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Modelo Teórico</a:t>
            </a:r>
          </a:p>
        </p:txBody>
      </p:sp>
      <p:sp>
        <p:nvSpPr>
          <p:cNvPr id="14" name="CaixaDeTexto 12">
            <a:extLst>
              <a:ext uri="{FF2B5EF4-FFF2-40B4-BE49-F238E27FC236}">
                <a16:creationId xmlns:a16="http://schemas.microsoft.com/office/drawing/2014/main" id="{8EF9D4C1-0314-91AB-DAA3-2C7261C524D1}"/>
              </a:ext>
            </a:extLst>
          </p:cNvPr>
          <p:cNvSpPr txBox="1"/>
          <p:nvPr/>
        </p:nvSpPr>
        <p:spPr>
          <a:xfrm>
            <a:off x="4753482" y="4586302"/>
            <a:ext cx="2235406"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Hipóteses</a:t>
            </a:r>
          </a:p>
        </p:txBody>
      </p:sp>
      <p:sp>
        <p:nvSpPr>
          <p:cNvPr id="15" name="CaixaDeTexto 13">
            <a:extLst>
              <a:ext uri="{FF2B5EF4-FFF2-40B4-BE49-F238E27FC236}">
                <a16:creationId xmlns:a16="http://schemas.microsoft.com/office/drawing/2014/main" id="{BB252AAE-D4BB-2F64-FC64-6FC3E31F3211}"/>
              </a:ext>
            </a:extLst>
          </p:cNvPr>
          <p:cNvSpPr txBox="1"/>
          <p:nvPr/>
        </p:nvSpPr>
        <p:spPr>
          <a:xfrm>
            <a:off x="1493269" y="1539704"/>
            <a:ext cx="2811600" cy="246221"/>
          </a:xfrm>
          <a:prstGeom prst="rect">
            <a:avLst/>
          </a:prstGeom>
          <a:noFill/>
        </p:spPr>
        <p:txBody>
          <a:bodyPr wrap="square" lIns="91440" tIns="45720" rIns="91440" bIns="45720" rtlCol="0" anchor="t">
            <a:spAutoFit/>
          </a:bodyPr>
          <a:lstStyle/>
          <a:p>
            <a:r>
              <a:rPr lang="en-US" sz="1000">
                <a:solidFill>
                  <a:schemeClr val="tx1">
                    <a:lumMod val="49000"/>
                    <a:lumOff val="51000"/>
                  </a:schemeClr>
                </a:solidFill>
                <a:latin typeface="Montserrat"/>
              </a:rPr>
              <a:t>Por </a:t>
            </a:r>
            <a:r>
              <a:rPr lang="en-US" sz="1000" err="1">
                <a:solidFill>
                  <a:schemeClr val="tx1">
                    <a:lumMod val="49000"/>
                    <a:lumOff val="51000"/>
                  </a:schemeClr>
                </a:solidFill>
                <a:latin typeface="Montserrat"/>
              </a:rPr>
              <a:t>que</a:t>
            </a:r>
            <a:r>
              <a:rPr lang="en-US" sz="1000">
                <a:solidFill>
                  <a:schemeClr val="tx1">
                    <a:lumMod val="49000"/>
                    <a:lumOff val="51000"/>
                  </a:schemeClr>
                </a:solidFill>
                <a:latin typeface="Montserrat"/>
              </a:rPr>
              <a:t> a </a:t>
            </a:r>
            <a:r>
              <a:rPr lang="en-US" sz="1000" err="1">
                <a:solidFill>
                  <a:schemeClr val="tx1">
                    <a:lumMod val="49000"/>
                    <a:lumOff val="51000"/>
                  </a:schemeClr>
                </a:solidFill>
                <a:latin typeface="Montserrat"/>
              </a:rPr>
              <a:t>pergunta</a:t>
            </a:r>
            <a:r>
              <a:rPr lang="en-US" sz="1000">
                <a:solidFill>
                  <a:schemeClr val="tx1">
                    <a:lumMod val="49000"/>
                    <a:lumOff val="51000"/>
                  </a:schemeClr>
                </a:solidFill>
                <a:latin typeface="Montserrat"/>
              </a:rPr>
              <a:t> é </a:t>
            </a:r>
            <a:r>
              <a:rPr lang="en-US" sz="1000" err="1">
                <a:solidFill>
                  <a:schemeClr val="tx1">
                    <a:lumMod val="49000"/>
                    <a:lumOff val="51000"/>
                  </a:schemeClr>
                </a:solidFill>
                <a:latin typeface="Montserrat"/>
              </a:rPr>
              <a:t>importante</a:t>
            </a:r>
            <a:endParaRPr lang="en-US" sz="1000">
              <a:solidFill>
                <a:schemeClr val="tx1">
                  <a:lumMod val="49000"/>
                  <a:lumOff val="51000"/>
                </a:schemeClr>
              </a:solidFill>
              <a:latin typeface="Montserrat"/>
            </a:endParaRPr>
          </a:p>
        </p:txBody>
      </p:sp>
      <p:sp>
        <p:nvSpPr>
          <p:cNvPr id="16" name="CaixaDeTexto 14">
            <a:extLst>
              <a:ext uri="{FF2B5EF4-FFF2-40B4-BE49-F238E27FC236}">
                <a16:creationId xmlns:a16="http://schemas.microsoft.com/office/drawing/2014/main" id="{0D8E2367-82B2-2B85-5080-9628EAC03DE0}"/>
              </a:ext>
            </a:extLst>
          </p:cNvPr>
          <p:cNvSpPr txBox="1"/>
          <p:nvPr/>
        </p:nvSpPr>
        <p:spPr>
          <a:xfrm>
            <a:off x="2107016" y="3921088"/>
            <a:ext cx="2736923" cy="400110"/>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Aplicação</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microeconômica</a:t>
            </a:r>
            <a:r>
              <a:rPr lang="en-US" sz="1000">
                <a:solidFill>
                  <a:srgbClr val="7F7F7F"/>
                </a:solidFill>
                <a:latin typeface="Montserrat" panose="00000500000000000000" pitchFamily="2" charset="0"/>
                <a:cs typeface="Times New Roman" panose="02020603050405020304" pitchFamily="18" charset="0"/>
              </a:rPr>
              <a:t> e </a:t>
            </a:r>
            <a:r>
              <a:rPr lang="en-US" sz="1000" err="1">
                <a:solidFill>
                  <a:srgbClr val="7F7F7F"/>
                </a:solidFill>
                <a:latin typeface="Montserrat" panose="00000500000000000000" pitchFamily="2" charset="0"/>
                <a:cs typeface="Times New Roman" panose="02020603050405020304" pitchFamily="18" charset="0"/>
              </a:rPr>
              <a:t>modelo</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proposto</a:t>
            </a:r>
            <a:endParaRPr lang="pt-BR" sz="1000">
              <a:solidFill>
                <a:srgbClr val="7F7F7F"/>
              </a:solidFill>
              <a:latin typeface="Montserrat" panose="00000500000000000000" pitchFamily="2" charset="0"/>
              <a:cs typeface="Times New Roman" panose="02020603050405020304" pitchFamily="18" charset="0"/>
            </a:endParaRPr>
          </a:p>
        </p:txBody>
      </p:sp>
      <p:sp>
        <p:nvSpPr>
          <p:cNvPr id="17" name="CaixaDeTexto 14">
            <a:extLst>
              <a:ext uri="{FF2B5EF4-FFF2-40B4-BE49-F238E27FC236}">
                <a16:creationId xmlns:a16="http://schemas.microsoft.com/office/drawing/2014/main" id="{187D1759-2610-2CC5-A536-543E15600AAD}"/>
              </a:ext>
            </a:extLst>
          </p:cNvPr>
          <p:cNvSpPr txBox="1"/>
          <p:nvPr/>
        </p:nvSpPr>
        <p:spPr>
          <a:xfrm>
            <a:off x="1822880" y="4844550"/>
            <a:ext cx="2736922" cy="246221"/>
          </a:xfrm>
          <a:prstGeom prst="rect">
            <a:avLst/>
          </a:prstGeom>
          <a:noFill/>
          <a:ln>
            <a:solidFill>
              <a:schemeClr val="tx1">
                <a:lumMod val="50000"/>
                <a:lumOff val="50000"/>
              </a:schemeClr>
            </a:solidFill>
          </a:ln>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Hipóteses</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formuladas</a:t>
            </a:r>
            <a:endParaRPr lang="pt-BR" sz="1000">
              <a:solidFill>
                <a:srgbClr val="7F7F7F"/>
              </a:solidFill>
              <a:latin typeface="Montserrat" panose="00000500000000000000" pitchFamily="2" charset="0"/>
              <a:cs typeface="Times New Roman" panose="02020603050405020304" pitchFamily="18" charset="0"/>
            </a:endParaRPr>
          </a:p>
        </p:txBody>
      </p:sp>
      <p:sp>
        <p:nvSpPr>
          <p:cNvPr id="18" name="Rosca 3">
            <a:extLst>
              <a:ext uri="{FF2B5EF4-FFF2-40B4-BE49-F238E27FC236}">
                <a16:creationId xmlns:a16="http://schemas.microsoft.com/office/drawing/2014/main" id="{E5DFDD78-4378-3423-06D0-E8A2190A0633}"/>
              </a:ext>
            </a:extLst>
          </p:cNvPr>
          <p:cNvSpPr/>
          <p:nvPr/>
        </p:nvSpPr>
        <p:spPr>
          <a:xfrm rot="10800000">
            <a:off x="-3452695" y="1148756"/>
            <a:ext cx="5396231" cy="4932209"/>
          </a:xfrm>
          <a:prstGeom prst="donut">
            <a:avLst>
              <a:gd name="adj" fmla="val 5392"/>
            </a:avLst>
          </a:prstGeom>
          <a:gradFill>
            <a:gsLst>
              <a:gs pos="0">
                <a:schemeClr val="accent3">
                  <a:lumMod val="50000"/>
                </a:schemeClr>
              </a:gs>
              <a:gs pos="55180">
                <a:srgbClr val="1B6F27"/>
              </a:gs>
              <a:gs pos="99000">
                <a:srgbClr val="20822E"/>
              </a:gs>
            </a:gsLst>
            <a:lin ang="5400000" scaled="1"/>
          </a:gra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nvGrpSpPr>
          <p:cNvPr id="19" name="Agrupar 38">
            <a:extLst>
              <a:ext uri="{FF2B5EF4-FFF2-40B4-BE49-F238E27FC236}">
                <a16:creationId xmlns:a16="http://schemas.microsoft.com/office/drawing/2014/main" id="{4CEF73C7-6823-47A1-8A5E-74DED55D67A4}"/>
              </a:ext>
            </a:extLst>
          </p:cNvPr>
          <p:cNvGrpSpPr/>
          <p:nvPr/>
        </p:nvGrpSpPr>
        <p:grpSpPr>
          <a:xfrm rot="10800000">
            <a:off x="1493269" y="1392755"/>
            <a:ext cx="2811600" cy="252000"/>
            <a:chOff x="6022821" y="2646629"/>
            <a:chExt cx="2737179" cy="252000"/>
          </a:xfrm>
          <a:solidFill>
            <a:srgbClr val="80B281"/>
          </a:solidFill>
        </p:grpSpPr>
        <p:cxnSp>
          <p:nvCxnSpPr>
            <p:cNvPr id="20" name="Conector de Seta Reta 39">
              <a:extLst>
                <a:ext uri="{FF2B5EF4-FFF2-40B4-BE49-F238E27FC236}">
                  <a16:creationId xmlns:a16="http://schemas.microsoft.com/office/drawing/2014/main" id="{BE66C7AD-58A8-3D5C-1BEB-1CFE485E664D}"/>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1" name="Losango 43">
              <a:extLst>
                <a:ext uri="{FF2B5EF4-FFF2-40B4-BE49-F238E27FC236}">
                  <a16:creationId xmlns:a16="http://schemas.microsoft.com/office/drawing/2014/main" id="{8ACE5BDE-EB8D-CC5C-88AF-246527211201}"/>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2" name="Agrupar 47">
            <a:extLst>
              <a:ext uri="{FF2B5EF4-FFF2-40B4-BE49-F238E27FC236}">
                <a16:creationId xmlns:a16="http://schemas.microsoft.com/office/drawing/2014/main" id="{BDD2BFB1-A301-D87B-FD8E-736B08F97E2C}"/>
              </a:ext>
            </a:extLst>
          </p:cNvPr>
          <p:cNvGrpSpPr/>
          <p:nvPr/>
        </p:nvGrpSpPr>
        <p:grpSpPr>
          <a:xfrm rot="10800000">
            <a:off x="1847932" y="4705343"/>
            <a:ext cx="2810101" cy="252000"/>
            <a:chOff x="6098372" y="2214756"/>
            <a:chExt cx="2810101" cy="252000"/>
          </a:xfrm>
          <a:solidFill>
            <a:srgbClr val="80B281"/>
          </a:solidFill>
        </p:grpSpPr>
        <p:cxnSp>
          <p:nvCxnSpPr>
            <p:cNvPr id="23" name="Conector de Seta Reta 48">
              <a:extLst>
                <a:ext uri="{FF2B5EF4-FFF2-40B4-BE49-F238E27FC236}">
                  <a16:creationId xmlns:a16="http://schemas.microsoft.com/office/drawing/2014/main" id="{AEACF174-7DAB-D869-8C74-2F5740EC572A}"/>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4" name="Losango 49">
              <a:extLst>
                <a:ext uri="{FF2B5EF4-FFF2-40B4-BE49-F238E27FC236}">
                  <a16:creationId xmlns:a16="http://schemas.microsoft.com/office/drawing/2014/main" id="{D5B7BBB4-1E58-E218-443D-FCDE98961DE9}"/>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5" name="Agrupar 51">
            <a:extLst>
              <a:ext uri="{FF2B5EF4-FFF2-40B4-BE49-F238E27FC236}">
                <a16:creationId xmlns:a16="http://schemas.microsoft.com/office/drawing/2014/main" id="{3D4CDC53-D173-731D-C0F6-C7B1A58E5D21}"/>
              </a:ext>
            </a:extLst>
          </p:cNvPr>
          <p:cNvGrpSpPr/>
          <p:nvPr/>
        </p:nvGrpSpPr>
        <p:grpSpPr>
          <a:xfrm rot="10800000">
            <a:off x="2107017" y="3783392"/>
            <a:ext cx="2810101" cy="252000"/>
            <a:chOff x="6098372" y="2214756"/>
            <a:chExt cx="2810101" cy="252000"/>
          </a:xfrm>
          <a:solidFill>
            <a:srgbClr val="80B281"/>
          </a:solidFill>
        </p:grpSpPr>
        <p:cxnSp>
          <p:nvCxnSpPr>
            <p:cNvPr id="26" name="Conector de Seta Reta 52">
              <a:extLst>
                <a:ext uri="{FF2B5EF4-FFF2-40B4-BE49-F238E27FC236}">
                  <a16:creationId xmlns:a16="http://schemas.microsoft.com/office/drawing/2014/main" id="{A66A0798-33AD-C88E-29D7-24DD53C2EBB1}"/>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7" name="Losango 53">
              <a:extLst>
                <a:ext uri="{FF2B5EF4-FFF2-40B4-BE49-F238E27FC236}">
                  <a16:creationId xmlns:a16="http://schemas.microsoft.com/office/drawing/2014/main" id="{6ACC33C7-8242-FD94-138C-FAB25CACFA3B}"/>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pic>
        <p:nvPicPr>
          <p:cNvPr id="28" name="Picture 27">
            <a:extLst>
              <a:ext uri="{FF2B5EF4-FFF2-40B4-BE49-F238E27FC236}">
                <a16:creationId xmlns:a16="http://schemas.microsoft.com/office/drawing/2014/main" id="{16B0F976-D3A0-5C30-B740-C8735AD252FF}"/>
              </a:ext>
            </a:extLst>
          </p:cNvPr>
          <p:cNvPicPr>
            <a:picLocks noChangeAspect="1"/>
          </p:cNvPicPr>
          <p:nvPr/>
        </p:nvPicPr>
        <p:blipFill rotWithShape="1">
          <a:blip r:embed="rId2">
            <a:extLst>
              <a:ext uri="{28A0092B-C50C-407E-A947-70E740481C1C}">
                <a14:useLocalDpi xmlns:a14="http://schemas.microsoft.com/office/drawing/2010/main" val="0"/>
              </a:ext>
            </a:extLst>
          </a:blip>
          <a:srcRect l="10011" t="25381" r="35435" b="13771"/>
          <a:stretch>
            <a:fillRect/>
          </a:stretch>
        </p:blipFill>
        <p:spPr>
          <a:xfrm>
            <a:off x="6451240" y="5396"/>
            <a:ext cx="4691990" cy="3849420"/>
          </a:xfrm>
          <a:prstGeom prst="flowChartMerge">
            <a:avLst/>
          </a:prstGeom>
        </p:spPr>
      </p:pic>
      <p:pic>
        <p:nvPicPr>
          <p:cNvPr id="29" name="Picture 28">
            <a:extLst>
              <a:ext uri="{FF2B5EF4-FFF2-40B4-BE49-F238E27FC236}">
                <a16:creationId xmlns:a16="http://schemas.microsoft.com/office/drawing/2014/main" id="{79F85491-1501-0D0D-BDF2-C47B6E3139F7}"/>
              </a:ext>
            </a:extLst>
          </p:cNvPr>
          <p:cNvPicPr>
            <a:picLocks noChangeAspect="1"/>
          </p:cNvPicPr>
          <p:nvPr/>
        </p:nvPicPr>
        <p:blipFill rotWithShape="1">
          <a:blip r:embed="rId2">
            <a:extLst>
              <a:ext uri="{28A0092B-C50C-407E-A947-70E740481C1C}">
                <a14:useLocalDpi xmlns:a14="http://schemas.microsoft.com/office/drawing/2010/main" val="0"/>
              </a:ext>
            </a:extLst>
          </a:blip>
          <a:srcRect l="52936" t="21443" r="302" b="2100"/>
          <a:stretch>
            <a:fillRect/>
          </a:stretch>
        </p:blipFill>
        <p:spPr>
          <a:xfrm>
            <a:off x="8312055" y="2581690"/>
            <a:ext cx="3930266" cy="4283997"/>
          </a:xfrm>
          <a:prstGeom prst="triangle">
            <a:avLst/>
          </a:prstGeom>
        </p:spPr>
      </p:pic>
      <p:sp>
        <p:nvSpPr>
          <p:cNvPr id="30" name="Isosceles Triangle 29">
            <a:extLst>
              <a:ext uri="{FF2B5EF4-FFF2-40B4-BE49-F238E27FC236}">
                <a16:creationId xmlns:a16="http://schemas.microsoft.com/office/drawing/2014/main" id="{CE590426-D151-9DBF-9438-843F55CDFD0C}"/>
              </a:ext>
            </a:extLst>
          </p:cNvPr>
          <p:cNvSpPr/>
          <p:nvPr/>
        </p:nvSpPr>
        <p:spPr>
          <a:xfrm>
            <a:off x="8297140" y="2574003"/>
            <a:ext cx="3930266" cy="4283997"/>
          </a:xfrm>
          <a:prstGeom prst="triangl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Flowchart: Merge 30">
            <a:extLst>
              <a:ext uri="{FF2B5EF4-FFF2-40B4-BE49-F238E27FC236}">
                <a16:creationId xmlns:a16="http://schemas.microsoft.com/office/drawing/2014/main" id="{894541EE-392C-1708-09BE-7390535ACD27}"/>
              </a:ext>
            </a:extLst>
          </p:cNvPr>
          <p:cNvSpPr/>
          <p:nvPr/>
        </p:nvSpPr>
        <p:spPr>
          <a:xfrm>
            <a:off x="6451240" y="0"/>
            <a:ext cx="4681825" cy="3849420"/>
          </a:xfrm>
          <a:prstGeom prst="flowChartMerg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sp>
        <p:nvSpPr>
          <p:cNvPr id="32" name="Rectangle 31">
            <a:extLst>
              <a:ext uri="{FF2B5EF4-FFF2-40B4-BE49-F238E27FC236}">
                <a16:creationId xmlns:a16="http://schemas.microsoft.com/office/drawing/2014/main" id="{90EF02F3-22FF-69A2-8CC7-911B7EAD9868}"/>
              </a:ext>
            </a:extLst>
          </p:cNvPr>
          <p:cNvSpPr/>
          <p:nvPr/>
        </p:nvSpPr>
        <p:spPr>
          <a:xfrm>
            <a:off x="3177302" y="1671066"/>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33" name="Rectangle 32">
            <a:extLst>
              <a:ext uri="{FF2B5EF4-FFF2-40B4-BE49-F238E27FC236}">
                <a16:creationId xmlns:a16="http://schemas.microsoft.com/office/drawing/2014/main" id="{BA1F599A-38A3-1EEF-D300-5962BBDBDE4E}"/>
              </a:ext>
            </a:extLst>
          </p:cNvPr>
          <p:cNvSpPr/>
          <p:nvPr/>
        </p:nvSpPr>
        <p:spPr>
          <a:xfrm>
            <a:off x="3167430" y="1671066"/>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34" name="CaixaDeTexto 8">
            <a:extLst>
              <a:ext uri="{FF2B5EF4-FFF2-40B4-BE49-F238E27FC236}">
                <a16:creationId xmlns:a16="http://schemas.microsoft.com/office/drawing/2014/main" id="{190BC3EC-0254-9A80-3DD9-FE23BC537AF4}"/>
              </a:ext>
            </a:extLst>
          </p:cNvPr>
          <p:cNvSpPr txBox="1"/>
          <p:nvPr/>
        </p:nvSpPr>
        <p:spPr>
          <a:xfrm>
            <a:off x="4896426" y="2044007"/>
            <a:ext cx="2825252" cy="461665"/>
          </a:xfrm>
          <a:prstGeom prst="rect">
            <a:avLst/>
          </a:prstGeom>
          <a:noFill/>
        </p:spPr>
        <p:txBody>
          <a:bodyPr wrap="square" lIns="91440" tIns="45720" rIns="91440" bIns="45720" rtlCol="0" anchor="t">
            <a:spAutoFit/>
          </a:bodyPr>
          <a:lstStyle/>
          <a:p>
            <a:r>
              <a:rPr lang="pt-BR" sz="2400" b="1" i="1">
                <a:solidFill>
                  <a:schemeClr val="tx1">
                    <a:lumMod val="49000"/>
                    <a:lumOff val="51000"/>
                  </a:schemeClr>
                </a:solidFill>
                <a:latin typeface="Montserrat"/>
                <a:cs typeface="Times New Roman"/>
              </a:rPr>
              <a:t>Pergunta</a:t>
            </a:r>
          </a:p>
        </p:txBody>
      </p:sp>
      <p:sp>
        <p:nvSpPr>
          <p:cNvPr id="35" name="CaixaDeTexto 13">
            <a:extLst>
              <a:ext uri="{FF2B5EF4-FFF2-40B4-BE49-F238E27FC236}">
                <a16:creationId xmlns:a16="http://schemas.microsoft.com/office/drawing/2014/main" id="{386336CD-91F7-18EB-C199-F2B6A74637F4}"/>
              </a:ext>
            </a:extLst>
          </p:cNvPr>
          <p:cNvSpPr txBox="1"/>
          <p:nvPr/>
        </p:nvSpPr>
        <p:spPr>
          <a:xfrm>
            <a:off x="1939578" y="2288343"/>
            <a:ext cx="2811600" cy="246221"/>
          </a:xfrm>
          <a:prstGeom prst="rect">
            <a:avLst/>
          </a:prstGeom>
          <a:noFill/>
        </p:spPr>
        <p:txBody>
          <a:bodyPr wrap="square" lIns="91440" tIns="45720" rIns="91440" bIns="45720" rtlCol="0" anchor="t">
            <a:spAutoFit/>
          </a:bodyPr>
          <a:lstStyle/>
          <a:p>
            <a:r>
              <a:rPr lang="en-US" sz="1000" err="1">
                <a:solidFill>
                  <a:srgbClr val="7F7F7F"/>
                </a:solidFill>
                <a:latin typeface="Montserrat"/>
                <a:cs typeface="Times New Roman"/>
              </a:rPr>
              <a:t>Pergunta</a:t>
            </a:r>
            <a:r>
              <a:rPr lang="en-US" sz="1000">
                <a:solidFill>
                  <a:srgbClr val="7F7F7F"/>
                </a:solidFill>
                <a:latin typeface="Montserrat"/>
                <a:cs typeface="Times New Roman"/>
              </a:rPr>
              <a:t> </a:t>
            </a:r>
            <a:r>
              <a:rPr lang="en-US" sz="1000" err="1">
                <a:solidFill>
                  <a:srgbClr val="7F7F7F"/>
                </a:solidFill>
                <a:latin typeface="Montserrat"/>
                <a:cs typeface="Times New Roman"/>
              </a:rPr>
              <a:t>proposta</a:t>
            </a:r>
            <a:endParaRPr lang="pt-BR" sz="1000">
              <a:solidFill>
                <a:srgbClr val="7F7F7F"/>
              </a:solidFill>
              <a:latin typeface="Montserrat"/>
              <a:cs typeface="Times New Roman"/>
            </a:endParaRPr>
          </a:p>
        </p:txBody>
      </p:sp>
      <p:grpSp>
        <p:nvGrpSpPr>
          <p:cNvPr id="36" name="Agrupar 38">
            <a:extLst>
              <a:ext uri="{FF2B5EF4-FFF2-40B4-BE49-F238E27FC236}">
                <a16:creationId xmlns:a16="http://schemas.microsoft.com/office/drawing/2014/main" id="{505F18AB-47FB-67CE-3001-449D5B296D3E}"/>
              </a:ext>
            </a:extLst>
          </p:cNvPr>
          <p:cNvGrpSpPr/>
          <p:nvPr/>
        </p:nvGrpSpPr>
        <p:grpSpPr>
          <a:xfrm rot="10800000">
            <a:off x="1939578" y="2141394"/>
            <a:ext cx="2811600" cy="252000"/>
            <a:chOff x="6022821" y="2646629"/>
            <a:chExt cx="2737179" cy="252000"/>
          </a:xfrm>
          <a:solidFill>
            <a:srgbClr val="80B281"/>
          </a:solidFill>
        </p:grpSpPr>
        <p:cxnSp>
          <p:nvCxnSpPr>
            <p:cNvPr id="37" name="Conector de Seta Reta 39">
              <a:extLst>
                <a:ext uri="{FF2B5EF4-FFF2-40B4-BE49-F238E27FC236}">
                  <a16:creationId xmlns:a16="http://schemas.microsoft.com/office/drawing/2014/main" id="{C3E514E6-9A57-7110-B856-4413B92A4933}"/>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38" name="Losango 43">
              <a:extLst>
                <a:ext uri="{FF2B5EF4-FFF2-40B4-BE49-F238E27FC236}">
                  <a16:creationId xmlns:a16="http://schemas.microsoft.com/office/drawing/2014/main" id="{6B8D1E88-722E-BA38-BD2D-3673594EFE68}"/>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
        <p:nvSpPr>
          <p:cNvPr id="39" name="Rectangle 38">
            <a:extLst>
              <a:ext uri="{FF2B5EF4-FFF2-40B4-BE49-F238E27FC236}">
                <a16:creationId xmlns:a16="http://schemas.microsoft.com/office/drawing/2014/main" id="{A5BC0362-310F-7041-77FB-526C6ECBAFAB}"/>
              </a:ext>
            </a:extLst>
          </p:cNvPr>
          <p:cNvSpPr/>
          <p:nvPr/>
        </p:nvSpPr>
        <p:spPr>
          <a:xfrm>
            <a:off x="3328855" y="2827588"/>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40" name="Rectangle 39">
            <a:extLst>
              <a:ext uri="{FF2B5EF4-FFF2-40B4-BE49-F238E27FC236}">
                <a16:creationId xmlns:a16="http://schemas.microsoft.com/office/drawing/2014/main" id="{B5A91898-E719-5B32-AA71-D6BB7CC4A20F}"/>
              </a:ext>
            </a:extLst>
          </p:cNvPr>
          <p:cNvSpPr/>
          <p:nvPr/>
        </p:nvSpPr>
        <p:spPr>
          <a:xfrm>
            <a:off x="3153778" y="2421054"/>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rgbClr val="7F7F7F"/>
              </a:solidFill>
            </a:endParaRPr>
          </a:p>
        </p:txBody>
      </p:sp>
      <p:sp>
        <p:nvSpPr>
          <p:cNvPr id="41" name="CaixaDeTexto 8">
            <a:extLst>
              <a:ext uri="{FF2B5EF4-FFF2-40B4-BE49-F238E27FC236}">
                <a16:creationId xmlns:a16="http://schemas.microsoft.com/office/drawing/2014/main" id="{FF70B023-D64A-B9BB-30F3-7C2CC87EDA88}"/>
              </a:ext>
            </a:extLst>
          </p:cNvPr>
          <p:cNvSpPr txBox="1"/>
          <p:nvPr/>
        </p:nvSpPr>
        <p:spPr>
          <a:xfrm>
            <a:off x="5054805" y="2861891"/>
            <a:ext cx="2825252" cy="461665"/>
          </a:xfrm>
          <a:prstGeom prst="rect">
            <a:avLst/>
          </a:prstGeom>
          <a:noFill/>
        </p:spPr>
        <p:txBody>
          <a:bodyPr wrap="square" rtlCol="0">
            <a:spAutoFit/>
          </a:bodyPr>
          <a:lstStyle/>
          <a:p>
            <a:r>
              <a:rPr lang="pt-BR" sz="2400" b="1" i="1">
                <a:solidFill>
                  <a:srgbClr val="FFFFFF"/>
                </a:solidFill>
                <a:latin typeface="Montserrat" panose="00000500000000000000" pitchFamily="2" charset="0"/>
                <a:cs typeface="Times New Roman" panose="02020603050405020304" pitchFamily="18" charset="0"/>
              </a:rPr>
              <a:t>Literatura</a:t>
            </a:r>
          </a:p>
        </p:txBody>
      </p:sp>
      <p:sp>
        <p:nvSpPr>
          <p:cNvPr id="42" name="CaixaDeTexto 13">
            <a:extLst>
              <a:ext uri="{FF2B5EF4-FFF2-40B4-BE49-F238E27FC236}">
                <a16:creationId xmlns:a16="http://schemas.microsoft.com/office/drawing/2014/main" id="{6EC6F34F-75B2-8660-6D84-ABA20038E753}"/>
              </a:ext>
            </a:extLst>
          </p:cNvPr>
          <p:cNvSpPr txBox="1"/>
          <p:nvPr/>
        </p:nvSpPr>
        <p:spPr>
          <a:xfrm>
            <a:off x="2002260" y="3106227"/>
            <a:ext cx="2811600" cy="246221"/>
          </a:xfrm>
          <a:prstGeom prst="rect">
            <a:avLst/>
          </a:prstGeom>
          <a:noFill/>
        </p:spPr>
        <p:txBody>
          <a:bodyPr wrap="square" rtlCol="0">
            <a:spAutoFit/>
          </a:bodyPr>
          <a:lstStyle/>
          <a:p>
            <a:r>
              <a:rPr lang="en-US" sz="1000" err="1">
                <a:solidFill>
                  <a:srgbClr val="FFFFFF"/>
                </a:solidFill>
                <a:latin typeface="Montserrat" panose="00000500000000000000" pitchFamily="2" charset="0"/>
                <a:cs typeface="Times New Roman" panose="02020603050405020304" pitchFamily="18" charset="0"/>
              </a:rPr>
              <a:t>Literatura</a:t>
            </a:r>
            <a:r>
              <a:rPr lang="en-US" sz="1000">
                <a:solidFill>
                  <a:srgbClr val="FFFFFF"/>
                </a:solidFill>
                <a:latin typeface="Montserrat" panose="00000500000000000000" pitchFamily="2" charset="0"/>
                <a:cs typeface="Times New Roman" panose="02020603050405020304" pitchFamily="18" charset="0"/>
              </a:rPr>
              <a:t> </a:t>
            </a:r>
            <a:r>
              <a:rPr lang="en-US" sz="1000" err="1">
                <a:solidFill>
                  <a:srgbClr val="FFFFFF"/>
                </a:solidFill>
                <a:latin typeface="Montserrat" panose="00000500000000000000" pitchFamily="2" charset="0"/>
                <a:cs typeface="Times New Roman" panose="02020603050405020304" pitchFamily="18" charset="0"/>
              </a:rPr>
              <a:t>Teórica</a:t>
            </a:r>
            <a:r>
              <a:rPr lang="en-US" sz="1000">
                <a:solidFill>
                  <a:srgbClr val="FFFFFF"/>
                </a:solidFill>
                <a:latin typeface="Montserrat" panose="00000500000000000000" pitchFamily="2" charset="0"/>
                <a:cs typeface="Times New Roman" panose="02020603050405020304" pitchFamily="18" charset="0"/>
              </a:rPr>
              <a:t> para a </a:t>
            </a:r>
            <a:r>
              <a:rPr lang="en-US" sz="1000" err="1">
                <a:solidFill>
                  <a:srgbClr val="FFFFFF"/>
                </a:solidFill>
                <a:latin typeface="Montserrat" panose="00000500000000000000" pitchFamily="2" charset="0"/>
                <a:cs typeface="Times New Roman" panose="02020603050405020304" pitchFamily="18" charset="0"/>
              </a:rPr>
              <a:t>fundamentação</a:t>
            </a:r>
            <a:endParaRPr lang="en-US" sz="1000">
              <a:solidFill>
                <a:srgbClr val="FFFFFF"/>
              </a:solidFill>
              <a:latin typeface="Montserrat" panose="00000500000000000000" pitchFamily="2" charset="0"/>
              <a:cs typeface="Times New Roman" panose="02020603050405020304" pitchFamily="18" charset="0"/>
            </a:endParaRPr>
          </a:p>
        </p:txBody>
      </p:sp>
      <p:grpSp>
        <p:nvGrpSpPr>
          <p:cNvPr id="43" name="Agrupar 38">
            <a:extLst>
              <a:ext uri="{FF2B5EF4-FFF2-40B4-BE49-F238E27FC236}">
                <a16:creationId xmlns:a16="http://schemas.microsoft.com/office/drawing/2014/main" id="{4E675974-F0E4-8098-F66D-84D6D3BF3B89}"/>
              </a:ext>
            </a:extLst>
          </p:cNvPr>
          <p:cNvGrpSpPr/>
          <p:nvPr/>
        </p:nvGrpSpPr>
        <p:grpSpPr>
          <a:xfrm rot="10800000">
            <a:off x="2097957" y="2959278"/>
            <a:ext cx="2811600" cy="252000"/>
            <a:chOff x="6022821" y="2646629"/>
            <a:chExt cx="2737179" cy="252000"/>
          </a:xfrm>
          <a:solidFill>
            <a:srgbClr val="80B281"/>
          </a:solidFill>
        </p:grpSpPr>
        <p:cxnSp>
          <p:nvCxnSpPr>
            <p:cNvPr id="44" name="Conector de Seta Reta 39">
              <a:extLst>
                <a:ext uri="{FF2B5EF4-FFF2-40B4-BE49-F238E27FC236}">
                  <a16:creationId xmlns:a16="http://schemas.microsoft.com/office/drawing/2014/main" id="{FBB195BC-CA52-0DD6-EEAA-F2CEA05004BA}"/>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45" name="Losango 43">
              <a:extLst>
                <a:ext uri="{FF2B5EF4-FFF2-40B4-BE49-F238E27FC236}">
                  <a16:creationId xmlns:a16="http://schemas.microsoft.com/office/drawing/2014/main" id="{D6B704D7-6E67-1D92-874E-54D749F215DE}"/>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FFFFFF"/>
                </a:solidFill>
              </a:endParaRPr>
            </a:p>
          </p:txBody>
        </p:sp>
      </p:grpSp>
      <p:sp>
        <p:nvSpPr>
          <p:cNvPr id="47" name="CaixaDeTexto 12">
            <a:extLst>
              <a:ext uri="{FF2B5EF4-FFF2-40B4-BE49-F238E27FC236}">
                <a16:creationId xmlns:a16="http://schemas.microsoft.com/office/drawing/2014/main" id="{C4E4D8A8-2BB7-FA89-DBBC-5BCFFE41CFCC}"/>
              </a:ext>
            </a:extLst>
          </p:cNvPr>
          <p:cNvSpPr txBox="1"/>
          <p:nvPr/>
        </p:nvSpPr>
        <p:spPr>
          <a:xfrm>
            <a:off x="4108439" y="5355391"/>
            <a:ext cx="4286931"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Viabilidade Empírica</a:t>
            </a:r>
          </a:p>
        </p:txBody>
      </p:sp>
      <p:sp>
        <p:nvSpPr>
          <p:cNvPr id="48" name="CaixaDeTexto 14">
            <a:extLst>
              <a:ext uri="{FF2B5EF4-FFF2-40B4-BE49-F238E27FC236}">
                <a16:creationId xmlns:a16="http://schemas.microsoft.com/office/drawing/2014/main" id="{E25A9255-98EE-DDCB-5BA7-718858049503}"/>
              </a:ext>
            </a:extLst>
          </p:cNvPr>
          <p:cNvSpPr txBox="1"/>
          <p:nvPr/>
        </p:nvSpPr>
        <p:spPr>
          <a:xfrm>
            <a:off x="1177838" y="5613639"/>
            <a:ext cx="2736922" cy="400110"/>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Viabilidade</a:t>
            </a:r>
            <a:r>
              <a:rPr lang="en-US" sz="1000">
                <a:solidFill>
                  <a:srgbClr val="7F7F7F"/>
                </a:solidFill>
                <a:latin typeface="Montserrat" panose="00000500000000000000" pitchFamily="2" charset="0"/>
                <a:cs typeface="Times New Roman" panose="02020603050405020304" pitchFamily="18" charset="0"/>
              </a:rPr>
              <a:t> dos dados para a </a:t>
            </a:r>
            <a:r>
              <a:rPr lang="en-US" sz="1000" err="1">
                <a:solidFill>
                  <a:srgbClr val="7F7F7F"/>
                </a:solidFill>
                <a:latin typeface="Montserrat" panose="00000500000000000000" pitchFamily="2" charset="0"/>
                <a:cs typeface="Times New Roman" panose="02020603050405020304" pitchFamily="18" charset="0"/>
              </a:rPr>
              <a:t>realização</a:t>
            </a:r>
            <a:r>
              <a:rPr lang="en-US" sz="1000">
                <a:solidFill>
                  <a:srgbClr val="7F7F7F"/>
                </a:solidFill>
                <a:latin typeface="Montserrat" panose="00000500000000000000" pitchFamily="2" charset="0"/>
                <a:cs typeface="Times New Roman" panose="02020603050405020304" pitchFamily="18" charset="0"/>
              </a:rPr>
              <a:t> do teste empírico</a:t>
            </a:r>
            <a:endParaRPr lang="pt-BR" sz="1000">
              <a:solidFill>
                <a:srgbClr val="7F7F7F"/>
              </a:solidFill>
              <a:latin typeface="Montserrat" panose="00000500000000000000" pitchFamily="2" charset="0"/>
              <a:cs typeface="Times New Roman" panose="02020603050405020304" pitchFamily="18" charset="0"/>
            </a:endParaRPr>
          </a:p>
        </p:txBody>
      </p:sp>
      <p:grpSp>
        <p:nvGrpSpPr>
          <p:cNvPr id="49" name="Agrupar 47">
            <a:extLst>
              <a:ext uri="{FF2B5EF4-FFF2-40B4-BE49-F238E27FC236}">
                <a16:creationId xmlns:a16="http://schemas.microsoft.com/office/drawing/2014/main" id="{95BAA7A8-F81F-48A9-C2C5-B93937460600}"/>
              </a:ext>
            </a:extLst>
          </p:cNvPr>
          <p:cNvGrpSpPr/>
          <p:nvPr/>
        </p:nvGrpSpPr>
        <p:grpSpPr>
          <a:xfrm rot="10800000">
            <a:off x="1202890" y="5474432"/>
            <a:ext cx="2810101" cy="252000"/>
            <a:chOff x="6098372" y="2214756"/>
            <a:chExt cx="2810101" cy="252000"/>
          </a:xfrm>
          <a:solidFill>
            <a:srgbClr val="80B281"/>
          </a:solidFill>
        </p:grpSpPr>
        <p:cxnSp>
          <p:nvCxnSpPr>
            <p:cNvPr id="50" name="Conector de Seta Reta 48">
              <a:extLst>
                <a:ext uri="{FF2B5EF4-FFF2-40B4-BE49-F238E27FC236}">
                  <a16:creationId xmlns:a16="http://schemas.microsoft.com/office/drawing/2014/main" id="{E4DF58AD-ABB2-D8A8-8913-50177843C46A}"/>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51" name="Losango 49">
              <a:extLst>
                <a:ext uri="{FF2B5EF4-FFF2-40B4-BE49-F238E27FC236}">
                  <a16:creationId xmlns:a16="http://schemas.microsoft.com/office/drawing/2014/main" id="{AB5F76CA-78A1-3E39-33D4-433CBE9DDFB7}"/>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Tree>
    <p:extLst>
      <p:ext uri="{BB962C8B-B14F-4D97-AF65-F5344CB8AC3E}">
        <p14:creationId xmlns:p14="http://schemas.microsoft.com/office/powerpoint/2010/main" val="3449326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83488-3F78-B6AC-AEA4-1B4C1663A251}"/>
            </a:ext>
          </a:extLst>
        </p:cNvPr>
        <p:cNvGrpSpPr/>
        <p:nvPr/>
      </p:nvGrpSpPr>
      <p:grpSpPr>
        <a:xfrm>
          <a:off x="0" y="0"/>
          <a:ext cx="0" cy="0"/>
          <a:chOff x="0" y="0"/>
          <a:chExt cx="0" cy="0"/>
        </a:xfrm>
      </p:grpSpPr>
      <p:sp>
        <p:nvSpPr>
          <p:cNvPr id="201" name="txt201">
            <a:extLst>
              <a:ext uri="{FF2B5EF4-FFF2-40B4-BE49-F238E27FC236}">
                <a16:creationId xmlns:a16="http://schemas.microsoft.com/office/drawing/2014/main" id="{CDF8F0A0-B9E6-F0AF-621E-22865141E952}"/>
              </a:ext>
            </a:extLst>
          </p:cNvPr>
          <p:cNvSpPr txBox="1"/>
          <p:nvPr/>
        </p:nvSpPr>
        <p:spPr>
          <a:xfrm>
            <a:off x="508000" y="711200"/>
            <a:ext cx="11176000" cy="279400"/>
          </a:xfrm>
          <a:prstGeom prst="rect">
            <a:avLst/>
          </a:prstGeom>
          <a:noFill/>
        </p:spPr>
        <p:txBody>
          <a:bodyPr wrap="square" lIns="0" tIns="0" rIns="0" bIns="0" anchor="ctr"/>
          <a:lstStyle/>
          <a:p>
            <a:pPr algn="l">
              <a:lnSpc>
                <a:spcPct val="106000"/>
              </a:lnSpc>
            </a:pPr>
            <a:r>
              <a:rPr lang="pt-BR" sz="1600" b="1">
                <a:solidFill>
                  <a:srgbClr val="114719"/>
                </a:solidFill>
                <a:latin typeface="Montserrat" pitchFamily="2" charset="77"/>
              </a:rPr>
              <a:t>Três primitivas teóricas sustentam a equação de escolha locacional do médico</a:t>
            </a:r>
          </a:p>
        </p:txBody>
      </p:sp>
      <p:sp>
        <p:nvSpPr>
          <p:cNvPr id="202" name="txt202">
            <a:extLst>
              <a:ext uri="{FF2B5EF4-FFF2-40B4-BE49-F238E27FC236}">
                <a16:creationId xmlns:a16="http://schemas.microsoft.com/office/drawing/2014/main" id="{1F49769F-0CAA-EDF0-F6B0-D2E574D7340F}"/>
              </a:ext>
            </a:extLst>
          </p:cNvPr>
          <p:cNvSpPr txBox="1"/>
          <p:nvPr/>
        </p:nvSpPr>
        <p:spPr>
          <a:xfrm>
            <a:off x="1202064" y="1115046"/>
            <a:ext cx="2921000" cy="228600"/>
          </a:xfrm>
          <a:prstGeom prst="rect">
            <a:avLst/>
          </a:prstGeom>
          <a:noFill/>
        </p:spPr>
        <p:txBody>
          <a:bodyPr wrap="square" lIns="0" tIns="0" rIns="0" bIns="0" anchor="b"/>
          <a:lstStyle/>
          <a:p>
            <a:pPr algn="l">
              <a:lnSpc>
                <a:spcPct val="106000"/>
              </a:lnSpc>
            </a:pPr>
            <a:r>
              <a:rPr lang="pt-BR" sz="1200" b="1" spc="100">
                <a:solidFill>
                  <a:srgbClr val="056429"/>
                </a:solidFill>
                <a:latin typeface="Montserrat" pitchFamily="2" charset="77"/>
              </a:rPr>
              <a:t>TRABALHO</a:t>
            </a:r>
          </a:p>
        </p:txBody>
      </p:sp>
      <p:sp>
        <p:nvSpPr>
          <p:cNvPr id="203" name="txt203">
            <a:extLst>
              <a:ext uri="{FF2B5EF4-FFF2-40B4-BE49-F238E27FC236}">
                <a16:creationId xmlns:a16="http://schemas.microsoft.com/office/drawing/2014/main" id="{98486FDE-B2DC-E786-85CA-360D8BC9A86E}"/>
              </a:ext>
            </a:extLst>
          </p:cNvPr>
          <p:cNvSpPr txBox="1"/>
          <p:nvPr/>
        </p:nvSpPr>
        <p:spPr>
          <a:xfrm>
            <a:off x="4808373" y="1135689"/>
            <a:ext cx="4064000" cy="228600"/>
          </a:xfrm>
          <a:prstGeom prst="rect">
            <a:avLst/>
          </a:prstGeom>
          <a:noFill/>
        </p:spPr>
        <p:txBody>
          <a:bodyPr wrap="square" lIns="0" tIns="0" rIns="0" bIns="0" anchor="b"/>
          <a:lstStyle/>
          <a:p>
            <a:pPr>
              <a:lnSpc>
                <a:spcPct val="106000"/>
              </a:lnSpc>
            </a:pPr>
            <a:r>
              <a:rPr lang="pt-BR" sz="1200" b="1" spc="100">
                <a:solidFill>
                  <a:srgbClr val="056429"/>
                </a:solidFill>
                <a:latin typeface="Montserrat" pitchFamily="2" charset="77"/>
              </a:rPr>
              <a:t>ENTRA NO MODELO COMO </a:t>
            </a:r>
          </a:p>
        </p:txBody>
      </p:sp>
      <p:sp>
        <p:nvSpPr>
          <p:cNvPr id="204" name="txt204">
            <a:extLst>
              <a:ext uri="{FF2B5EF4-FFF2-40B4-BE49-F238E27FC236}">
                <a16:creationId xmlns:a16="http://schemas.microsoft.com/office/drawing/2014/main" id="{9DA9C8DC-B4D9-7D00-C1CD-1794968EFD08}"/>
              </a:ext>
            </a:extLst>
          </p:cNvPr>
          <p:cNvSpPr txBox="1"/>
          <p:nvPr/>
        </p:nvSpPr>
        <p:spPr>
          <a:xfrm>
            <a:off x="9067800" y="1104900"/>
            <a:ext cx="2819400" cy="228600"/>
          </a:xfrm>
          <a:prstGeom prst="rect">
            <a:avLst/>
          </a:prstGeom>
          <a:noFill/>
        </p:spPr>
        <p:txBody>
          <a:bodyPr wrap="square" lIns="0" tIns="0" rIns="0" bIns="0" anchor="b"/>
          <a:lstStyle/>
          <a:p>
            <a:pPr algn="l">
              <a:lnSpc>
                <a:spcPct val="106000"/>
              </a:lnSpc>
            </a:pPr>
            <a:r>
              <a:rPr lang="pt-BR" sz="1200" b="1" spc="100">
                <a:solidFill>
                  <a:srgbClr val="056429"/>
                </a:solidFill>
                <a:latin typeface="Montserrat" pitchFamily="2" charset="77"/>
              </a:rPr>
              <a:t>PRIMITIVA QUE FORNECE</a:t>
            </a:r>
          </a:p>
        </p:txBody>
      </p:sp>
      <p:sp>
        <p:nvSpPr>
          <p:cNvPr id="205" name="lit205">
            <a:extLst>
              <a:ext uri="{FF2B5EF4-FFF2-40B4-BE49-F238E27FC236}">
                <a16:creationId xmlns:a16="http://schemas.microsoft.com/office/drawing/2014/main" id="{4895A0D4-DBC9-0A18-2A90-DFB5AA2E4915}"/>
              </a:ext>
            </a:extLst>
          </p:cNvPr>
          <p:cNvSpPr/>
          <p:nvPr/>
        </p:nvSpPr>
        <p:spPr>
          <a:xfrm>
            <a:off x="508000" y="1397000"/>
            <a:ext cx="11176000" cy="20320"/>
          </a:xfrm>
          <a:prstGeom prst="rect">
            <a:avLst/>
          </a:prstGeom>
          <a:solidFill>
            <a:srgbClr val="056429"/>
          </a:solidFill>
          <a:ln>
            <a:noFill/>
          </a:ln>
        </p:spPr>
        <p:txBody>
          <a:bodyPr/>
          <a:lstStyle/>
          <a:p>
            <a:endParaRPr lang="en-US">
              <a:latin typeface="Montserrat" pitchFamily="2" charset="77"/>
            </a:endParaRPr>
          </a:p>
        </p:txBody>
      </p:sp>
      <p:sp>
        <p:nvSpPr>
          <p:cNvPr id="15" name="Title 14">
            <a:extLst>
              <a:ext uri="{FF2B5EF4-FFF2-40B4-BE49-F238E27FC236}">
                <a16:creationId xmlns:a16="http://schemas.microsoft.com/office/drawing/2014/main" id="{1BCE6C0E-0C9E-339B-49D9-AD9539CB9A8F}"/>
              </a:ext>
            </a:extLst>
          </p:cNvPr>
          <p:cNvSpPr>
            <a:spLocks noGrp="1"/>
          </p:cNvSpPr>
          <p:nvPr>
            <p:ph type="title"/>
          </p:nvPr>
        </p:nvSpPr>
        <p:spPr/>
        <p:txBody>
          <a:bodyPr/>
          <a:lstStyle/>
          <a:p>
            <a:r>
              <a:rPr lang="pt-BR">
                <a:latin typeface="Montserrat" pitchFamily="2" charset="77"/>
              </a:rPr>
              <a:t>O modelo combina três elementos da teoria</a:t>
            </a:r>
          </a:p>
        </p:txBody>
      </p:sp>
      <p:grpSp>
        <p:nvGrpSpPr>
          <p:cNvPr id="3" name="Group 2">
            <a:extLst>
              <a:ext uri="{FF2B5EF4-FFF2-40B4-BE49-F238E27FC236}">
                <a16:creationId xmlns:a16="http://schemas.microsoft.com/office/drawing/2014/main" id="{EE016C38-9803-331A-B0CB-E45BA5AF7AB3}"/>
              </a:ext>
            </a:extLst>
          </p:cNvPr>
          <p:cNvGrpSpPr/>
          <p:nvPr/>
        </p:nvGrpSpPr>
        <p:grpSpPr>
          <a:xfrm>
            <a:off x="159530" y="3218856"/>
            <a:ext cx="11847151" cy="1473200"/>
            <a:chOff x="156356" y="1574800"/>
            <a:chExt cx="11847151" cy="1473200"/>
          </a:xfrm>
        </p:grpSpPr>
        <p:sp>
          <p:nvSpPr>
            <p:cNvPr id="4" name="lit206">
              <a:extLst>
                <a:ext uri="{FF2B5EF4-FFF2-40B4-BE49-F238E27FC236}">
                  <a16:creationId xmlns:a16="http://schemas.microsoft.com/office/drawing/2014/main" id="{2FC193A2-259B-EBC2-8D9B-B7DAC46E467D}"/>
                </a:ext>
              </a:extLst>
            </p:cNvPr>
            <p:cNvSpPr/>
            <p:nvPr/>
          </p:nvSpPr>
          <p:spPr>
            <a:xfrm>
              <a:off x="156356" y="1574800"/>
              <a:ext cx="11847151" cy="1473200"/>
            </a:xfrm>
            <a:prstGeom prst="roundRect">
              <a:avLst/>
            </a:prstGeom>
            <a:solidFill>
              <a:srgbClr val="F7FAF8"/>
            </a:solidFill>
            <a:ln>
              <a:noFill/>
            </a:ln>
          </p:spPr>
          <p:txBody>
            <a:bodyPr/>
            <a:lstStyle/>
            <a:p>
              <a:endParaRPr>
                <a:latin typeface="Montserrat" pitchFamily="2" charset="77"/>
              </a:endParaRPr>
            </a:p>
          </p:txBody>
        </p:sp>
        <p:sp>
          <p:nvSpPr>
            <p:cNvPr id="5" name="lit207">
              <a:extLst>
                <a:ext uri="{FF2B5EF4-FFF2-40B4-BE49-F238E27FC236}">
                  <a16:creationId xmlns:a16="http://schemas.microsoft.com/office/drawing/2014/main" id="{4AD03C44-1E36-FC3E-DACD-56D3F1BABA3F}"/>
                </a:ext>
              </a:extLst>
            </p:cNvPr>
            <p:cNvSpPr/>
            <p:nvPr/>
          </p:nvSpPr>
          <p:spPr>
            <a:xfrm>
              <a:off x="188493" y="1676400"/>
              <a:ext cx="63500" cy="1270000"/>
            </a:xfrm>
            <a:prstGeom prst="rect">
              <a:avLst/>
            </a:prstGeom>
            <a:solidFill>
              <a:srgbClr val="056429"/>
            </a:solidFill>
            <a:ln>
              <a:noFill/>
            </a:ln>
          </p:spPr>
          <p:txBody>
            <a:bodyPr/>
            <a:lstStyle/>
            <a:p>
              <a:endParaRPr>
                <a:latin typeface="Montserrat" pitchFamily="2" charset="77"/>
              </a:endParaRPr>
            </a:p>
          </p:txBody>
        </p:sp>
        <p:sp>
          <p:nvSpPr>
            <p:cNvPr id="6" name="lit210">
              <a:extLst>
                <a:ext uri="{FF2B5EF4-FFF2-40B4-BE49-F238E27FC236}">
                  <a16:creationId xmlns:a16="http://schemas.microsoft.com/office/drawing/2014/main" id="{86C78AB3-8CA5-4AD0-615F-2DED2C9C07AF}"/>
                </a:ext>
              </a:extLst>
            </p:cNvPr>
            <p:cNvSpPr/>
            <p:nvPr/>
          </p:nvSpPr>
          <p:spPr>
            <a:xfrm>
              <a:off x="3890984" y="1886005"/>
              <a:ext cx="9525" cy="863600"/>
            </a:xfrm>
            <a:prstGeom prst="rect">
              <a:avLst/>
            </a:prstGeom>
            <a:solidFill>
              <a:srgbClr val="BFD5C6"/>
            </a:solidFill>
            <a:ln>
              <a:noFill/>
            </a:ln>
          </p:spPr>
          <p:txBody>
            <a:bodyPr/>
            <a:lstStyle/>
            <a:p>
              <a:endParaRPr>
                <a:latin typeface="Montserrat" pitchFamily="2" charset="77"/>
              </a:endParaRPr>
            </a:p>
          </p:txBody>
        </p:sp>
        <p:sp>
          <p:nvSpPr>
            <p:cNvPr id="7" name="lit212">
              <a:extLst>
                <a:ext uri="{FF2B5EF4-FFF2-40B4-BE49-F238E27FC236}">
                  <a16:creationId xmlns:a16="http://schemas.microsoft.com/office/drawing/2014/main" id="{EE8A050D-D8C0-ACB4-FBE0-DE2AD5B981D0}"/>
                </a:ext>
              </a:extLst>
            </p:cNvPr>
            <p:cNvSpPr/>
            <p:nvPr/>
          </p:nvSpPr>
          <p:spPr>
            <a:xfrm>
              <a:off x="8416527" y="2228905"/>
              <a:ext cx="157927" cy="177800"/>
            </a:xfrm>
            <a:prstGeom prst="rightArrow">
              <a:avLst/>
            </a:prstGeom>
            <a:solidFill>
              <a:srgbClr val="056429"/>
            </a:solidFill>
            <a:ln>
              <a:noFill/>
            </a:ln>
          </p:spPr>
          <p:txBody>
            <a:bodyPr/>
            <a:lstStyle/>
            <a:p>
              <a:endParaRPr>
                <a:latin typeface="Montserrat" pitchFamily="2" charset="77"/>
              </a:endParaRPr>
            </a:p>
          </p:txBody>
        </p:sp>
        <p:sp>
          <p:nvSpPr>
            <p:cNvPr id="8" name="foto401">
              <a:extLst>
                <a:ext uri="{FF2B5EF4-FFF2-40B4-BE49-F238E27FC236}">
                  <a16:creationId xmlns:a16="http://schemas.microsoft.com/office/drawing/2014/main" id="{3457BE71-BFC5-920F-064D-1E33BCA25DA0}"/>
                </a:ext>
              </a:extLst>
            </p:cNvPr>
            <p:cNvSpPr/>
            <p:nvPr/>
          </p:nvSpPr>
          <p:spPr>
            <a:xfrm>
              <a:off x="400121" y="1618337"/>
              <a:ext cx="684000" cy="684000"/>
            </a:xfrm>
            <a:prstGeom prst="ellipse">
              <a:avLst/>
            </a:prstGeom>
            <a:solidFill>
              <a:srgbClr val="EFF4F0"/>
            </a:solidFill>
            <a:ln w="12700">
              <a:solidFill>
                <a:srgbClr val="BFD5C6"/>
              </a:solidFill>
            </a:ln>
          </p:spPr>
          <p:txBody>
            <a:bodyPr/>
            <a:lstStyle/>
            <a:p>
              <a:endParaRPr>
                <a:latin typeface="Montserrat" pitchFamily="2" charset="77"/>
              </a:endParaRPr>
            </a:p>
          </p:txBody>
        </p:sp>
        <p:sp>
          <p:nvSpPr>
            <p:cNvPr id="9" name="foto402">
              <a:extLst>
                <a:ext uri="{FF2B5EF4-FFF2-40B4-BE49-F238E27FC236}">
                  <a16:creationId xmlns:a16="http://schemas.microsoft.com/office/drawing/2014/main" id="{57EFEC3A-A6A0-3E4B-C2EA-0B79CC7E6F66}"/>
                </a:ext>
              </a:extLst>
            </p:cNvPr>
            <p:cNvSpPr/>
            <p:nvPr/>
          </p:nvSpPr>
          <p:spPr>
            <a:xfrm>
              <a:off x="1131510" y="1618337"/>
              <a:ext cx="684000" cy="684000"/>
            </a:xfrm>
            <a:prstGeom prst="ellipse">
              <a:avLst/>
            </a:prstGeom>
            <a:solidFill>
              <a:srgbClr val="EFF4F0"/>
            </a:solidFill>
            <a:ln w="12700">
              <a:solidFill>
                <a:srgbClr val="BFD5C6"/>
              </a:solidFill>
            </a:ln>
          </p:spPr>
          <p:txBody>
            <a:bodyPr/>
            <a:lstStyle/>
            <a:p>
              <a:endParaRPr>
                <a:latin typeface="Montserrat" pitchFamily="2" charset="77"/>
              </a:endParaRPr>
            </a:p>
          </p:txBody>
        </p:sp>
        <p:sp>
          <p:nvSpPr>
            <p:cNvPr id="11" name="foto404">
              <a:extLst>
                <a:ext uri="{FF2B5EF4-FFF2-40B4-BE49-F238E27FC236}">
                  <a16:creationId xmlns:a16="http://schemas.microsoft.com/office/drawing/2014/main" id="{D68D64CE-AEA1-536E-3933-3075B8121D97}"/>
                </a:ext>
              </a:extLst>
            </p:cNvPr>
            <p:cNvSpPr/>
            <p:nvPr/>
          </p:nvSpPr>
          <p:spPr>
            <a:xfrm>
              <a:off x="765750" y="2322830"/>
              <a:ext cx="684000" cy="684000"/>
            </a:xfrm>
            <a:prstGeom prst="ellipse">
              <a:avLst/>
            </a:prstGeom>
            <a:solidFill>
              <a:srgbClr val="EFF4F0"/>
            </a:solidFill>
            <a:ln w="12700">
              <a:solidFill>
                <a:srgbClr val="BFD5C6"/>
              </a:solidFill>
            </a:ln>
          </p:spPr>
          <p:txBody>
            <a:bodyPr/>
            <a:lstStyle/>
            <a:p>
              <a:endParaRPr>
                <a:latin typeface="Montserrat" pitchFamily="2" charset="77"/>
              </a:endParaRPr>
            </a:p>
          </p:txBody>
        </p:sp>
      </p:grpSp>
      <p:grpSp>
        <p:nvGrpSpPr>
          <p:cNvPr id="2" name="Group 1">
            <a:extLst>
              <a:ext uri="{FF2B5EF4-FFF2-40B4-BE49-F238E27FC236}">
                <a16:creationId xmlns:a16="http://schemas.microsoft.com/office/drawing/2014/main" id="{F07A4A23-6284-BB79-1979-AE270D2489AD}"/>
              </a:ext>
            </a:extLst>
          </p:cNvPr>
          <p:cNvGrpSpPr/>
          <p:nvPr/>
        </p:nvGrpSpPr>
        <p:grpSpPr>
          <a:xfrm>
            <a:off x="159530" y="1578002"/>
            <a:ext cx="11847151" cy="1473200"/>
            <a:chOff x="156356" y="1574800"/>
            <a:chExt cx="11847151" cy="1473200"/>
          </a:xfrm>
        </p:grpSpPr>
        <p:sp>
          <p:nvSpPr>
            <p:cNvPr id="206" name="lit206">
              <a:extLst>
                <a:ext uri="{FF2B5EF4-FFF2-40B4-BE49-F238E27FC236}">
                  <a16:creationId xmlns:a16="http://schemas.microsoft.com/office/drawing/2014/main" id="{F517E0CB-9C9C-6825-8A04-8525281840B2}"/>
                </a:ext>
              </a:extLst>
            </p:cNvPr>
            <p:cNvSpPr/>
            <p:nvPr/>
          </p:nvSpPr>
          <p:spPr>
            <a:xfrm>
              <a:off x="156356" y="1574800"/>
              <a:ext cx="11847151" cy="1473200"/>
            </a:xfrm>
            <a:prstGeom prst="roundRect">
              <a:avLst/>
            </a:prstGeom>
            <a:solidFill>
              <a:srgbClr val="F7FAF8"/>
            </a:solidFill>
            <a:ln>
              <a:noFill/>
            </a:ln>
          </p:spPr>
          <p:txBody>
            <a:bodyPr/>
            <a:lstStyle/>
            <a:p>
              <a:endParaRPr>
                <a:latin typeface="Montserrat" pitchFamily="2" charset="77"/>
              </a:endParaRPr>
            </a:p>
          </p:txBody>
        </p:sp>
        <p:sp>
          <p:nvSpPr>
            <p:cNvPr id="207" name="lit207">
              <a:extLst>
                <a:ext uri="{FF2B5EF4-FFF2-40B4-BE49-F238E27FC236}">
                  <a16:creationId xmlns:a16="http://schemas.microsoft.com/office/drawing/2014/main" id="{ECA58BA9-8DFF-2C5A-6290-5528E86AC9D3}"/>
                </a:ext>
              </a:extLst>
            </p:cNvPr>
            <p:cNvSpPr/>
            <p:nvPr/>
          </p:nvSpPr>
          <p:spPr>
            <a:xfrm>
              <a:off x="188493" y="1676400"/>
              <a:ext cx="63500" cy="1270000"/>
            </a:xfrm>
            <a:prstGeom prst="rect">
              <a:avLst/>
            </a:prstGeom>
            <a:solidFill>
              <a:srgbClr val="056429"/>
            </a:solidFill>
            <a:ln>
              <a:noFill/>
            </a:ln>
          </p:spPr>
          <p:txBody>
            <a:bodyPr/>
            <a:lstStyle/>
            <a:p>
              <a:endParaRPr>
                <a:latin typeface="Montserrat" pitchFamily="2" charset="77"/>
              </a:endParaRPr>
            </a:p>
          </p:txBody>
        </p:sp>
        <p:sp>
          <p:nvSpPr>
            <p:cNvPr id="210" name="lit210">
              <a:extLst>
                <a:ext uri="{FF2B5EF4-FFF2-40B4-BE49-F238E27FC236}">
                  <a16:creationId xmlns:a16="http://schemas.microsoft.com/office/drawing/2014/main" id="{AEB89FC8-1381-F391-0B24-9EF86C8E4942}"/>
                </a:ext>
              </a:extLst>
            </p:cNvPr>
            <p:cNvSpPr/>
            <p:nvPr/>
          </p:nvSpPr>
          <p:spPr>
            <a:xfrm>
              <a:off x="3890984" y="1886005"/>
              <a:ext cx="9525" cy="863600"/>
            </a:xfrm>
            <a:prstGeom prst="rect">
              <a:avLst/>
            </a:prstGeom>
            <a:solidFill>
              <a:srgbClr val="BFD5C6"/>
            </a:solidFill>
            <a:ln>
              <a:noFill/>
            </a:ln>
          </p:spPr>
          <p:txBody>
            <a:bodyPr/>
            <a:lstStyle/>
            <a:p>
              <a:endParaRPr>
                <a:latin typeface="Montserrat" pitchFamily="2" charset="77"/>
              </a:endParaRPr>
            </a:p>
          </p:txBody>
        </p:sp>
        <p:sp>
          <p:nvSpPr>
            <p:cNvPr id="212" name="lit212">
              <a:extLst>
                <a:ext uri="{FF2B5EF4-FFF2-40B4-BE49-F238E27FC236}">
                  <a16:creationId xmlns:a16="http://schemas.microsoft.com/office/drawing/2014/main" id="{1E4449C2-0CCB-24F3-815F-7B8DE36C3987}"/>
                </a:ext>
              </a:extLst>
            </p:cNvPr>
            <p:cNvSpPr/>
            <p:nvPr/>
          </p:nvSpPr>
          <p:spPr>
            <a:xfrm>
              <a:off x="8416527" y="2228905"/>
              <a:ext cx="157927" cy="177800"/>
            </a:xfrm>
            <a:prstGeom prst="rightArrow">
              <a:avLst/>
            </a:prstGeom>
            <a:solidFill>
              <a:srgbClr val="056429"/>
            </a:solidFill>
            <a:ln>
              <a:noFill/>
            </a:ln>
          </p:spPr>
          <p:txBody>
            <a:bodyPr/>
            <a:lstStyle/>
            <a:p>
              <a:endParaRPr>
                <a:latin typeface="Montserrat" pitchFamily="2" charset="77"/>
              </a:endParaRPr>
            </a:p>
          </p:txBody>
        </p:sp>
        <p:sp>
          <p:nvSpPr>
            <p:cNvPr id="401" name="foto401">
              <a:extLst>
                <a:ext uri="{FF2B5EF4-FFF2-40B4-BE49-F238E27FC236}">
                  <a16:creationId xmlns:a16="http://schemas.microsoft.com/office/drawing/2014/main" id="{EE48E669-7994-D0B3-6C53-37E67031FF27}"/>
                </a:ext>
              </a:extLst>
            </p:cNvPr>
            <p:cNvSpPr/>
            <p:nvPr/>
          </p:nvSpPr>
          <p:spPr>
            <a:xfrm>
              <a:off x="400121" y="1618337"/>
              <a:ext cx="684000" cy="684000"/>
            </a:xfrm>
            <a:prstGeom prst="ellipse">
              <a:avLst/>
            </a:prstGeom>
            <a:solidFill>
              <a:srgbClr val="EFF4F0"/>
            </a:solidFill>
            <a:ln w="12700">
              <a:solidFill>
                <a:srgbClr val="BFD5C6"/>
              </a:solidFill>
            </a:ln>
          </p:spPr>
          <p:txBody>
            <a:bodyPr/>
            <a:lstStyle/>
            <a:p>
              <a:endParaRPr>
                <a:latin typeface="Montserrat" pitchFamily="2" charset="77"/>
              </a:endParaRPr>
            </a:p>
          </p:txBody>
        </p:sp>
        <p:sp>
          <p:nvSpPr>
            <p:cNvPr id="402" name="foto402">
              <a:extLst>
                <a:ext uri="{FF2B5EF4-FFF2-40B4-BE49-F238E27FC236}">
                  <a16:creationId xmlns:a16="http://schemas.microsoft.com/office/drawing/2014/main" id="{E6498997-698E-0FD6-B2F7-6B991C7DE473}"/>
                </a:ext>
              </a:extLst>
            </p:cNvPr>
            <p:cNvSpPr/>
            <p:nvPr/>
          </p:nvSpPr>
          <p:spPr>
            <a:xfrm>
              <a:off x="1131510" y="1618337"/>
              <a:ext cx="684000" cy="684000"/>
            </a:xfrm>
            <a:prstGeom prst="ellipse">
              <a:avLst/>
            </a:prstGeom>
            <a:solidFill>
              <a:srgbClr val="EFF4F0"/>
            </a:solidFill>
            <a:ln w="12700">
              <a:solidFill>
                <a:srgbClr val="BFD5C6"/>
              </a:solidFill>
            </a:ln>
          </p:spPr>
          <p:txBody>
            <a:bodyPr/>
            <a:lstStyle/>
            <a:p>
              <a:endParaRPr>
                <a:latin typeface="Montserrat" pitchFamily="2" charset="77"/>
              </a:endParaRPr>
            </a:p>
          </p:txBody>
        </p:sp>
        <p:sp>
          <p:nvSpPr>
            <p:cNvPr id="403" name="foto403">
              <a:extLst>
                <a:ext uri="{FF2B5EF4-FFF2-40B4-BE49-F238E27FC236}">
                  <a16:creationId xmlns:a16="http://schemas.microsoft.com/office/drawing/2014/main" id="{96A8ED97-9A58-9413-DDDC-95AC4831A06D}"/>
                </a:ext>
              </a:extLst>
            </p:cNvPr>
            <p:cNvSpPr/>
            <p:nvPr/>
          </p:nvSpPr>
          <p:spPr>
            <a:xfrm>
              <a:off x="400121" y="2322830"/>
              <a:ext cx="684000" cy="684000"/>
            </a:xfrm>
            <a:prstGeom prst="ellipse">
              <a:avLst/>
            </a:prstGeom>
            <a:solidFill>
              <a:srgbClr val="EFF4F0"/>
            </a:solidFill>
            <a:ln w="12700">
              <a:solidFill>
                <a:srgbClr val="BFD5C6"/>
              </a:solidFill>
            </a:ln>
          </p:spPr>
          <p:txBody>
            <a:bodyPr/>
            <a:lstStyle/>
            <a:p>
              <a:endParaRPr>
                <a:latin typeface="Montserrat" pitchFamily="2" charset="77"/>
              </a:endParaRPr>
            </a:p>
          </p:txBody>
        </p:sp>
        <p:sp>
          <p:nvSpPr>
            <p:cNvPr id="404" name="foto404">
              <a:extLst>
                <a:ext uri="{FF2B5EF4-FFF2-40B4-BE49-F238E27FC236}">
                  <a16:creationId xmlns:a16="http://schemas.microsoft.com/office/drawing/2014/main" id="{4AE88EFE-B484-70DF-C55D-7CC5736C574C}"/>
                </a:ext>
              </a:extLst>
            </p:cNvPr>
            <p:cNvSpPr/>
            <p:nvPr/>
          </p:nvSpPr>
          <p:spPr>
            <a:xfrm>
              <a:off x="1131510" y="2322830"/>
              <a:ext cx="684000" cy="684000"/>
            </a:xfrm>
            <a:prstGeom prst="ellipse">
              <a:avLst/>
            </a:prstGeom>
            <a:solidFill>
              <a:srgbClr val="EFF4F0"/>
            </a:solidFill>
            <a:ln w="12700">
              <a:solidFill>
                <a:srgbClr val="BFD5C6"/>
              </a:solidFill>
            </a:ln>
          </p:spPr>
          <p:txBody>
            <a:bodyPr/>
            <a:lstStyle/>
            <a:p>
              <a:endParaRPr>
                <a:latin typeface="Montserrat" pitchFamily="2" charset="77"/>
              </a:endParaRPr>
            </a:p>
          </p:txBody>
        </p:sp>
      </p:grpSp>
      <p:grpSp>
        <p:nvGrpSpPr>
          <p:cNvPr id="12" name="Group 11">
            <a:extLst>
              <a:ext uri="{FF2B5EF4-FFF2-40B4-BE49-F238E27FC236}">
                <a16:creationId xmlns:a16="http://schemas.microsoft.com/office/drawing/2014/main" id="{C45C3328-6F90-A3B4-3DF9-F7193B3D30F7}"/>
              </a:ext>
            </a:extLst>
          </p:cNvPr>
          <p:cNvGrpSpPr/>
          <p:nvPr/>
        </p:nvGrpSpPr>
        <p:grpSpPr>
          <a:xfrm>
            <a:off x="159530" y="4890882"/>
            <a:ext cx="11847151" cy="1473200"/>
            <a:chOff x="156356" y="1574800"/>
            <a:chExt cx="11847151" cy="1473200"/>
          </a:xfrm>
        </p:grpSpPr>
        <p:sp>
          <p:nvSpPr>
            <p:cNvPr id="13" name="lit206">
              <a:extLst>
                <a:ext uri="{FF2B5EF4-FFF2-40B4-BE49-F238E27FC236}">
                  <a16:creationId xmlns:a16="http://schemas.microsoft.com/office/drawing/2014/main" id="{7C825678-67A3-A9A0-33DA-B2ADE645F599}"/>
                </a:ext>
              </a:extLst>
            </p:cNvPr>
            <p:cNvSpPr/>
            <p:nvPr/>
          </p:nvSpPr>
          <p:spPr>
            <a:xfrm>
              <a:off x="156356" y="1574800"/>
              <a:ext cx="11847151" cy="1473200"/>
            </a:xfrm>
            <a:prstGeom prst="roundRect">
              <a:avLst/>
            </a:prstGeom>
            <a:solidFill>
              <a:srgbClr val="F7FAF8"/>
            </a:solidFill>
            <a:ln>
              <a:noFill/>
            </a:ln>
          </p:spPr>
          <p:txBody>
            <a:bodyPr/>
            <a:lstStyle/>
            <a:p>
              <a:endParaRPr>
                <a:latin typeface="Montserrat" pitchFamily="2" charset="77"/>
              </a:endParaRPr>
            </a:p>
          </p:txBody>
        </p:sp>
        <p:sp>
          <p:nvSpPr>
            <p:cNvPr id="14" name="lit207">
              <a:extLst>
                <a:ext uri="{FF2B5EF4-FFF2-40B4-BE49-F238E27FC236}">
                  <a16:creationId xmlns:a16="http://schemas.microsoft.com/office/drawing/2014/main" id="{9BF0AB2A-E89D-9B79-6400-8494EA21916F}"/>
                </a:ext>
              </a:extLst>
            </p:cNvPr>
            <p:cNvSpPr/>
            <p:nvPr/>
          </p:nvSpPr>
          <p:spPr>
            <a:xfrm>
              <a:off x="188493" y="1676400"/>
              <a:ext cx="63500" cy="1270000"/>
            </a:xfrm>
            <a:prstGeom prst="rect">
              <a:avLst/>
            </a:prstGeom>
            <a:solidFill>
              <a:srgbClr val="056429"/>
            </a:solidFill>
            <a:ln>
              <a:noFill/>
            </a:ln>
          </p:spPr>
          <p:txBody>
            <a:bodyPr/>
            <a:lstStyle/>
            <a:p>
              <a:endParaRPr>
                <a:latin typeface="Montserrat" pitchFamily="2" charset="77"/>
              </a:endParaRPr>
            </a:p>
          </p:txBody>
        </p:sp>
        <p:sp>
          <p:nvSpPr>
            <p:cNvPr id="16" name="lit210">
              <a:extLst>
                <a:ext uri="{FF2B5EF4-FFF2-40B4-BE49-F238E27FC236}">
                  <a16:creationId xmlns:a16="http://schemas.microsoft.com/office/drawing/2014/main" id="{FFE47A81-988D-4579-349C-AE3ECDA85037}"/>
                </a:ext>
              </a:extLst>
            </p:cNvPr>
            <p:cNvSpPr/>
            <p:nvPr/>
          </p:nvSpPr>
          <p:spPr>
            <a:xfrm>
              <a:off x="3890984" y="1886005"/>
              <a:ext cx="9525" cy="863600"/>
            </a:xfrm>
            <a:prstGeom prst="rect">
              <a:avLst/>
            </a:prstGeom>
            <a:solidFill>
              <a:srgbClr val="BFD5C6"/>
            </a:solidFill>
            <a:ln>
              <a:noFill/>
            </a:ln>
          </p:spPr>
          <p:txBody>
            <a:bodyPr/>
            <a:lstStyle/>
            <a:p>
              <a:endParaRPr>
                <a:latin typeface="Montserrat" pitchFamily="2" charset="77"/>
              </a:endParaRPr>
            </a:p>
          </p:txBody>
        </p:sp>
        <p:sp>
          <p:nvSpPr>
            <p:cNvPr id="17" name="lit212">
              <a:extLst>
                <a:ext uri="{FF2B5EF4-FFF2-40B4-BE49-F238E27FC236}">
                  <a16:creationId xmlns:a16="http://schemas.microsoft.com/office/drawing/2014/main" id="{2B2D5480-16CF-B1E8-62B9-359A9609B689}"/>
                </a:ext>
              </a:extLst>
            </p:cNvPr>
            <p:cNvSpPr/>
            <p:nvPr/>
          </p:nvSpPr>
          <p:spPr>
            <a:xfrm>
              <a:off x="8416527" y="2228905"/>
              <a:ext cx="157927" cy="177800"/>
            </a:xfrm>
            <a:prstGeom prst="rightArrow">
              <a:avLst/>
            </a:prstGeom>
            <a:solidFill>
              <a:srgbClr val="056429"/>
            </a:solidFill>
            <a:ln>
              <a:noFill/>
            </a:ln>
          </p:spPr>
          <p:txBody>
            <a:bodyPr/>
            <a:lstStyle/>
            <a:p>
              <a:endParaRPr>
                <a:latin typeface="Montserrat" pitchFamily="2" charset="77"/>
              </a:endParaRPr>
            </a:p>
          </p:txBody>
        </p:sp>
        <p:sp>
          <p:nvSpPr>
            <p:cNvPr id="18" name="foto401">
              <a:extLst>
                <a:ext uri="{FF2B5EF4-FFF2-40B4-BE49-F238E27FC236}">
                  <a16:creationId xmlns:a16="http://schemas.microsoft.com/office/drawing/2014/main" id="{32B4C71B-800A-2A13-15EE-42EB0354CFB2}"/>
                </a:ext>
              </a:extLst>
            </p:cNvPr>
            <p:cNvSpPr/>
            <p:nvPr/>
          </p:nvSpPr>
          <p:spPr>
            <a:xfrm>
              <a:off x="400121" y="1972667"/>
              <a:ext cx="684000" cy="684000"/>
            </a:xfrm>
            <a:prstGeom prst="ellipse">
              <a:avLst/>
            </a:prstGeom>
            <a:solidFill>
              <a:srgbClr val="EFF4F0"/>
            </a:solidFill>
            <a:ln w="12700">
              <a:solidFill>
                <a:srgbClr val="BFD5C6"/>
              </a:solidFill>
            </a:ln>
          </p:spPr>
          <p:txBody>
            <a:bodyPr/>
            <a:lstStyle/>
            <a:p>
              <a:endParaRPr>
                <a:latin typeface="Montserrat" pitchFamily="2" charset="77"/>
              </a:endParaRPr>
            </a:p>
          </p:txBody>
        </p:sp>
        <p:sp>
          <p:nvSpPr>
            <p:cNvPr id="19" name="foto402">
              <a:extLst>
                <a:ext uri="{FF2B5EF4-FFF2-40B4-BE49-F238E27FC236}">
                  <a16:creationId xmlns:a16="http://schemas.microsoft.com/office/drawing/2014/main" id="{B40038E8-D01C-DABB-3A71-28A05FD66C56}"/>
                </a:ext>
              </a:extLst>
            </p:cNvPr>
            <p:cNvSpPr/>
            <p:nvPr/>
          </p:nvSpPr>
          <p:spPr>
            <a:xfrm>
              <a:off x="1131510" y="1972667"/>
              <a:ext cx="684000" cy="684000"/>
            </a:xfrm>
            <a:prstGeom prst="ellipse">
              <a:avLst/>
            </a:prstGeom>
            <a:solidFill>
              <a:srgbClr val="EFF4F0"/>
            </a:solidFill>
            <a:ln w="12700">
              <a:solidFill>
                <a:srgbClr val="BFD5C6"/>
              </a:solidFill>
            </a:ln>
          </p:spPr>
          <p:txBody>
            <a:bodyPr/>
            <a:lstStyle/>
            <a:p>
              <a:endParaRPr>
                <a:latin typeface="Montserrat" pitchFamily="2" charset="77"/>
              </a:endParaRPr>
            </a:p>
          </p:txBody>
        </p:sp>
      </p:grpSp>
      <p:sp>
        <p:nvSpPr>
          <p:cNvPr id="23" name="txt209">
            <a:extLst>
              <a:ext uri="{FF2B5EF4-FFF2-40B4-BE49-F238E27FC236}">
                <a16:creationId xmlns:a16="http://schemas.microsoft.com/office/drawing/2014/main" id="{6082F17A-5AD1-3FD3-DA0A-419F8FF9FB79}"/>
              </a:ext>
            </a:extLst>
          </p:cNvPr>
          <p:cNvSpPr txBox="1"/>
          <p:nvPr/>
        </p:nvSpPr>
        <p:spPr>
          <a:xfrm>
            <a:off x="2093604" y="1578002"/>
            <a:ext cx="1810079" cy="1473200"/>
          </a:xfrm>
          <a:prstGeom prst="rect">
            <a:avLst/>
          </a:prstGeom>
          <a:noFill/>
        </p:spPr>
        <p:txBody>
          <a:bodyPr wrap="square" lIns="0" tIns="0" rIns="0" bIns="0" anchor="ctr"/>
          <a:lstStyle/>
          <a:p>
            <a:pPr algn="l">
              <a:lnSpc>
                <a:spcPct val="112000"/>
              </a:lnSpc>
            </a:pPr>
            <a:r>
              <a:rPr lang="pt-BR" sz="1400" b="1" err="1">
                <a:solidFill>
                  <a:srgbClr val="114719"/>
                </a:solidFill>
                <a:latin typeface="Montserrat" pitchFamily="2" charset="77"/>
              </a:rPr>
              <a:t>Moehling</a:t>
            </a:r>
            <a:r>
              <a:rPr lang="pt-BR" sz="1400" b="1">
                <a:solidFill>
                  <a:srgbClr val="114719"/>
                </a:solidFill>
                <a:latin typeface="Montserrat" pitchFamily="2" charset="77"/>
              </a:rPr>
              <a:t>, </a:t>
            </a:r>
            <a:r>
              <a:rPr lang="pt-BR" sz="1400" b="1" err="1">
                <a:solidFill>
                  <a:srgbClr val="114719"/>
                </a:solidFill>
                <a:latin typeface="Montserrat" pitchFamily="2" charset="77"/>
              </a:rPr>
              <a:t>Niemesh</a:t>
            </a:r>
            <a:r>
              <a:rPr lang="pt-BR" sz="1400" b="1">
                <a:solidFill>
                  <a:srgbClr val="114719"/>
                </a:solidFill>
                <a:latin typeface="Montserrat" pitchFamily="2" charset="77"/>
              </a:rPr>
              <a:t>,</a:t>
            </a:r>
          </a:p>
          <a:p>
            <a:pPr algn="l">
              <a:lnSpc>
                <a:spcPct val="112000"/>
              </a:lnSpc>
            </a:pPr>
            <a:r>
              <a:rPr lang="pt-BR" sz="1400" b="1" err="1">
                <a:solidFill>
                  <a:srgbClr val="114719"/>
                </a:solidFill>
                <a:latin typeface="Montserrat" pitchFamily="2" charset="77"/>
              </a:rPr>
              <a:t>Thomasson</a:t>
            </a:r>
            <a:r>
              <a:rPr lang="pt-BR" sz="1400" b="1">
                <a:solidFill>
                  <a:srgbClr val="114719"/>
                </a:solidFill>
                <a:latin typeface="Montserrat" pitchFamily="2" charset="77"/>
              </a:rPr>
              <a:t> &amp; </a:t>
            </a:r>
            <a:r>
              <a:rPr lang="pt-BR" sz="1400" b="1" err="1">
                <a:solidFill>
                  <a:srgbClr val="114719"/>
                </a:solidFill>
                <a:latin typeface="Montserrat" pitchFamily="2" charset="77"/>
              </a:rPr>
              <a:t>Treber</a:t>
            </a:r>
            <a:endParaRPr lang="pt-BR" sz="1400" b="1">
              <a:solidFill>
                <a:srgbClr val="114719"/>
              </a:solidFill>
              <a:latin typeface="Montserrat" pitchFamily="2" charset="77"/>
            </a:endParaRPr>
          </a:p>
          <a:p>
            <a:pPr algn="l">
              <a:lnSpc>
                <a:spcPct val="112000"/>
              </a:lnSpc>
            </a:pPr>
            <a:r>
              <a:rPr lang="pt-BR" sz="1400" b="1">
                <a:solidFill>
                  <a:srgbClr val="114719"/>
                </a:solidFill>
                <a:latin typeface="Montserrat" pitchFamily="2" charset="77"/>
              </a:rPr>
              <a:t>(2020)</a:t>
            </a:r>
          </a:p>
        </p:txBody>
      </p:sp>
      <p:pic>
        <p:nvPicPr>
          <p:cNvPr id="24" name="Picture 14">
            <a:extLst>
              <a:ext uri="{FF2B5EF4-FFF2-40B4-BE49-F238E27FC236}">
                <a16:creationId xmlns:a16="http://schemas.microsoft.com/office/drawing/2014/main" id="{EA1F981E-7D62-B812-4993-B68DF668CD96}"/>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t="17744" b="27161"/>
          <a:stretch>
            <a:fillRect/>
          </a:stretch>
        </p:blipFill>
        <p:spPr>
          <a:xfrm flipH="1">
            <a:off x="476191" y="2395407"/>
            <a:ext cx="585465" cy="483034"/>
          </a:xfrm>
          <a:prstGeom prst="rect">
            <a:avLst/>
          </a:prstGeom>
        </p:spPr>
      </p:pic>
      <p:sp>
        <p:nvSpPr>
          <p:cNvPr id="10" name="txt217">
            <a:extLst>
              <a:ext uri="{FF2B5EF4-FFF2-40B4-BE49-F238E27FC236}">
                <a16:creationId xmlns:a16="http://schemas.microsoft.com/office/drawing/2014/main" id="{A36FEEF8-9FBC-1A65-A14B-698DF8CD4BDC}"/>
              </a:ext>
            </a:extLst>
          </p:cNvPr>
          <p:cNvSpPr txBox="1"/>
          <p:nvPr/>
        </p:nvSpPr>
        <p:spPr>
          <a:xfrm>
            <a:off x="2093604" y="3211912"/>
            <a:ext cx="1800554" cy="1473200"/>
          </a:xfrm>
          <a:prstGeom prst="rect">
            <a:avLst/>
          </a:prstGeom>
          <a:noFill/>
        </p:spPr>
        <p:txBody>
          <a:bodyPr wrap="square" lIns="0" tIns="0" rIns="0" bIns="0" anchor="ctr"/>
          <a:lstStyle/>
          <a:p>
            <a:pPr algn="l">
              <a:lnSpc>
                <a:spcPct val="112000"/>
              </a:lnSpc>
            </a:pPr>
            <a:r>
              <a:rPr lang="pt-BR" sz="1400" b="1" err="1">
                <a:solidFill>
                  <a:srgbClr val="114719"/>
                </a:solidFill>
                <a:latin typeface="Montserrat" pitchFamily="2" charset="77"/>
              </a:rPr>
              <a:t>Choné</a:t>
            </a:r>
            <a:r>
              <a:rPr lang="pt-BR" sz="1400" b="1">
                <a:solidFill>
                  <a:srgbClr val="114719"/>
                </a:solidFill>
                <a:latin typeface="Montserrat" pitchFamily="2" charset="77"/>
              </a:rPr>
              <a:t> &amp; </a:t>
            </a:r>
            <a:r>
              <a:rPr lang="pt-BR" sz="1400" b="1" err="1">
                <a:solidFill>
                  <a:srgbClr val="114719"/>
                </a:solidFill>
                <a:latin typeface="Montserrat" pitchFamily="2" charset="77"/>
              </a:rPr>
              <a:t>Ma</a:t>
            </a:r>
            <a:r>
              <a:rPr lang="pt-BR" sz="1400" b="1">
                <a:solidFill>
                  <a:srgbClr val="114719"/>
                </a:solidFill>
                <a:latin typeface="Montserrat" pitchFamily="2" charset="77"/>
              </a:rPr>
              <a:t> (2011);</a:t>
            </a:r>
          </a:p>
          <a:p>
            <a:pPr algn="l">
              <a:lnSpc>
                <a:spcPct val="112000"/>
              </a:lnSpc>
            </a:pPr>
            <a:r>
              <a:rPr lang="pt-BR" sz="1400" b="1">
                <a:solidFill>
                  <a:srgbClr val="114719"/>
                </a:solidFill>
                <a:latin typeface="Montserrat" pitchFamily="2" charset="77"/>
              </a:rPr>
              <a:t>Reinhardt (1975)</a:t>
            </a:r>
          </a:p>
        </p:txBody>
      </p:sp>
      <p:sp>
        <p:nvSpPr>
          <p:cNvPr id="27" name="txt225">
            <a:extLst>
              <a:ext uri="{FF2B5EF4-FFF2-40B4-BE49-F238E27FC236}">
                <a16:creationId xmlns:a16="http://schemas.microsoft.com/office/drawing/2014/main" id="{218C7C74-E83A-F4E0-4177-356EC2DF102D}"/>
              </a:ext>
            </a:extLst>
          </p:cNvPr>
          <p:cNvSpPr txBox="1"/>
          <p:nvPr/>
        </p:nvSpPr>
        <p:spPr>
          <a:xfrm>
            <a:off x="2093604" y="4904964"/>
            <a:ext cx="2032000" cy="1473200"/>
          </a:xfrm>
          <a:prstGeom prst="rect">
            <a:avLst/>
          </a:prstGeom>
          <a:noFill/>
        </p:spPr>
        <p:txBody>
          <a:bodyPr wrap="square" lIns="0" tIns="0" rIns="0" bIns="0" anchor="ctr"/>
          <a:lstStyle/>
          <a:p>
            <a:pPr algn="l">
              <a:lnSpc>
                <a:spcPct val="112000"/>
              </a:lnSpc>
            </a:pPr>
            <a:r>
              <a:rPr lang="pt-BR" sz="1400" b="1" err="1">
                <a:solidFill>
                  <a:srgbClr val="114719"/>
                </a:solidFill>
                <a:latin typeface="Montserrat" pitchFamily="2" charset="77"/>
              </a:rPr>
              <a:t>Redding</a:t>
            </a:r>
            <a:r>
              <a:rPr lang="pt-BR" sz="1400" b="1">
                <a:solidFill>
                  <a:srgbClr val="114719"/>
                </a:solidFill>
                <a:latin typeface="Montserrat" pitchFamily="2" charset="77"/>
              </a:rPr>
              <a:t> &amp;</a:t>
            </a:r>
          </a:p>
          <a:p>
            <a:pPr algn="l">
              <a:lnSpc>
                <a:spcPct val="112000"/>
              </a:lnSpc>
            </a:pPr>
            <a:r>
              <a:rPr lang="pt-BR" sz="1400" b="1">
                <a:solidFill>
                  <a:srgbClr val="114719"/>
                </a:solidFill>
                <a:latin typeface="Montserrat" pitchFamily="2" charset="77"/>
              </a:rPr>
              <a:t>Rossi-</a:t>
            </a:r>
            <a:r>
              <a:rPr lang="pt-BR" sz="1400" b="1" err="1">
                <a:solidFill>
                  <a:srgbClr val="114719"/>
                </a:solidFill>
                <a:latin typeface="Montserrat" pitchFamily="2" charset="77"/>
              </a:rPr>
              <a:t>Hansberg</a:t>
            </a:r>
            <a:r>
              <a:rPr lang="pt-BR" sz="1400" b="1">
                <a:solidFill>
                  <a:srgbClr val="114719"/>
                </a:solidFill>
                <a:latin typeface="Montserrat" pitchFamily="2" charset="77"/>
              </a:rPr>
              <a:t> (2017)</a:t>
            </a:r>
          </a:p>
        </p:txBody>
      </p:sp>
      <p:sp>
        <p:nvSpPr>
          <p:cNvPr id="29" name="txt211">
            <a:extLst>
              <a:ext uri="{FF2B5EF4-FFF2-40B4-BE49-F238E27FC236}">
                <a16:creationId xmlns:a16="http://schemas.microsoft.com/office/drawing/2014/main" id="{83C33592-ACE8-F0DA-616D-FA66348FEDAC}"/>
              </a:ext>
            </a:extLst>
          </p:cNvPr>
          <p:cNvSpPr txBox="1"/>
          <p:nvPr/>
        </p:nvSpPr>
        <p:spPr>
          <a:xfrm>
            <a:off x="4088799" y="1581205"/>
            <a:ext cx="4064000" cy="1473200"/>
          </a:xfrm>
          <a:prstGeom prst="rect">
            <a:avLst/>
          </a:prstGeom>
          <a:noFill/>
        </p:spPr>
        <p:txBody>
          <a:bodyPr wrap="square" lIns="0" tIns="0" rIns="0" bIns="0" anchor="ctr"/>
          <a:lstStyle/>
          <a:p>
            <a:pPr algn="just">
              <a:lnSpc>
                <a:spcPct val="112000"/>
              </a:lnSpc>
            </a:pPr>
            <a:r>
              <a:rPr lang="pt-BR" sz="1400">
                <a:solidFill>
                  <a:srgbClr val="3A3A3A"/>
                </a:solidFill>
                <a:latin typeface="Montserrat" pitchFamily="2" charset="77"/>
              </a:rPr>
              <a:t>Escolha locacional intertemporal: o médico maximiza o valor presente do rendimento real menos um custo locacional não pecuniário</a:t>
            </a:r>
          </a:p>
        </p:txBody>
      </p:sp>
      <p:sp>
        <p:nvSpPr>
          <p:cNvPr id="31" name="txt219">
            <a:extLst>
              <a:ext uri="{FF2B5EF4-FFF2-40B4-BE49-F238E27FC236}">
                <a16:creationId xmlns:a16="http://schemas.microsoft.com/office/drawing/2014/main" id="{9A3C1FB9-EF03-8156-3CA8-3AD211DC54DF}"/>
              </a:ext>
            </a:extLst>
          </p:cNvPr>
          <p:cNvSpPr txBox="1"/>
          <p:nvPr/>
        </p:nvSpPr>
        <p:spPr>
          <a:xfrm>
            <a:off x="4088799" y="3218856"/>
            <a:ext cx="4064000" cy="1473200"/>
          </a:xfrm>
          <a:prstGeom prst="rect">
            <a:avLst/>
          </a:prstGeom>
          <a:noFill/>
        </p:spPr>
        <p:txBody>
          <a:bodyPr wrap="square" lIns="0" tIns="0" rIns="0" bIns="0" anchor="ctr"/>
          <a:lstStyle/>
          <a:p>
            <a:pPr algn="just">
              <a:lnSpc>
                <a:spcPct val="112000"/>
              </a:lnSpc>
            </a:pPr>
            <a:r>
              <a:rPr lang="pt-BR" sz="1400">
                <a:solidFill>
                  <a:srgbClr val="3A3A3A"/>
                </a:solidFill>
                <a:latin typeface="Montserrat" pitchFamily="2" charset="77"/>
              </a:rPr>
              <a:t>Utilidade do médico com altruísmo: atender gera cansaço </a:t>
            </a:r>
            <a:r>
              <a:rPr lang="pt-BR" sz="1400" i="1">
                <a:solidFill>
                  <a:srgbClr val="3A3A3A"/>
                </a:solidFill>
                <a:latin typeface="Montserrat" pitchFamily="2" charset="77"/>
              </a:rPr>
              <a:t>C(</a:t>
            </a:r>
            <a:r>
              <a:rPr lang="pt-BR" sz="1400" i="1" err="1">
                <a:solidFill>
                  <a:srgbClr val="3A3A3A"/>
                </a:solidFill>
                <a:latin typeface="Montserrat" pitchFamily="2" charset="77"/>
              </a:rPr>
              <a:t>q</a:t>
            </a:r>
            <a:r>
              <a:rPr lang="pt-BR" sz="1400" i="1">
                <a:solidFill>
                  <a:srgbClr val="3A3A3A"/>
                </a:solidFill>
                <a:latin typeface="Montserrat" pitchFamily="2" charset="77"/>
              </a:rPr>
              <a:t>)</a:t>
            </a:r>
            <a:r>
              <a:rPr lang="pt-BR" sz="1400">
                <a:solidFill>
                  <a:srgbClr val="3A3A3A"/>
                </a:solidFill>
                <a:latin typeface="Montserrat" pitchFamily="2" charset="77"/>
              </a:rPr>
              <a:t> e satisfação </a:t>
            </a:r>
            <a:r>
              <a:rPr lang="pt-BR" sz="1400" i="1">
                <a:solidFill>
                  <a:srgbClr val="3A3A3A"/>
                </a:solidFill>
                <a:latin typeface="Montserrat" pitchFamily="2" charset="77"/>
              </a:rPr>
              <a:t>α</a:t>
            </a:r>
            <a:r>
              <a:rPr lang="pt-BR" sz="1400" i="1" err="1">
                <a:solidFill>
                  <a:srgbClr val="3A3A3A"/>
                </a:solidFill>
                <a:latin typeface="Montserrat" pitchFamily="2" charset="77"/>
              </a:rPr>
              <a:t>B</a:t>
            </a:r>
            <a:r>
              <a:rPr lang="pt-BR" sz="1400" i="1">
                <a:solidFill>
                  <a:srgbClr val="3A3A3A"/>
                </a:solidFill>
                <a:latin typeface="Montserrat" pitchFamily="2" charset="77"/>
              </a:rPr>
              <a:t>(</a:t>
            </a:r>
            <a:r>
              <a:rPr lang="pt-BR" sz="1400" i="1" err="1">
                <a:solidFill>
                  <a:srgbClr val="3A3A3A"/>
                </a:solidFill>
                <a:latin typeface="Montserrat" pitchFamily="2" charset="77"/>
              </a:rPr>
              <a:t>q</a:t>
            </a:r>
            <a:r>
              <a:rPr lang="pt-BR" sz="1400" i="1">
                <a:solidFill>
                  <a:srgbClr val="3A3A3A"/>
                </a:solidFill>
                <a:latin typeface="Montserrat" pitchFamily="2" charset="77"/>
              </a:rPr>
              <a:t>)</a:t>
            </a:r>
            <a:r>
              <a:rPr lang="pt-BR" sz="1400">
                <a:solidFill>
                  <a:srgbClr val="3A3A3A"/>
                </a:solidFill>
                <a:latin typeface="Montserrat" pitchFamily="2" charset="77"/>
              </a:rPr>
              <a:t>, ambos mediados por equipe e capital instalado</a:t>
            </a:r>
          </a:p>
        </p:txBody>
      </p:sp>
      <p:sp>
        <p:nvSpPr>
          <p:cNvPr id="33" name="txt227">
            <a:extLst>
              <a:ext uri="{FF2B5EF4-FFF2-40B4-BE49-F238E27FC236}">
                <a16:creationId xmlns:a16="http://schemas.microsoft.com/office/drawing/2014/main" id="{69298370-0554-BCED-4107-E00D640B8A3D}"/>
              </a:ext>
            </a:extLst>
          </p:cNvPr>
          <p:cNvSpPr txBox="1"/>
          <p:nvPr/>
        </p:nvSpPr>
        <p:spPr>
          <a:xfrm>
            <a:off x="4088799" y="4890882"/>
            <a:ext cx="4064000" cy="1473200"/>
          </a:xfrm>
          <a:prstGeom prst="rect">
            <a:avLst/>
          </a:prstGeom>
          <a:noFill/>
        </p:spPr>
        <p:txBody>
          <a:bodyPr wrap="square" lIns="0" tIns="0" rIns="0" bIns="0" anchor="ctr"/>
          <a:lstStyle/>
          <a:p>
            <a:pPr algn="l">
              <a:lnSpc>
                <a:spcPct val="112000"/>
              </a:lnSpc>
            </a:pPr>
            <a:r>
              <a:rPr lang="pt-BR" sz="1400">
                <a:solidFill>
                  <a:srgbClr val="3A3A3A"/>
                </a:solidFill>
                <a:latin typeface="Montserrat" pitchFamily="2" charset="77"/>
              </a:rPr>
              <a:t>Equilíbrio espacial: amenidades e custo de moradia determinam a atratividade de um lugar</a:t>
            </a:r>
          </a:p>
        </p:txBody>
      </p:sp>
      <p:sp>
        <p:nvSpPr>
          <p:cNvPr id="37" name="lit221">
            <a:extLst>
              <a:ext uri="{FF2B5EF4-FFF2-40B4-BE49-F238E27FC236}">
                <a16:creationId xmlns:a16="http://schemas.microsoft.com/office/drawing/2014/main" id="{A624A51B-1F6F-9EA0-D1CD-DC9A17C5D3F4}"/>
              </a:ext>
            </a:extLst>
          </p:cNvPr>
          <p:cNvSpPr/>
          <p:nvPr/>
        </p:nvSpPr>
        <p:spPr>
          <a:xfrm>
            <a:off x="8739576" y="3345856"/>
            <a:ext cx="3153981" cy="1219200"/>
          </a:xfrm>
          <a:prstGeom prst="roundRect">
            <a:avLst/>
          </a:prstGeom>
          <a:solidFill>
            <a:srgbClr val="E7F1EA"/>
          </a:solidFill>
          <a:ln>
            <a:noFill/>
          </a:ln>
        </p:spPr>
        <p:txBody>
          <a:bodyPr wrap="square" lIns="177800" tIns="0" rIns="177800" bIns="0" anchor="ctr"/>
          <a:lstStyle/>
          <a:p>
            <a:pPr algn="ctr">
              <a:lnSpc>
                <a:spcPct val="112000"/>
              </a:lnSpc>
            </a:pPr>
            <a:r>
              <a:rPr lang="pt-BR" sz="1300" b="1">
                <a:solidFill>
                  <a:srgbClr val="114719"/>
                </a:solidFill>
                <a:latin typeface="Montserrat" pitchFamily="2" charset="77"/>
              </a:rPr>
              <a:t>Custo laboral líquido</a:t>
            </a:r>
            <a:r>
              <a:rPr lang="pt-BR" sz="1300">
                <a:solidFill>
                  <a:srgbClr val="114719"/>
                </a:solidFill>
                <a:latin typeface="Montserrat" pitchFamily="2" charset="77"/>
              </a:rPr>
              <a:t> e o papel de </a:t>
            </a:r>
            <a:r>
              <a:rPr lang="pt-BR" sz="1300" i="1">
                <a:solidFill>
                  <a:srgbClr val="114719"/>
                </a:solidFill>
                <a:latin typeface="Montserrat" pitchFamily="2" charset="77"/>
              </a:rPr>
              <a:t>L</a:t>
            </a:r>
            <a:r>
              <a:rPr lang="pt-BR" sz="1300">
                <a:solidFill>
                  <a:srgbClr val="114719"/>
                </a:solidFill>
                <a:latin typeface="Montserrat" pitchFamily="2" charset="77"/>
              </a:rPr>
              <a:t> e </a:t>
            </a:r>
            <a:r>
              <a:rPr lang="pt-BR" sz="1300" i="1">
                <a:solidFill>
                  <a:srgbClr val="114719"/>
                </a:solidFill>
                <a:latin typeface="Montserrat" pitchFamily="2" charset="77"/>
              </a:rPr>
              <a:t>K</a:t>
            </a:r>
          </a:p>
        </p:txBody>
      </p:sp>
      <p:sp>
        <p:nvSpPr>
          <p:cNvPr id="35" name="lit213">
            <a:extLst>
              <a:ext uri="{FF2B5EF4-FFF2-40B4-BE49-F238E27FC236}">
                <a16:creationId xmlns:a16="http://schemas.microsoft.com/office/drawing/2014/main" id="{7B731846-CEF9-5650-39A6-B2C0A98D9FDD}"/>
              </a:ext>
            </a:extLst>
          </p:cNvPr>
          <p:cNvSpPr/>
          <p:nvPr/>
        </p:nvSpPr>
        <p:spPr>
          <a:xfrm>
            <a:off x="8739576" y="1705002"/>
            <a:ext cx="3153981" cy="1219200"/>
          </a:xfrm>
          <a:prstGeom prst="roundRect">
            <a:avLst/>
          </a:prstGeom>
          <a:solidFill>
            <a:srgbClr val="E7F1EA"/>
          </a:solidFill>
          <a:ln>
            <a:noFill/>
          </a:ln>
        </p:spPr>
        <p:txBody>
          <a:bodyPr wrap="square" lIns="177800" tIns="0" rIns="177800" bIns="0" anchor="ctr"/>
          <a:lstStyle/>
          <a:p>
            <a:pPr algn="ctr">
              <a:lnSpc>
                <a:spcPct val="112000"/>
              </a:lnSpc>
            </a:pPr>
            <a:r>
              <a:rPr lang="pt-BR" sz="1300" b="1">
                <a:solidFill>
                  <a:srgbClr val="114719"/>
                </a:solidFill>
                <a:latin typeface="Montserrat" pitchFamily="2" charset="77"/>
              </a:rPr>
              <a:t>Equação de escolha</a:t>
            </a:r>
            <a:r>
              <a:rPr lang="pt-BR" sz="1300">
                <a:solidFill>
                  <a:srgbClr val="114719"/>
                </a:solidFill>
                <a:latin typeface="Montserrat" pitchFamily="2" charset="77"/>
              </a:rPr>
              <a:t> e o horizonte </a:t>
            </a:r>
            <a:r>
              <a:rPr lang="pt-BR" sz="1300" i="1" err="1">
                <a:solidFill>
                  <a:srgbClr val="114719"/>
                </a:solidFill>
                <a:latin typeface="Montserrat" pitchFamily="2" charset="77"/>
              </a:rPr>
              <a:t>Σ</a:t>
            </a:r>
            <a:r>
              <a:rPr lang="pt-BR" sz="1300" i="1" baseline="-25000" err="1">
                <a:solidFill>
                  <a:srgbClr val="114719"/>
                </a:solidFill>
                <a:latin typeface="Montserrat" pitchFamily="2" charset="77"/>
              </a:rPr>
              <a:t>t</a:t>
            </a:r>
            <a:r>
              <a:rPr lang="pt-BR" sz="1300" i="1">
                <a:solidFill>
                  <a:srgbClr val="114719"/>
                </a:solidFill>
                <a:latin typeface="Montserrat" pitchFamily="2" charset="77"/>
              </a:rPr>
              <a:t> </a:t>
            </a:r>
            <a:r>
              <a:rPr lang="pt-BR" sz="1300" i="1" err="1">
                <a:solidFill>
                  <a:srgbClr val="114719"/>
                </a:solidFill>
                <a:latin typeface="Montserrat" pitchFamily="2" charset="77"/>
              </a:rPr>
              <a:t>δ</a:t>
            </a:r>
            <a:r>
              <a:rPr lang="pt-BR" sz="1300" i="1" baseline="30000" err="1">
                <a:solidFill>
                  <a:srgbClr val="114719"/>
                </a:solidFill>
                <a:latin typeface="Montserrat" pitchFamily="2" charset="77"/>
              </a:rPr>
              <a:t>t</a:t>
            </a:r>
            <a:endParaRPr lang="pt-BR" sz="1300" i="1" baseline="30000">
              <a:solidFill>
                <a:srgbClr val="114719"/>
              </a:solidFill>
              <a:latin typeface="Montserrat" pitchFamily="2" charset="77"/>
            </a:endParaRPr>
          </a:p>
        </p:txBody>
      </p:sp>
      <p:sp>
        <p:nvSpPr>
          <p:cNvPr id="39" name="lit229">
            <a:extLst>
              <a:ext uri="{FF2B5EF4-FFF2-40B4-BE49-F238E27FC236}">
                <a16:creationId xmlns:a16="http://schemas.microsoft.com/office/drawing/2014/main" id="{AE9B93B8-0E29-8838-E977-6FD99BAD27E0}"/>
              </a:ext>
            </a:extLst>
          </p:cNvPr>
          <p:cNvSpPr/>
          <p:nvPr/>
        </p:nvSpPr>
        <p:spPr>
          <a:xfrm>
            <a:off x="8739576" y="5017882"/>
            <a:ext cx="3153981" cy="1219200"/>
          </a:xfrm>
          <a:prstGeom prst="roundRect">
            <a:avLst/>
          </a:prstGeom>
          <a:solidFill>
            <a:srgbClr val="E7F1EA"/>
          </a:solidFill>
          <a:ln>
            <a:noFill/>
          </a:ln>
        </p:spPr>
        <p:txBody>
          <a:bodyPr wrap="square" lIns="177800" tIns="0" rIns="177800" bIns="0" anchor="ctr"/>
          <a:lstStyle/>
          <a:p>
            <a:pPr algn="ctr">
              <a:lnSpc>
                <a:spcPct val="112000"/>
              </a:lnSpc>
            </a:pPr>
            <a:r>
              <a:rPr lang="pt-BR" sz="1300" b="1">
                <a:solidFill>
                  <a:srgbClr val="114719"/>
                </a:solidFill>
                <a:latin typeface="Montserrat" pitchFamily="2" charset="77"/>
              </a:rPr>
              <a:t>Custo geográfico</a:t>
            </a:r>
            <a:r>
              <a:rPr lang="pt-BR" sz="1300">
                <a:solidFill>
                  <a:srgbClr val="114719"/>
                </a:solidFill>
                <a:latin typeface="Montserrat" pitchFamily="2" charset="77"/>
              </a:rPr>
              <a:t> e o deflator </a:t>
            </a:r>
            <a:r>
              <a:rPr lang="pt-BR" sz="1300" i="1" err="1">
                <a:solidFill>
                  <a:srgbClr val="114719"/>
                </a:solidFill>
                <a:latin typeface="Montserrat" pitchFamily="2" charset="77"/>
              </a:rPr>
              <a:t>p</a:t>
            </a:r>
            <a:r>
              <a:rPr lang="pt-BR" sz="1300" i="1" baseline="-25000" err="1">
                <a:solidFill>
                  <a:srgbClr val="114719"/>
                </a:solidFill>
                <a:latin typeface="Montserrat" pitchFamily="2" charset="77"/>
              </a:rPr>
              <a:t>m</a:t>
            </a:r>
            <a:endParaRPr lang="pt-BR" sz="1300" i="1" baseline="-25000">
              <a:solidFill>
                <a:srgbClr val="114719"/>
              </a:solidFill>
              <a:latin typeface="Montserrat" pitchFamily="2" charset="77"/>
            </a:endParaRPr>
          </a:p>
        </p:txBody>
      </p:sp>
      <p:pic>
        <p:nvPicPr>
          <p:cNvPr id="20" name="Picture 12">
            <a:extLst>
              <a:ext uri="{FF2B5EF4-FFF2-40B4-BE49-F238E27FC236}">
                <a16:creationId xmlns:a16="http://schemas.microsoft.com/office/drawing/2014/main" id="{AFB068F3-F4DE-218D-3D6F-B4ED2D80756E}"/>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rcRect/>
          <a:stretch>
            <a:fillRect/>
          </a:stretch>
        </p:blipFill>
        <p:spPr>
          <a:xfrm>
            <a:off x="530087" y="1625204"/>
            <a:ext cx="420767" cy="561834"/>
          </a:xfrm>
          <a:prstGeom prst="rect">
            <a:avLst/>
          </a:prstGeom>
        </p:spPr>
      </p:pic>
      <p:pic>
        <p:nvPicPr>
          <p:cNvPr id="21" name="Picture 16" descr="Melissa A Thomasson | CEPR">
            <a:extLst>
              <a:ext uri="{FF2B5EF4-FFF2-40B4-BE49-F238E27FC236}">
                <a16:creationId xmlns:a16="http://schemas.microsoft.com/office/drawing/2014/main" id="{AA1DFC85-8061-BD5B-77A2-8A822C99BB40}"/>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rcRect l="26045" r="28084" b="35527"/>
          <a:stretch>
            <a:fillRect/>
          </a:stretch>
        </p:blipFill>
        <p:spPr>
          <a:xfrm flipH="1">
            <a:off x="1237736" y="2371163"/>
            <a:ext cx="478939" cy="517215"/>
          </a:xfrm>
          <a:prstGeom prst="rect">
            <a:avLst/>
          </a:prstGeom>
        </p:spPr>
      </p:pic>
      <p:pic>
        <p:nvPicPr>
          <p:cNvPr id="28" name="Picture 11" descr="Jaret Treber | Kenyon College">
            <a:extLst>
              <a:ext uri="{FF2B5EF4-FFF2-40B4-BE49-F238E27FC236}">
                <a16:creationId xmlns:a16="http://schemas.microsoft.com/office/drawing/2014/main" id="{E306593A-4448-9C61-0CF0-2C1A8B5553B9}"/>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rcRect l="17759" t="11551" r="13306" b="41619"/>
          <a:stretch>
            <a:fillRect/>
          </a:stretch>
        </p:blipFill>
        <p:spPr>
          <a:xfrm flipH="1">
            <a:off x="1225774" y="1694620"/>
            <a:ext cx="513828" cy="492418"/>
          </a:xfrm>
          <a:prstGeom prst="rect">
            <a:avLst/>
          </a:prstGeom>
        </p:spPr>
      </p:pic>
      <p:pic>
        <p:nvPicPr>
          <p:cNvPr id="30" name="Imagem 29">
            <a:extLst>
              <a:ext uri="{FF2B5EF4-FFF2-40B4-BE49-F238E27FC236}">
                <a16:creationId xmlns:a16="http://schemas.microsoft.com/office/drawing/2014/main" id="{2191FD92-7CD7-FA06-960E-A1293598516F}"/>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Layer>
                </a14:imgProps>
              </a:ext>
            </a:extLst>
          </a:blip>
          <a:srcRect/>
          <a:stretch>
            <a:fillRect/>
          </a:stretch>
        </p:blipFill>
        <p:spPr>
          <a:xfrm>
            <a:off x="1263191" y="3345856"/>
            <a:ext cx="437960" cy="475900"/>
          </a:xfrm>
          <a:prstGeom prst="rect">
            <a:avLst/>
          </a:prstGeom>
        </p:spPr>
      </p:pic>
      <p:pic>
        <p:nvPicPr>
          <p:cNvPr id="32" name="Imagem 31">
            <a:extLst>
              <a:ext uri="{FF2B5EF4-FFF2-40B4-BE49-F238E27FC236}">
                <a16:creationId xmlns:a16="http://schemas.microsoft.com/office/drawing/2014/main" id="{40049AED-C88B-C7AD-5C2C-6BDE0B461893}"/>
              </a:ext>
            </a:extLst>
          </p:cNvPr>
          <p:cNvPicPr>
            <a:picLocks noChangeAspect="1"/>
          </p:cNvPicPr>
          <p:nvPr/>
        </p:nvPicPr>
        <p:blipFill>
          <a:blip r:embed="rId12">
            <a:extLst>
              <a:ext uri="{BEBA8EAE-BF5A-486C-A8C5-ECC9F3942E4B}">
                <a14:imgProps xmlns:a14="http://schemas.microsoft.com/office/drawing/2010/main">
                  <a14:imgLayer r:embed="rId13">
                    <a14:imgEffect>
                      <a14:saturation sat="0"/>
                    </a14:imgEffect>
                  </a14:imgLayer>
                </a14:imgProps>
              </a:ext>
            </a:extLst>
          </a:blip>
          <a:srcRect b="23348"/>
          <a:stretch>
            <a:fillRect/>
          </a:stretch>
        </p:blipFill>
        <p:spPr>
          <a:xfrm>
            <a:off x="882025" y="4050761"/>
            <a:ext cx="418460" cy="480199"/>
          </a:xfrm>
          <a:prstGeom prst="rect">
            <a:avLst/>
          </a:prstGeom>
        </p:spPr>
      </p:pic>
      <p:pic>
        <p:nvPicPr>
          <p:cNvPr id="34" name="Picture 20" descr="Uwe Reinhardt, 80, Dies; a Listened-to Voice on Health Care Policy - The  New York Times">
            <a:extLst>
              <a:ext uri="{FF2B5EF4-FFF2-40B4-BE49-F238E27FC236}">
                <a16:creationId xmlns:a16="http://schemas.microsoft.com/office/drawing/2014/main" id="{36A3A5A5-3119-3152-133C-39D240715F3A}"/>
              </a:ext>
            </a:extLst>
          </p:cNvPr>
          <p:cNvPicPr>
            <a:picLocks noChangeAspect="1"/>
          </p:cNvPicPr>
          <p:nvPr/>
        </p:nvPicPr>
        <p:blipFill>
          <a:blip r:embed="rId14">
            <a:extLst>
              <a:ext uri="{BEBA8EAE-BF5A-486C-A8C5-ECC9F3942E4B}">
                <a14:imgProps xmlns:a14="http://schemas.microsoft.com/office/drawing/2010/main">
                  <a14:imgLayer r:embed="rId15">
                    <a14:imgEffect>
                      <a14:saturation sat="0"/>
                    </a14:imgEffect>
                  </a14:imgLayer>
                </a14:imgProps>
              </a:ext>
            </a:extLst>
          </a:blip>
          <a:srcRect/>
          <a:stretch>
            <a:fillRect/>
          </a:stretch>
        </p:blipFill>
        <p:spPr>
          <a:xfrm>
            <a:off x="530087" y="3334166"/>
            <a:ext cx="456493" cy="512794"/>
          </a:xfrm>
          <a:prstGeom prst="rect">
            <a:avLst/>
          </a:prstGeom>
        </p:spPr>
      </p:pic>
      <p:pic>
        <p:nvPicPr>
          <p:cNvPr id="36" name="Imagem 35" descr="Stephen J. Redding | Julis-Rabinowitz Center for Public Policy &amp; Finance">
            <a:extLst>
              <a:ext uri="{FF2B5EF4-FFF2-40B4-BE49-F238E27FC236}">
                <a16:creationId xmlns:a16="http://schemas.microsoft.com/office/drawing/2014/main" id="{74F88A00-E4F3-AE95-AF16-15508A5E75B0}"/>
              </a:ext>
            </a:extLst>
          </p:cNvPr>
          <p:cNvPicPr>
            <a:picLocks noChangeAspect="1"/>
          </p:cNvPicPr>
          <p:nvPr/>
        </p:nvPicPr>
        <p:blipFill>
          <a:blip r:embed="rId16">
            <a:extLst>
              <a:ext uri="{BEBA8EAE-BF5A-486C-A8C5-ECC9F3942E4B}">
                <a14:imgProps xmlns:a14="http://schemas.microsoft.com/office/drawing/2010/main">
                  <a14:imgLayer r:embed="rId17">
                    <a14:imgEffect>
                      <a14:saturation sat="0"/>
                    </a14:imgEffect>
                  </a14:imgLayer>
                </a14:imgProps>
              </a:ext>
            </a:extLst>
          </a:blip>
          <a:srcRect/>
          <a:stretch>
            <a:fillRect/>
          </a:stretch>
        </p:blipFill>
        <p:spPr>
          <a:xfrm>
            <a:off x="542723" y="5331698"/>
            <a:ext cx="417419" cy="557812"/>
          </a:xfrm>
          <a:prstGeom prst="rect">
            <a:avLst/>
          </a:prstGeom>
        </p:spPr>
      </p:pic>
      <p:pic>
        <p:nvPicPr>
          <p:cNvPr id="38" name="Imagem 37" descr="Esteban Rossi-Hansberg - The Institute for Climate and Sustainable Growth">
            <a:extLst>
              <a:ext uri="{FF2B5EF4-FFF2-40B4-BE49-F238E27FC236}">
                <a16:creationId xmlns:a16="http://schemas.microsoft.com/office/drawing/2014/main" id="{4E31CEA8-1DD3-84D9-D299-2E3CF5E2D34F}"/>
              </a:ext>
            </a:extLst>
          </p:cNvPr>
          <p:cNvPicPr>
            <a:picLocks noChangeAspect="1"/>
          </p:cNvPicPr>
          <p:nvPr/>
        </p:nvPicPr>
        <p:blipFill>
          <a:blip r:embed="rId18">
            <a:extLst>
              <a:ext uri="{BEBA8EAE-BF5A-486C-A8C5-ECC9F3942E4B}">
                <a14:imgProps xmlns:a14="http://schemas.microsoft.com/office/drawing/2010/main">
                  <a14:imgLayer r:embed="rId19">
                    <a14:imgEffect>
                      <a14:saturation sat="0"/>
                    </a14:imgEffect>
                  </a14:imgLayer>
                </a14:imgProps>
              </a:ext>
            </a:extLst>
          </a:blip>
          <a:srcRect/>
          <a:stretch>
            <a:fillRect/>
          </a:stretch>
        </p:blipFill>
        <p:spPr>
          <a:xfrm>
            <a:off x="1235062" y="5288749"/>
            <a:ext cx="503062" cy="568721"/>
          </a:xfrm>
          <a:prstGeom prst="rect">
            <a:avLst/>
          </a:prstGeom>
        </p:spPr>
      </p:pic>
    </p:spTree>
    <p:extLst>
      <p:ext uri="{BB962C8B-B14F-4D97-AF65-F5344CB8AC3E}">
        <p14:creationId xmlns:p14="http://schemas.microsoft.com/office/powerpoint/2010/main" val="1653737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5E3AE-9A7E-5207-C4DF-F285E6C51738}"/>
            </a:ext>
          </a:extLst>
        </p:cNvPr>
        <p:cNvGrpSpPr/>
        <p:nvPr/>
      </p:nvGrpSpPr>
      <p:grpSpPr>
        <a:xfrm>
          <a:off x="0" y="0"/>
          <a:ext cx="0" cy="0"/>
          <a:chOff x="0" y="0"/>
          <a:chExt cx="0" cy="0"/>
        </a:xfrm>
      </p:grpSpPr>
      <p:sp>
        <p:nvSpPr>
          <p:cNvPr id="22" name="eqBox">
            <a:extLst>
              <a:ext uri="{FF2B5EF4-FFF2-40B4-BE49-F238E27FC236}">
                <a16:creationId xmlns:a16="http://schemas.microsoft.com/office/drawing/2014/main" id="{DCA88AA5-8DAC-684A-9A17-6F5141BF7831}"/>
              </a:ext>
            </a:extLst>
          </p:cNvPr>
          <p:cNvSpPr/>
          <p:nvPr/>
        </p:nvSpPr>
        <p:spPr>
          <a:xfrm>
            <a:off x="508000" y="1092200"/>
            <a:ext cx="11176000" cy="1092200"/>
          </a:xfrm>
          <a:prstGeom prst="roundRect">
            <a:avLst/>
          </a:prstGeom>
          <a:solidFill>
            <a:srgbClr val="E7F1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6" name="cBox">
            <a:extLst>
              <a:ext uri="{FF2B5EF4-FFF2-40B4-BE49-F238E27FC236}">
                <a16:creationId xmlns:a16="http://schemas.microsoft.com/office/drawing/2014/main" id="{C03F515A-2383-2D42-8E41-FC2B94AB6118}"/>
              </a:ext>
            </a:extLst>
          </p:cNvPr>
          <p:cNvSpPr/>
          <p:nvPr/>
        </p:nvSpPr>
        <p:spPr>
          <a:xfrm>
            <a:off x="508000" y="5435600"/>
            <a:ext cx="11176000" cy="838200"/>
          </a:xfrm>
          <a:prstGeom prst="roundRect">
            <a:avLst/>
          </a:prstGeom>
          <a:solidFill>
            <a:srgbClr val="F3F7F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15" name="Title 14">
            <a:extLst>
              <a:ext uri="{FF2B5EF4-FFF2-40B4-BE49-F238E27FC236}">
                <a16:creationId xmlns:a16="http://schemas.microsoft.com/office/drawing/2014/main" id="{5E2DAC7D-9A58-08D7-5933-4C0D9E4710D1}"/>
              </a:ext>
            </a:extLst>
          </p:cNvPr>
          <p:cNvSpPr>
            <a:spLocks noGrp="1"/>
          </p:cNvSpPr>
          <p:nvPr>
            <p:ph type="title"/>
          </p:nvPr>
        </p:nvSpPr>
        <p:spPr/>
        <p:txBody>
          <a:bodyPr>
            <a:normAutofit/>
          </a:bodyPr>
          <a:lstStyle/>
          <a:p>
            <a:pPr algn="l">
              <a:lnSpc>
                <a:spcPct val="100000"/>
              </a:lnSpc>
            </a:pPr>
            <a:r>
              <a:rPr lang="pt-BR" sz="2400" b="1">
                <a:solidFill>
                  <a:srgbClr val="FFFFFF"/>
                </a:solidFill>
                <a:latin typeface="Montserrat" pitchFamily="2" charset="77"/>
              </a:rPr>
              <a:t>A escolha locacional maximiza a renda real líquida</a:t>
            </a:r>
          </a:p>
        </p:txBody>
      </p:sp>
      <p:sp>
        <p:nvSpPr>
          <p:cNvPr id="25" name="kicker">
            <a:extLst>
              <a:ext uri="{FF2B5EF4-FFF2-40B4-BE49-F238E27FC236}">
                <a16:creationId xmlns:a16="http://schemas.microsoft.com/office/drawing/2014/main" id="{93892C30-AF38-C245-A55E-AC39B2C4B1ED}"/>
              </a:ext>
            </a:extLst>
          </p:cNvPr>
          <p:cNvSpPr txBox="1"/>
          <p:nvPr/>
        </p:nvSpPr>
        <p:spPr>
          <a:xfrm>
            <a:off x="508000" y="736600"/>
            <a:ext cx="8890000" cy="279948"/>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200" b="1" spc="100">
                <a:solidFill>
                  <a:srgbClr val="056429"/>
                </a:solidFill>
                <a:latin typeface="Montserrat" pitchFamily="2" charset="77"/>
              </a:rPr>
              <a:t>MOEHLING</a:t>
            </a:r>
            <a:r>
              <a:rPr lang="pt-BR" sz="1100" b="1" spc="100">
                <a:solidFill>
                  <a:srgbClr val="056429"/>
                </a:solidFill>
                <a:latin typeface="Montserrat" pitchFamily="2" charset="77"/>
              </a:rPr>
              <a:t>, NIEMESH, THOMASSON &amp; TREBER (2020), EQ. 1, P. 184</a:t>
            </a:r>
          </a:p>
        </p:txBody>
      </p:sp>
      <p:sp>
        <p:nvSpPr>
          <p:cNvPr id="40" name="h1">
            <a:extLst>
              <a:ext uri="{FF2B5EF4-FFF2-40B4-BE49-F238E27FC236}">
                <a16:creationId xmlns:a16="http://schemas.microsoft.com/office/drawing/2014/main" id="{A47FEA22-F1CF-EE40-8F7D-380D08A86E4B}"/>
              </a:ext>
            </a:extLst>
          </p:cNvPr>
          <p:cNvSpPr txBox="1"/>
          <p:nvPr/>
        </p:nvSpPr>
        <p:spPr>
          <a:xfrm>
            <a:off x="508000" y="2413000"/>
            <a:ext cx="5588000" cy="279948"/>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200" b="1" spc="100">
                <a:solidFill>
                  <a:srgbClr val="056429"/>
                </a:solidFill>
                <a:latin typeface="Montserrat" pitchFamily="2" charset="77"/>
              </a:rPr>
              <a:t>O QUE CADA TERMO SIGNIFICA</a:t>
            </a:r>
          </a:p>
        </p:txBody>
      </p:sp>
      <p:sp>
        <p:nvSpPr>
          <p:cNvPr id="41" name="rule1">
            <a:extLst>
              <a:ext uri="{FF2B5EF4-FFF2-40B4-BE49-F238E27FC236}">
                <a16:creationId xmlns:a16="http://schemas.microsoft.com/office/drawing/2014/main" id="{B5BBCBCA-28EE-1E4B-882D-A291197337D9}"/>
              </a:ext>
            </a:extLst>
          </p:cNvPr>
          <p:cNvSpPr/>
          <p:nvPr/>
        </p:nvSpPr>
        <p:spPr>
          <a:xfrm>
            <a:off x="508000" y="2692400"/>
            <a:ext cx="5588000" cy="1905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2" name="col1">
            <a:extLst>
              <a:ext uri="{FF2B5EF4-FFF2-40B4-BE49-F238E27FC236}">
                <a16:creationId xmlns:a16="http://schemas.microsoft.com/office/drawing/2014/main" id="{4C16898E-2B2F-EA49-B881-E2059ED08D52}"/>
              </a:ext>
            </a:extLst>
          </p:cNvPr>
          <p:cNvSpPr txBox="1"/>
          <p:nvPr/>
        </p:nvSpPr>
        <p:spPr>
          <a:xfrm>
            <a:off x="508000" y="2794000"/>
            <a:ext cx="5651500" cy="1695977"/>
          </a:xfrm>
          <a:prstGeom prst="rect">
            <a:avLst/>
          </a:prstGeom>
          <a:noFill/>
        </p:spPr>
        <p:txBody>
          <a:bodyPr vertOverflow="overflow" vert="horz" wrap="square" rtlCol="0" anchor="t">
            <a:spAutoFit/>
          </a:bodyPr>
          <a:lstStyle/>
          <a:p>
            <a:pPr marL="0" indent="0" algn="just">
              <a:lnSpc>
                <a:spcPct val="108000"/>
              </a:lnSpc>
              <a:spcAft>
                <a:spcPts val="500"/>
              </a:spcAft>
              <a:buNone/>
            </a:pPr>
            <a:r>
              <a:rPr lang="pt-BR" sz="1300" b="1" i="1">
                <a:solidFill>
                  <a:srgbClr val="114719"/>
                </a:solidFill>
                <a:latin typeface="Montserrat" pitchFamily="2" charset="77"/>
              </a:rPr>
              <a:t>i ∈ I</a:t>
            </a:r>
            <a:r>
              <a:rPr lang="pt-BR" sz="1300" b="1" i="1">
                <a:solidFill>
                  <a:srgbClr val="3A3A3A"/>
                </a:solidFill>
                <a:latin typeface="Montserrat" pitchFamily="2" charset="77"/>
              </a:rPr>
              <a:t>:  </a:t>
            </a:r>
            <a:r>
              <a:rPr lang="pt-BR" sz="1300">
                <a:solidFill>
                  <a:srgbClr val="3A3A3A"/>
                </a:solidFill>
                <a:latin typeface="Montserrat" pitchFamily="2" charset="77"/>
              </a:rPr>
              <a:t>localidades candidatas</a:t>
            </a:r>
          </a:p>
          <a:p>
            <a:pPr marL="0" indent="0" algn="just">
              <a:lnSpc>
                <a:spcPct val="108000"/>
              </a:lnSpc>
              <a:spcAft>
                <a:spcPts val="500"/>
              </a:spcAft>
              <a:buNone/>
            </a:pPr>
            <a:r>
              <a:rPr lang="pt-BR" sz="1300" b="1" i="1">
                <a:solidFill>
                  <a:srgbClr val="114719"/>
                </a:solidFill>
                <a:latin typeface="Montserrat" pitchFamily="2" charset="77"/>
              </a:rPr>
              <a:t>𝔼(</a:t>
            </a:r>
            <a:r>
              <a:rPr lang="pt-BR" sz="1300" b="1" i="1" err="1">
                <a:solidFill>
                  <a:srgbClr val="114719"/>
                </a:solidFill>
                <a:latin typeface="Montserrat" pitchFamily="2" charset="77"/>
              </a:rPr>
              <a:t>w</a:t>
            </a:r>
            <a:r>
              <a:rPr lang="pt-BR" sz="1300" b="1" i="1" baseline="-25000" err="1">
                <a:solidFill>
                  <a:srgbClr val="114719"/>
                </a:solidFill>
                <a:latin typeface="Montserrat" pitchFamily="2" charset="77"/>
              </a:rPr>
              <a:t>it</a:t>
            </a:r>
            <a:r>
              <a:rPr lang="pt-BR" sz="1300" b="1" i="1" baseline="30000">
                <a:solidFill>
                  <a:srgbClr val="114719"/>
                </a:solidFill>
                <a:latin typeface="Montserrat" pitchFamily="2" charset="77"/>
              </a:rPr>
              <a:t>(s)</a:t>
            </a:r>
            <a:r>
              <a:rPr lang="pt-BR" sz="1300" b="1" i="1">
                <a:solidFill>
                  <a:srgbClr val="114719"/>
                </a:solidFill>
                <a:latin typeface="Montserrat" pitchFamily="2" charset="77"/>
              </a:rPr>
              <a:t>):</a:t>
            </a:r>
            <a:r>
              <a:rPr lang="pt-BR" sz="1300" b="1" i="1">
                <a:solidFill>
                  <a:srgbClr val="3A3A3A"/>
                </a:solidFill>
                <a:latin typeface="Montserrat" pitchFamily="2" charset="77"/>
              </a:rPr>
              <a:t>  </a:t>
            </a:r>
            <a:r>
              <a:rPr lang="pt-BR" sz="1300">
                <a:solidFill>
                  <a:srgbClr val="3A3A3A"/>
                </a:solidFill>
                <a:latin typeface="Montserrat" pitchFamily="2" charset="77"/>
              </a:rPr>
              <a:t>salário esperado em i, no ano t, na especialidade s</a:t>
            </a:r>
          </a:p>
          <a:p>
            <a:pPr marL="0" indent="0" algn="just">
              <a:lnSpc>
                <a:spcPct val="108000"/>
              </a:lnSpc>
              <a:spcAft>
                <a:spcPts val="500"/>
              </a:spcAft>
              <a:buNone/>
            </a:pPr>
            <a:r>
              <a:rPr lang="pt-BR" sz="1300" b="1" i="1">
                <a:solidFill>
                  <a:srgbClr val="114719"/>
                </a:solidFill>
                <a:latin typeface="Montserrat" pitchFamily="2" charset="77"/>
              </a:rPr>
              <a:t>p</a:t>
            </a:r>
            <a:r>
              <a:rPr lang="pt-BR" sz="1300" b="1" i="1" baseline="-25000">
                <a:solidFill>
                  <a:srgbClr val="114719"/>
                </a:solidFill>
                <a:latin typeface="Montserrat" pitchFamily="2" charset="77"/>
              </a:rPr>
              <a:t>it</a:t>
            </a:r>
            <a:r>
              <a:rPr lang="pt-BR" sz="1300" b="1">
                <a:solidFill>
                  <a:srgbClr val="3A3A3A"/>
                </a:solidFill>
                <a:latin typeface="Montserrat" pitchFamily="2" charset="77"/>
              </a:rPr>
              <a:t>:  </a:t>
            </a:r>
            <a:r>
              <a:rPr lang="pt-BR" sz="1300">
                <a:solidFill>
                  <a:srgbClr val="3A3A3A"/>
                </a:solidFill>
                <a:latin typeface="Montserrat" pitchFamily="2" charset="77"/>
              </a:rPr>
              <a:t>nível de preços da localidade (deflator)</a:t>
            </a:r>
          </a:p>
          <a:p>
            <a:pPr algn="just">
              <a:lnSpc>
                <a:spcPct val="108000"/>
              </a:lnSpc>
              <a:spcAft>
                <a:spcPts val="500"/>
              </a:spcAft>
            </a:pPr>
            <a:r>
              <a:rPr lang="pt-BR" sz="1300" b="1" i="1" err="1">
                <a:solidFill>
                  <a:srgbClr val="114719"/>
                </a:solidFill>
                <a:latin typeface="Montserrat" pitchFamily="2" charset="77"/>
              </a:rPr>
              <a:t>c</a:t>
            </a:r>
            <a:r>
              <a:rPr lang="pt-BR" sz="1300" b="1" i="1" baseline="-25000" err="1">
                <a:solidFill>
                  <a:srgbClr val="114719"/>
                </a:solidFill>
                <a:latin typeface="Montserrat" pitchFamily="2" charset="77"/>
              </a:rPr>
              <a:t>it</a:t>
            </a:r>
            <a:r>
              <a:rPr lang="pt-BR" sz="1300" b="1" i="1" baseline="30000">
                <a:solidFill>
                  <a:srgbClr val="114719"/>
                </a:solidFill>
                <a:latin typeface="Montserrat" pitchFamily="2" charset="77"/>
              </a:rPr>
              <a:t>(s)</a:t>
            </a:r>
            <a:r>
              <a:rPr lang="pt-BR" sz="1300" b="1" i="1" baseline="30000">
                <a:solidFill>
                  <a:srgbClr val="3A3A3A"/>
                </a:solidFill>
                <a:latin typeface="Montserrat" pitchFamily="2" charset="77"/>
              </a:rPr>
              <a:t> </a:t>
            </a:r>
            <a:r>
              <a:rPr lang="pt-BR" sz="1300" b="1">
                <a:solidFill>
                  <a:srgbClr val="3A3A3A"/>
                </a:solidFill>
                <a:latin typeface="Montserrat" pitchFamily="2" charset="77"/>
              </a:rPr>
              <a:t>:</a:t>
            </a:r>
            <a:r>
              <a:rPr lang="pt-BR" sz="1300" b="1" i="1" baseline="30000">
                <a:solidFill>
                  <a:srgbClr val="3A3A3A"/>
                </a:solidFill>
                <a:latin typeface="Montserrat" pitchFamily="2" charset="77"/>
              </a:rPr>
              <a:t>  </a:t>
            </a:r>
            <a:r>
              <a:rPr lang="pt-BR" sz="1300">
                <a:solidFill>
                  <a:srgbClr val="3A3A3A"/>
                </a:solidFill>
                <a:latin typeface="Montserrat" pitchFamily="2" charset="77"/>
              </a:rPr>
              <a:t>custo não pecuniário de viver ali</a:t>
            </a:r>
          </a:p>
          <a:p>
            <a:pPr algn="just">
              <a:lnSpc>
                <a:spcPct val="108000"/>
              </a:lnSpc>
              <a:spcAft>
                <a:spcPts val="500"/>
              </a:spcAft>
            </a:pPr>
            <a:r>
              <a:rPr lang="pt-BR" sz="1300" b="1" i="1" err="1">
                <a:solidFill>
                  <a:srgbClr val="114719"/>
                </a:solidFill>
                <a:latin typeface="Montserrat" pitchFamily="2" charset="77"/>
              </a:rPr>
              <a:t>δ</a:t>
            </a:r>
            <a:r>
              <a:rPr lang="pt-BR" sz="1300" b="1" i="1" baseline="30000" err="1">
                <a:solidFill>
                  <a:srgbClr val="114719"/>
                </a:solidFill>
                <a:latin typeface="Montserrat" pitchFamily="2" charset="77"/>
              </a:rPr>
              <a:t>t</a:t>
            </a:r>
            <a:r>
              <a:rPr lang="pt-BR" sz="1300" b="1" i="1" baseline="30000">
                <a:solidFill>
                  <a:srgbClr val="3A3A3A"/>
                </a:solidFill>
                <a:latin typeface="Montserrat" pitchFamily="2" charset="77"/>
              </a:rPr>
              <a:t> </a:t>
            </a:r>
            <a:r>
              <a:rPr lang="pt-BR" sz="1300" b="1">
                <a:solidFill>
                  <a:srgbClr val="3A3A3A"/>
                </a:solidFill>
                <a:latin typeface="Montserrat" pitchFamily="2" charset="77"/>
              </a:rPr>
              <a:t>:</a:t>
            </a:r>
            <a:r>
              <a:rPr lang="pt-BR" sz="1300" b="1" i="1" baseline="30000">
                <a:solidFill>
                  <a:srgbClr val="3A3A3A"/>
                </a:solidFill>
                <a:latin typeface="Montserrat" pitchFamily="2" charset="77"/>
              </a:rPr>
              <a:t>  </a:t>
            </a:r>
            <a:r>
              <a:rPr lang="pt-BR" sz="1300">
                <a:solidFill>
                  <a:srgbClr val="3A3A3A"/>
                </a:solidFill>
                <a:latin typeface="Montserrat" pitchFamily="2" charset="77"/>
              </a:rPr>
              <a:t>desconto do ano t (0 &lt; δ &lt; 1)</a:t>
            </a:r>
          </a:p>
          <a:p>
            <a:pPr algn="just">
              <a:lnSpc>
                <a:spcPct val="108000"/>
              </a:lnSpc>
              <a:spcAft>
                <a:spcPts val="500"/>
              </a:spcAft>
            </a:pPr>
            <a:r>
              <a:rPr lang="pt-BR" sz="1300" b="1" i="1" err="1">
                <a:solidFill>
                  <a:srgbClr val="114719"/>
                </a:solidFill>
                <a:latin typeface="Montserrat" pitchFamily="2" charset="77"/>
              </a:rPr>
              <a:t>Σ</a:t>
            </a:r>
            <a:r>
              <a:rPr lang="pt-BR" sz="1300" b="1" i="1" baseline="-25000" err="1">
                <a:solidFill>
                  <a:srgbClr val="114719"/>
                </a:solidFill>
                <a:latin typeface="Montserrat" pitchFamily="2" charset="77"/>
              </a:rPr>
              <a:t>t</a:t>
            </a:r>
            <a:r>
              <a:rPr lang="pt-BR" sz="1300" b="1" i="1" baseline="-25000">
                <a:solidFill>
                  <a:srgbClr val="3A3A3A"/>
                </a:solidFill>
                <a:latin typeface="Montserrat" pitchFamily="2" charset="77"/>
              </a:rPr>
              <a:t> </a:t>
            </a:r>
            <a:r>
              <a:rPr lang="pt-BR" sz="1300" b="1">
                <a:solidFill>
                  <a:srgbClr val="3A3A3A"/>
                </a:solidFill>
                <a:latin typeface="Montserrat" pitchFamily="2" charset="77"/>
              </a:rPr>
              <a:t>:</a:t>
            </a:r>
            <a:r>
              <a:rPr lang="pt-BR" sz="1300" b="1" i="1" baseline="-25000">
                <a:solidFill>
                  <a:srgbClr val="3A3A3A"/>
                </a:solidFill>
                <a:latin typeface="Montserrat" pitchFamily="2" charset="77"/>
              </a:rPr>
              <a:t>  </a:t>
            </a:r>
            <a:r>
              <a:rPr lang="pt-BR" sz="1300">
                <a:solidFill>
                  <a:srgbClr val="3A3A3A"/>
                </a:solidFill>
                <a:latin typeface="Montserrat" pitchFamily="2" charset="77"/>
              </a:rPr>
              <a:t>soma ao longo do horizonte de carreira</a:t>
            </a:r>
          </a:p>
        </p:txBody>
      </p:sp>
      <p:sp>
        <p:nvSpPr>
          <p:cNvPr id="43" name="h2">
            <a:extLst>
              <a:ext uri="{FF2B5EF4-FFF2-40B4-BE49-F238E27FC236}">
                <a16:creationId xmlns:a16="http://schemas.microsoft.com/office/drawing/2014/main" id="{D7974631-3450-6D4D-A75A-3D23F5F6FFA9}"/>
              </a:ext>
            </a:extLst>
          </p:cNvPr>
          <p:cNvSpPr txBox="1"/>
          <p:nvPr/>
        </p:nvSpPr>
        <p:spPr>
          <a:xfrm>
            <a:off x="6477000" y="2413000"/>
            <a:ext cx="5207000" cy="279948"/>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100" b="1" spc="100">
                <a:solidFill>
                  <a:srgbClr val="056429"/>
                </a:solidFill>
                <a:latin typeface="Montserrat" pitchFamily="2" charset="77"/>
              </a:rPr>
              <a:t>O </a:t>
            </a:r>
            <a:r>
              <a:rPr lang="pt-BR" sz="1200" b="1" spc="100">
                <a:solidFill>
                  <a:srgbClr val="056429"/>
                </a:solidFill>
                <a:latin typeface="Montserrat" pitchFamily="2" charset="77"/>
              </a:rPr>
              <a:t>QUE</a:t>
            </a:r>
            <a:r>
              <a:rPr lang="pt-BR" sz="1100" b="1" spc="100">
                <a:solidFill>
                  <a:srgbClr val="056429"/>
                </a:solidFill>
                <a:latin typeface="Montserrat" pitchFamily="2" charset="77"/>
              </a:rPr>
              <a:t> A CONTA FAZ</a:t>
            </a:r>
          </a:p>
        </p:txBody>
      </p:sp>
      <p:sp>
        <p:nvSpPr>
          <p:cNvPr id="44" name="rule2">
            <a:extLst>
              <a:ext uri="{FF2B5EF4-FFF2-40B4-BE49-F238E27FC236}">
                <a16:creationId xmlns:a16="http://schemas.microsoft.com/office/drawing/2014/main" id="{3DD790CC-6970-C742-B04D-179CD0C38CCC}"/>
              </a:ext>
            </a:extLst>
          </p:cNvPr>
          <p:cNvSpPr/>
          <p:nvPr/>
        </p:nvSpPr>
        <p:spPr>
          <a:xfrm>
            <a:off x="6477000" y="2692400"/>
            <a:ext cx="5207000" cy="1905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5" name="col2">
            <a:extLst>
              <a:ext uri="{FF2B5EF4-FFF2-40B4-BE49-F238E27FC236}">
                <a16:creationId xmlns:a16="http://schemas.microsoft.com/office/drawing/2014/main" id="{95A564F1-5F59-014B-B44D-49DA86CAD39E}"/>
              </a:ext>
            </a:extLst>
          </p:cNvPr>
          <p:cNvSpPr txBox="1"/>
          <p:nvPr/>
        </p:nvSpPr>
        <p:spPr>
          <a:xfrm>
            <a:off x="6477000" y="2794000"/>
            <a:ext cx="5270500" cy="2039020"/>
          </a:xfrm>
          <a:prstGeom prst="rect">
            <a:avLst/>
          </a:prstGeom>
          <a:noFill/>
        </p:spPr>
        <p:txBody>
          <a:bodyPr vertOverflow="overflow" vert="horz" wrap="square" rtlCol="0" anchor="t">
            <a:spAutoFit/>
          </a:bodyPr>
          <a:lstStyle/>
          <a:p>
            <a:pPr marL="0" indent="0" algn="just">
              <a:lnSpc>
                <a:spcPct val="108000"/>
              </a:lnSpc>
              <a:spcAft>
                <a:spcPts val="600"/>
              </a:spcAft>
              <a:buNone/>
            </a:pPr>
            <a:r>
              <a:rPr lang="pt-BR" sz="1300" b="1">
                <a:solidFill>
                  <a:srgbClr val="056429"/>
                </a:solidFill>
                <a:latin typeface="Montserrat" pitchFamily="2" charset="77"/>
              </a:rPr>
              <a:t>1.  </a:t>
            </a:r>
            <a:r>
              <a:rPr lang="pt-BR" sz="1300">
                <a:solidFill>
                  <a:srgbClr val="3A3A3A"/>
                </a:solidFill>
                <a:latin typeface="Montserrat" pitchFamily="2" charset="77"/>
              </a:rPr>
              <a:t>Divide o salário esperado pelos preços locais: o que entra na decisão é o salário real, não o nominal.</a:t>
            </a:r>
          </a:p>
          <a:p>
            <a:pPr marL="0" indent="0" algn="just">
              <a:lnSpc>
                <a:spcPct val="108000"/>
              </a:lnSpc>
              <a:spcAft>
                <a:spcPts val="600"/>
              </a:spcAft>
              <a:buNone/>
            </a:pPr>
            <a:r>
              <a:rPr lang="pt-BR" sz="1300" b="1">
                <a:solidFill>
                  <a:srgbClr val="056429"/>
                </a:solidFill>
                <a:latin typeface="Montserrat" pitchFamily="2" charset="77"/>
              </a:rPr>
              <a:t>2.  </a:t>
            </a:r>
            <a:r>
              <a:rPr lang="pt-BR" sz="1300">
                <a:solidFill>
                  <a:srgbClr val="3A3A3A"/>
                </a:solidFill>
                <a:latin typeface="Montserrat" pitchFamily="2" charset="77"/>
              </a:rPr>
              <a:t>Subtrai o custo não pecuniário de viver na localidade: sobra o ganho líquido daquele ano.</a:t>
            </a:r>
          </a:p>
          <a:p>
            <a:pPr marL="0" indent="0" algn="just">
              <a:lnSpc>
                <a:spcPct val="108000"/>
              </a:lnSpc>
              <a:spcAft>
                <a:spcPts val="600"/>
              </a:spcAft>
              <a:buNone/>
            </a:pPr>
            <a:r>
              <a:rPr lang="pt-BR" sz="1300" b="1">
                <a:solidFill>
                  <a:srgbClr val="056429"/>
                </a:solidFill>
                <a:latin typeface="Montserrat" pitchFamily="2" charset="77"/>
              </a:rPr>
              <a:t>3.  </a:t>
            </a:r>
            <a:r>
              <a:rPr lang="pt-BR" sz="1300">
                <a:solidFill>
                  <a:srgbClr val="3A3A3A"/>
                </a:solidFill>
                <a:latin typeface="Montserrat" pitchFamily="2" charset="77"/>
              </a:rPr>
              <a:t>Desconta cada ano por δ e soma a carreira inteira: o resultado é um valor presente por localidade.</a:t>
            </a:r>
          </a:p>
          <a:p>
            <a:pPr marL="0" indent="0" algn="just">
              <a:lnSpc>
                <a:spcPct val="108000"/>
              </a:lnSpc>
              <a:spcAft>
                <a:spcPts val="600"/>
              </a:spcAft>
              <a:buNone/>
            </a:pPr>
            <a:r>
              <a:rPr lang="pt-BR" sz="1300" b="1">
                <a:solidFill>
                  <a:srgbClr val="056429"/>
                </a:solidFill>
                <a:latin typeface="Montserrat" pitchFamily="2" charset="77"/>
              </a:rPr>
              <a:t>4.  </a:t>
            </a:r>
            <a:r>
              <a:rPr lang="pt-BR" sz="1300">
                <a:solidFill>
                  <a:srgbClr val="3A3A3A"/>
                </a:solidFill>
                <a:latin typeface="Montserrat" pitchFamily="2" charset="77"/>
              </a:rPr>
              <a:t>Compara as localidades e devolve a que tem o maior valor (</a:t>
            </a:r>
            <a:r>
              <a:rPr lang="pt-BR" sz="1300" err="1">
                <a:solidFill>
                  <a:srgbClr val="3A3A3A"/>
                </a:solidFill>
                <a:latin typeface="Montserrat" pitchFamily="2" charset="77"/>
              </a:rPr>
              <a:t>arg</a:t>
            </a:r>
            <a:r>
              <a:rPr lang="pt-BR" sz="1300">
                <a:solidFill>
                  <a:srgbClr val="3A3A3A"/>
                </a:solidFill>
                <a:latin typeface="Montserrat" pitchFamily="2" charset="77"/>
              </a:rPr>
              <a:t> </a:t>
            </a:r>
            <a:r>
              <a:rPr lang="pt-BR" sz="1300" err="1">
                <a:solidFill>
                  <a:srgbClr val="3A3A3A"/>
                </a:solidFill>
                <a:latin typeface="Montserrat" pitchFamily="2" charset="77"/>
              </a:rPr>
              <a:t>max</a:t>
            </a:r>
            <a:r>
              <a:rPr lang="pt-BR" sz="1300">
                <a:solidFill>
                  <a:srgbClr val="3A3A3A"/>
                </a:solidFill>
                <a:latin typeface="Montserrat" pitchFamily="2" charset="77"/>
              </a:rPr>
              <a:t>).</a:t>
            </a:r>
          </a:p>
        </p:txBody>
      </p:sp>
      <p:sp>
        <p:nvSpPr>
          <p:cNvPr id="47" name="cBar">
            <a:extLst>
              <a:ext uri="{FF2B5EF4-FFF2-40B4-BE49-F238E27FC236}">
                <a16:creationId xmlns:a16="http://schemas.microsoft.com/office/drawing/2014/main" id="{4191B5FF-2B8D-FB41-951B-ADFF56BE7F0A}"/>
              </a:ext>
            </a:extLst>
          </p:cNvPr>
          <p:cNvSpPr/>
          <p:nvPr/>
        </p:nvSpPr>
        <p:spPr>
          <a:xfrm>
            <a:off x="508000" y="5511800"/>
            <a:ext cx="63500" cy="68580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8" name="cText">
            <a:extLst>
              <a:ext uri="{FF2B5EF4-FFF2-40B4-BE49-F238E27FC236}">
                <a16:creationId xmlns:a16="http://schemas.microsoft.com/office/drawing/2014/main" id="{FCC8367B-BD73-B64C-B6DD-ADBA3E035D90}"/>
              </a:ext>
            </a:extLst>
          </p:cNvPr>
          <p:cNvSpPr txBox="1"/>
          <p:nvPr/>
        </p:nvSpPr>
        <p:spPr>
          <a:xfrm>
            <a:off x="787400" y="5575300"/>
            <a:ext cx="10668000" cy="584199"/>
          </a:xfrm>
          <a:prstGeom prst="rect">
            <a:avLst/>
          </a:prstGeom>
          <a:noFill/>
        </p:spPr>
        <p:txBody>
          <a:bodyPr vertOverflow="overflow" vert="horz" wrap="square" rtlCol="0" anchor="ctr">
            <a:spAutoFit/>
          </a:bodyPr>
          <a:lstStyle/>
          <a:p>
            <a:pPr marL="0" indent="0" algn="l">
              <a:lnSpc>
                <a:spcPct val="110000"/>
              </a:lnSpc>
              <a:spcAft>
                <a:spcPts val="400"/>
              </a:spcAft>
              <a:buNone/>
            </a:pPr>
            <a:r>
              <a:rPr lang="pt-BR" sz="1500" b="1">
                <a:solidFill>
                  <a:srgbClr val="056429"/>
                </a:solidFill>
                <a:latin typeface="Montserrat" pitchFamily="2" charset="77"/>
              </a:rPr>
              <a:t>Onde chegamos:  </a:t>
            </a:r>
            <a:r>
              <a:rPr lang="pt-BR" sz="1500">
                <a:solidFill>
                  <a:srgbClr val="3A3A3A"/>
                </a:solidFill>
                <a:latin typeface="Montserrat" pitchFamily="2" charset="77"/>
              </a:rPr>
              <a:t>a localidade escolhida é a de maior renda real líquida descontada — salário nominal alto não compensa preços e custos locais altos.</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4BEF460-DE29-EC44-452C-F3E1709B22A5}"/>
                  </a:ext>
                </a:extLst>
              </p:cNvPr>
              <p:cNvSpPr txBox="1"/>
              <p:nvPr/>
            </p:nvSpPr>
            <p:spPr>
              <a:xfrm>
                <a:off x="3556000" y="1116005"/>
                <a:ext cx="5207000" cy="992195"/>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func>
                        <m:funcPr>
                          <m:ctrlPr>
                            <a:rPr lang="en-GB" sz="2500" b="1" i="1" smtClean="0">
                              <a:latin typeface="Cambria Math" panose="02040503050406030204" pitchFamily="18" charset="0"/>
                            </a:rPr>
                          </m:ctrlPr>
                        </m:funcPr>
                        <m:fName>
                          <m:limLow>
                            <m:limLowPr>
                              <m:ctrlPr>
                                <a:rPr lang="en-GB" sz="2500" b="1" i="1">
                                  <a:latin typeface="Cambria Math" panose="02040503050406030204" pitchFamily="18" charset="0"/>
                                </a:rPr>
                              </m:ctrlPr>
                            </m:limLowPr>
                            <m:e>
                              <m:r>
                                <a:rPr lang="en-GB" sz="2500" b="1" i="0">
                                  <a:latin typeface="Cambria Math" panose="02040503050406030204" pitchFamily="18" charset="0"/>
                                </a:rPr>
                                <m:t>𝐦𝐚𝐱</m:t>
                              </m:r>
                            </m:e>
                            <m:lim>
                              <m:r>
                                <a:rPr lang="en-GB" sz="2500" b="1" i="1">
                                  <a:latin typeface="Cambria Math" panose="02040503050406030204" pitchFamily="18" charset="0"/>
                                </a:rPr>
                                <m:t>𝒊</m:t>
                              </m:r>
                              <m:r>
                                <a:rPr lang="en-GB" sz="2500" b="1" i="1">
                                  <a:latin typeface="Cambria Math" panose="02040503050406030204" pitchFamily="18" charset="0"/>
                                </a:rPr>
                                <m:t>∈</m:t>
                              </m:r>
                              <m:r>
                                <a:rPr lang="en-GB" sz="2500" b="1" i="1">
                                  <a:latin typeface="Cambria Math" panose="02040503050406030204" pitchFamily="18" charset="0"/>
                                </a:rPr>
                                <m:t>𝑰</m:t>
                              </m:r>
                            </m:lim>
                          </m:limLow>
                        </m:fName>
                        <m:e>
                          <m:nary>
                            <m:naryPr>
                              <m:chr m:val="∑"/>
                              <m:supHide m:val="on"/>
                              <m:ctrlPr>
                                <a:rPr lang="en-GB" sz="2500" b="1" i="1">
                                  <a:latin typeface="Cambria Math" panose="02040503050406030204" pitchFamily="18" charset="0"/>
                                </a:rPr>
                              </m:ctrlPr>
                            </m:naryPr>
                            <m:sub>
                              <m:r>
                                <a:rPr lang="en-GB" sz="2500" b="1" i="1">
                                  <a:latin typeface="Cambria Math" panose="02040503050406030204" pitchFamily="18" charset="0"/>
                                </a:rPr>
                                <m:t>𝒕</m:t>
                              </m:r>
                            </m:sub>
                            <m:sup/>
                            <m:e>
                              <m:sSup>
                                <m:sSupPr>
                                  <m:ctrlPr>
                                    <a:rPr lang="en-GB" sz="2500" b="1" i="1">
                                      <a:latin typeface="Cambria Math" panose="02040503050406030204" pitchFamily="18" charset="0"/>
                                    </a:rPr>
                                  </m:ctrlPr>
                                </m:sSupPr>
                                <m:e>
                                  <m:r>
                                    <a:rPr lang="en-GB" sz="2500" b="1" i="1">
                                      <a:latin typeface="Cambria Math" panose="02040503050406030204" pitchFamily="18" charset="0"/>
                                    </a:rPr>
                                    <m:t>𝜹</m:t>
                                  </m:r>
                                </m:e>
                                <m:sup>
                                  <m:r>
                                    <a:rPr lang="en-GB" sz="2500" b="1" i="1">
                                      <a:latin typeface="Cambria Math" panose="02040503050406030204" pitchFamily="18" charset="0"/>
                                    </a:rPr>
                                    <m:t>𝒕</m:t>
                                  </m:r>
                                </m:sup>
                              </m:sSup>
                              <m:d>
                                <m:dPr>
                                  <m:begChr m:val="["/>
                                  <m:endChr m:val="]"/>
                                  <m:ctrlPr>
                                    <a:rPr lang="en-GB" sz="2500" b="1" i="1">
                                      <a:latin typeface="Cambria Math" panose="02040503050406030204" pitchFamily="18" charset="0"/>
                                    </a:rPr>
                                  </m:ctrlPr>
                                </m:dPr>
                                <m:e>
                                  <m:f>
                                    <m:fPr>
                                      <m:ctrlPr>
                                        <a:rPr lang="en-GB" sz="2500" b="1" i="1">
                                          <a:latin typeface="Cambria Math" panose="02040503050406030204" pitchFamily="18" charset="0"/>
                                        </a:rPr>
                                      </m:ctrlPr>
                                    </m:fPr>
                                    <m:num>
                                      <m:r>
                                        <a:rPr lang="en-GB" sz="2500" b="1" i="1">
                                          <a:latin typeface="Cambria Math" panose="02040503050406030204" pitchFamily="18" charset="0"/>
                                        </a:rPr>
                                        <m:t>𝔼</m:t>
                                      </m:r>
                                      <m:d>
                                        <m:dPr>
                                          <m:ctrlPr>
                                            <a:rPr lang="en-GB" sz="2500" b="1" i="1">
                                              <a:latin typeface="Cambria Math" panose="02040503050406030204" pitchFamily="18" charset="0"/>
                                            </a:rPr>
                                          </m:ctrlPr>
                                        </m:dPr>
                                        <m:e>
                                          <m:sSub>
                                            <m:sSubPr>
                                              <m:ctrlPr>
                                                <a:rPr lang="en-GB" sz="2500" b="1" i="1">
                                                  <a:latin typeface="Cambria Math" panose="02040503050406030204" pitchFamily="18" charset="0"/>
                                                </a:rPr>
                                              </m:ctrlPr>
                                            </m:sSubPr>
                                            <m:e>
                                              <m:r>
                                                <a:rPr lang="en-GB" sz="2500" b="1" i="1">
                                                  <a:latin typeface="Cambria Math" panose="02040503050406030204" pitchFamily="18" charset="0"/>
                                                </a:rPr>
                                                <m:t>𝒘</m:t>
                                              </m:r>
                                            </m:e>
                                            <m:sub>
                                              <m:r>
                                                <a:rPr lang="en-GB" sz="2500" b="1" i="1">
                                                  <a:latin typeface="Cambria Math" panose="02040503050406030204" pitchFamily="18" charset="0"/>
                                                </a:rPr>
                                                <m:t>𝒊𝒕</m:t>
                                              </m:r>
                                              <m:d>
                                                <m:dPr>
                                                  <m:ctrlPr>
                                                    <a:rPr lang="en-GB" sz="2500" b="1" i="1">
                                                      <a:latin typeface="Cambria Math" panose="02040503050406030204" pitchFamily="18" charset="0"/>
                                                    </a:rPr>
                                                  </m:ctrlPr>
                                                </m:dPr>
                                                <m:e>
                                                  <m:r>
                                                    <a:rPr lang="en-GB" sz="2500" b="1" i="1">
                                                      <a:latin typeface="Cambria Math" panose="02040503050406030204" pitchFamily="18" charset="0"/>
                                                    </a:rPr>
                                                    <m:t>𝒔</m:t>
                                                  </m:r>
                                                </m:e>
                                              </m:d>
                                            </m:sub>
                                          </m:sSub>
                                        </m:e>
                                      </m:d>
                                    </m:num>
                                    <m:den>
                                      <m:sSub>
                                        <m:sSubPr>
                                          <m:ctrlPr>
                                            <a:rPr lang="en-GB" sz="2500" b="1" i="1">
                                              <a:latin typeface="Cambria Math" panose="02040503050406030204" pitchFamily="18" charset="0"/>
                                            </a:rPr>
                                          </m:ctrlPr>
                                        </m:sSubPr>
                                        <m:e>
                                          <m:r>
                                            <a:rPr lang="en-GB" sz="2500" b="1" i="1">
                                              <a:latin typeface="Cambria Math" panose="02040503050406030204" pitchFamily="18" charset="0"/>
                                            </a:rPr>
                                            <m:t>𝒑</m:t>
                                          </m:r>
                                        </m:e>
                                        <m:sub>
                                          <m:r>
                                            <a:rPr lang="en-GB" sz="2500" b="1" i="1">
                                              <a:latin typeface="Cambria Math" panose="02040503050406030204" pitchFamily="18" charset="0"/>
                                            </a:rPr>
                                            <m:t>𝒊𝒕</m:t>
                                          </m:r>
                                        </m:sub>
                                      </m:sSub>
                                    </m:den>
                                  </m:f>
                                  <m:r>
                                    <a:rPr lang="en-GB" sz="2500" b="1" i="1">
                                      <a:latin typeface="Cambria Math" panose="02040503050406030204" pitchFamily="18" charset="0"/>
                                    </a:rPr>
                                    <m:t>− </m:t>
                                  </m:r>
                                  <m:sSub>
                                    <m:sSubPr>
                                      <m:ctrlPr>
                                        <a:rPr lang="en-GB" sz="2500" b="1" i="1">
                                          <a:latin typeface="Cambria Math" panose="02040503050406030204" pitchFamily="18" charset="0"/>
                                        </a:rPr>
                                      </m:ctrlPr>
                                    </m:sSubPr>
                                    <m:e>
                                      <m:r>
                                        <a:rPr lang="en-GB" sz="2500" b="1" i="1">
                                          <a:latin typeface="Cambria Math" panose="02040503050406030204" pitchFamily="18" charset="0"/>
                                        </a:rPr>
                                        <m:t>𝒄</m:t>
                                      </m:r>
                                    </m:e>
                                    <m:sub>
                                      <m:r>
                                        <a:rPr lang="en-GB" sz="2500" b="1" i="1">
                                          <a:latin typeface="Cambria Math" panose="02040503050406030204" pitchFamily="18" charset="0"/>
                                        </a:rPr>
                                        <m:t>𝒊𝒕</m:t>
                                      </m:r>
                                      <m:d>
                                        <m:dPr>
                                          <m:ctrlPr>
                                            <a:rPr lang="en-GB" sz="2500" b="1" i="1">
                                              <a:latin typeface="Cambria Math" panose="02040503050406030204" pitchFamily="18" charset="0"/>
                                            </a:rPr>
                                          </m:ctrlPr>
                                        </m:dPr>
                                        <m:e>
                                          <m:r>
                                            <a:rPr lang="en-GB" sz="2500" b="1" i="1">
                                              <a:latin typeface="Cambria Math" panose="02040503050406030204" pitchFamily="18" charset="0"/>
                                            </a:rPr>
                                            <m:t>𝒔</m:t>
                                          </m:r>
                                        </m:e>
                                      </m:d>
                                    </m:sub>
                                  </m:sSub>
                                </m:e>
                              </m:d>
                            </m:e>
                          </m:nary>
                        </m:e>
                      </m:func>
                    </m:oMath>
                  </m:oMathPara>
                </a14:m>
                <a:endParaRPr lang="pt-BR" sz="2500" b="1">
                  <a:latin typeface="Montserrat" pitchFamily="2" charset="77"/>
                </a:endParaRPr>
              </a:p>
            </p:txBody>
          </p:sp>
        </mc:Choice>
        <mc:Fallback>
          <p:sp>
            <p:nvSpPr>
              <p:cNvPr id="2" name="TextBox 1">
                <a:extLst>
                  <a:ext uri="{FF2B5EF4-FFF2-40B4-BE49-F238E27FC236}">
                    <a16:creationId xmlns:a16="http://schemas.microsoft.com/office/drawing/2014/main" id="{14BEF460-DE29-EC44-452C-F3E1709B22A5}"/>
                  </a:ext>
                </a:extLst>
              </p:cNvPr>
              <p:cNvSpPr txBox="1">
                <a:spLocks noRot="1" noChangeAspect="1" noMove="1" noResize="1" noEditPoints="1" noAdjustHandles="1" noChangeArrowheads="1" noChangeShapeType="1" noTextEdit="1"/>
              </p:cNvSpPr>
              <p:nvPr/>
            </p:nvSpPr>
            <p:spPr>
              <a:xfrm>
                <a:off x="3556000" y="1116005"/>
                <a:ext cx="5207000" cy="99219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27412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77E13-47EA-8ACF-4B90-5E3CA79EFBFE}"/>
            </a:ext>
          </a:extLst>
        </p:cNvPr>
        <p:cNvGrpSpPr/>
        <p:nvPr/>
      </p:nvGrpSpPr>
      <p:grpSpPr>
        <a:xfrm>
          <a:off x="0" y="0"/>
          <a:ext cx="0" cy="0"/>
          <a:chOff x="0" y="0"/>
          <a:chExt cx="0" cy="0"/>
        </a:xfrm>
      </p:grpSpPr>
      <p:sp>
        <p:nvSpPr>
          <p:cNvPr id="22" name="eqBox">
            <a:extLst>
              <a:ext uri="{FF2B5EF4-FFF2-40B4-BE49-F238E27FC236}">
                <a16:creationId xmlns:a16="http://schemas.microsoft.com/office/drawing/2014/main" id="{C9D3D958-A572-236B-E88B-B9A9823E2E7B}"/>
              </a:ext>
            </a:extLst>
          </p:cNvPr>
          <p:cNvSpPr/>
          <p:nvPr/>
        </p:nvSpPr>
        <p:spPr>
          <a:xfrm>
            <a:off x="508000" y="1092200"/>
            <a:ext cx="11176000" cy="1092200"/>
          </a:xfrm>
          <a:prstGeom prst="roundRect">
            <a:avLst/>
          </a:prstGeom>
          <a:solidFill>
            <a:srgbClr val="E7F1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6" name="cBox">
            <a:extLst>
              <a:ext uri="{FF2B5EF4-FFF2-40B4-BE49-F238E27FC236}">
                <a16:creationId xmlns:a16="http://schemas.microsoft.com/office/drawing/2014/main" id="{EB87D3B8-A656-6C24-AF80-A29F7778D758}"/>
              </a:ext>
            </a:extLst>
          </p:cNvPr>
          <p:cNvSpPr/>
          <p:nvPr/>
        </p:nvSpPr>
        <p:spPr>
          <a:xfrm>
            <a:off x="508000" y="5435600"/>
            <a:ext cx="11176000" cy="838200"/>
          </a:xfrm>
          <a:prstGeom prst="roundRect">
            <a:avLst/>
          </a:prstGeom>
          <a:solidFill>
            <a:srgbClr val="F3F7F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15" name="Title 14">
            <a:extLst>
              <a:ext uri="{FF2B5EF4-FFF2-40B4-BE49-F238E27FC236}">
                <a16:creationId xmlns:a16="http://schemas.microsoft.com/office/drawing/2014/main" id="{9799EF2C-F951-6031-6A7E-04B3984DFF39}"/>
              </a:ext>
            </a:extLst>
          </p:cNvPr>
          <p:cNvSpPr>
            <a:spLocks noGrp="1"/>
          </p:cNvSpPr>
          <p:nvPr>
            <p:ph type="title"/>
          </p:nvPr>
        </p:nvSpPr>
        <p:spPr/>
        <p:txBody>
          <a:bodyPr>
            <a:normAutofit/>
          </a:bodyPr>
          <a:lstStyle/>
          <a:p>
            <a:pPr marL="0" indent="0" algn="l">
              <a:lnSpc>
                <a:spcPct val="108000"/>
              </a:lnSpc>
              <a:spcAft>
                <a:spcPts val="400"/>
              </a:spcAft>
              <a:buNone/>
            </a:pPr>
            <a:r>
              <a:rPr lang="pt-BR" sz="2400" b="1">
                <a:solidFill>
                  <a:srgbClr val="FFFFFF"/>
                </a:solidFill>
                <a:latin typeface="Montserrat" pitchFamily="2" charset="77"/>
              </a:rPr>
              <a:t>Amenidades e moradia definem quanto vale o salário</a:t>
            </a:r>
          </a:p>
        </p:txBody>
      </p:sp>
      <p:sp>
        <p:nvSpPr>
          <p:cNvPr id="25" name="kicker">
            <a:extLst>
              <a:ext uri="{FF2B5EF4-FFF2-40B4-BE49-F238E27FC236}">
                <a16:creationId xmlns:a16="http://schemas.microsoft.com/office/drawing/2014/main" id="{5D7927B7-BC64-6709-21FE-9907BE0D2586}"/>
              </a:ext>
            </a:extLst>
          </p:cNvPr>
          <p:cNvSpPr txBox="1"/>
          <p:nvPr/>
        </p:nvSpPr>
        <p:spPr>
          <a:xfrm>
            <a:off x="508000" y="736600"/>
            <a:ext cx="8890000" cy="282578"/>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200" b="1" spc="100">
                <a:solidFill>
                  <a:srgbClr val="056429"/>
                </a:solidFill>
                <a:latin typeface="Montserrat" pitchFamily="2" charset="77"/>
              </a:rPr>
              <a:t>REDDING &amp; ROSSI-HANSBERG (2017), EQ. 24, P. 28</a:t>
            </a:r>
          </a:p>
        </p:txBody>
      </p:sp>
      <p:sp>
        <p:nvSpPr>
          <p:cNvPr id="40" name="h1">
            <a:extLst>
              <a:ext uri="{FF2B5EF4-FFF2-40B4-BE49-F238E27FC236}">
                <a16:creationId xmlns:a16="http://schemas.microsoft.com/office/drawing/2014/main" id="{526BE538-261E-22C2-9A89-7A8A7D4A8B19}"/>
              </a:ext>
            </a:extLst>
          </p:cNvPr>
          <p:cNvSpPr txBox="1"/>
          <p:nvPr/>
        </p:nvSpPr>
        <p:spPr>
          <a:xfrm>
            <a:off x="508000" y="2413000"/>
            <a:ext cx="5588000" cy="298415"/>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300" b="1" spc="100">
                <a:solidFill>
                  <a:srgbClr val="056429"/>
                </a:solidFill>
                <a:latin typeface="Montserrat" pitchFamily="2" charset="77"/>
              </a:rPr>
              <a:t>O QUE CADA TERMO SIGNIFICA</a:t>
            </a:r>
          </a:p>
        </p:txBody>
      </p:sp>
      <p:sp>
        <p:nvSpPr>
          <p:cNvPr id="41" name="rule1">
            <a:extLst>
              <a:ext uri="{FF2B5EF4-FFF2-40B4-BE49-F238E27FC236}">
                <a16:creationId xmlns:a16="http://schemas.microsoft.com/office/drawing/2014/main" id="{AB72C006-FD78-71DF-AC13-66315CDEE98F}"/>
              </a:ext>
            </a:extLst>
          </p:cNvPr>
          <p:cNvSpPr/>
          <p:nvPr/>
        </p:nvSpPr>
        <p:spPr>
          <a:xfrm>
            <a:off x="508000" y="2692400"/>
            <a:ext cx="5588000" cy="1905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2" name="col1">
            <a:extLst>
              <a:ext uri="{FF2B5EF4-FFF2-40B4-BE49-F238E27FC236}">
                <a16:creationId xmlns:a16="http://schemas.microsoft.com/office/drawing/2014/main" id="{3D8889EC-983D-6BB8-DEDA-6E403E8563DE}"/>
              </a:ext>
            </a:extLst>
          </p:cNvPr>
          <p:cNvSpPr txBox="1"/>
          <p:nvPr/>
        </p:nvSpPr>
        <p:spPr>
          <a:xfrm>
            <a:off x="508000" y="2794000"/>
            <a:ext cx="5651500" cy="1899238"/>
          </a:xfrm>
          <a:prstGeom prst="rect">
            <a:avLst/>
          </a:prstGeom>
          <a:noFill/>
        </p:spPr>
        <p:txBody>
          <a:bodyPr vertOverflow="overflow" vert="horz" wrap="square" rtlCol="0" anchor="t">
            <a:spAutoFit/>
          </a:bodyPr>
          <a:lstStyle/>
          <a:p>
            <a:pPr>
              <a:lnSpc>
                <a:spcPct val="108000"/>
              </a:lnSpc>
              <a:spcAft>
                <a:spcPts val="400"/>
              </a:spcAft>
            </a:pPr>
            <a:r>
              <a:rPr lang="pt-BR" sz="1300" b="1" i="1" err="1">
                <a:solidFill>
                  <a:srgbClr val="114719"/>
                </a:solidFill>
                <a:latin typeface="Montserrat" pitchFamily="2" charset="77"/>
              </a:rPr>
              <a:t>u</a:t>
            </a:r>
            <a:r>
              <a:rPr lang="pt-BR" sz="1300" b="1" i="1" baseline="-25000" err="1">
                <a:solidFill>
                  <a:srgbClr val="114719"/>
                </a:solidFill>
                <a:latin typeface="Montserrat" pitchFamily="2" charset="77"/>
              </a:rPr>
              <a:t>nio</a:t>
            </a:r>
            <a:r>
              <a:rPr lang="pt-BR" sz="1300" b="1">
                <a:solidFill>
                  <a:srgbClr val="3A3A3A"/>
                </a:solidFill>
                <a:latin typeface="Montserrat" pitchFamily="2" charset="77"/>
              </a:rPr>
              <a:t>   </a:t>
            </a:r>
            <a:r>
              <a:rPr lang="pt-BR" sz="1300">
                <a:solidFill>
                  <a:srgbClr val="3A3A3A"/>
                </a:solidFill>
                <a:latin typeface="Montserrat" pitchFamily="2" charset="77"/>
              </a:rPr>
              <a:t>utilidade de morar em n e trabalhar em i</a:t>
            </a:r>
          </a:p>
          <a:p>
            <a:pPr>
              <a:lnSpc>
                <a:spcPct val="108000"/>
              </a:lnSpc>
              <a:spcAft>
                <a:spcPts val="400"/>
              </a:spcAft>
            </a:pPr>
            <a:r>
              <a:rPr lang="pt-BR" sz="1300" b="1" i="1" err="1">
                <a:solidFill>
                  <a:srgbClr val="114719"/>
                </a:solidFill>
                <a:latin typeface="Montserrat" pitchFamily="2" charset="77"/>
              </a:rPr>
              <a:t>z</a:t>
            </a:r>
            <a:r>
              <a:rPr lang="pt-BR" sz="1300" b="1" i="1" baseline="-25000" err="1">
                <a:solidFill>
                  <a:srgbClr val="114719"/>
                </a:solidFill>
                <a:latin typeface="Montserrat" pitchFamily="2" charset="77"/>
              </a:rPr>
              <a:t>nio</a:t>
            </a:r>
            <a:r>
              <a:rPr lang="pt-BR" sz="1300" b="1">
                <a:solidFill>
                  <a:srgbClr val="3A3A3A"/>
                </a:solidFill>
                <a:latin typeface="Montserrat" pitchFamily="2" charset="77"/>
              </a:rPr>
              <a:t>    </a:t>
            </a:r>
            <a:r>
              <a:rPr lang="pt-BR" sz="1300">
                <a:solidFill>
                  <a:srgbClr val="3A3A3A"/>
                </a:solidFill>
                <a:latin typeface="Montserrat" pitchFamily="2" charset="77"/>
              </a:rPr>
              <a:t>gosto idiossincrático pelo par (n, i)</a:t>
            </a:r>
          </a:p>
          <a:p>
            <a:pPr marL="0" indent="0" algn="l">
              <a:lnSpc>
                <a:spcPct val="108000"/>
              </a:lnSpc>
              <a:spcAft>
                <a:spcPts val="400"/>
              </a:spcAft>
              <a:buNone/>
            </a:pPr>
            <a:r>
              <a:rPr lang="pt-BR" sz="1300" b="1" i="1" err="1">
                <a:solidFill>
                  <a:srgbClr val="114719"/>
                </a:solidFill>
                <a:latin typeface="Montserrat" pitchFamily="2" charset="77"/>
              </a:rPr>
              <a:t>B</a:t>
            </a:r>
            <a:r>
              <a:rPr lang="pt-BR" sz="1300" b="1" i="1" baseline="-25000" err="1">
                <a:solidFill>
                  <a:srgbClr val="114719"/>
                </a:solidFill>
                <a:latin typeface="Montserrat" pitchFamily="2" charset="77"/>
              </a:rPr>
              <a:t>n</a:t>
            </a:r>
            <a:r>
              <a:rPr lang="pt-BR" sz="1300">
                <a:solidFill>
                  <a:srgbClr val="3A3A3A"/>
                </a:solidFill>
                <a:latin typeface="Montserrat" pitchFamily="2" charset="77"/>
              </a:rPr>
              <a:t>      amenidades da localidade n</a:t>
            </a:r>
          </a:p>
          <a:p>
            <a:pPr>
              <a:lnSpc>
                <a:spcPct val="108000"/>
              </a:lnSpc>
              <a:spcAft>
                <a:spcPts val="400"/>
              </a:spcAft>
            </a:pPr>
            <a:r>
              <a:rPr lang="pt-BR" sz="1300" b="1" i="1" err="1">
                <a:solidFill>
                  <a:srgbClr val="114719"/>
                </a:solidFill>
                <a:latin typeface="Montserrat" pitchFamily="2" charset="77"/>
              </a:rPr>
              <a:t>w</a:t>
            </a:r>
            <a:r>
              <a:rPr lang="pt-BR" sz="1300" b="1" i="1" baseline="-25000" err="1">
                <a:solidFill>
                  <a:srgbClr val="114719"/>
                </a:solidFill>
                <a:latin typeface="Montserrat" pitchFamily="2" charset="77"/>
              </a:rPr>
              <a:t>i</a:t>
            </a:r>
            <a:r>
              <a:rPr lang="pt-BR" sz="1300" b="1">
                <a:solidFill>
                  <a:srgbClr val="3A3A3A"/>
                </a:solidFill>
                <a:latin typeface="Montserrat" pitchFamily="2" charset="77"/>
              </a:rPr>
              <a:t>      </a:t>
            </a:r>
            <a:r>
              <a:rPr lang="pt-BR" sz="1300">
                <a:solidFill>
                  <a:srgbClr val="3A3A3A"/>
                </a:solidFill>
                <a:latin typeface="Montserrat" pitchFamily="2" charset="77"/>
              </a:rPr>
              <a:t>salário pago no local de trabalho i</a:t>
            </a:r>
          </a:p>
          <a:p>
            <a:pPr>
              <a:lnSpc>
                <a:spcPct val="108000"/>
              </a:lnSpc>
              <a:spcAft>
                <a:spcPts val="400"/>
              </a:spcAft>
            </a:pPr>
            <a:r>
              <a:rPr lang="pt-BR" sz="1300" b="1" i="1" err="1">
                <a:solidFill>
                  <a:srgbClr val="114719"/>
                </a:solidFill>
                <a:latin typeface="Montserrat" pitchFamily="2" charset="77"/>
              </a:rPr>
              <a:t>κ</a:t>
            </a:r>
            <a:r>
              <a:rPr lang="pt-BR" sz="1300" b="1" i="1" baseline="-25000" err="1">
                <a:solidFill>
                  <a:srgbClr val="114719"/>
                </a:solidFill>
                <a:latin typeface="Montserrat" pitchFamily="2" charset="77"/>
              </a:rPr>
              <a:t>ni</a:t>
            </a:r>
            <a:r>
              <a:rPr lang="pt-BR" sz="1300" b="1">
                <a:solidFill>
                  <a:srgbClr val="3A3A3A"/>
                </a:solidFill>
                <a:latin typeface="Montserrat" pitchFamily="2" charset="77"/>
              </a:rPr>
              <a:t>      </a:t>
            </a:r>
            <a:r>
              <a:rPr lang="pt-BR" sz="1300">
                <a:solidFill>
                  <a:srgbClr val="3A3A3A"/>
                </a:solidFill>
                <a:latin typeface="Montserrat" pitchFamily="2" charset="77"/>
              </a:rPr>
              <a:t>custo de deslocamento entre n e i</a:t>
            </a:r>
          </a:p>
          <a:p>
            <a:pPr>
              <a:lnSpc>
                <a:spcPct val="108000"/>
              </a:lnSpc>
              <a:spcAft>
                <a:spcPts val="400"/>
              </a:spcAft>
            </a:pPr>
            <a:r>
              <a:rPr lang="pt-BR" sz="1300" b="1" i="1">
                <a:solidFill>
                  <a:srgbClr val="114719"/>
                </a:solidFill>
                <a:latin typeface="Montserrat" pitchFamily="2" charset="77"/>
              </a:rPr>
              <a:t>Q</a:t>
            </a:r>
            <a:r>
              <a:rPr lang="pt-BR" sz="1300" b="1" i="1" baseline="-25000">
                <a:solidFill>
                  <a:srgbClr val="114719"/>
                </a:solidFill>
                <a:latin typeface="Montserrat" pitchFamily="2" charset="77"/>
              </a:rPr>
              <a:t>n</a:t>
            </a:r>
            <a:r>
              <a:rPr lang="pt-BR" sz="1300" b="1" i="1" baseline="-25000">
                <a:solidFill>
                  <a:srgbClr val="3A3A3A"/>
                </a:solidFill>
                <a:latin typeface="Montserrat" pitchFamily="2" charset="77"/>
              </a:rPr>
              <a:t>        </a:t>
            </a:r>
            <a:r>
              <a:rPr lang="pt-BR" sz="1300">
                <a:solidFill>
                  <a:srgbClr val="3A3A3A"/>
                </a:solidFill>
                <a:latin typeface="Montserrat" pitchFamily="2" charset="77"/>
              </a:rPr>
              <a:t>preço da moradia em n</a:t>
            </a:r>
          </a:p>
          <a:p>
            <a:pPr>
              <a:lnSpc>
                <a:spcPct val="108000"/>
              </a:lnSpc>
              <a:spcAft>
                <a:spcPts val="400"/>
              </a:spcAft>
            </a:pPr>
            <a:r>
              <a:rPr lang="pt-BR" sz="1300" b="1" i="1">
                <a:solidFill>
                  <a:srgbClr val="114719"/>
                </a:solidFill>
                <a:latin typeface="Montserrat" pitchFamily="2" charset="77"/>
              </a:rPr>
              <a:t>1 − β</a:t>
            </a:r>
            <a:r>
              <a:rPr lang="pt-BR" sz="1300" b="1">
                <a:solidFill>
                  <a:srgbClr val="3A3A3A"/>
                </a:solidFill>
                <a:latin typeface="Montserrat" pitchFamily="2" charset="77"/>
              </a:rPr>
              <a:t>   </a:t>
            </a:r>
            <a:r>
              <a:rPr lang="pt-BR" sz="1300">
                <a:solidFill>
                  <a:srgbClr val="3A3A3A"/>
                </a:solidFill>
                <a:latin typeface="Montserrat" pitchFamily="2" charset="77"/>
              </a:rPr>
              <a:t>parcela da renda gasta com moradia</a:t>
            </a:r>
          </a:p>
        </p:txBody>
      </p:sp>
      <p:sp>
        <p:nvSpPr>
          <p:cNvPr id="43" name="h2">
            <a:extLst>
              <a:ext uri="{FF2B5EF4-FFF2-40B4-BE49-F238E27FC236}">
                <a16:creationId xmlns:a16="http://schemas.microsoft.com/office/drawing/2014/main" id="{253FE7BC-AE44-7131-E763-1A095CD53D58}"/>
              </a:ext>
            </a:extLst>
          </p:cNvPr>
          <p:cNvSpPr txBox="1"/>
          <p:nvPr/>
        </p:nvSpPr>
        <p:spPr>
          <a:xfrm>
            <a:off x="6477000" y="2413000"/>
            <a:ext cx="5207000" cy="298415"/>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300" b="1" spc="100">
                <a:solidFill>
                  <a:srgbClr val="056429"/>
                </a:solidFill>
                <a:latin typeface="Montserrat" pitchFamily="2" charset="77"/>
              </a:rPr>
              <a:t>O QUE A CONTA FAZ</a:t>
            </a:r>
          </a:p>
        </p:txBody>
      </p:sp>
      <p:sp>
        <p:nvSpPr>
          <p:cNvPr id="44" name="rule2">
            <a:extLst>
              <a:ext uri="{FF2B5EF4-FFF2-40B4-BE49-F238E27FC236}">
                <a16:creationId xmlns:a16="http://schemas.microsoft.com/office/drawing/2014/main" id="{B2F45D03-4818-F4DB-3171-1D92B02BE123}"/>
              </a:ext>
            </a:extLst>
          </p:cNvPr>
          <p:cNvSpPr/>
          <p:nvPr/>
        </p:nvSpPr>
        <p:spPr>
          <a:xfrm>
            <a:off x="6477000" y="2692400"/>
            <a:ext cx="5207000" cy="1905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5" name="col2">
            <a:extLst>
              <a:ext uri="{FF2B5EF4-FFF2-40B4-BE49-F238E27FC236}">
                <a16:creationId xmlns:a16="http://schemas.microsoft.com/office/drawing/2014/main" id="{54FD2D16-23CE-3117-FFF5-4A9FCBAA38CE}"/>
              </a:ext>
            </a:extLst>
          </p:cNvPr>
          <p:cNvSpPr txBox="1"/>
          <p:nvPr/>
        </p:nvSpPr>
        <p:spPr>
          <a:xfrm>
            <a:off x="6477000" y="2794000"/>
            <a:ext cx="5270500" cy="2432717"/>
          </a:xfrm>
          <a:prstGeom prst="rect">
            <a:avLst/>
          </a:prstGeom>
          <a:noFill/>
        </p:spPr>
        <p:txBody>
          <a:bodyPr vertOverflow="overflow" vert="horz" wrap="square" rtlCol="0" anchor="t">
            <a:spAutoFit/>
          </a:bodyPr>
          <a:lstStyle/>
          <a:p>
            <a:pPr marL="0" indent="0" algn="just">
              <a:lnSpc>
                <a:spcPct val="108000"/>
              </a:lnSpc>
              <a:spcAft>
                <a:spcPts val="500"/>
              </a:spcAft>
              <a:buNone/>
            </a:pPr>
            <a:r>
              <a:rPr lang="pt-BR" sz="1300" b="1">
                <a:solidFill>
                  <a:srgbClr val="056429"/>
                </a:solidFill>
                <a:latin typeface="Montserrat" pitchFamily="2" charset="77"/>
              </a:rPr>
              <a:t>1.  </a:t>
            </a:r>
            <a:r>
              <a:rPr lang="pt-BR" sz="1300">
                <a:solidFill>
                  <a:srgbClr val="3A3A3A"/>
                </a:solidFill>
                <a:latin typeface="Montserrat" pitchFamily="2" charset="77"/>
              </a:rPr>
              <a:t>No numerador, o que atrai: o salário do local de trabalho, multiplicado pelas amenidades e pelo gosto pessoal.</a:t>
            </a:r>
          </a:p>
          <a:p>
            <a:pPr marL="0" indent="0" algn="just">
              <a:lnSpc>
                <a:spcPct val="108000"/>
              </a:lnSpc>
              <a:spcAft>
                <a:spcPts val="500"/>
              </a:spcAft>
              <a:buNone/>
            </a:pPr>
            <a:r>
              <a:rPr lang="pt-BR" sz="1300" b="1">
                <a:solidFill>
                  <a:srgbClr val="056429"/>
                </a:solidFill>
                <a:latin typeface="Montserrat" pitchFamily="2" charset="77"/>
              </a:rPr>
              <a:t>2.  </a:t>
            </a:r>
            <a:r>
              <a:rPr lang="pt-BR" sz="1300">
                <a:solidFill>
                  <a:srgbClr val="3A3A3A"/>
                </a:solidFill>
                <a:latin typeface="Montserrat" pitchFamily="2" charset="77"/>
              </a:rPr>
              <a:t>No denominador, o que repele: o custo de deslocamento e o preço da moradia elevado à fração da renda gasta com moradia.</a:t>
            </a:r>
          </a:p>
          <a:p>
            <a:pPr marL="0" indent="0" algn="just">
              <a:lnSpc>
                <a:spcPct val="108000"/>
              </a:lnSpc>
              <a:spcAft>
                <a:spcPts val="500"/>
              </a:spcAft>
              <a:buNone/>
            </a:pPr>
            <a:r>
              <a:rPr lang="pt-BR" sz="1300" b="1">
                <a:solidFill>
                  <a:srgbClr val="056429"/>
                </a:solidFill>
                <a:latin typeface="Montserrat" pitchFamily="2" charset="77"/>
              </a:rPr>
              <a:t>3.  </a:t>
            </a:r>
            <a:r>
              <a:rPr lang="pt-BR" sz="1300">
                <a:solidFill>
                  <a:srgbClr val="3A3A3A"/>
                </a:solidFill>
                <a:latin typeface="Montserrat" pitchFamily="2" charset="77"/>
              </a:rPr>
              <a:t>A divisão transforma salário nominal em bem-estar: o mesmo salário vale menos onde morar é caro ou a viagem é longa.</a:t>
            </a:r>
          </a:p>
          <a:p>
            <a:pPr marL="0" indent="0" algn="just">
              <a:lnSpc>
                <a:spcPct val="108000"/>
              </a:lnSpc>
              <a:spcAft>
                <a:spcPts val="500"/>
              </a:spcAft>
              <a:buNone/>
            </a:pPr>
            <a:r>
              <a:rPr lang="pt-BR" sz="1300" b="1">
                <a:solidFill>
                  <a:srgbClr val="056429"/>
                </a:solidFill>
                <a:latin typeface="Montserrat" pitchFamily="2" charset="77"/>
              </a:rPr>
              <a:t>4.  </a:t>
            </a:r>
            <a:r>
              <a:rPr lang="pt-BR" sz="1300">
                <a:solidFill>
                  <a:srgbClr val="3A3A3A"/>
                </a:solidFill>
                <a:latin typeface="Montserrat" pitchFamily="2" charset="77"/>
              </a:rPr>
              <a:t>Cada médico escolhe o par morar-trabalhar com a maior utilidade.</a:t>
            </a:r>
          </a:p>
        </p:txBody>
      </p:sp>
      <p:sp>
        <p:nvSpPr>
          <p:cNvPr id="47" name="cBar">
            <a:extLst>
              <a:ext uri="{FF2B5EF4-FFF2-40B4-BE49-F238E27FC236}">
                <a16:creationId xmlns:a16="http://schemas.microsoft.com/office/drawing/2014/main" id="{AD2AA97B-7422-0129-A313-0B898FCE4194}"/>
              </a:ext>
            </a:extLst>
          </p:cNvPr>
          <p:cNvSpPr/>
          <p:nvPr/>
        </p:nvSpPr>
        <p:spPr>
          <a:xfrm>
            <a:off x="508000" y="5511800"/>
            <a:ext cx="63500" cy="68580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8" name="cText">
            <a:extLst>
              <a:ext uri="{FF2B5EF4-FFF2-40B4-BE49-F238E27FC236}">
                <a16:creationId xmlns:a16="http://schemas.microsoft.com/office/drawing/2014/main" id="{F8C9E032-0506-97A5-C2D8-65AB85133693}"/>
              </a:ext>
            </a:extLst>
          </p:cNvPr>
          <p:cNvSpPr txBox="1"/>
          <p:nvPr/>
        </p:nvSpPr>
        <p:spPr>
          <a:xfrm>
            <a:off x="787400" y="5575300"/>
            <a:ext cx="10668000" cy="584199"/>
          </a:xfrm>
          <a:prstGeom prst="rect">
            <a:avLst/>
          </a:prstGeom>
          <a:noFill/>
        </p:spPr>
        <p:txBody>
          <a:bodyPr vertOverflow="overflow" vert="horz" wrap="square" rtlCol="0" anchor="ctr">
            <a:spAutoFit/>
          </a:bodyPr>
          <a:lstStyle/>
          <a:p>
            <a:pPr marL="0" indent="0" algn="l">
              <a:lnSpc>
                <a:spcPct val="110000"/>
              </a:lnSpc>
              <a:spcAft>
                <a:spcPts val="400"/>
              </a:spcAft>
              <a:buNone/>
            </a:pPr>
            <a:r>
              <a:rPr lang="pt-BR" sz="1500" b="1">
                <a:solidFill>
                  <a:srgbClr val="056429"/>
                </a:solidFill>
                <a:latin typeface="Montserrat" pitchFamily="2" charset="77"/>
              </a:rPr>
              <a:t>Onde chegamos:  </a:t>
            </a:r>
            <a:r>
              <a:rPr lang="pt-BR" sz="1500">
                <a:solidFill>
                  <a:srgbClr val="3A3A3A"/>
                </a:solidFill>
                <a:latin typeface="Montserrat" pitchFamily="2" charset="77"/>
              </a:rPr>
              <a:t>um local só atrai se o salário compensar moradia e deslocamento — é daqui que sai o deflator espacial usado na equação de escolha.</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8E5D7C6-239D-822C-07C7-CC1D83576620}"/>
                  </a:ext>
                </a:extLst>
              </p:cNvPr>
              <p:cNvSpPr txBox="1"/>
              <p:nvPr/>
            </p:nvSpPr>
            <p:spPr>
              <a:xfrm>
                <a:off x="4727222" y="1197033"/>
                <a:ext cx="2788356" cy="89171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pl-PL" sz="2500" b="1" i="1" smtClean="0">
                              <a:latin typeface="Cambria Math" panose="02040503050406030204" pitchFamily="18" charset="0"/>
                            </a:rPr>
                          </m:ctrlPr>
                        </m:sSubPr>
                        <m:e>
                          <m:r>
                            <a:rPr lang="pl-PL" sz="2500" b="1" i="1">
                              <a:latin typeface="Cambria Math" panose="02040503050406030204" pitchFamily="18" charset="0"/>
                            </a:rPr>
                            <m:t>𝒖</m:t>
                          </m:r>
                        </m:e>
                        <m:sub>
                          <m:r>
                            <a:rPr lang="pl-PL" sz="2500" b="1" i="1">
                              <a:latin typeface="Cambria Math" panose="02040503050406030204" pitchFamily="18" charset="0"/>
                            </a:rPr>
                            <m:t>𝒏𝒊𝒐</m:t>
                          </m:r>
                        </m:sub>
                      </m:sSub>
                      <m:r>
                        <a:rPr lang="pl-PL" sz="2500" b="1" i="1">
                          <a:latin typeface="Cambria Math" panose="02040503050406030204" pitchFamily="18" charset="0"/>
                        </a:rPr>
                        <m:t>=</m:t>
                      </m:r>
                      <m:f>
                        <m:fPr>
                          <m:ctrlPr>
                            <a:rPr lang="pl-PL" sz="2500" b="1" i="1">
                              <a:latin typeface="Cambria Math" panose="02040503050406030204" pitchFamily="18" charset="0"/>
                            </a:rPr>
                          </m:ctrlPr>
                        </m:fPr>
                        <m:num>
                          <m:sSub>
                            <m:sSubPr>
                              <m:ctrlPr>
                                <a:rPr lang="pl-PL" sz="2500" b="1" i="1">
                                  <a:latin typeface="Cambria Math" panose="02040503050406030204" pitchFamily="18" charset="0"/>
                                </a:rPr>
                              </m:ctrlPr>
                            </m:sSubPr>
                            <m:e>
                              <m:r>
                                <a:rPr lang="pl-PL" sz="2500" b="1" i="1">
                                  <a:latin typeface="Cambria Math" panose="02040503050406030204" pitchFamily="18" charset="0"/>
                                </a:rPr>
                                <m:t>𝒛</m:t>
                              </m:r>
                            </m:e>
                            <m:sub>
                              <m:r>
                                <a:rPr lang="pl-PL" sz="2500" b="1" i="1">
                                  <a:latin typeface="Cambria Math" panose="02040503050406030204" pitchFamily="18" charset="0"/>
                                </a:rPr>
                                <m:t>𝒏𝒊𝒐</m:t>
                              </m:r>
                            </m:sub>
                          </m:sSub>
                          <m:sSub>
                            <m:sSubPr>
                              <m:ctrlPr>
                                <a:rPr lang="pl-PL" sz="2500" b="1" i="1">
                                  <a:latin typeface="Cambria Math" panose="02040503050406030204" pitchFamily="18" charset="0"/>
                                </a:rPr>
                              </m:ctrlPr>
                            </m:sSubPr>
                            <m:e>
                              <m:r>
                                <a:rPr lang="pl-PL" sz="2500" b="1" i="1">
                                  <a:latin typeface="Cambria Math" panose="02040503050406030204" pitchFamily="18" charset="0"/>
                                </a:rPr>
                                <m:t>𝑩</m:t>
                              </m:r>
                            </m:e>
                            <m:sub>
                              <m:r>
                                <a:rPr lang="pl-PL" sz="2500" b="1" i="1">
                                  <a:latin typeface="Cambria Math" panose="02040503050406030204" pitchFamily="18" charset="0"/>
                                </a:rPr>
                                <m:t>𝒏</m:t>
                              </m:r>
                            </m:sub>
                          </m:sSub>
                          <m:sSub>
                            <m:sSubPr>
                              <m:ctrlPr>
                                <a:rPr lang="pl-PL" sz="2500" b="1" i="1">
                                  <a:latin typeface="Cambria Math" panose="02040503050406030204" pitchFamily="18" charset="0"/>
                                </a:rPr>
                              </m:ctrlPr>
                            </m:sSubPr>
                            <m:e>
                              <m:r>
                                <a:rPr lang="pl-PL" sz="2500" b="1" i="1">
                                  <a:latin typeface="Cambria Math" panose="02040503050406030204" pitchFamily="18" charset="0"/>
                                </a:rPr>
                                <m:t>𝒘</m:t>
                              </m:r>
                            </m:e>
                            <m:sub>
                              <m:r>
                                <a:rPr lang="pl-PL" sz="2500" b="1" i="1">
                                  <a:latin typeface="Cambria Math" panose="02040503050406030204" pitchFamily="18" charset="0"/>
                                </a:rPr>
                                <m:t>𝒊</m:t>
                              </m:r>
                            </m:sub>
                          </m:sSub>
                        </m:num>
                        <m:den>
                          <m:sSub>
                            <m:sSubPr>
                              <m:ctrlPr>
                                <a:rPr lang="pl-PL" sz="2500" b="1" i="1">
                                  <a:latin typeface="Cambria Math" panose="02040503050406030204" pitchFamily="18" charset="0"/>
                                </a:rPr>
                              </m:ctrlPr>
                            </m:sSubPr>
                            <m:e>
                              <m:r>
                                <a:rPr lang="pl-PL" sz="2500" b="1" i="1">
                                  <a:latin typeface="Cambria Math" panose="02040503050406030204" pitchFamily="18" charset="0"/>
                                </a:rPr>
                                <m:t>𝜿</m:t>
                              </m:r>
                            </m:e>
                            <m:sub>
                              <m:r>
                                <a:rPr lang="pl-PL" sz="2500" b="1" i="1">
                                  <a:latin typeface="Cambria Math" panose="02040503050406030204" pitchFamily="18" charset="0"/>
                                </a:rPr>
                                <m:t>𝒏𝒊</m:t>
                              </m:r>
                            </m:sub>
                          </m:sSub>
                          <m:sSubSup>
                            <m:sSubSupPr>
                              <m:ctrlPr>
                                <a:rPr lang="pl-PL" sz="2500" b="1" i="1">
                                  <a:latin typeface="Cambria Math" panose="02040503050406030204" pitchFamily="18" charset="0"/>
                                </a:rPr>
                              </m:ctrlPr>
                            </m:sSubSupPr>
                            <m:e>
                              <m:r>
                                <a:rPr lang="pl-PL" sz="2500" b="1" i="1">
                                  <a:latin typeface="Cambria Math" panose="02040503050406030204" pitchFamily="18" charset="0"/>
                                </a:rPr>
                                <m:t>𝑸</m:t>
                              </m:r>
                            </m:e>
                            <m:sub>
                              <m:r>
                                <a:rPr lang="pl-PL" sz="2500" b="1" i="1">
                                  <a:latin typeface="Cambria Math" panose="02040503050406030204" pitchFamily="18" charset="0"/>
                                </a:rPr>
                                <m:t>𝒏</m:t>
                              </m:r>
                            </m:sub>
                            <m:sup>
                              <m:r>
                                <a:rPr lang="pl-PL" sz="2500" b="1" i="1">
                                  <a:latin typeface="Cambria Math" panose="02040503050406030204" pitchFamily="18" charset="0"/>
                                </a:rPr>
                                <m:t>𝟏</m:t>
                              </m:r>
                              <m:r>
                                <a:rPr lang="pl-PL" sz="2500" b="1" i="1">
                                  <a:latin typeface="Cambria Math" panose="02040503050406030204" pitchFamily="18" charset="0"/>
                                </a:rPr>
                                <m:t>−</m:t>
                              </m:r>
                              <m:r>
                                <a:rPr lang="pl-PL" sz="2500" b="1" i="1">
                                  <a:latin typeface="Cambria Math" panose="02040503050406030204" pitchFamily="18" charset="0"/>
                                </a:rPr>
                                <m:t>𝜷</m:t>
                              </m:r>
                            </m:sup>
                          </m:sSubSup>
                        </m:den>
                      </m:f>
                    </m:oMath>
                  </m:oMathPara>
                </a14:m>
                <a:endParaRPr lang="pt-BR" sz="2500" b="1">
                  <a:latin typeface="Montserrat" pitchFamily="2" charset="77"/>
                </a:endParaRPr>
              </a:p>
            </p:txBody>
          </p:sp>
        </mc:Choice>
        <mc:Fallback>
          <p:sp>
            <p:nvSpPr>
              <p:cNvPr id="2" name="TextBox 1">
                <a:extLst>
                  <a:ext uri="{FF2B5EF4-FFF2-40B4-BE49-F238E27FC236}">
                    <a16:creationId xmlns:a16="http://schemas.microsoft.com/office/drawing/2014/main" id="{A8E5D7C6-239D-822C-07C7-CC1D83576620}"/>
                  </a:ext>
                </a:extLst>
              </p:cNvPr>
              <p:cNvSpPr txBox="1">
                <a:spLocks noRot="1" noChangeAspect="1" noMove="1" noResize="1" noEditPoints="1" noAdjustHandles="1" noChangeArrowheads="1" noChangeShapeType="1" noTextEdit="1"/>
              </p:cNvSpPr>
              <p:nvPr/>
            </p:nvSpPr>
            <p:spPr>
              <a:xfrm>
                <a:off x="4727222" y="1197033"/>
                <a:ext cx="2788356" cy="891719"/>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08617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8E4FB-F0F0-61C5-66EF-853E49407980}"/>
            </a:ext>
          </a:extLst>
        </p:cNvPr>
        <p:cNvGrpSpPr/>
        <p:nvPr/>
      </p:nvGrpSpPr>
      <p:grpSpPr>
        <a:xfrm>
          <a:off x="0" y="0"/>
          <a:ext cx="0" cy="0"/>
          <a:chOff x="0" y="0"/>
          <a:chExt cx="0" cy="0"/>
        </a:xfrm>
      </p:grpSpPr>
      <p:sp>
        <p:nvSpPr>
          <p:cNvPr id="22" name="eqBox">
            <a:extLst>
              <a:ext uri="{FF2B5EF4-FFF2-40B4-BE49-F238E27FC236}">
                <a16:creationId xmlns:a16="http://schemas.microsoft.com/office/drawing/2014/main" id="{13F1096F-F06A-5191-B542-930D190B653F}"/>
              </a:ext>
            </a:extLst>
          </p:cNvPr>
          <p:cNvSpPr/>
          <p:nvPr/>
        </p:nvSpPr>
        <p:spPr>
          <a:xfrm>
            <a:off x="508000" y="1092200"/>
            <a:ext cx="11176000" cy="1092200"/>
          </a:xfrm>
          <a:prstGeom prst="roundRect">
            <a:avLst/>
          </a:prstGeom>
          <a:solidFill>
            <a:srgbClr val="E7F1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6" name="cBox">
            <a:extLst>
              <a:ext uri="{FF2B5EF4-FFF2-40B4-BE49-F238E27FC236}">
                <a16:creationId xmlns:a16="http://schemas.microsoft.com/office/drawing/2014/main" id="{72891DE0-38B3-30DE-8602-833FAECA049D}"/>
              </a:ext>
            </a:extLst>
          </p:cNvPr>
          <p:cNvSpPr/>
          <p:nvPr/>
        </p:nvSpPr>
        <p:spPr>
          <a:xfrm>
            <a:off x="508000" y="5435600"/>
            <a:ext cx="11176000" cy="838200"/>
          </a:xfrm>
          <a:prstGeom prst="roundRect">
            <a:avLst/>
          </a:prstGeom>
          <a:solidFill>
            <a:srgbClr val="F3F7F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15" name="Title 14">
            <a:extLst>
              <a:ext uri="{FF2B5EF4-FFF2-40B4-BE49-F238E27FC236}">
                <a16:creationId xmlns:a16="http://schemas.microsoft.com/office/drawing/2014/main" id="{448D68A5-7FFE-EB35-A774-DC915FA3D6B0}"/>
              </a:ext>
            </a:extLst>
          </p:cNvPr>
          <p:cNvSpPr>
            <a:spLocks noGrp="1"/>
          </p:cNvSpPr>
          <p:nvPr>
            <p:ph type="title"/>
          </p:nvPr>
        </p:nvSpPr>
        <p:spPr/>
        <p:txBody>
          <a:bodyPr>
            <a:normAutofit/>
          </a:bodyPr>
          <a:lstStyle/>
          <a:p>
            <a:pPr marL="0" indent="0" algn="l">
              <a:lnSpc>
                <a:spcPct val="108000"/>
              </a:lnSpc>
              <a:spcAft>
                <a:spcPts val="400"/>
              </a:spcAft>
              <a:buNone/>
            </a:pPr>
            <a:r>
              <a:rPr lang="pt-BR" sz="2400" b="1">
                <a:solidFill>
                  <a:srgbClr val="FFFFFF"/>
                </a:solidFill>
                <a:latin typeface="Montserrat" pitchFamily="2" charset="77"/>
              </a:rPr>
              <a:t>Atender rende, cansa e gera benefício ao paciente</a:t>
            </a:r>
          </a:p>
        </p:txBody>
      </p:sp>
      <p:sp>
        <p:nvSpPr>
          <p:cNvPr id="25" name="kicker">
            <a:extLst>
              <a:ext uri="{FF2B5EF4-FFF2-40B4-BE49-F238E27FC236}">
                <a16:creationId xmlns:a16="http://schemas.microsoft.com/office/drawing/2014/main" id="{20248416-8FE3-9D21-7160-73F93C6FC4CE}"/>
              </a:ext>
            </a:extLst>
          </p:cNvPr>
          <p:cNvSpPr txBox="1"/>
          <p:nvPr/>
        </p:nvSpPr>
        <p:spPr>
          <a:xfrm>
            <a:off x="508000" y="736600"/>
            <a:ext cx="8890000" cy="282578"/>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200" b="1" spc="100">
                <a:solidFill>
                  <a:srgbClr val="056429"/>
                </a:solidFill>
                <a:latin typeface="Montserrat" pitchFamily="2" charset="77"/>
              </a:rPr>
              <a:t>CHONÉ &amp; MA (2011), EQ. 1, P. 232</a:t>
            </a:r>
          </a:p>
        </p:txBody>
      </p:sp>
      <p:sp>
        <p:nvSpPr>
          <p:cNvPr id="40" name="h1">
            <a:extLst>
              <a:ext uri="{FF2B5EF4-FFF2-40B4-BE49-F238E27FC236}">
                <a16:creationId xmlns:a16="http://schemas.microsoft.com/office/drawing/2014/main" id="{AD25428D-D77E-987E-3E67-ADE3F1CCF516}"/>
              </a:ext>
            </a:extLst>
          </p:cNvPr>
          <p:cNvSpPr txBox="1"/>
          <p:nvPr/>
        </p:nvSpPr>
        <p:spPr>
          <a:xfrm>
            <a:off x="508000" y="2413000"/>
            <a:ext cx="5588000" cy="298415"/>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300" b="1" spc="100">
                <a:solidFill>
                  <a:srgbClr val="056429"/>
                </a:solidFill>
                <a:latin typeface="Montserrat" pitchFamily="2" charset="77"/>
              </a:rPr>
              <a:t>O QUE CADA TERMO SIGNIFICA</a:t>
            </a:r>
          </a:p>
        </p:txBody>
      </p:sp>
      <p:sp>
        <p:nvSpPr>
          <p:cNvPr id="41" name="rule1">
            <a:extLst>
              <a:ext uri="{FF2B5EF4-FFF2-40B4-BE49-F238E27FC236}">
                <a16:creationId xmlns:a16="http://schemas.microsoft.com/office/drawing/2014/main" id="{6AAFC25D-3170-92AA-7CA2-4069E54FA03C}"/>
              </a:ext>
            </a:extLst>
          </p:cNvPr>
          <p:cNvSpPr/>
          <p:nvPr/>
        </p:nvSpPr>
        <p:spPr>
          <a:xfrm>
            <a:off x="508000" y="2692400"/>
            <a:ext cx="5588000" cy="1905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2" name="col1">
            <a:extLst>
              <a:ext uri="{FF2B5EF4-FFF2-40B4-BE49-F238E27FC236}">
                <a16:creationId xmlns:a16="http://schemas.microsoft.com/office/drawing/2014/main" id="{5CBB1AA8-3F28-A64B-63D5-C6C9F4445C2A}"/>
              </a:ext>
            </a:extLst>
          </p:cNvPr>
          <p:cNvSpPr txBox="1"/>
          <p:nvPr/>
        </p:nvSpPr>
        <p:spPr>
          <a:xfrm>
            <a:off x="508000" y="2794000"/>
            <a:ext cx="5651500" cy="2167325"/>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300" b="1" i="1">
                <a:solidFill>
                  <a:srgbClr val="114719"/>
                </a:solidFill>
                <a:latin typeface="Montserrat" pitchFamily="2" charset="77"/>
              </a:rPr>
              <a:t>U</a:t>
            </a:r>
            <a:r>
              <a:rPr lang="pt-BR" sz="1300" b="1" i="1">
                <a:solidFill>
                  <a:srgbClr val="3A3A3A"/>
                </a:solidFill>
                <a:latin typeface="Montserrat" pitchFamily="2" charset="77"/>
              </a:rPr>
              <a:t>:</a:t>
            </a:r>
            <a:r>
              <a:rPr lang="pt-BR" sz="1300">
                <a:solidFill>
                  <a:srgbClr val="3A3A3A"/>
                </a:solidFill>
                <a:latin typeface="Montserrat" pitchFamily="2" charset="77"/>
              </a:rPr>
              <a:t> utilidade do médico ao atender</a:t>
            </a:r>
          </a:p>
          <a:p>
            <a:pPr marL="0" indent="0" algn="l">
              <a:lnSpc>
                <a:spcPct val="108000"/>
              </a:lnSpc>
              <a:spcAft>
                <a:spcPts val="400"/>
              </a:spcAft>
              <a:buNone/>
            </a:pPr>
            <a:r>
              <a:rPr lang="pt-BR" sz="1300" b="1" i="1">
                <a:solidFill>
                  <a:srgbClr val="114719"/>
                </a:solidFill>
                <a:latin typeface="Montserrat" pitchFamily="2" charset="77"/>
              </a:rPr>
              <a:t>R</a:t>
            </a:r>
            <a:r>
              <a:rPr lang="pt-BR" sz="1300" b="1" i="1">
                <a:solidFill>
                  <a:srgbClr val="3A3A3A"/>
                </a:solidFill>
                <a:latin typeface="Montserrat" pitchFamily="2" charset="77"/>
              </a:rPr>
              <a:t>:</a:t>
            </a:r>
            <a:r>
              <a:rPr lang="pt-BR" sz="1300">
                <a:solidFill>
                  <a:srgbClr val="3A3A3A"/>
                </a:solidFill>
                <a:latin typeface="Montserrat" pitchFamily="2" charset="77"/>
              </a:rPr>
              <a:t> receita recebida pelo atendimento</a:t>
            </a:r>
          </a:p>
          <a:p>
            <a:pPr marL="0" indent="0" algn="l">
              <a:lnSpc>
                <a:spcPct val="108000"/>
              </a:lnSpc>
              <a:spcAft>
                <a:spcPts val="400"/>
              </a:spcAft>
              <a:buNone/>
            </a:pPr>
            <a:r>
              <a:rPr lang="pt-BR" sz="1300" b="1" i="1">
                <a:solidFill>
                  <a:srgbClr val="114719"/>
                </a:solidFill>
                <a:latin typeface="Montserrat" pitchFamily="2" charset="77"/>
              </a:rPr>
              <a:t>q</a:t>
            </a:r>
            <a:r>
              <a:rPr lang="pt-BR" sz="1300" b="1" i="1">
                <a:solidFill>
                  <a:srgbClr val="3A3A3A"/>
                </a:solidFill>
                <a:latin typeface="Montserrat" pitchFamily="2" charset="77"/>
              </a:rPr>
              <a:t>:</a:t>
            </a:r>
            <a:r>
              <a:rPr lang="pt-BR" sz="1300">
                <a:solidFill>
                  <a:srgbClr val="3A3A3A"/>
                </a:solidFill>
                <a:latin typeface="Montserrat" pitchFamily="2" charset="77"/>
              </a:rPr>
              <a:t> quantidade ou intensidade de cuidado prestado</a:t>
            </a:r>
          </a:p>
          <a:p>
            <a:pPr marL="0" indent="0" algn="l">
              <a:lnSpc>
                <a:spcPct val="108000"/>
              </a:lnSpc>
              <a:spcAft>
                <a:spcPts val="400"/>
              </a:spcAft>
              <a:buNone/>
            </a:pPr>
            <a:r>
              <a:rPr lang="pt-BR" sz="1300" b="1" i="1">
                <a:solidFill>
                  <a:srgbClr val="114719"/>
                </a:solidFill>
                <a:latin typeface="Montserrat" pitchFamily="2" charset="77"/>
              </a:rPr>
              <a:t>C(q; L, K)</a:t>
            </a:r>
            <a:r>
              <a:rPr lang="pt-BR" sz="1300" b="1" i="1">
                <a:solidFill>
                  <a:srgbClr val="3A3A3A"/>
                </a:solidFill>
                <a:latin typeface="Montserrat" pitchFamily="2" charset="77"/>
              </a:rPr>
              <a:t>:</a:t>
            </a:r>
            <a:r>
              <a:rPr lang="pt-BR" sz="1300">
                <a:solidFill>
                  <a:srgbClr val="3A3A3A"/>
                </a:solidFill>
                <a:latin typeface="Montserrat" pitchFamily="2" charset="77"/>
              </a:rPr>
              <a:t> custo de esforço para produzir q</a:t>
            </a:r>
          </a:p>
          <a:p>
            <a:pPr marL="0" indent="0" algn="l">
              <a:lnSpc>
                <a:spcPct val="108000"/>
              </a:lnSpc>
              <a:spcAft>
                <a:spcPts val="400"/>
              </a:spcAft>
              <a:buNone/>
            </a:pPr>
            <a:r>
              <a:rPr lang="pt-BR" sz="1300" b="1" i="1">
                <a:solidFill>
                  <a:srgbClr val="114719"/>
                </a:solidFill>
                <a:latin typeface="Montserrat" pitchFamily="2" charset="77"/>
              </a:rPr>
              <a:t>L</a:t>
            </a:r>
            <a:r>
              <a:rPr lang="pt-BR" sz="1300" b="1" i="1">
                <a:solidFill>
                  <a:srgbClr val="3A3A3A"/>
                </a:solidFill>
                <a:latin typeface="Montserrat" pitchFamily="2" charset="77"/>
              </a:rPr>
              <a:t>:</a:t>
            </a:r>
            <a:r>
              <a:rPr lang="pt-BR" sz="1300">
                <a:solidFill>
                  <a:srgbClr val="3A3A3A"/>
                </a:solidFill>
                <a:latin typeface="Montserrat" pitchFamily="2" charset="77"/>
              </a:rPr>
              <a:t> equipe disponível (trabalho de apoio)</a:t>
            </a:r>
          </a:p>
          <a:p>
            <a:pPr marL="0" indent="0" algn="l">
              <a:lnSpc>
                <a:spcPct val="108000"/>
              </a:lnSpc>
              <a:spcAft>
                <a:spcPts val="400"/>
              </a:spcAft>
              <a:buNone/>
            </a:pPr>
            <a:r>
              <a:rPr lang="pt-BR" sz="1300" b="1" i="1">
                <a:solidFill>
                  <a:srgbClr val="114719"/>
                </a:solidFill>
                <a:latin typeface="Montserrat" pitchFamily="2" charset="77"/>
              </a:rPr>
              <a:t>K</a:t>
            </a:r>
            <a:r>
              <a:rPr lang="pt-BR" sz="1300" b="1" i="1">
                <a:solidFill>
                  <a:srgbClr val="3A3A3A"/>
                </a:solidFill>
                <a:latin typeface="Montserrat" pitchFamily="2" charset="77"/>
              </a:rPr>
              <a:t>:</a:t>
            </a:r>
            <a:r>
              <a:rPr lang="pt-BR" sz="1300">
                <a:solidFill>
                  <a:srgbClr val="3A3A3A"/>
                </a:solidFill>
                <a:latin typeface="Montserrat" pitchFamily="2" charset="77"/>
              </a:rPr>
              <a:t> capital instalado: leitos, equipamentos, estrutura</a:t>
            </a:r>
          </a:p>
          <a:p>
            <a:pPr marL="0" indent="0" algn="l">
              <a:lnSpc>
                <a:spcPct val="108000"/>
              </a:lnSpc>
              <a:spcAft>
                <a:spcPts val="400"/>
              </a:spcAft>
              <a:buNone/>
            </a:pPr>
            <a:r>
              <a:rPr lang="pt-BR" sz="1300" b="1" i="1">
                <a:solidFill>
                  <a:srgbClr val="114719"/>
                </a:solidFill>
                <a:latin typeface="Montserrat" pitchFamily="2" charset="77"/>
              </a:rPr>
              <a:t>α</a:t>
            </a:r>
            <a:r>
              <a:rPr lang="pt-BR" sz="1300" b="1" i="1">
                <a:solidFill>
                  <a:srgbClr val="3A3A3A"/>
                </a:solidFill>
                <a:latin typeface="Montserrat" pitchFamily="2" charset="77"/>
              </a:rPr>
              <a:t>:</a:t>
            </a:r>
            <a:r>
              <a:rPr lang="pt-BR" sz="1300">
                <a:solidFill>
                  <a:srgbClr val="3A3A3A"/>
                </a:solidFill>
                <a:latin typeface="Montserrat" pitchFamily="2" charset="77"/>
              </a:rPr>
              <a:t> peso do altruísmo do médico</a:t>
            </a:r>
          </a:p>
          <a:p>
            <a:pPr marL="0" indent="0" algn="l">
              <a:lnSpc>
                <a:spcPct val="108000"/>
              </a:lnSpc>
              <a:spcAft>
                <a:spcPts val="400"/>
              </a:spcAft>
              <a:buNone/>
            </a:pPr>
            <a:r>
              <a:rPr lang="pt-BR" sz="1300" b="1" i="1">
                <a:solidFill>
                  <a:srgbClr val="114719"/>
                </a:solidFill>
                <a:latin typeface="Montserrat" pitchFamily="2" charset="77"/>
              </a:rPr>
              <a:t>B(q)</a:t>
            </a:r>
            <a:r>
              <a:rPr lang="pt-BR" sz="1300" b="1" i="1">
                <a:solidFill>
                  <a:srgbClr val="3A3A3A"/>
                </a:solidFill>
                <a:latin typeface="Montserrat" pitchFamily="2" charset="77"/>
              </a:rPr>
              <a:t>: </a:t>
            </a:r>
            <a:r>
              <a:rPr lang="pt-BR" sz="1300">
                <a:solidFill>
                  <a:srgbClr val="3A3A3A"/>
                </a:solidFill>
                <a:latin typeface="Montserrat" pitchFamily="2" charset="77"/>
              </a:rPr>
              <a:t>benefício gerado ao paciente</a:t>
            </a:r>
          </a:p>
        </p:txBody>
      </p:sp>
      <p:sp>
        <p:nvSpPr>
          <p:cNvPr id="43" name="h2">
            <a:extLst>
              <a:ext uri="{FF2B5EF4-FFF2-40B4-BE49-F238E27FC236}">
                <a16:creationId xmlns:a16="http://schemas.microsoft.com/office/drawing/2014/main" id="{284AC9A8-F0E1-397A-801F-83032B46E4EA}"/>
              </a:ext>
            </a:extLst>
          </p:cNvPr>
          <p:cNvSpPr txBox="1"/>
          <p:nvPr/>
        </p:nvSpPr>
        <p:spPr>
          <a:xfrm>
            <a:off x="6477000" y="2413000"/>
            <a:ext cx="5207000" cy="298415"/>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300" b="1" spc="100">
                <a:solidFill>
                  <a:srgbClr val="056429"/>
                </a:solidFill>
                <a:latin typeface="Montserrat" pitchFamily="2" charset="77"/>
              </a:rPr>
              <a:t>O QUE A CONTA FAZ</a:t>
            </a:r>
          </a:p>
        </p:txBody>
      </p:sp>
      <p:sp>
        <p:nvSpPr>
          <p:cNvPr id="44" name="rule2">
            <a:extLst>
              <a:ext uri="{FF2B5EF4-FFF2-40B4-BE49-F238E27FC236}">
                <a16:creationId xmlns:a16="http://schemas.microsoft.com/office/drawing/2014/main" id="{A6F469FE-961F-D97C-215E-85D5B15F7E4D}"/>
              </a:ext>
            </a:extLst>
          </p:cNvPr>
          <p:cNvSpPr/>
          <p:nvPr/>
        </p:nvSpPr>
        <p:spPr>
          <a:xfrm>
            <a:off x="6477000" y="2692400"/>
            <a:ext cx="5207000" cy="1905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5" name="col2">
            <a:extLst>
              <a:ext uri="{FF2B5EF4-FFF2-40B4-BE49-F238E27FC236}">
                <a16:creationId xmlns:a16="http://schemas.microsoft.com/office/drawing/2014/main" id="{4DA0350F-6657-C592-B721-E26F5B6FEC53}"/>
              </a:ext>
            </a:extLst>
          </p:cNvPr>
          <p:cNvSpPr txBox="1"/>
          <p:nvPr/>
        </p:nvSpPr>
        <p:spPr>
          <a:xfrm>
            <a:off x="6477000" y="2794000"/>
            <a:ext cx="5270500" cy="2000548"/>
          </a:xfrm>
          <a:prstGeom prst="rect">
            <a:avLst/>
          </a:prstGeom>
          <a:noFill/>
        </p:spPr>
        <p:txBody>
          <a:bodyPr vertOverflow="overflow" vert="horz" wrap="square" rtlCol="0" anchor="t">
            <a:spAutoFit/>
          </a:bodyPr>
          <a:lstStyle/>
          <a:p>
            <a:pPr marL="0" indent="0" algn="just">
              <a:lnSpc>
                <a:spcPct val="108000"/>
              </a:lnSpc>
              <a:spcAft>
                <a:spcPts val="500"/>
              </a:spcAft>
              <a:buNone/>
            </a:pPr>
            <a:r>
              <a:rPr lang="pt-BR" sz="1300" b="1">
                <a:solidFill>
                  <a:srgbClr val="056429"/>
                </a:solidFill>
                <a:latin typeface="Montserrat" pitchFamily="2" charset="77"/>
              </a:rPr>
              <a:t>1.  </a:t>
            </a:r>
            <a:r>
              <a:rPr lang="pt-BR" sz="1300">
                <a:solidFill>
                  <a:srgbClr val="3A3A3A"/>
                </a:solidFill>
                <a:latin typeface="Montserrat" pitchFamily="2" charset="77"/>
              </a:rPr>
              <a:t>Soma a renda do atendimento: é o ganho monetário direto.</a:t>
            </a:r>
          </a:p>
          <a:p>
            <a:pPr marL="0" indent="0" algn="just">
              <a:lnSpc>
                <a:spcPct val="108000"/>
              </a:lnSpc>
              <a:spcAft>
                <a:spcPts val="500"/>
              </a:spcAft>
              <a:buNone/>
            </a:pPr>
            <a:r>
              <a:rPr lang="pt-BR" sz="1300" b="1">
                <a:solidFill>
                  <a:srgbClr val="056429"/>
                </a:solidFill>
                <a:latin typeface="Montserrat" pitchFamily="2" charset="77"/>
              </a:rPr>
              <a:t>2.  </a:t>
            </a:r>
            <a:r>
              <a:rPr lang="pt-BR" sz="1300">
                <a:solidFill>
                  <a:srgbClr val="3A3A3A"/>
                </a:solidFill>
                <a:latin typeface="Montserrat" pitchFamily="2" charset="77"/>
              </a:rPr>
              <a:t>Subtrai o custo de atender, que depende de equipe e capital: com mais L e K, o mesmo q cansa menos.</a:t>
            </a:r>
          </a:p>
          <a:p>
            <a:pPr marL="0" indent="0" algn="just">
              <a:lnSpc>
                <a:spcPct val="108000"/>
              </a:lnSpc>
              <a:spcAft>
                <a:spcPts val="500"/>
              </a:spcAft>
              <a:buNone/>
            </a:pPr>
            <a:r>
              <a:rPr lang="pt-BR" sz="1300" b="1">
                <a:solidFill>
                  <a:srgbClr val="056429"/>
                </a:solidFill>
                <a:latin typeface="Montserrat" pitchFamily="2" charset="77"/>
              </a:rPr>
              <a:t>3.  </a:t>
            </a:r>
            <a:r>
              <a:rPr lang="pt-BR" sz="1300">
                <a:solidFill>
                  <a:srgbClr val="3A3A3A"/>
                </a:solidFill>
                <a:latin typeface="Montserrat" pitchFamily="2" charset="77"/>
              </a:rPr>
              <a:t>Soma o benefício ao paciente ponderado pelo altruísmo: o médico valoriza curar, não só receber.</a:t>
            </a:r>
          </a:p>
          <a:p>
            <a:pPr marL="0" indent="0" algn="just">
              <a:lnSpc>
                <a:spcPct val="108000"/>
              </a:lnSpc>
              <a:spcAft>
                <a:spcPts val="500"/>
              </a:spcAft>
              <a:buNone/>
            </a:pPr>
            <a:r>
              <a:rPr lang="pt-BR" sz="1300" b="1">
                <a:solidFill>
                  <a:srgbClr val="056429"/>
                </a:solidFill>
                <a:latin typeface="Montserrat" pitchFamily="2" charset="77"/>
              </a:rPr>
              <a:t>4.  </a:t>
            </a:r>
            <a:r>
              <a:rPr lang="pt-BR" sz="1300">
                <a:solidFill>
                  <a:srgbClr val="3A3A3A"/>
                </a:solidFill>
                <a:latin typeface="Montserrat" pitchFamily="2" charset="77"/>
              </a:rPr>
              <a:t>O resultado é a utilidade de trabalhar naquele lugar, dada sua estrutura assistencial.</a:t>
            </a:r>
          </a:p>
        </p:txBody>
      </p:sp>
      <p:sp>
        <p:nvSpPr>
          <p:cNvPr id="47" name="cBar">
            <a:extLst>
              <a:ext uri="{FF2B5EF4-FFF2-40B4-BE49-F238E27FC236}">
                <a16:creationId xmlns:a16="http://schemas.microsoft.com/office/drawing/2014/main" id="{4DE59DB0-47B4-64D9-6131-D7F0AF23FBE4}"/>
              </a:ext>
            </a:extLst>
          </p:cNvPr>
          <p:cNvSpPr/>
          <p:nvPr/>
        </p:nvSpPr>
        <p:spPr>
          <a:xfrm>
            <a:off x="508000" y="5511800"/>
            <a:ext cx="63500" cy="68580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8" name="cText">
            <a:extLst>
              <a:ext uri="{FF2B5EF4-FFF2-40B4-BE49-F238E27FC236}">
                <a16:creationId xmlns:a16="http://schemas.microsoft.com/office/drawing/2014/main" id="{59B5D038-130A-EDBE-1135-6003F1CAC5E5}"/>
              </a:ext>
            </a:extLst>
          </p:cNvPr>
          <p:cNvSpPr txBox="1"/>
          <p:nvPr/>
        </p:nvSpPr>
        <p:spPr>
          <a:xfrm>
            <a:off x="787400" y="5575300"/>
            <a:ext cx="10668000" cy="584199"/>
          </a:xfrm>
          <a:prstGeom prst="rect">
            <a:avLst/>
          </a:prstGeom>
          <a:noFill/>
        </p:spPr>
        <p:txBody>
          <a:bodyPr vertOverflow="overflow" vert="horz" wrap="square" rtlCol="0" anchor="ctr">
            <a:spAutoFit/>
          </a:bodyPr>
          <a:lstStyle/>
          <a:p>
            <a:pPr marL="0" indent="0" algn="l">
              <a:lnSpc>
                <a:spcPct val="110000"/>
              </a:lnSpc>
              <a:spcAft>
                <a:spcPts val="400"/>
              </a:spcAft>
              <a:buNone/>
            </a:pPr>
            <a:r>
              <a:rPr lang="pt-BR" sz="1500" b="1">
                <a:solidFill>
                  <a:srgbClr val="056429"/>
                </a:solidFill>
                <a:latin typeface="Montserrat" pitchFamily="2" charset="77"/>
              </a:rPr>
              <a:t>Onde chegamos:  </a:t>
            </a:r>
            <a:r>
              <a:rPr lang="pt-BR" sz="1500">
                <a:solidFill>
                  <a:srgbClr val="3A3A3A"/>
                </a:solidFill>
                <a:latin typeface="Montserrat" pitchFamily="2" charset="77"/>
              </a:rPr>
              <a:t>estrutura e equipe entram na decisão como custo de trabalhar; é por isso que salário igual em locais com estruturas diferentes não é oferta igual.</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6DAF2A6-B323-8EB1-C077-962374D533C2}"/>
                  </a:ext>
                </a:extLst>
              </p:cNvPr>
              <p:cNvSpPr txBox="1"/>
              <p:nvPr/>
            </p:nvSpPr>
            <p:spPr>
              <a:xfrm>
                <a:off x="3940346" y="1450532"/>
                <a:ext cx="4311308"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pt-BR" sz="2500" b="1" i="1" smtClean="0">
                          <a:latin typeface="Cambria Math" panose="02040503050406030204" pitchFamily="18" charset="0"/>
                        </a:rPr>
                        <m:t>𝑼</m:t>
                      </m:r>
                      <m:r>
                        <a:rPr lang="pt-BR" sz="2500" b="1" i="1" smtClean="0">
                          <a:latin typeface="Cambria Math" panose="02040503050406030204" pitchFamily="18" charset="0"/>
                        </a:rPr>
                        <m:t> = </m:t>
                      </m:r>
                      <m:r>
                        <a:rPr lang="pt-BR" sz="2500" b="1" i="1" smtClean="0">
                          <a:latin typeface="Cambria Math" panose="02040503050406030204" pitchFamily="18" charset="0"/>
                        </a:rPr>
                        <m:t>𝑹</m:t>
                      </m:r>
                      <m:r>
                        <a:rPr lang="pt-BR" sz="2500" b="1" i="1" smtClean="0">
                          <a:latin typeface="Cambria Math" panose="02040503050406030204" pitchFamily="18" charset="0"/>
                        </a:rPr>
                        <m:t> − </m:t>
                      </m:r>
                      <m:r>
                        <a:rPr lang="pt-BR" sz="2500" b="1" i="1" smtClean="0">
                          <a:latin typeface="Cambria Math" panose="02040503050406030204" pitchFamily="18" charset="0"/>
                        </a:rPr>
                        <m:t>𝑪</m:t>
                      </m:r>
                      <m:d>
                        <m:dPr>
                          <m:ctrlPr>
                            <a:rPr lang="pt-BR" sz="2500" b="1" i="1">
                              <a:latin typeface="Cambria Math" panose="02040503050406030204" pitchFamily="18" charset="0"/>
                            </a:rPr>
                          </m:ctrlPr>
                        </m:dPr>
                        <m:e>
                          <m:r>
                            <a:rPr lang="pt-BR" sz="2500" b="1" i="1">
                              <a:latin typeface="Cambria Math" panose="02040503050406030204" pitchFamily="18" charset="0"/>
                            </a:rPr>
                            <m:t>𝒒</m:t>
                          </m:r>
                          <m:r>
                            <a:rPr lang="pt-BR" sz="2500" b="1" i="1">
                              <a:latin typeface="Cambria Math" panose="02040503050406030204" pitchFamily="18" charset="0"/>
                            </a:rPr>
                            <m:t>;</m:t>
                          </m:r>
                          <m:r>
                            <a:rPr lang="pt-BR" sz="2500" b="1" i="1">
                              <a:latin typeface="Cambria Math" panose="02040503050406030204" pitchFamily="18" charset="0"/>
                            </a:rPr>
                            <m:t>𝑳</m:t>
                          </m:r>
                          <m:r>
                            <a:rPr lang="pt-BR" sz="2500" b="1" i="1">
                              <a:latin typeface="Cambria Math" panose="02040503050406030204" pitchFamily="18" charset="0"/>
                            </a:rPr>
                            <m:t>,</m:t>
                          </m:r>
                          <m:r>
                            <a:rPr lang="pt-BR" sz="2500" b="1" i="1">
                              <a:latin typeface="Cambria Math" panose="02040503050406030204" pitchFamily="18" charset="0"/>
                            </a:rPr>
                            <m:t>𝑲</m:t>
                          </m:r>
                        </m:e>
                      </m:d>
                      <m:r>
                        <a:rPr lang="pt-BR" sz="2500" b="1" i="1">
                          <a:latin typeface="Cambria Math" panose="02040503050406030204" pitchFamily="18" charset="0"/>
                        </a:rPr>
                        <m:t>+ </m:t>
                      </m:r>
                      <m:r>
                        <a:rPr lang="el-GR" sz="2500" b="1" i="1">
                          <a:latin typeface="Cambria Math" panose="02040503050406030204" pitchFamily="18" charset="0"/>
                        </a:rPr>
                        <m:t>𝜶</m:t>
                      </m:r>
                      <m:r>
                        <a:rPr lang="pt-BR" sz="2500" b="1" i="1">
                          <a:latin typeface="Cambria Math" panose="02040503050406030204" pitchFamily="18" charset="0"/>
                        </a:rPr>
                        <m:t>𝑩</m:t>
                      </m:r>
                      <m:d>
                        <m:dPr>
                          <m:ctrlPr>
                            <a:rPr lang="pt-BR" sz="2500" b="1" i="1">
                              <a:latin typeface="Cambria Math" panose="02040503050406030204" pitchFamily="18" charset="0"/>
                            </a:rPr>
                          </m:ctrlPr>
                        </m:dPr>
                        <m:e>
                          <m:r>
                            <a:rPr lang="pt-BR" sz="2500" b="1" i="1">
                              <a:latin typeface="Cambria Math" panose="02040503050406030204" pitchFamily="18" charset="0"/>
                            </a:rPr>
                            <m:t>𝒒</m:t>
                          </m:r>
                        </m:e>
                      </m:d>
                    </m:oMath>
                  </m:oMathPara>
                </a14:m>
                <a:endParaRPr lang="pt-BR" sz="2500" b="1">
                  <a:latin typeface="Montserrat" pitchFamily="2" charset="77"/>
                </a:endParaRPr>
              </a:p>
            </p:txBody>
          </p:sp>
        </mc:Choice>
        <mc:Fallback>
          <p:sp>
            <p:nvSpPr>
              <p:cNvPr id="2" name="TextBox 1">
                <a:extLst>
                  <a:ext uri="{FF2B5EF4-FFF2-40B4-BE49-F238E27FC236}">
                    <a16:creationId xmlns:a16="http://schemas.microsoft.com/office/drawing/2014/main" id="{C6DAF2A6-B323-8EB1-C077-962374D533C2}"/>
                  </a:ext>
                </a:extLst>
              </p:cNvPr>
              <p:cNvSpPr txBox="1">
                <a:spLocks noRot="1" noChangeAspect="1" noMove="1" noResize="1" noEditPoints="1" noAdjustHandles="1" noChangeArrowheads="1" noChangeShapeType="1" noTextEdit="1"/>
              </p:cNvSpPr>
              <p:nvPr/>
            </p:nvSpPr>
            <p:spPr>
              <a:xfrm>
                <a:off x="3940346" y="1450532"/>
                <a:ext cx="4311308" cy="384721"/>
              </a:xfrm>
              <a:prstGeom prst="rect">
                <a:avLst/>
              </a:prstGeom>
              <a:blipFill>
                <a:blip r:embed="rId2"/>
                <a:stretch>
                  <a:fillRect l="-1271" b="-26984"/>
                </a:stretch>
              </a:blipFill>
            </p:spPr>
            <p:txBody>
              <a:bodyPr/>
              <a:lstStyle/>
              <a:p>
                <a:r>
                  <a:rPr lang="en-US">
                    <a:noFill/>
                  </a:rPr>
                  <a:t> </a:t>
                </a:r>
              </a:p>
            </p:txBody>
          </p:sp>
        </mc:Fallback>
      </mc:AlternateContent>
    </p:spTree>
    <p:extLst>
      <p:ext uri="{BB962C8B-B14F-4D97-AF65-F5344CB8AC3E}">
        <p14:creationId xmlns:p14="http://schemas.microsoft.com/office/powerpoint/2010/main" val="1048065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0CEED-29C7-A823-87E3-C3371C60F288}"/>
            </a:ext>
          </a:extLst>
        </p:cNvPr>
        <p:cNvGrpSpPr/>
        <p:nvPr/>
      </p:nvGrpSpPr>
      <p:grpSpPr>
        <a:xfrm>
          <a:off x="0" y="0"/>
          <a:ext cx="0" cy="0"/>
          <a:chOff x="0" y="0"/>
          <a:chExt cx="0" cy="0"/>
        </a:xfrm>
      </p:grpSpPr>
      <p:sp>
        <p:nvSpPr>
          <p:cNvPr id="2" name="Title Placeholder 1">
            <a:extLst>
              <a:ext uri="{FF2B5EF4-FFF2-40B4-BE49-F238E27FC236}">
                <a16:creationId xmlns:a16="http://schemas.microsoft.com/office/drawing/2014/main" id="{735DD6AC-B7DD-5F42-FD95-BC471D000D90}"/>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A6990754-7782-300B-9BC9-52CB1219F3EE}"/>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A5A69EC1-E647-E293-9626-0A8E3A186E15}"/>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pt-BR"/>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B7E79B-8647-4B7A-AB06-CE9034CA7501}" type="datetimeFigureOut">
              <a:rPr lang="pt-BR" smtClean="0"/>
              <a:pPr/>
              <a:t>14/09/2026</a:t>
            </a:fld>
            <a:endParaRPr lang="pt-BR"/>
          </a:p>
        </p:txBody>
      </p:sp>
      <p:sp>
        <p:nvSpPr>
          <p:cNvPr id="5" name="Slide Number Placeholder 5">
            <a:extLst>
              <a:ext uri="{FF2B5EF4-FFF2-40B4-BE49-F238E27FC236}">
                <a16:creationId xmlns:a16="http://schemas.microsoft.com/office/drawing/2014/main" id="{11911431-9A63-D032-6F1D-77B010AED84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pt-B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B357A3-503C-42D5-B2E3-09AB65DED10B}" type="slidenum">
              <a:rPr lang="pt-BR" smtClean="0"/>
              <a:pPr/>
              <a:t>15</a:t>
            </a:fld>
            <a:endParaRPr lang="pt-BR"/>
          </a:p>
        </p:txBody>
      </p:sp>
      <p:sp>
        <p:nvSpPr>
          <p:cNvPr id="6" name="Rectangle 5">
            <a:extLst>
              <a:ext uri="{FF2B5EF4-FFF2-40B4-BE49-F238E27FC236}">
                <a16:creationId xmlns:a16="http://schemas.microsoft.com/office/drawing/2014/main" id="{2AB8EB95-D005-F3CF-D6BC-4D7DB94F93BC}"/>
              </a:ext>
            </a:extLst>
          </p:cNvPr>
          <p:cNvSpPr/>
          <p:nvPr/>
        </p:nvSpPr>
        <p:spPr>
          <a:xfrm>
            <a:off x="0" y="0"/>
            <a:ext cx="12194747" cy="6858000"/>
          </a:xfrm>
          <a:prstGeom prst="rect">
            <a:avLst/>
          </a:prstGeom>
          <a:solidFill>
            <a:srgbClr val="2F73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2">
                  <a:lumMod val="90000"/>
                </a:schemeClr>
              </a:solidFill>
            </a:endParaRPr>
          </a:p>
        </p:txBody>
      </p:sp>
      <p:sp>
        <p:nvSpPr>
          <p:cNvPr id="7" name="Text Placeholder 3">
            <a:extLst>
              <a:ext uri="{FF2B5EF4-FFF2-40B4-BE49-F238E27FC236}">
                <a16:creationId xmlns:a16="http://schemas.microsoft.com/office/drawing/2014/main" id="{4E6B3E7A-A41B-598D-DD37-F07A92D92E3A}"/>
              </a:ext>
            </a:extLst>
          </p:cNvPr>
          <p:cNvSpPr txBox="1">
            <a:spLocks/>
          </p:cNvSpPr>
          <p:nvPr/>
        </p:nvSpPr>
        <p:spPr>
          <a:xfrm>
            <a:off x="126501" y="101463"/>
            <a:ext cx="6010020" cy="4666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err="1">
                <a:solidFill>
                  <a:schemeClr val="bg1"/>
                </a:solidFill>
                <a:latin typeface="Montserrat" panose="00000500000000000000" pitchFamily="2" charset="0"/>
              </a:rPr>
              <a:t>Sumário</a:t>
            </a:r>
            <a:endParaRPr lang="pt-BR" b="1">
              <a:solidFill>
                <a:schemeClr val="bg1"/>
              </a:solidFill>
              <a:latin typeface="Montserrat" panose="00000500000000000000" pitchFamily="2" charset="0"/>
            </a:endParaRPr>
          </a:p>
        </p:txBody>
      </p:sp>
      <p:sp>
        <p:nvSpPr>
          <p:cNvPr id="8" name="Rectangle 7">
            <a:extLst>
              <a:ext uri="{FF2B5EF4-FFF2-40B4-BE49-F238E27FC236}">
                <a16:creationId xmlns:a16="http://schemas.microsoft.com/office/drawing/2014/main" id="{6C11AEA3-35B8-D046-F418-7E2A779437F2}"/>
              </a:ext>
            </a:extLst>
          </p:cNvPr>
          <p:cNvSpPr/>
          <p:nvPr/>
        </p:nvSpPr>
        <p:spPr>
          <a:xfrm>
            <a:off x="2724167" y="831819"/>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0" name="Rectangle 9">
            <a:extLst>
              <a:ext uri="{FF2B5EF4-FFF2-40B4-BE49-F238E27FC236}">
                <a16:creationId xmlns:a16="http://schemas.microsoft.com/office/drawing/2014/main" id="{258E0277-C7BD-0BEA-4ED5-5168DD17FF26}"/>
              </a:ext>
            </a:extLst>
          </p:cNvPr>
          <p:cNvSpPr/>
          <p:nvPr/>
        </p:nvSpPr>
        <p:spPr>
          <a:xfrm>
            <a:off x="3078859" y="4975528"/>
            <a:ext cx="3694414" cy="2793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1" name="Rectangle 10">
            <a:extLst>
              <a:ext uri="{FF2B5EF4-FFF2-40B4-BE49-F238E27FC236}">
                <a16:creationId xmlns:a16="http://schemas.microsoft.com/office/drawing/2014/main" id="{1241126E-E0A3-D6BD-3881-719ADC4BC931}"/>
              </a:ext>
            </a:extLst>
          </p:cNvPr>
          <p:cNvSpPr/>
          <p:nvPr/>
        </p:nvSpPr>
        <p:spPr>
          <a:xfrm>
            <a:off x="2714295" y="831819"/>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12" name="CaixaDeTexto 8">
            <a:extLst>
              <a:ext uri="{FF2B5EF4-FFF2-40B4-BE49-F238E27FC236}">
                <a16:creationId xmlns:a16="http://schemas.microsoft.com/office/drawing/2014/main" id="{507C0B50-29B8-E25D-880C-F18B3D65BFC2}"/>
              </a:ext>
            </a:extLst>
          </p:cNvPr>
          <p:cNvSpPr txBox="1"/>
          <p:nvPr/>
        </p:nvSpPr>
        <p:spPr>
          <a:xfrm>
            <a:off x="4450117" y="1272790"/>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Motivação</a:t>
            </a:r>
          </a:p>
        </p:txBody>
      </p:sp>
      <p:sp>
        <p:nvSpPr>
          <p:cNvPr id="13" name="CaixaDeTexto 10">
            <a:extLst>
              <a:ext uri="{FF2B5EF4-FFF2-40B4-BE49-F238E27FC236}">
                <a16:creationId xmlns:a16="http://schemas.microsoft.com/office/drawing/2014/main" id="{F223001A-4203-646F-A1BE-9EEC0709F61A}"/>
              </a:ext>
            </a:extLst>
          </p:cNvPr>
          <p:cNvSpPr txBox="1"/>
          <p:nvPr/>
        </p:nvSpPr>
        <p:spPr>
          <a:xfrm>
            <a:off x="5012265" y="3688982"/>
            <a:ext cx="3924311" cy="461665"/>
          </a:xfrm>
          <a:prstGeom prst="rect">
            <a:avLst/>
          </a:prstGeom>
          <a:noFill/>
        </p:spPr>
        <p:txBody>
          <a:bodyPr wrap="square" rtlCol="0">
            <a:spAutoFit/>
          </a:bodyPr>
          <a:lstStyle/>
          <a:p>
            <a:r>
              <a:rPr lang="pt-BR" sz="2400" b="1" i="1">
                <a:solidFill>
                  <a:srgbClr val="FFFFFF"/>
                </a:solidFill>
                <a:latin typeface="Montserrat" panose="00000500000000000000" pitchFamily="2" charset="0"/>
                <a:cs typeface="Times New Roman" panose="02020603050405020304" pitchFamily="18" charset="0"/>
              </a:rPr>
              <a:t>Modelo Teórico</a:t>
            </a:r>
          </a:p>
        </p:txBody>
      </p:sp>
      <p:sp>
        <p:nvSpPr>
          <p:cNvPr id="14" name="CaixaDeTexto 12">
            <a:extLst>
              <a:ext uri="{FF2B5EF4-FFF2-40B4-BE49-F238E27FC236}">
                <a16:creationId xmlns:a16="http://schemas.microsoft.com/office/drawing/2014/main" id="{F112EA03-EC23-F4C6-9F40-31E4AA7CF011}"/>
              </a:ext>
            </a:extLst>
          </p:cNvPr>
          <p:cNvSpPr txBox="1"/>
          <p:nvPr/>
        </p:nvSpPr>
        <p:spPr>
          <a:xfrm>
            <a:off x="4753482" y="4586302"/>
            <a:ext cx="2235406"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Hipóteses</a:t>
            </a:r>
          </a:p>
        </p:txBody>
      </p:sp>
      <p:sp>
        <p:nvSpPr>
          <p:cNvPr id="15" name="CaixaDeTexto 13">
            <a:extLst>
              <a:ext uri="{FF2B5EF4-FFF2-40B4-BE49-F238E27FC236}">
                <a16:creationId xmlns:a16="http://schemas.microsoft.com/office/drawing/2014/main" id="{8F36499B-2487-7B28-7B22-0BEFF0873060}"/>
              </a:ext>
            </a:extLst>
          </p:cNvPr>
          <p:cNvSpPr txBox="1"/>
          <p:nvPr/>
        </p:nvSpPr>
        <p:spPr>
          <a:xfrm>
            <a:off x="1493269" y="1539704"/>
            <a:ext cx="2811600" cy="246221"/>
          </a:xfrm>
          <a:prstGeom prst="rect">
            <a:avLst/>
          </a:prstGeom>
          <a:noFill/>
        </p:spPr>
        <p:txBody>
          <a:bodyPr wrap="square" lIns="91440" tIns="45720" rIns="91440" bIns="45720" rtlCol="0" anchor="t">
            <a:spAutoFit/>
          </a:bodyPr>
          <a:lstStyle/>
          <a:p>
            <a:r>
              <a:rPr lang="en-US" sz="1000">
                <a:solidFill>
                  <a:schemeClr val="tx1">
                    <a:lumMod val="49000"/>
                    <a:lumOff val="51000"/>
                  </a:schemeClr>
                </a:solidFill>
                <a:latin typeface="Montserrat"/>
              </a:rPr>
              <a:t>Por </a:t>
            </a:r>
            <a:r>
              <a:rPr lang="en-US" sz="1000" err="1">
                <a:solidFill>
                  <a:schemeClr val="tx1">
                    <a:lumMod val="49000"/>
                    <a:lumOff val="51000"/>
                  </a:schemeClr>
                </a:solidFill>
                <a:latin typeface="Montserrat"/>
              </a:rPr>
              <a:t>que</a:t>
            </a:r>
            <a:r>
              <a:rPr lang="en-US" sz="1000">
                <a:solidFill>
                  <a:schemeClr val="tx1">
                    <a:lumMod val="49000"/>
                    <a:lumOff val="51000"/>
                  </a:schemeClr>
                </a:solidFill>
                <a:latin typeface="Montserrat"/>
              </a:rPr>
              <a:t> a </a:t>
            </a:r>
            <a:r>
              <a:rPr lang="en-US" sz="1000" err="1">
                <a:solidFill>
                  <a:schemeClr val="tx1">
                    <a:lumMod val="49000"/>
                    <a:lumOff val="51000"/>
                  </a:schemeClr>
                </a:solidFill>
                <a:latin typeface="Montserrat"/>
              </a:rPr>
              <a:t>pergunta</a:t>
            </a:r>
            <a:r>
              <a:rPr lang="en-US" sz="1000">
                <a:solidFill>
                  <a:schemeClr val="tx1">
                    <a:lumMod val="49000"/>
                    <a:lumOff val="51000"/>
                  </a:schemeClr>
                </a:solidFill>
                <a:latin typeface="Montserrat"/>
              </a:rPr>
              <a:t> é </a:t>
            </a:r>
            <a:r>
              <a:rPr lang="en-US" sz="1000" err="1">
                <a:solidFill>
                  <a:schemeClr val="tx1">
                    <a:lumMod val="49000"/>
                    <a:lumOff val="51000"/>
                  </a:schemeClr>
                </a:solidFill>
                <a:latin typeface="Montserrat"/>
              </a:rPr>
              <a:t>importante</a:t>
            </a:r>
            <a:endParaRPr lang="en-US" sz="1000">
              <a:solidFill>
                <a:schemeClr val="tx1">
                  <a:lumMod val="49000"/>
                  <a:lumOff val="51000"/>
                </a:schemeClr>
              </a:solidFill>
              <a:latin typeface="Montserrat"/>
            </a:endParaRPr>
          </a:p>
        </p:txBody>
      </p:sp>
      <p:sp>
        <p:nvSpPr>
          <p:cNvPr id="16" name="CaixaDeTexto 14">
            <a:extLst>
              <a:ext uri="{FF2B5EF4-FFF2-40B4-BE49-F238E27FC236}">
                <a16:creationId xmlns:a16="http://schemas.microsoft.com/office/drawing/2014/main" id="{B5F667EF-80EA-339F-B560-FA013A1C7E8F}"/>
              </a:ext>
            </a:extLst>
          </p:cNvPr>
          <p:cNvSpPr txBox="1"/>
          <p:nvPr/>
        </p:nvSpPr>
        <p:spPr>
          <a:xfrm>
            <a:off x="2107016" y="3921088"/>
            <a:ext cx="2736923" cy="400110"/>
          </a:xfrm>
          <a:prstGeom prst="rect">
            <a:avLst/>
          </a:prstGeom>
          <a:noFill/>
        </p:spPr>
        <p:txBody>
          <a:bodyPr wrap="square" lIns="91440" tIns="45720" rIns="91440" bIns="45720" rtlCol="0" anchor="t">
            <a:spAutoFit/>
          </a:bodyPr>
          <a:lstStyle/>
          <a:p>
            <a:r>
              <a:rPr lang="en-US" sz="1000" err="1">
                <a:solidFill>
                  <a:schemeClr val="bg1"/>
                </a:solidFill>
                <a:latin typeface="Montserrat"/>
                <a:cs typeface="Times New Roman"/>
              </a:rPr>
              <a:t>Aplicação</a:t>
            </a:r>
            <a:r>
              <a:rPr lang="en-US" sz="1000">
                <a:solidFill>
                  <a:schemeClr val="bg1"/>
                </a:solidFill>
                <a:latin typeface="Montserrat"/>
                <a:cs typeface="Times New Roman"/>
              </a:rPr>
              <a:t> </a:t>
            </a:r>
            <a:r>
              <a:rPr lang="en-US" sz="1000" err="1">
                <a:solidFill>
                  <a:schemeClr val="bg1"/>
                </a:solidFill>
                <a:latin typeface="Montserrat"/>
                <a:cs typeface="Times New Roman"/>
              </a:rPr>
              <a:t>microeconômica</a:t>
            </a:r>
            <a:r>
              <a:rPr lang="en-US" sz="1000">
                <a:solidFill>
                  <a:schemeClr val="bg1"/>
                </a:solidFill>
                <a:latin typeface="Montserrat"/>
                <a:cs typeface="Times New Roman"/>
              </a:rPr>
              <a:t> e </a:t>
            </a:r>
            <a:r>
              <a:rPr lang="en-US" sz="1000" err="1">
                <a:solidFill>
                  <a:schemeClr val="bg1"/>
                </a:solidFill>
                <a:latin typeface="Montserrat"/>
                <a:cs typeface="Times New Roman"/>
              </a:rPr>
              <a:t>modelo</a:t>
            </a:r>
            <a:r>
              <a:rPr lang="en-US" sz="1000">
                <a:solidFill>
                  <a:schemeClr val="bg1"/>
                </a:solidFill>
                <a:latin typeface="Montserrat"/>
                <a:cs typeface="Times New Roman"/>
              </a:rPr>
              <a:t> </a:t>
            </a:r>
            <a:r>
              <a:rPr lang="en-US" sz="1000" err="1">
                <a:solidFill>
                  <a:schemeClr val="bg1"/>
                </a:solidFill>
                <a:latin typeface="Montserrat"/>
                <a:cs typeface="Times New Roman"/>
              </a:rPr>
              <a:t>proposto</a:t>
            </a:r>
            <a:endParaRPr lang="pt-BR" sz="1000">
              <a:solidFill>
                <a:schemeClr val="bg1"/>
              </a:solidFill>
              <a:latin typeface="Montserrat"/>
              <a:cs typeface="Times New Roman"/>
            </a:endParaRPr>
          </a:p>
        </p:txBody>
      </p:sp>
      <p:sp>
        <p:nvSpPr>
          <p:cNvPr id="17" name="CaixaDeTexto 14">
            <a:extLst>
              <a:ext uri="{FF2B5EF4-FFF2-40B4-BE49-F238E27FC236}">
                <a16:creationId xmlns:a16="http://schemas.microsoft.com/office/drawing/2014/main" id="{973C8928-9E5F-B3CF-F6FE-EC7B55F9BB72}"/>
              </a:ext>
            </a:extLst>
          </p:cNvPr>
          <p:cNvSpPr txBox="1"/>
          <p:nvPr/>
        </p:nvSpPr>
        <p:spPr>
          <a:xfrm>
            <a:off x="1822880" y="4844550"/>
            <a:ext cx="2736922" cy="246221"/>
          </a:xfrm>
          <a:prstGeom prst="rect">
            <a:avLst/>
          </a:prstGeom>
          <a:noFill/>
          <a:ln>
            <a:solidFill>
              <a:schemeClr val="tx1">
                <a:lumMod val="50000"/>
                <a:lumOff val="50000"/>
              </a:schemeClr>
            </a:solidFill>
          </a:ln>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Hipóteses</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formuladas</a:t>
            </a:r>
            <a:endParaRPr lang="pt-BR" sz="1000">
              <a:solidFill>
                <a:srgbClr val="7F7F7F"/>
              </a:solidFill>
              <a:latin typeface="Montserrat" panose="00000500000000000000" pitchFamily="2" charset="0"/>
              <a:cs typeface="Times New Roman" panose="02020603050405020304" pitchFamily="18" charset="0"/>
            </a:endParaRPr>
          </a:p>
        </p:txBody>
      </p:sp>
      <p:sp>
        <p:nvSpPr>
          <p:cNvPr id="18" name="Rosca 3">
            <a:extLst>
              <a:ext uri="{FF2B5EF4-FFF2-40B4-BE49-F238E27FC236}">
                <a16:creationId xmlns:a16="http://schemas.microsoft.com/office/drawing/2014/main" id="{DE6E1DF9-6C26-BD2F-A565-61C2FCD2B11D}"/>
              </a:ext>
            </a:extLst>
          </p:cNvPr>
          <p:cNvSpPr/>
          <p:nvPr/>
        </p:nvSpPr>
        <p:spPr>
          <a:xfrm rot="10800000">
            <a:off x="-3452695" y="1148756"/>
            <a:ext cx="5396231" cy="4932209"/>
          </a:xfrm>
          <a:prstGeom prst="donut">
            <a:avLst>
              <a:gd name="adj" fmla="val 5392"/>
            </a:avLst>
          </a:prstGeom>
          <a:gradFill>
            <a:gsLst>
              <a:gs pos="0">
                <a:schemeClr val="accent3">
                  <a:lumMod val="50000"/>
                </a:schemeClr>
              </a:gs>
              <a:gs pos="55180">
                <a:srgbClr val="1B6F27"/>
              </a:gs>
              <a:gs pos="99000">
                <a:srgbClr val="20822E"/>
              </a:gs>
            </a:gsLst>
            <a:lin ang="5400000" scaled="1"/>
          </a:gra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nvGrpSpPr>
          <p:cNvPr id="19" name="Agrupar 38">
            <a:extLst>
              <a:ext uri="{FF2B5EF4-FFF2-40B4-BE49-F238E27FC236}">
                <a16:creationId xmlns:a16="http://schemas.microsoft.com/office/drawing/2014/main" id="{5E26BF88-11A7-E355-FEC7-A7A1951E8611}"/>
              </a:ext>
            </a:extLst>
          </p:cNvPr>
          <p:cNvGrpSpPr/>
          <p:nvPr/>
        </p:nvGrpSpPr>
        <p:grpSpPr>
          <a:xfrm rot="10800000">
            <a:off x="1493269" y="1392755"/>
            <a:ext cx="2811600" cy="252000"/>
            <a:chOff x="6022821" y="2646629"/>
            <a:chExt cx="2737179" cy="252000"/>
          </a:xfrm>
          <a:solidFill>
            <a:srgbClr val="80B281"/>
          </a:solidFill>
        </p:grpSpPr>
        <p:cxnSp>
          <p:nvCxnSpPr>
            <p:cNvPr id="20" name="Conector de Seta Reta 39">
              <a:extLst>
                <a:ext uri="{FF2B5EF4-FFF2-40B4-BE49-F238E27FC236}">
                  <a16:creationId xmlns:a16="http://schemas.microsoft.com/office/drawing/2014/main" id="{C187E52D-6F3D-3CB4-D37D-3BF51E8032C7}"/>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1" name="Losango 43">
              <a:extLst>
                <a:ext uri="{FF2B5EF4-FFF2-40B4-BE49-F238E27FC236}">
                  <a16:creationId xmlns:a16="http://schemas.microsoft.com/office/drawing/2014/main" id="{CF6BC67F-5AB7-CF01-A5E7-D685C62DB42B}"/>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2" name="Agrupar 47">
            <a:extLst>
              <a:ext uri="{FF2B5EF4-FFF2-40B4-BE49-F238E27FC236}">
                <a16:creationId xmlns:a16="http://schemas.microsoft.com/office/drawing/2014/main" id="{1809554F-91AA-A21E-64F7-DD87062910E4}"/>
              </a:ext>
            </a:extLst>
          </p:cNvPr>
          <p:cNvGrpSpPr/>
          <p:nvPr/>
        </p:nvGrpSpPr>
        <p:grpSpPr>
          <a:xfrm rot="10800000">
            <a:off x="1847932" y="4705343"/>
            <a:ext cx="2810101" cy="252000"/>
            <a:chOff x="6098372" y="2214756"/>
            <a:chExt cx="2810101" cy="252000"/>
          </a:xfrm>
          <a:solidFill>
            <a:srgbClr val="80B281"/>
          </a:solidFill>
        </p:grpSpPr>
        <p:cxnSp>
          <p:nvCxnSpPr>
            <p:cNvPr id="23" name="Conector de Seta Reta 48">
              <a:extLst>
                <a:ext uri="{FF2B5EF4-FFF2-40B4-BE49-F238E27FC236}">
                  <a16:creationId xmlns:a16="http://schemas.microsoft.com/office/drawing/2014/main" id="{161198D2-8778-3E57-AC1F-51F0B5D389BA}"/>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4" name="Losango 49">
              <a:extLst>
                <a:ext uri="{FF2B5EF4-FFF2-40B4-BE49-F238E27FC236}">
                  <a16:creationId xmlns:a16="http://schemas.microsoft.com/office/drawing/2014/main" id="{910F4273-FEA6-43DC-39FC-E74166E3AE88}"/>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5" name="Agrupar 51">
            <a:extLst>
              <a:ext uri="{FF2B5EF4-FFF2-40B4-BE49-F238E27FC236}">
                <a16:creationId xmlns:a16="http://schemas.microsoft.com/office/drawing/2014/main" id="{3EAEEDC5-7729-6EA0-A356-67A81FA089B0}"/>
              </a:ext>
            </a:extLst>
          </p:cNvPr>
          <p:cNvGrpSpPr/>
          <p:nvPr/>
        </p:nvGrpSpPr>
        <p:grpSpPr>
          <a:xfrm rot="10800000">
            <a:off x="2107017" y="3783392"/>
            <a:ext cx="2810101" cy="252000"/>
            <a:chOff x="6098372" y="2214756"/>
            <a:chExt cx="2810101" cy="252000"/>
          </a:xfrm>
          <a:solidFill>
            <a:srgbClr val="80B281"/>
          </a:solidFill>
        </p:grpSpPr>
        <p:cxnSp>
          <p:nvCxnSpPr>
            <p:cNvPr id="26" name="Conector de Seta Reta 52">
              <a:extLst>
                <a:ext uri="{FF2B5EF4-FFF2-40B4-BE49-F238E27FC236}">
                  <a16:creationId xmlns:a16="http://schemas.microsoft.com/office/drawing/2014/main" id="{B26F3F5A-B587-E03C-9014-F4619ABE70EF}"/>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7" name="Losango 53">
              <a:extLst>
                <a:ext uri="{FF2B5EF4-FFF2-40B4-BE49-F238E27FC236}">
                  <a16:creationId xmlns:a16="http://schemas.microsoft.com/office/drawing/2014/main" id="{A114230C-83B7-7E22-1F43-B141AEF08ED2}"/>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FFFFFF"/>
                </a:solidFill>
              </a:endParaRPr>
            </a:p>
          </p:txBody>
        </p:sp>
      </p:grpSp>
      <p:pic>
        <p:nvPicPr>
          <p:cNvPr id="28" name="Picture 27">
            <a:extLst>
              <a:ext uri="{FF2B5EF4-FFF2-40B4-BE49-F238E27FC236}">
                <a16:creationId xmlns:a16="http://schemas.microsoft.com/office/drawing/2014/main" id="{0FA92B97-3A13-9425-2342-9E5305667928}"/>
              </a:ext>
            </a:extLst>
          </p:cNvPr>
          <p:cNvPicPr>
            <a:picLocks noChangeAspect="1"/>
          </p:cNvPicPr>
          <p:nvPr/>
        </p:nvPicPr>
        <p:blipFill rotWithShape="1">
          <a:blip r:embed="rId2">
            <a:extLst>
              <a:ext uri="{28A0092B-C50C-407E-A947-70E740481C1C}">
                <a14:useLocalDpi xmlns:a14="http://schemas.microsoft.com/office/drawing/2010/main" val="0"/>
              </a:ext>
            </a:extLst>
          </a:blip>
          <a:srcRect l="10011" t="25381" r="35435" b="13771"/>
          <a:stretch>
            <a:fillRect/>
          </a:stretch>
        </p:blipFill>
        <p:spPr>
          <a:xfrm>
            <a:off x="6451240" y="5396"/>
            <a:ext cx="4691990" cy="3849420"/>
          </a:xfrm>
          <a:prstGeom prst="flowChartMerge">
            <a:avLst/>
          </a:prstGeom>
        </p:spPr>
      </p:pic>
      <p:pic>
        <p:nvPicPr>
          <p:cNvPr id="29" name="Picture 28">
            <a:extLst>
              <a:ext uri="{FF2B5EF4-FFF2-40B4-BE49-F238E27FC236}">
                <a16:creationId xmlns:a16="http://schemas.microsoft.com/office/drawing/2014/main" id="{9FE42976-0266-7736-09D1-F0CE12557AFE}"/>
              </a:ext>
            </a:extLst>
          </p:cNvPr>
          <p:cNvPicPr>
            <a:picLocks noChangeAspect="1"/>
          </p:cNvPicPr>
          <p:nvPr/>
        </p:nvPicPr>
        <p:blipFill rotWithShape="1">
          <a:blip r:embed="rId2">
            <a:extLst>
              <a:ext uri="{28A0092B-C50C-407E-A947-70E740481C1C}">
                <a14:useLocalDpi xmlns:a14="http://schemas.microsoft.com/office/drawing/2010/main" val="0"/>
              </a:ext>
            </a:extLst>
          </a:blip>
          <a:srcRect l="52936" t="21443" r="302" b="2100"/>
          <a:stretch>
            <a:fillRect/>
          </a:stretch>
        </p:blipFill>
        <p:spPr>
          <a:xfrm>
            <a:off x="8312055" y="2581690"/>
            <a:ext cx="3930266" cy="4283997"/>
          </a:xfrm>
          <a:prstGeom prst="triangle">
            <a:avLst/>
          </a:prstGeom>
        </p:spPr>
      </p:pic>
      <p:sp>
        <p:nvSpPr>
          <p:cNvPr id="30" name="Isosceles Triangle 29">
            <a:extLst>
              <a:ext uri="{FF2B5EF4-FFF2-40B4-BE49-F238E27FC236}">
                <a16:creationId xmlns:a16="http://schemas.microsoft.com/office/drawing/2014/main" id="{27D47D55-42C3-4ADD-57C6-E8AEACD5D056}"/>
              </a:ext>
            </a:extLst>
          </p:cNvPr>
          <p:cNvSpPr/>
          <p:nvPr/>
        </p:nvSpPr>
        <p:spPr>
          <a:xfrm>
            <a:off x="8297140" y="2574003"/>
            <a:ext cx="3930266" cy="4283997"/>
          </a:xfrm>
          <a:prstGeom prst="triangl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Flowchart: Merge 30">
            <a:extLst>
              <a:ext uri="{FF2B5EF4-FFF2-40B4-BE49-F238E27FC236}">
                <a16:creationId xmlns:a16="http://schemas.microsoft.com/office/drawing/2014/main" id="{CABAD681-528D-F5A6-AE4D-579C1A806F1B}"/>
              </a:ext>
            </a:extLst>
          </p:cNvPr>
          <p:cNvSpPr/>
          <p:nvPr/>
        </p:nvSpPr>
        <p:spPr>
          <a:xfrm>
            <a:off x="6451240" y="0"/>
            <a:ext cx="4681825" cy="3849420"/>
          </a:xfrm>
          <a:prstGeom prst="flowChartMerg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sp>
        <p:nvSpPr>
          <p:cNvPr id="32" name="Rectangle 31">
            <a:extLst>
              <a:ext uri="{FF2B5EF4-FFF2-40B4-BE49-F238E27FC236}">
                <a16:creationId xmlns:a16="http://schemas.microsoft.com/office/drawing/2014/main" id="{13E3F1F8-DBAE-D15E-351B-08B1FD36AE72}"/>
              </a:ext>
            </a:extLst>
          </p:cNvPr>
          <p:cNvSpPr/>
          <p:nvPr/>
        </p:nvSpPr>
        <p:spPr>
          <a:xfrm>
            <a:off x="3177302" y="1671066"/>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33" name="Rectangle 32">
            <a:extLst>
              <a:ext uri="{FF2B5EF4-FFF2-40B4-BE49-F238E27FC236}">
                <a16:creationId xmlns:a16="http://schemas.microsoft.com/office/drawing/2014/main" id="{65E8C16E-0044-40C7-BE05-B83712D6BDB5}"/>
              </a:ext>
            </a:extLst>
          </p:cNvPr>
          <p:cNvSpPr/>
          <p:nvPr/>
        </p:nvSpPr>
        <p:spPr>
          <a:xfrm>
            <a:off x="3167430" y="1671066"/>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34" name="CaixaDeTexto 8">
            <a:extLst>
              <a:ext uri="{FF2B5EF4-FFF2-40B4-BE49-F238E27FC236}">
                <a16:creationId xmlns:a16="http://schemas.microsoft.com/office/drawing/2014/main" id="{093643B7-E8CB-70EF-2C82-1A8176E5A4EE}"/>
              </a:ext>
            </a:extLst>
          </p:cNvPr>
          <p:cNvSpPr txBox="1"/>
          <p:nvPr/>
        </p:nvSpPr>
        <p:spPr>
          <a:xfrm>
            <a:off x="4896426" y="2044007"/>
            <a:ext cx="2825252" cy="461665"/>
          </a:xfrm>
          <a:prstGeom prst="rect">
            <a:avLst/>
          </a:prstGeom>
          <a:noFill/>
        </p:spPr>
        <p:txBody>
          <a:bodyPr wrap="square" lIns="91440" tIns="45720" rIns="91440" bIns="45720" rtlCol="0" anchor="t">
            <a:spAutoFit/>
          </a:bodyPr>
          <a:lstStyle/>
          <a:p>
            <a:r>
              <a:rPr lang="pt-BR" sz="2400" b="1" i="1">
                <a:solidFill>
                  <a:schemeClr val="tx1">
                    <a:lumMod val="49000"/>
                    <a:lumOff val="51000"/>
                  </a:schemeClr>
                </a:solidFill>
                <a:latin typeface="Montserrat"/>
                <a:cs typeface="Times New Roman"/>
              </a:rPr>
              <a:t>Pergunta</a:t>
            </a:r>
          </a:p>
        </p:txBody>
      </p:sp>
      <p:sp>
        <p:nvSpPr>
          <p:cNvPr id="35" name="CaixaDeTexto 13">
            <a:extLst>
              <a:ext uri="{FF2B5EF4-FFF2-40B4-BE49-F238E27FC236}">
                <a16:creationId xmlns:a16="http://schemas.microsoft.com/office/drawing/2014/main" id="{B9F033BF-8BE7-25DA-0081-DB85D9E1C571}"/>
              </a:ext>
            </a:extLst>
          </p:cNvPr>
          <p:cNvSpPr txBox="1"/>
          <p:nvPr/>
        </p:nvSpPr>
        <p:spPr>
          <a:xfrm>
            <a:off x="1939578" y="2288343"/>
            <a:ext cx="2811600" cy="246221"/>
          </a:xfrm>
          <a:prstGeom prst="rect">
            <a:avLst/>
          </a:prstGeom>
          <a:noFill/>
        </p:spPr>
        <p:txBody>
          <a:bodyPr wrap="square" lIns="91440" tIns="45720" rIns="91440" bIns="45720" rtlCol="0" anchor="t">
            <a:spAutoFit/>
          </a:bodyPr>
          <a:lstStyle/>
          <a:p>
            <a:r>
              <a:rPr lang="en-US" sz="1000" err="1">
                <a:solidFill>
                  <a:srgbClr val="7F7F7F"/>
                </a:solidFill>
                <a:latin typeface="Montserrat"/>
                <a:cs typeface="Times New Roman"/>
              </a:rPr>
              <a:t>Pergunta</a:t>
            </a:r>
            <a:r>
              <a:rPr lang="en-US" sz="1000">
                <a:solidFill>
                  <a:srgbClr val="7F7F7F"/>
                </a:solidFill>
                <a:latin typeface="Montserrat"/>
                <a:cs typeface="Times New Roman"/>
              </a:rPr>
              <a:t> </a:t>
            </a:r>
            <a:r>
              <a:rPr lang="en-US" sz="1000" err="1">
                <a:solidFill>
                  <a:srgbClr val="7F7F7F"/>
                </a:solidFill>
                <a:latin typeface="Montserrat"/>
                <a:cs typeface="Times New Roman"/>
              </a:rPr>
              <a:t>proposta</a:t>
            </a:r>
            <a:endParaRPr lang="pt-BR" sz="1000">
              <a:solidFill>
                <a:srgbClr val="7F7F7F"/>
              </a:solidFill>
              <a:latin typeface="Montserrat"/>
              <a:cs typeface="Times New Roman"/>
            </a:endParaRPr>
          </a:p>
        </p:txBody>
      </p:sp>
      <p:grpSp>
        <p:nvGrpSpPr>
          <p:cNvPr id="36" name="Agrupar 38">
            <a:extLst>
              <a:ext uri="{FF2B5EF4-FFF2-40B4-BE49-F238E27FC236}">
                <a16:creationId xmlns:a16="http://schemas.microsoft.com/office/drawing/2014/main" id="{56D7DABF-C5D8-F1F4-53CF-B1885EAECF3E}"/>
              </a:ext>
            </a:extLst>
          </p:cNvPr>
          <p:cNvGrpSpPr/>
          <p:nvPr/>
        </p:nvGrpSpPr>
        <p:grpSpPr>
          <a:xfrm rot="10800000">
            <a:off x="1939578" y="2141394"/>
            <a:ext cx="2811600" cy="252000"/>
            <a:chOff x="6022821" y="2646629"/>
            <a:chExt cx="2737179" cy="252000"/>
          </a:xfrm>
          <a:solidFill>
            <a:srgbClr val="80B281"/>
          </a:solidFill>
        </p:grpSpPr>
        <p:cxnSp>
          <p:nvCxnSpPr>
            <p:cNvPr id="37" name="Conector de Seta Reta 39">
              <a:extLst>
                <a:ext uri="{FF2B5EF4-FFF2-40B4-BE49-F238E27FC236}">
                  <a16:creationId xmlns:a16="http://schemas.microsoft.com/office/drawing/2014/main" id="{12427657-7328-E92B-F374-2430A1A44D3F}"/>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38" name="Losango 43">
              <a:extLst>
                <a:ext uri="{FF2B5EF4-FFF2-40B4-BE49-F238E27FC236}">
                  <a16:creationId xmlns:a16="http://schemas.microsoft.com/office/drawing/2014/main" id="{88AC7028-3DF2-AC8F-893A-DA52DCC9E593}"/>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
        <p:nvSpPr>
          <p:cNvPr id="39" name="Rectangle 38">
            <a:extLst>
              <a:ext uri="{FF2B5EF4-FFF2-40B4-BE49-F238E27FC236}">
                <a16:creationId xmlns:a16="http://schemas.microsoft.com/office/drawing/2014/main" id="{234B9178-E87C-1128-6231-EED99E470C0D}"/>
              </a:ext>
            </a:extLst>
          </p:cNvPr>
          <p:cNvSpPr/>
          <p:nvPr/>
        </p:nvSpPr>
        <p:spPr>
          <a:xfrm>
            <a:off x="3328855" y="2827588"/>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40" name="Rectangle 39">
            <a:extLst>
              <a:ext uri="{FF2B5EF4-FFF2-40B4-BE49-F238E27FC236}">
                <a16:creationId xmlns:a16="http://schemas.microsoft.com/office/drawing/2014/main" id="{93C0D658-EECD-09EE-6D2B-DBF6934AB02E}"/>
              </a:ext>
            </a:extLst>
          </p:cNvPr>
          <p:cNvSpPr/>
          <p:nvPr/>
        </p:nvSpPr>
        <p:spPr>
          <a:xfrm>
            <a:off x="3153778" y="2421054"/>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rgbClr val="7F7F7F"/>
              </a:solidFill>
            </a:endParaRPr>
          </a:p>
        </p:txBody>
      </p:sp>
      <p:sp>
        <p:nvSpPr>
          <p:cNvPr id="41" name="CaixaDeTexto 8">
            <a:extLst>
              <a:ext uri="{FF2B5EF4-FFF2-40B4-BE49-F238E27FC236}">
                <a16:creationId xmlns:a16="http://schemas.microsoft.com/office/drawing/2014/main" id="{FC04F493-D525-C234-080B-E0A2A7D7504D}"/>
              </a:ext>
            </a:extLst>
          </p:cNvPr>
          <p:cNvSpPr txBox="1"/>
          <p:nvPr/>
        </p:nvSpPr>
        <p:spPr>
          <a:xfrm>
            <a:off x="5054805" y="2861891"/>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Literatura</a:t>
            </a:r>
          </a:p>
        </p:txBody>
      </p:sp>
      <p:sp>
        <p:nvSpPr>
          <p:cNvPr id="42" name="CaixaDeTexto 13">
            <a:extLst>
              <a:ext uri="{FF2B5EF4-FFF2-40B4-BE49-F238E27FC236}">
                <a16:creationId xmlns:a16="http://schemas.microsoft.com/office/drawing/2014/main" id="{77C8F5E4-C4B6-64E6-FE66-609A316202C7}"/>
              </a:ext>
            </a:extLst>
          </p:cNvPr>
          <p:cNvSpPr txBox="1"/>
          <p:nvPr/>
        </p:nvSpPr>
        <p:spPr>
          <a:xfrm>
            <a:off x="2002260" y="3106227"/>
            <a:ext cx="2811600" cy="246221"/>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Literatura</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Teórica</a:t>
            </a:r>
            <a:r>
              <a:rPr lang="en-US" sz="1000">
                <a:solidFill>
                  <a:srgbClr val="7F7F7F"/>
                </a:solidFill>
                <a:latin typeface="Montserrat" panose="00000500000000000000" pitchFamily="2" charset="0"/>
                <a:cs typeface="Times New Roman" panose="02020603050405020304" pitchFamily="18" charset="0"/>
              </a:rPr>
              <a:t> para a </a:t>
            </a:r>
            <a:r>
              <a:rPr lang="en-US" sz="1000" err="1">
                <a:solidFill>
                  <a:srgbClr val="7F7F7F"/>
                </a:solidFill>
                <a:latin typeface="Montserrat" panose="00000500000000000000" pitchFamily="2" charset="0"/>
                <a:cs typeface="Times New Roman" panose="02020603050405020304" pitchFamily="18" charset="0"/>
              </a:rPr>
              <a:t>fundamentação</a:t>
            </a:r>
            <a:endParaRPr lang="en-US" sz="1000">
              <a:solidFill>
                <a:srgbClr val="7F7F7F"/>
              </a:solidFill>
              <a:latin typeface="Montserrat" panose="00000500000000000000" pitchFamily="2" charset="0"/>
              <a:cs typeface="Times New Roman" panose="02020603050405020304" pitchFamily="18" charset="0"/>
            </a:endParaRPr>
          </a:p>
        </p:txBody>
      </p:sp>
      <p:grpSp>
        <p:nvGrpSpPr>
          <p:cNvPr id="43" name="Agrupar 38">
            <a:extLst>
              <a:ext uri="{FF2B5EF4-FFF2-40B4-BE49-F238E27FC236}">
                <a16:creationId xmlns:a16="http://schemas.microsoft.com/office/drawing/2014/main" id="{2213F220-EA9F-4C1C-A04F-D71DDC490C37}"/>
              </a:ext>
            </a:extLst>
          </p:cNvPr>
          <p:cNvGrpSpPr/>
          <p:nvPr/>
        </p:nvGrpSpPr>
        <p:grpSpPr>
          <a:xfrm rot="10800000">
            <a:off x="2097957" y="2959278"/>
            <a:ext cx="2811600" cy="252000"/>
            <a:chOff x="6022821" y="2646629"/>
            <a:chExt cx="2737179" cy="252000"/>
          </a:xfrm>
          <a:solidFill>
            <a:srgbClr val="80B281"/>
          </a:solidFill>
        </p:grpSpPr>
        <p:cxnSp>
          <p:nvCxnSpPr>
            <p:cNvPr id="44" name="Conector de Seta Reta 39">
              <a:extLst>
                <a:ext uri="{FF2B5EF4-FFF2-40B4-BE49-F238E27FC236}">
                  <a16:creationId xmlns:a16="http://schemas.microsoft.com/office/drawing/2014/main" id="{61F4C1B4-EA52-B600-CAA9-2C2B0D57DFC7}"/>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45" name="Losango 43">
              <a:extLst>
                <a:ext uri="{FF2B5EF4-FFF2-40B4-BE49-F238E27FC236}">
                  <a16:creationId xmlns:a16="http://schemas.microsoft.com/office/drawing/2014/main" id="{57ACC175-F5FB-C920-F430-6CF2C1ECAFE8}"/>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7" name="CaixaDeTexto 12">
            <a:extLst>
              <a:ext uri="{FF2B5EF4-FFF2-40B4-BE49-F238E27FC236}">
                <a16:creationId xmlns:a16="http://schemas.microsoft.com/office/drawing/2014/main" id="{8A2EDEFE-92A7-BE8E-A5C7-BC6AF33A7551}"/>
              </a:ext>
            </a:extLst>
          </p:cNvPr>
          <p:cNvSpPr txBox="1"/>
          <p:nvPr/>
        </p:nvSpPr>
        <p:spPr>
          <a:xfrm>
            <a:off x="4108439" y="5355391"/>
            <a:ext cx="4286931"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Viabilidade Empírica</a:t>
            </a:r>
          </a:p>
        </p:txBody>
      </p:sp>
      <p:sp>
        <p:nvSpPr>
          <p:cNvPr id="48" name="CaixaDeTexto 14">
            <a:extLst>
              <a:ext uri="{FF2B5EF4-FFF2-40B4-BE49-F238E27FC236}">
                <a16:creationId xmlns:a16="http://schemas.microsoft.com/office/drawing/2014/main" id="{799F74ED-392D-EC7F-5EF5-7C01E232CAEE}"/>
              </a:ext>
            </a:extLst>
          </p:cNvPr>
          <p:cNvSpPr txBox="1"/>
          <p:nvPr/>
        </p:nvSpPr>
        <p:spPr>
          <a:xfrm>
            <a:off x="1177838" y="5613639"/>
            <a:ext cx="2736922" cy="400110"/>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Viabilidade</a:t>
            </a:r>
            <a:r>
              <a:rPr lang="en-US" sz="1000">
                <a:solidFill>
                  <a:srgbClr val="7F7F7F"/>
                </a:solidFill>
                <a:latin typeface="Montserrat" panose="00000500000000000000" pitchFamily="2" charset="0"/>
                <a:cs typeface="Times New Roman" panose="02020603050405020304" pitchFamily="18" charset="0"/>
              </a:rPr>
              <a:t> dos dados para a </a:t>
            </a:r>
            <a:r>
              <a:rPr lang="en-US" sz="1000" err="1">
                <a:solidFill>
                  <a:srgbClr val="7F7F7F"/>
                </a:solidFill>
                <a:latin typeface="Montserrat" panose="00000500000000000000" pitchFamily="2" charset="0"/>
                <a:cs typeface="Times New Roman" panose="02020603050405020304" pitchFamily="18" charset="0"/>
              </a:rPr>
              <a:t>realização</a:t>
            </a:r>
            <a:r>
              <a:rPr lang="en-US" sz="1000">
                <a:solidFill>
                  <a:srgbClr val="7F7F7F"/>
                </a:solidFill>
                <a:latin typeface="Montserrat" panose="00000500000000000000" pitchFamily="2" charset="0"/>
                <a:cs typeface="Times New Roman" panose="02020603050405020304" pitchFamily="18" charset="0"/>
              </a:rPr>
              <a:t> do teste empírico</a:t>
            </a:r>
            <a:endParaRPr lang="pt-BR" sz="1000">
              <a:solidFill>
                <a:srgbClr val="7F7F7F"/>
              </a:solidFill>
              <a:latin typeface="Montserrat" panose="00000500000000000000" pitchFamily="2" charset="0"/>
              <a:cs typeface="Times New Roman" panose="02020603050405020304" pitchFamily="18" charset="0"/>
            </a:endParaRPr>
          </a:p>
        </p:txBody>
      </p:sp>
      <p:grpSp>
        <p:nvGrpSpPr>
          <p:cNvPr id="49" name="Agrupar 47">
            <a:extLst>
              <a:ext uri="{FF2B5EF4-FFF2-40B4-BE49-F238E27FC236}">
                <a16:creationId xmlns:a16="http://schemas.microsoft.com/office/drawing/2014/main" id="{1A1EF67A-FF6B-3E18-0610-27F72B44A9EA}"/>
              </a:ext>
            </a:extLst>
          </p:cNvPr>
          <p:cNvGrpSpPr/>
          <p:nvPr/>
        </p:nvGrpSpPr>
        <p:grpSpPr>
          <a:xfrm rot="10800000">
            <a:off x="1202890" y="5474432"/>
            <a:ext cx="2810101" cy="252000"/>
            <a:chOff x="6098372" y="2214756"/>
            <a:chExt cx="2810101" cy="252000"/>
          </a:xfrm>
          <a:solidFill>
            <a:srgbClr val="80B281"/>
          </a:solidFill>
        </p:grpSpPr>
        <p:cxnSp>
          <p:nvCxnSpPr>
            <p:cNvPr id="50" name="Conector de Seta Reta 48">
              <a:extLst>
                <a:ext uri="{FF2B5EF4-FFF2-40B4-BE49-F238E27FC236}">
                  <a16:creationId xmlns:a16="http://schemas.microsoft.com/office/drawing/2014/main" id="{39B8D0D4-633B-D9BB-1162-4E94F288DB13}"/>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51" name="Losango 49">
              <a:extLst>
                <a:ext uri="{FF2B5EF4-FFF2-40B4-BE49-F238E27FC236}">
                  <a16:creationId xmlns:a16="http://schemas.microsoft.com/office/drawing/2014/main" id="{176671B4-E41A-CD47-A3A7-C0C97F7B725C}"/>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Tree>
    <p:extLst>
      <p:ext uri="{BB962C8B-B14F-4D97-AF65-F5344CB8AC3E}">
        <p14:creationId xmlns:p14="http://schemas.microsoft.com/office/powerpoint/2010/main" val="614562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0F146C-89B5-EB90-3DBB-3884526E8635}"/>
              </a:ext>
            </a:extLst>
          </p:cNvPr>
          <p:cNvSpPr>
            <a:spLocks noGrp="1"/>
          </p:cNvSpPr>
          <p:nvPr>
            <p:ph type="body" sz="quarter" idx="18"/>
          </p:nvPr>
        </p:nvSpPr>
        <p:spPr/>
        <p:txBody>
          <a:bodyPr>
            <a:normAutofit fontScale="62500" lnSpcReduction="20000"/>
          </a:bodyPr>
          <a:lstStyle/>
          <a:p>
            <a:endParaRPr lang="pt-BR"/>
          </a:p>
        </p:txBody>
      </p:sp>
      <p:sp>
        <p:nvSpPr>
          <p:cNvPr id="3" name="Title 2">
            <a:extLst>
              <a:ext uri="{FF2B5EF4-FFF2-40B4-BE49-F238E27FC236}">
                <a16:creationId xmlns:a16="http://schemas.microsoft.com/office/drawing/2014/main" id="{A6AD2358-6AFA-940D-0B39-1FBA14940795}"/>
              </a:ext>
            </a:extLst>
          </p:cNvPr>
          <p:cNvSpPr>
            <a:spLocks noGrp="1"/>
          </p:cNvSpPr>
          <p:nvPr>
            <p:ph type="title"/>
          </p:nvPr>
        </p:nvSpPr>
        <p:spPr/>
        <p:txBody>
          <a:bodyPr>
            <a:normAutofit/>
          </a:bodyPr>
          <a:lstStyle/>
          <a:p>
            <a:r>
              <a:rPr lang="pt-BR">
                <a:solidFill>
                  <a:srgbClr val="F0F6FC"/>
                </a:solidFill>
                <a:latin typeface="Montserrat"/>
              </a:rPr>
              <a:t>Como juntamos os três</a:t>
            </a:r>
            <a:endParaRPr lang="en-US"/>
          </a:p>
        </p:txBody>
      </p:sp>
      <p:cxnSp>
        <p:nvCxnSpPr>
          <p:cNvPr id="14" name="Connector: Elbow 13">
            <a:extLst>
              <a:ext uri="{FF2B5EF4-FFF2-40B4-BE49-F238E27FC236}">
                <a16:creationId xmlns:a16="http://schemas.microsoft.com/office/drawing/2014/main" id="{3F3E5567-D04D-047F-CEC4-BA0621FC0568}"/>
              </a:ext>
            </a:extLst>
          </p:cNvPr>
          <p:cNvCxnSpPr>
            <a:cxnSpLocks/>
          </p:cNvCxnSpPr>
          <p:nvPr/>
        </p:nvCxnSpPr>
        <p:spPr>
          <a:xfrm rot="5400000">
            <a:off x="1911687" y="1977685"/>
            <a:ext cx="889538" cy="286686"/>
          </a:xfrm>
          <a:prstGeom prst="bentConnector3">
            <a:avLst>
              <a:gd name="adj1" fmla="val 81285"/>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EF51D414-E6C9-562A-BCB4-2E421107F83B}"/>
              </a:ext>
            </a:extLst>
          </p:cNvPr>
          <p:cNvCxnSpPr>
            <a:cxnSpLocks/>
          </p:cNvCxnSpPr>
          <p:nvPr/>
        </p:nvCxnSpPr>
        <p:spPr>
          <a:xfrm rot="5400000">
            <a:off x="3694109" y="1997564"/>
            <a:ext cx="889538" cy="286686"/>
          </a:xfrm>
          <a:prstGeom prst="bentConnector3">
            <a:avLst>
              <a:gd name="adj1" fmla="val 81285"/>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Connector: Elbow 15">
            <a:extLst>
              <a:ext uri="{FF2B5EF4-FFF2-40B4-BE49-F238E27FC236}">
                <a16:creationId xmlns:a16="http://schemas.microsoft.com/office/drawing/2014/main" id="{F4CA28A6-6CF4-D27C-2FDC-2748783BCDD3}"/>
              </a:ext>
            </a:extLst>
          </p:cNvPr>
          <p:cNvCxnSpPr>
            <a:cxnSpLocks/>
          </p:cNvCxnSpPr>
          <p:nvPr/>
        </p:nvCxnSpPr>
        <p:spPr>
          <a:xfrm rot="5400000">
            <a:off x="5555671" y="1966379"/>
            <a:ext cx="889538" cy="286686"/>
          </a:xfrm>
          <a:prstGeom prst="bentConnector3">
            <a:avLst>
              <a:gd name="adj1" fmla="val 81285"/>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2523DB5D-6490-D7EF-1338-F19CF1DC2D7F}"/>
              </a:ext>
            </a:extLst>
          </p:cNvPr>
          <p:cNvCxnSpPr>
            <a:cxnSpLocks/>
          </p:cNvCxnSpPr>
          <p:nvPr/>
        </p:nvCxnSpPr>
        <p:spPr>
          <a:xfrm rot="5400000">
            <a:off x="7684458" y="1997564"/>
            <a:ext cx="889538" cy="286686"/>
          </a:xfrm>
          <a:prstGeom prst="bentConnector3">
            <a:avLst>
              <a:gd name="adj1" fmla="val 81285"/>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067BC014-55CC-69AF-12BB-55C87B6F2ACF}"/>
              </a:ext>
            </a:extLst>
          </p:cNvPr>
          <p:cNvSpPr/>
          <p:nvPr/>
        </p:nvSpPr>
        <p:spPr>
          <a:xfrm>
            <a:off x="1802843" y="998323"/>
            <a:ext cx="7889358" cy="723061"/>
          </a:xfrm>
          <a:prstGeom prst="rect">
            <a:avLst/>
          </a:prstGeom>
          <a:solidFill>
            <a:schemeClr val="bg1"/>
          </a:solidFill>
          <a:ln w="38100">
            <a:solidFill>
              <a:srgbClr val="1147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mn-lt"/>
              <a:cs typeface="+mn-lt"/>
            </a:endParaRPr>
          </a:p>
        </p:txBody>
      </p:sp>
      <p:sp>
        <p:nvSpPr>
          <p:cNvPr id="20" name="TextBox 19">
            <a:extLst>
              <a:ext uri="{FF2B5EF4-FFF2-40B4-BE49-F238E27FC236}">
                <a16:creationId xmlns:a16="http://schemas.microsoft.com/office/drawing/2014/main" id="{99A8E1E4-9E6F-C8A8-A67F-394A2595E966}"/>
              </a:ext>
            </a:extLst>
          </p:cNvPr>
          <p:cNvSpPr txBox="1"/>
          <p:nvPr/>
        </p:nvSpPr>
        <p:spPr>
          <a:xfrm>
            <a:off x="5818189" y="2378511"/>
            <a:ext cx="1691640" cy="276999"/>
          </a:xfrm>
          <a:prstGeom prst="rect">
            <a:avLst/>
          </a:prstGeom>
          <a:noFill/>
        </p:spPr>
        <p:txBody>
          <a:bodyPr wrap="square" rtlCol="0">
            <a:spAutoFit/>
          </a:bodyPr>
          <a:lstStyle/>
          <a:p>
            <a:pPr>
              <a:lnSpc>
                <a:spcPct val="95000"/>
              </a:lnSpc>
            </a:pPr>
            <a:r>
              <a:rPr lang="pt-BR" sz="950" b="1">
                <a:solidFill>
                  <a:srgbClr val="114719"/>
                </a:solidFill>
                <a:latin typeface="Montserrat" panose="00000500000000000000" pitchFamily="2" charset="0"/>
              </a:rPr>
              <a:t>o custo de estar ali</a:t>
            </a:r>
          </a:p>
        </p:txBody>
      </p:sp>
      <p:sp>
        <p:nvSpPr>
          <p:cNvPr id="21" name="TextBox 20">
            <a:extLst>
              <a:ext uri="{FF2B5EF4-FFF2-40B4-BE49-F238E27FC236}">
                <a16:creationId xmlns:a16="http://schemas.microsoft.com/office/drawing/2014/main" id="{50A8A762-1185-A539-168F-AAB260B851B1}"/>
              </a:ext>
            </a:extLst>
          </p:cNvPr>
          <p:cNvSpPr txBox="1"/>
          <p:nvPr/>
        </p:nvSpPr>
        <p:spPr>
          <a:xfrm>
            <a:off x="3970264" y="2389010"/>
            <a:ext cx="1691640" cy="276999"/>
          </a:xfrm>
          <a:prstGeom prst="rect">
            <a:avLst/>
          </a:prstGeom>
          <a:noFill/>
        </p:spPr>
        <p:txBody>
          <a:bodyPr wrap="square" rtlCol="0">
            <a:spAutoFit/>
          </a:bodyPr>
          <a:lstStyle/>
          <a:p>
            <a:pPr>
              <a:lnSpc>
                <a:spcPct val="95000"/>
              </a:lnSpc>
            </a:pPr>
            <a:r>
              <a:rPr lang="pt-BR" sz="950" b="1">
                <a:solidFill>
                  <a:srgbClr val="114719"/>
                </a:solidFill>
                <a:latin typeface="Montserrat" panose="00000500000000000000" pitchFamily="2" charset="0"/>
              </a:rPr>
              <a:t>a bolsa, deflacionada</a:t>
            </a:r>
          </a:p>
        </p:txBody>
      </p:sp>
      <p:sp>
        <p:nvSpPr>
          <p:cNvPr id="22" name="TextBox 21">
            <a:extLst>
              <a:ext uri="{FF2B5EF4-FFF2-40B4-BE49-F238E27FC236}">
                <a16:creationId xmlns:a16="http://schemas.microsoft.com/office/drawing/2014/main" id="{DB424C52-0550-9B8E-EF86-442084F4E98F}"/>
              </a:ext>
            </a:extLst>
          </p:cNvPr>
          <p:cNvSpPr txBox="1"/>
          <p:nvPr/>
        </p:nvSpPr>
        <p:spPr>
          <a:xfrm>
            <a:off x="2154907" y="2396306"/>
            <a:ext cx="1691640" cy="276999"/>
          </a:xfrm>
          <a:prstGeom prst="rect">
            <a:avLst/>
          </a:prstGeom>
          <a:noFill/>
        </p:spPr>
        <p:txBody>
          <a:bodyPr wrap="square" rtlCol="0">
            <a:spAutoFit/>
          </a:bodyPr>
          <a:lstStyle/>
          <a:p>
            <a:pPr>
              <a:lnSpc>
                <a:spcPct val="95000"/>
              </a:lnSpc>
            </a:pPr>
            <a:r>
              <a:rPr lang="pt-BR" sz="950" b="1">
                <a:solidFill>
                  <a:srgbClr val="114719"/>
                </a:solidFill>
                <a:latin typeface="Montserrat" panose="00000500000000000000" pitchFamily="2" charset="0"/>
              </a:rPr>
              <a:t>a escolha é de carreira</a:t>
            </a:r>
          </a:p>
        </p:txBody>
      </p:sp>
      <p:sp>
        <p:nvSpPr>
          <p:cNvPr id="23" name="TextBox 22">
            <a:extLst>
              <a:ext uri="{FF2B5EF4-FFF2-40B4-BE49-F238E27FC236}">
                <a16:creationId xmlns:a16="http://schemas.microsoft.com/office/drawing/2014/main" id="{92CA34B7-1F39-71DB-4F75-F5789293AAD1}"/>
              </a:ext>
            </a:extLst>
          </p:cNvPr>
          <p:cNvSpPr txBox="1"/>
          <p:nvPr/>
        </p:nvSpPr>
        <p:spPr>
          <a:xfrm>
            <a:off x="7954983" y="2396306"/>
            <a:ext cx="2240280" cy="276999"/>
          </a:xfrm>
          <a:prstGeom prst="rect">
            <a:avLst/>
          </a:prstGeom>
          <a:noFill/>
        </p:spPr>
        <p:txBody>
          <a:bodyPr wrap="square" rtlCol="0">
            <a:spAutoFit/>
          </a:bodyPr>
          <a:lstStyle/>
          <a:p>
            <a:pPr>
              <a:lnSpc>
                <a:spcPct val="95000"/>
              </a:lnSpc>
            </a:pPr>
            <a:r>
              <a:rPr lang="pt-BR" sz="950" b="1">
                <a:solidFill>
                  <a:srgbClr val="114719"/>
                </a:solidFill>
                <a:latin typeface="Montserrat" panose="00000500000000000000" pitchFamily="2" charset="0"/>
              </a:rPr>
              <a:t>m = 0 é ficar fora do programa</a:t>
            </a:r>
            <a:endParaRPr lang="pt-BR" sz="1200">
              <a:latin typeface="Montserrat" panose="00000500000000000000" pitchFamily="2" charset="0"/>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34C5854-1F3E-B33B-3309-106F7639A4F4}"/>
                  </a:ext>
                </a:extLst>
              </p:cNvPr>
              <p:cNvSpPr txBox="1"/>
              <p:nvPr/>
            </p:nvSpPr>
            <p:spPr>
              <a:xfrm>
                <a:off x="2265491" y="1045286"/>
                <a:ext cx="6553781" cy="686726"/>
              </a:xfrm>
              <a:prstGeom prst="rect">
                <a:avLst/>
              </a:prstGeom>
              <a:noFill/>
            </p:spPr>
            <p:txBody>
              <a:bodyPr wrap="none" lIns="0" tIns="0" rIns="0" bIns="0" rtlCol="0">
                <a:spAutoFit/>
              </a:bodyPr>
              <a:lstStyle/>
              <a:p>
                <a:pPr>
                  <a:tabLst>
                    <a:tab pos="450850" algn="l"/>
                  </a:tabLst>
                </a:pPr>
                <a14:m>
                  <m:oMathPara xmlns:m="http://schemas.openxmlformats.org/officeDocument/2006/math">
                    <m:oMathParaPr>
                      <m:jc m:val="centerGroup"/>
                    </m:oMathParaPr>
                    <m:oMath xmlns:m="http://schemas.openxmlformats.org/officeDocument/2006/math">
                      <m:sSub>
                        <m:sSubPr>
                          <m:ctrlPr>
                            <a:rPr lang="de-DE" i="1" smtClean="0">
                              <a:latin typeface="Cambria Math" panose="02040503050406030204" pitchFamily="18" charset="0"/>
                            </a:rPr>
                          </m:ctrlPr>
                        </m:sSubPr>
                        <m:e>
                          <m:r>
                            <a:rPr lang="de-DE" i="1">
                              <a:latin typeface="Cambria Math" panose="02040503050406030204" pitchFamily="18" charset="0"/>
                            </a:rPr>
                            <m:t>𝑉</m:t>
                          </m:r>
                        </m:e>
                        <m:sub>
                          <m:r>
                            <a:rPr lang="de-DE" i="1">
                              <a:latin typeface="Cambria Math" panose="02040503050406030204" pitchFamily="18" charset="0"/>
                            </a:rPr>
                            <m:t>𝑖𝑚</m:t>
                          </m:r>
                        </m:sub>
                      </m:sSub>
                      <m:r>
                        <a:rPr lang="de-DE" i="1">
                          <a:latin typeface="Cambria Math" panose="02040503050406030204" pitchFamily="18" charset="0"/>
                        </a:rPr>
                        <m:t>=</m:t>
                      </m:r>
                      <m:nary>
                        <m:naryPr>
                          <m:chr m:val="∑"/>
                          <m:supHide m:val="on"/>
                          <m:ctrlPr>
                            <a:rPr lang="de-DE" i="1">
                              <a:latin typeface="Cambria Math" panose="02040503050406030204" pitchFamily="18" charset="0"/>
                            </a:rPr>
                          </m:ctrlPr>
                        </m:naryPr>
                        <m:sub>
                          <m:r>
                            <a:rPr lang="de-DE" i="1">
                              <a:latin typeface="Cambria Math" panose="02040503050406030204" pitchFamily="18" charset="0"/>
                            </a:rPr>
                            <m:t>𝑡</m:t>
                          </m:r>
                        </m:sub>
                        <m:sup/>
                        <m:e>
                          <m:sSup>
                            <m:sSupPr>
                              <m:ctrlPr>
                                <a:rPr lang="de-DE" i="1">
                                  <a:latin typeface="Cambria Math" panose="02040503050406030204" pitchFamily="18" charset="0"/>
                                </a:rPr>
                              </m:ctrlPr>
                            </m:sSupPr>
                            <m:e>
                              <m:r>
                                <a:rPr lang="de-DE" i="1">
                                  <a:latin typeface="Cambria Math" panose="02040503050406030204" pitchFamily="18" charset="0"/>
                                </a:rPr>
                                <m:t>𝛿</m:t>
                              </m:r>
                            </m:e>
                            <m:sup>
                              <m:r>
                                <a:rPr lang="de-DE" i="1">
                                  <a:latin typeface="Cambria Math" panose="02040503050406030204" pitchFamily="18" charset="0"/>
                                </a:rPr>
                                <m:t>𝑡</m:t>
                              </m:r>
                            </m:sup>
                          </m:sSup>
                          <m:d>
                            <m:dPr>
                              <m:begChr m:val="["/>
                              <m:endChr m:val="]"/>
                              <m:ctrlPr>
                                <a:rPr lang="de-DE" i="1">
                                  <a:latin typeface="Cambria Math" panose="02040503050406030204" pitchFamily="18" charset="0"/>
                                </a:rPr>
                              </m:ctrlPr>
                            </m:dPr>
                            <m:e>
                              <m:f>
                                <m:fPr>
                                  <m:ctrlPr>
                                    <a:rPr lang="de-DE" i="1">
                                      <a:latin typeface="Cambria Math" panose="02040503050406030204" pitchFamily="18" charset="0"/>
                                    </a:rPr>
                                  </m:ctrlPr>
                                </m:fPr>
                                <m:num>
                                  <m:r>
                                    <a:rPr lang="de-DE" i="1">
                                      <a:latin typeface="Cambria Math" panose="02040503050406030204" pitchFamily="18" charset="0"/>
                                    </a:rPr>
                                    <m:t>𝐸</m:t>
                                  </m:r>
                                  <m:d>
                                    <m:dPr>
                                      <m:ctrlPr>
                                        <a:rPr lang="de-DE" i="1">
                                          <a:latin typeface="Cambria Math" panose="02040503050406030204" pitchFamily="18" charset="0"/>
                                        </a:rPr>
                                      </m:ctrlPr>
                                    </m:dPr>
                                    <m:e>
                                      <m:sSub>
                                        <m:sSubPr>
                                          <m:ctrlPr>
                                            <a:rPr lang="de-DE" i="1">
                                              <a:latin typeface="Cambria Math" panose="02040503050406030204" pitchFamily="18" charset="0"/>
                                            </a:rPr>
                                          </m:ctrlPr>
                                        </m:sSubPr>
                                        <m:e>
                                          <m:r>
                                            <a:rPr lang="de-DE" i="1">
                                              <a:latin typeface="Cambria Math" panose="02040503050406030204" pitchFamily="18" charset="0"/>
                                            </a:rPr>
                                            <m:t>𝑤</m:t>
                                          </m:r>
                                        </m:e>
                                        <m:sub>
                                          <m:r>
                                            <a:rPr lang="de-DE" i="1">
                                              <a:latin typeface="Cambria Math" panose="02040503050406030204" pitchFamily="18" charset="0"/>
                                            </a:rPr>
                                            <m:t>𝑖𝑚𝑡</m:t>
                                          </m:r>
                                        </m:sub>
                                      </m:sSub>
                                    </m:e>
                                    <m:e>
                                      <m:sSub>
                                        <m:sSubPr>
                                          <m:ctrlPr>
                                            <a:rPr lang="de-DE" i="1">
                                              <a:latin typeface="Cambria Math" panose="02040503050406030204" pitchFamily="18" charset="0"/>
                                            </a:rPr>
                                          </m:ctrlPr>
                                        </m:sSubPr>
                                        <m:e>
                                          <m:r>
                                            <a:rPr lang="de-DE" i="1">
                                              <a:latin typeface="Cambria Math" panose="02040503050406030204" pitchFamily="18" charset="0"/>
                                            </a:rPr>
                                            <m:t>𝐵</m:t>
                                          </m:r>
                                        </m:e>
                                        <m:sub>
                                          <m:r>
                                            <a:rPr lang="de-DE" i="1">
                                              <a:latin typeface="Cambria Math" panose="02040503050406030204" pitchFamily="18" charset="0"/>
                                            </a:rPr>
                                            <m:t>𝑚</m:t>
                                          </m:r>
                                        </m:sub>
                                      </m:sSub>
                                    </m:e>
                                  </m:d>
                                </m:num>
                                <m:den>
                                  <m:sSub>
                                    <m:sSubPr>
                                      <m:ctrlPr>
                                        <a:rPr lang="de-DE" i="1">
                                          <a:latin typeface="Cambria Math" panose="02040503050406030204" pitchFamily="18" charset="0"/>
                                        </a:rPr>
                                      </m:ctrlPr>
                                    </m:sSubPr>
                                    <m:e>
                                      <m:r>
                                        <a:rPr lang="de-DE" i="1">
                                          <a:latin typeface="Cambria Math" panose="02040503050406030204" pitchFamily="18" charset="0"/>
                                        </a:rPr>
                                        <m:t>𝑝</m:t>
                                      </m:r>
                                    </m:e>
                                    <m:sub>
                                      <m:r>
                                        <a:rPr lang="de-DE" i="1">
                                          <a:latin typeface="Cambria Math" panose="02040503050406030204" pitchFamily="18" charset="0"/>
                                        </a:rPr>
                                        <m:t>𝑚𝑡</m:t>
                                      </m:r>
                                    </m:sub>
                                  </m:sSub>
                                </m:den>
                              </m:f>
                              <m:r>
                                <a:rPr lang="de-DE" i="1">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𝑐</m:t>
                                  </m:r>
                                </m:e>
                                <m:sub>
                                  <m:r>
                                    <a:rPr lang="de-DE" i="1">
                                      <a:latin typeface="Cambria Math" panose="02040503050406030204" pitchFamily="18" charset="0"/>
                                    </a:rPr>
                                    <m:t>𝑖𝑚</m:t>
                                  </m:r>
                                </m:sub>
                              </m:sSub>
                            </m:e>
                          </m:d>
                        </m:e>
                      </m:nary>
                      <m:r>
                        <a:rPr lang="de-DE" i="1">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𝜀</m:t>
                          </m:r>
                        </m:e>
                        <m:sub>
                          <m:r>
                            <a:rPr lang="de-DE" i="1">
                              <a:latin typeface="Cambria Math" panose="02040503050406030204" pitchFamily="18" charset="0"/>
                            </a:rPr>
                            <m:t>𝑖𝑚</m:t>
                          </m:r>
                        </m:sub>
                      </m:sSub>
                      <m:r>
                        <a:rPr lang="de-DE" i="1">
                          <a:latin typeface="Cambria Math" panose="02040503050406030204" pitchFamily="18" charset="0"/>
                        </a:rPr>
                        <m:t>,    </m:t>
                      </m:r>
                      <m:sSubSup>
                        <m:sSubSupPr>
                          <m:ctrlPr>
                            <a:rPr lang="de-DE" i="1">
                              <a:latin typeface="Cambria Math" panose="02040503050406030204" pitchFamily="18" charset="0"/>
                            </a:rPr>
                          </m:ctrlPr>
                        </m:sSubSupPr>
                        <m:e>
                          <m:r>
                            <a:rPr lang="de-DE" i="1">
                              <a:latin typeface="Cambria Math" panose="02040503050406030204" pitchFamily="18" charset="0"/>
                            </a:rPr>
                            <m:t>𝑚</m:t>
                          </m:r>
                        </m:e>
                        <m:sub>
                          <m:r>
                            <a:rPr lang="de-DE" i="1">
                              <a:latin typeface="Cambria Math" panose="02040503050406030204" pitchFamily="18" charset="0"/>
                            </a:rPr>
                            <m:t>𝑖</m:t>
                          </m:r>
                        </m:sub>
                        <m:sup>
                          <m:r>
                            <a:rPr lang="de-DE" i="1">
                              <a:latin typeface="Cambria Math" panose="02040503050406030204" pitchFamily="18" charset="0"/>
                            </a:rPr>
                            <m:t>∗</m:t>
                          </m:r>
                        </m:sup>
                      </m:sSubSup>
                      <m:r>
                        <a:rPr lang="de-DE" i="1">
                          <a:latin typeface="Cambria Math" panose="02040503050406030204" pitchFamily="18" charset="0"/>
                        </a:rPr>
                        <m:t>∈</m:t>
                      </m:r>
                      <m:func>
                        <m:funcPr>
                          <m:ctrlPr>
                            <a:rPr lang="de-DE" i="1">
                              <a:latin typeface="Cambria Math" panose="02040503050406030204" pitchFamily="18" charset="0"/>
                            </a:rPr>
                          </m:ctrlPr>
                        </m:funcPr>
                        <m:fName>
                          <m:r>
                            <m:rPr>
                              <m:sty m:val="p"/>
                            </m:rPr>
                            <a:rPr lang="de-DE" i="0">
                              <a:latin typeface="Cambria Math" panose="02040503050406030204" pitchFamily="18" charset="0"/>
                            </a:rPr>
                            <m:t>arg</m:t>
                          </m:r>
                        </m:fName>
                        <m:e>
                          <m:func>
                            <m:funcPr>
                              <m:ctrlPr>
                                <a:rPr lang="de-DE" i="1">
                                  <a:latin typeface="Cambria Math" panose="02040503050406030204" pitchFamily="18" charset="0"/>
                                </a:rPr>
                              </m:ctrlPr>
                            </m:funcPr>
                            <m:fName>
                              <m:limLow>
                                <m:limLowPr>
                                  <m:ctrlPr>
                                    <a:rPr lang="de-DE" i="1">
                                      <a:latin typeface="Cambria Math" panose="02040503050406030204" pitchFamily="18" charset="0"/>
                                    </a:rPr>
                                  </m:ctrlPr>
                                </m:limLowPr>
                                <m:e>
                                  <m:r>
                                    <m:rPr>
                                      <m:sty m:val="p"/>
                                    </m:rPr>
                                    <a:rPr lang="de-DE" i="0">
                                      <a:latin typeface="Cambria Math" panose="02040503050406030204" pitchFamily="18" charset="0"/>
                                    </a:rPr>
                                    <m:t>max</m:t>
                                  </m:r>
                                </m:e>
                                <m:lim>
                                  <m:r>
                                    <a:rPr lang="de-DE" i="1">
                                      <a:latin typeface="Cambria Math" panose="02040503050406030204" pitchFamily="18" charset="0"/>
                                    </a:rPr>
                                    <m:t>𝑚</m:t>
                                  </m:r>
                                  <m:r>
                                    <a:rPr lang="de-DE" i="1">
                                      <a:latin typeface="Cambria Math" panose="02040503050406030204" pitchFamily="18" charset="0"/>
                                    </a:rPr>
                                    <m:t>∈</m:t>
                                  </m:r>
                                  <m:r>
                                    <a:rPr lang="de-DE" i="1">
                                      <a:latin typeface="Cambria Math" panose="02040503050406030204" pitchFamily="18" charset="0"/>
                                    </a:rPr>
                                    <m:t>𝑀</m:t>
                                  </m:r>
                                  <m:r>
                                    <a:rPr lang="de-DE" i="1">
                                      <a:latin typeface="Cambria Math" panose="02040503050406030204" pitchFamily="18" charset="0"/>
                                    </a:rPr>
                                    <m:t>∪</m:t>
                                  </m:r>
                                  <m:d>
                                    <m:dPr>
                                      <m:begChr m:val="{"/>
                                      <m:endChr m:val="}"/>
                                      <m:ctrlPr>
                                        <a:rPr lang="de-DE" i="1">
                                          <a:latin typeface="Cambria Math" panose="02040503050406030204" pitchFamily="18" charset="0"/>
                                        </a:rPr>
                                      </m:ctrlPr>
                                    </m:dPr>
                                    <m:e>
                                      <m:r>
                                        <a:rPr lang="de-DE" i="1">
                                          <a:latin typeface="Cambria Math" panose="02040503050406030204" pitchFamily="18" charset="0"/>
                                        </a:rPr>
                                        <m:t>0</m:t>
                                      </m:r>
                                    </m:e>
                                  </m:d>
                                </m:lim>
                              </m:limLow>
                            </m:fName>
                            <m:e>
                              <m:sSub>
                                <m:sSubPr>
                                  <m:ctrlPr>
                                    <a:rPr lang="de-DE" i="1">
                                      <a:latin typeface="Cambria Math" panose="02040503050406030204" pitchFamily="18" charset="0"/>
                                    </a:rPr>
                                  </m:ctrlPr>
                                </m:sSubPr>
                                <m:e>
                                  <m:r>
                                    <a:rPr lang="de-DE" i="1">
                                      <a:latin typeface="Cambria Math" panose="02040503050406030204" pitchFamily="18" charset="0"/>
                                    </a:rPr>
                                    <m:t>𝑉</m:t>
                                  </m:r>
                                </m:e>
                                <m:sub>
                                  <m:r>
                                    <a:rPr lang="de-DE" i="1">
                                      <a:latin typeface="Cambria Math" panose="02040503050406030204" pitchFamily="18" charset="0"/>
                                    </a:rPr>
                                    <m:t>𝑖𝑚</m:t>
                                  </m:r>
                                </m:sub>
                              </m:sSub>
                            </m:e>
                          </m:func>
                        </m:e>
                      </m:func>
                    </m:oMath>
                  </m:oMathPara>
                </a14:m>
                <a:endParaRPr lang="pt-BR"/>
              </a:p>
            </p:txBody>
          </p:sp>
        </mc:Choice>
        <mc:Fallback>
          <p:sp>
            <p:nvSpPr>
              <p:cNvPr id="4" name="TextBox 3">
                <a:extLst>
                  <a:ext uri="{FF2B5EF4-FFF2-40B4-BE49-F238E27FC236}">
                    <a16:creationId xmlns:a16="http://schemas.microsoft.com/office/drawing/2014/main" id="{334C5854-1F3E-B33B-3309-106F7639A4F4}"/>
                  </a:ext>
                </a:extLst>
              </p:cNvPr>
              <p:cNvSpPr txBox="1">
                <a:spLocks noRot="1" noChangeAspect="1" noMove="1" noResize="1" noEditPoints="1" noAdjustHandles="1" noChangeArrowheads="1" noChangeShapeType="1" noTextEdit="1"/>
              </p:cNvSpPr>
              <p:nvPr/>
            </p:nvSpPr>
            <p:spPr>
              <a:xfrm>
                <a:off x="2265491" y="1045286"/>
                <a:ext cx="6553781" cy="686726"/>
              </a:xfrm>
              <a:prstGeom prst="rect">
                <a:avLst/>
              </a:prstGeom>
              <a:blipFill>
                <a:blip r:embed="rId4"/>
                <a:stretch>
                  <a:fillRect/>
                </a:stretch>
              </a:blipFill>
            </p:spPr>
            <p:txBody>
              <a:bodyPr/>
              <a:lstStyle/>
              <a:p>
                <a:r>
                  <a:rPr lang="en-US">
                    <a:noFill/>
                  </a:rPr>
                  <a:t> </a:t>
                </a:r>
              </a:p>
            </p:txBody>
          </p:sp>
        </mc:Fallback>
      </mc:AlternateContent>
      <p:pic>
        <p:nvPicPr>
          <p:cNvPr id="24" name="Picture 23" descr="decomposicao_custo.png"/>
          <p:cNvPicPr>
            <a:picLocks noChangeAspect="1"/>
          </p:cNvPicPr>
          <p:nvPr/>
        </p:nvPicPr>
        <p:blipFill>
          <a:blip r:embed="rId5"/>
          <a:stretch>
            <a:fillRect/>
          </a:stretch>
        </p:blipFill>
        <p:spPr>
          <a:xfrm>
            <a:off x="960120" y="2871216"/>
            <a:ext cx="9692640" cy="927816"/>
          </a:xfrm>
          <a:prstGeom prst="rect">
            <a:avLst/>
          </a:prstGeom>
        </p:spPr>
      </p:pic>
      <p:sp>
        <p:nvSpPr>
          <p:cNvPr id="25" name="TextBox 24"/>
          <p:cNvSpPr txBox="1"/>
          <p:nvPr/>
        </p:nvSpPr>
        <p:spPr>
          <a:xfrm>
            <a:off x="512064" y="3968496"/>
            <a:ext cx="3703320" cy="310896"/>
          </a:xfrm>
          <a:prstGeom prst="rect">
            <a:avLst/>
          </a:prstGeom>
          <a:solidFill>
            <a:srgbClr val="114719"/>
          </a:solidFill>
          <a:ln>
            <a:noFill/>
          </a:ln>
        </p:spPr>
        <p:txBody>
          <a:bodyPr wrap="square" anchor="ctr" lIns="73152" rIns="73152" tIns="51206" bIns="51206">
            <a:spAutoFit/>
          </a:bodyPr>
          <a:lstStyle/>
          <a:p>
            <a:pPr algn="ctr">
              <a:buNone/>
            </a:pPr>
            <a:r>
              <a:rPr sz="950" b="1" i="0">
                <a:solidFill>
                  <a:srgbClr val="FFFFFF"/>
                </a:solidFill>
                <a:latin typeface="Montserrat"/>
              </a:rPr>
              <a:t>MOEHLING ET AL. (2020)</a:t>
            </a:r>
          </a:p>
        </p:txBody>
      </p:sp>
      <p:sp>
        <p:nvSpPr>
          <p:cNvPr id="26" name="TextBox 25"/>
          <p:cNvSpPr txBox="1"/>
          <p:nvPr/>
        </p:nvSpPr>
        <p:spPr>
          <a:xfrm>
            <a:off x="512064" y="4279392"/>
            <a:ext cx="3703320" cy="969264"/>
          </a:xfrm>
          <a:prstGeom prst="rect">
            <a:avLst/>
          </a:prstGeom>
          <a:solidFill>
            <a:srgbClr val="EFF4F0"/>
          </a:solidFill>
          <a:ln>
            <a:noFill/>
          </a:ln>
        </p:spPr>
        <p:txBody>
          <a:bodyPr wrap="square" anchor="ctr" tIns="64007" bIns="64007">
            <a:spAutoFit/>
          </a:bodyPr>
          <a:lstStyle/>
          <a:p>
            <a:pPr algn="ctr">
              <a:lnSpc>
                <a:spcPct val="95000"/>
              </a:lnSpc>
              <a:buNone/>
            </a:pPr>
            <a:r>
              <a:rPr sz="1000" b="0" i="0">
                <a:solidFill>
                  <a:srgbClr val="3A3A3A"/>
                </a:solidFill>
                <a:latin typeface="Montserrat"/>
              </a:rPr>
              <a:t>o arg max intertemporal, o deflator p e a existência de um custo c</a:t>
            </a:r>
          </a:p>
        </p:txBody>
      </p:sp>
      <p:sp>
        <p:nvSpPr>
          <p:cNvPr id="27" name="TextBox 26"/>
          <p:cNvSpPr txBox="1"/>
          <p:nvPr/>
        </p:nvSpPr>
        <p:spPr>
          <a:xfrm>
            <a:off x="4425696" y="3968496"/>
            <a:ext cx="3703320" cy="310896"/>
          </a:xfrm>
          <a:prstGeom prst="rect">
            <a:avLst/>
          </a:prstGeom>
          <a:solidFill>
            <a:srgbClr val="114719"/>
          </a:solidFill>
          <a:ln>
            <a:noFill/>
          </a:ln>
        </p:spPr>
        <p:txBody>
          <a:bodyPr wrap="square" anchor="ctr" lIns="73152" rIns="73152" tIns="51206" bIns="51206">
            <a:spAutoFit/>
          </a:bodyPr>
          <a:lstStyle/>
          <a:p>
            <a:pPr algn="ctr">
              <a:buNone/>
            </a:pPr>
            <a:r>
              <a:rPr sz="950" b="1" i="0">
                <a:solidFill>
                  <a:srgbClr val="FFFFFF"/>
                </a:solidFill>
                <a:latin typeface="Montserrat"/>
              </a:rPr>
              <a:t>REDDING &amp; ROSSI-HANSBERG (2017)</a:t>
            </a:r>
          </a:p>
        </p:txBody>
      </p:sp>
      <p:sp>
        <p:nvSpPr>
          <p:cNvPr id="28" name="TextBox 27"/>
          <p:cNvSpPr txBox="1"/>
          <p:nvPr/>
        </p:nvSpPr>
        <p:spPr>
          <a:xfrm>
            <a:off x="4425696" y="4279392"/>
            <a:ext cx="3703320" cy="969264"/>
          </a:xfrm>
          <a:prstGeom prst="rect">
            <a:avLst/>
          </a:prstGeom>
          <a:solidFill>
            <a:srgbClr val="EFF4F0"/>
          </a:solidFill>
          <a:ln>
            <a:noFill/>
          </a:ln>
        </p:spPr>
        <p:txBody>
          <a:bodyPr wrap="square" anchor="ctr" tIns="64007" bIns="64007">
            <a:spAutoFit/>
          </a:bodyPr>
          <a:lstStyle/>
          <a:p>
            <a:pPr algn="ctr">
              <a:lnSpc>
                <a:spcPct val="95000"/>
              </a:lnSpc>
              <a:buNone/>
            </a:pPr>
            <a:r>
              <a:rPr sz="1000" b="0" i="0">
                <a:solidFill>
                  <a:srgbClr val="3A3A3A"/>
                </a:solidFill>
                <a:latin typeface="Montserrat"/>
              </a:rPr>
              <a:t>distância, amenidades e custo de moradia, dentro de c</a:t>
            </a:r>
          </a:p>
        </p:txBody>
      </p:sp>
      <p:sp>
        <p:nvSpPr>
          <p:cNvPr id="29" name="TextBox 28"/>
          <p:cNvSpPr txBox="1"/>
          <p:nvPr/>
        </p:nvSpPr>
        <p:spPr>
          <a:xfrm>
            <a:off x="8339327" y="3968496"/>
            <a:ext cx="3703320" cy="310896"/>
          </a:xfrm>
          <a:prstGeom prst="rect">
            <a:avLst/>
          </a:prstGeom>
          <a:solidFill>
            <a:srgbClr val="114719"/>
          </a:solidFill>
          <a:ln>
            <a:noFill/>
          </a:ln>
        </p:spPr>
        <p:txBody>
          <a:bodyPr wrap="square" anchor="ctr" lIns="73152" rIns="73152" tIns="51206" bIns="51206">
            <a:spAutoFit/>
          </a:bodyPr>
          <a:lstStyle/>
          <a:p>
            <a:pPr algn="ctr">
              <a:buNone/>
            </a:pPr>
            <a:r>
              <a:rPr sz="950" b="1" i="0">
                <a:solidFill>
                  <a:srgbClr val="FFFFFF"/>
                </a:solidFill>
                <a:latin typeface="Montserrat"/>
              </a:rPr>
              <a:t>CHONÉ &amp; MA (2011), COM REINHARDT</a:t>
            </a:r>
          </a:p>
        </p:txBody>
      </p:sp>
      <p:sp>
        <p:nvSpPr>
          <p:cNvPr id="30" name="TextBox 29"/>
          <p:cNvSpPr txBox="1"/>
          <p:nvPr/>
        </p:nvSpPr>
        <p:spPr>
          <a:xfrm>
            <a:off x="8339327" y="4279392"/>
            <a:ext cx="3703320" cy="969264"/>
          </a:xfrm>
          <a:prstGeom prst="rect">
            <a:avLst/>
          </a:prstGeom>
          <a:solidFill>
            <a:srgbClr val="EFF4F0"/>
          </a:solidFill>
          <a:ln>
            <a:noFill/>
          </a:ln>
        </p:spPr>
        <p:txBody>
          <a:bodyPr wrap="square" anchor="ctr" tIns="64007" bIns="64007">
            <a:spAutoFit/>
          </a:bodyPr>
          <a:lstStyle/>
          <a:p>
            <a:pPr algn="ctr">
              <a:lnSpc>
                <a:spcPct val="95000"/>
              </a:lnSpc>
              <a:buNone/>
            </a:pPr>
            <a:r>
              <a:rPr sz="1000" b="0" i="0">
                <a:solidFill>
                  <a:srgbClr val="3A3A3A"/>
                </a:solidFill>
                <a:latin typeface="Montserrat"/>
              </a:rPr>
              <a:t>esforço, altruísmo e o papel de equipe e capital, dentro de c</a:t>
            </a:r>
          </a:p>
        </p:txBody>
      </p:sp>
      <p:sp>
        <p:nvSpPr>
          <p:cNvPr id="31" name="TextBox 30"/>
          <p:cNvSpPr txBox="1"/>
          <p:nvPr/>
        </p:nvSpPr>
        <p:spPr>
          <a:xfrm>
            <a:off x="512064" y="5431536"/>
            <a:ext cx="11173968" cy="914400"/>
          </a:xfrm>
          <a:prstGeom prst="rect">
            <a:avLst/>
          </a:prstGeom>
          <a:solidFill>
            <a:srgbClr val="EFF4F0"/>
          </a:solidFill>
          <a:ln w="15875">
            <a:solidFill>
              <a:srgbClr val="80B281"/>
            </a:solidFill>
          </a:ln>
        </p:spPr>
        <p:txBody>
          <a:bodyPr wrap="square" anchor="ctr" lIns="128016" rIns="128016" tIns="89611" bIns="89611">
            <a:spAutoFit/>
          </a:bodyPr>
          <a:lstStyle/>
          <a:p>
            <a:pPr algn="l">
              <a:lnSpc>
                <a:spcPct val="95000"/>
              </a:lnSpc>
              <a:spcAft>
                <a:spcPts val="400"/>
              </a:spcAft>
              <a:buNone/>
            </a:pPr>
            <a:r>
              <a:rPr sz="1100" b="1" i="0">
                <a:solidFill>
                  <a:srgbClr val="114719"/>
                </a:solidFill>
                <a:latin typeface="Montserrat"/>
              </a:rPr>
              <a:t>A decisão.</a:t>
            </a:r>
            <a:r>
              <a:rPr sz="1100" b="0" i="0">
                <a:solidFill>
                  <a:srgbClr val="3A3A3A"/>
                </a:solidFill>
                <a:latin typeface="Montserrat"/>
              </a:rPr>
              <a:t>  A alternativa m = 0 é ficar fora do programa. A vaga em m é aceita quando V(i,m) ≥ V(i,0) e m é a melhor entre as disponíveis; ε(i,m) recolhe os gostos que não observamos.</a:t>
            </a:r>
          </a:p>
          <a:p>
            <a:pPr algn="l">
              <a:lnSpc>
                <a:spcPct val="95000"/>
              </a:lnSpc>
              <a:buNone/>
            </a:pPr>
            <a:r>
              <a:rPr sz="1100" b="1" i="0">
                <a:solidFill>
                  <a:srgbClr val="114719"/>
                </a:solidFill>
                <a:latin typeface="Montserrat"/>
              </a:rPr>
              <a:t>O que nenhuma das três tem.</a:t>
            </a:r>
            <a:r>
              <a:rPr sz="1100" b="0" i="0">
                <a:solidFill>
                  <a:srgbClr val="3A3A3A"/>
                </a:solidFill>
                <a:latin typeface="Montserrat"/>
              </a:rPr>
              <a:t>  Nenhuma trata de um componente da remuneração fixado por </a:t>
            </a:r>
            <a:r>
              <a:rPr sz="1100" b="1" i="0">
                <a:solidFill>
                  <a:srgbClr val="3A3A3A"/>
                </a:solidFill>
                <a:latin typeface="Montserrat"/>
              </a:rPr>
              <a:t>regra pública sobre um índice territorial</a:t>
            </a:r>
            <a:r>
              <a:rPr sz="1100" b="0" i="0">
                <a:solidFill>
                  <a:srgbClr val="3A3A3A"/>
                </a:solidFill>
                <a:latin typeface="Montserrat"/>
              </a:rPr>
              <a:t>. É isso, e só isso, que a adaptação ao PMM-E acrescenta.</a:t>
            </a:r>
          </a:p>
        </p:txBody>
      </p:sp>
      <p:sp>
        <p:nvSpPr>
          <p:cNvPr id="32" name="TextBox 31"/>
          <p:cNvSpPr txBox="1"/>
          <p:nvPr/>
        </p:nvSpPr>
        <p:spPr>
          <a:xfrm>
            <a:off x="128016" y="6419088"/>
            <a:ext cx="11795760" cy="219456"/>
          </a:xfrm>
          <a:prstGeom prst="rect">
            <a:avLst/>
          </a:prstGeom>
          <a:noFill/>
          <a:ln>
            <a:noFill/>
          </a:ln>
        </p:spPr>
        <p:txBody>
          <a:bodyPr wrap="square" anchor="t" lIns="0" rIns="0" tIns="0" bIns="0">
            <a:spAutoFit/>
          </a:bodyPr>
          <a:lstStyle/>
          <a:p>
            <a:pPr algn="l">
              <a:lnSpc>
                <a:spcPct val="100000"/>
              </a:lnSpc>
              <a:buNone/>
            </a:pPr>
            <a:r>
              <a:rPr sz="700" b="0" i="1">
                <a:solidFill>
                  <a:srgbClr val="7F7F7F"/>
                </a:solidFill>
                <a:latin typeface="Montserrat"/>
              </a:rPr>
              <a:t>Fonte: docs/02_teoria/modelo_micro.md, §2.4 e §3.</a:t>
            </a:r>
          </a:p>
        </p:txBody>
      </p:sp>
    </p:spTree>
    <p:extLst>
      <p:ext uri="{BB962C8B-B14F-4D97-AF65-F5344CB8AC3E}">
        <p14:creationId xmlns:p14="http://schemas.microsoft.com/office/powerpoint/2010/main" val="672342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0F146C-89B5-EB90-3DBB-3884526E8635}"/>
              </a:ext>
            </a:extLst>
          </p:cNvPr>
          <p:cNvSpPr>
            <a:spLocks noGrp="1"/>
          </p:cNvSpPr>
          <p:nvPr>
            <p:ph type="body" sz="quarter" idx="18"/>
          </p:nvPr>
        </p:nvSpPr>
        <p:spPr/>
        <p:txBody>
          <a:bodyPr>
            <a:normAutofit fontScale="62500" lnSpcReduction="20000"/>
          </a:bodyPr>
          <a:lstStyle/>
          <a:p>
            <a:endParaRPr lang="pt-BR"/>
          </a:p>
        </p:txBody>
      </p:sp>
      <p:sp>
        <p:nvSpPr>
          <p:cNvPr id="3" name="Title 2">
            <a:extLst>
              <a:ext uri="{FF2B5EF4-FFF2-40B4-BE49-F238E27FC236}">
                <a16:creationId xmlns:a16="http://schemas.microsoft.com/office/drawing/2014/main" id="{A6AD2358-6AFA-940D-0B39-1FBA14940795}"/>
              </a:ext>
            </a:extLst>
          </p:cNvPr>
          <p:cNvSpPr>
            <a:spLocks noGrp="1"/>
          </p:cNvSpPr>
          <p:nvPr>
            <p:ph type="title"/>
          </p:nvPr>
        </p:nvSpPr>
        <p:spPr/>
        <p:txBody>
          <a:bodyPr>
            <a:normAutofit/>
          </a:bodyPr>
          <a:lstStyle/>
          <a:p>
            <a:pPr algn="l"/>
            <a:r>
              <a:rPr lang="pt-BR"/>
              <a:t>A remuneração do município vai além da bolsa</a:t>
            </a:r>
            <a:endParaRPr lang="pt-BR" b="1" i="0">
              <a:solidFill>
                <a:srgbClr val="F0F6FC"/>
              </a:solidFill>
              <a:effectLst/>
            </a:endParaRPr>
          </a:p>
        </p:txBody>
      </p:sp>
      <p:sp>
        <p:nvSpPr>
          <p:cNvPr id="12" name="Rectangle 11">
            <a:extLst>
              <a:ext uri="{FF2B5EF4-FFF2-40B4-BE49-F238E27FC236}">
                <a16:creationId xmlns:a16="http://schemas.microsoft.com/office/drawing/2014/main" id="{6F4ED9C3-3C54-D164-32D9-30A472DD3F0F}"/>
              </a:ext>
            </a:extLst>
          </p:cNvPr>
          <p:cNvSpPr/>
          <p:nvPr/>
        </p:nvSpPr>
        <p:spPr>
          <a:xfrm>
            <a:off x="6454989" y="2578608"/>
            <a:ext cx="4246455" cy="264223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056429"/>
              </a:solidFill>
              <a:latin typeface="Montserrat" panose="00000500000000000000" pitchFamily="2" charset="0"/>
            </a:endParaRPr>
          </a:p>
        </p:txBody>
      </p:sp>
      <p:sp>
        <p:nvSpPr>
          <p:cNvPr id="18" name="Rectangle 17">
            <a:extLst>
              <a:ext uri="{FF2B5EF4-FFF2-40B4-BE49-F238E27FC236}">
                <a16:creationId xmlns:a16="http://schemas.microsoft.com/office/drawing/2014/main" id="{067BC014-55CC-69AF-12BB-55C87B6F2ACF}"/>
              </a:ext>
            </a:extLst>
          </p:cNvPr>
          <p:cNvSpPr/>
          <p:nvPr/>
        </p:nvSpPr>
        <p:spPr>
          <a:xfrm>
            <a:off x="1802843" y="1066057"/>
            <a:ext cx="7889358" cy="723061"/>
          </a:xfrm>
          <a:prstGeom prst="rect">
            <a:avLst/>
          </a:prstGeom>
          <a:solidFill>
            <a:srgbClr val="18401E"/>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4" name="Conector reto 19">
            <a:extLst>
              <a:ext uri="{FF2B5EF4-FFF2-40B4-BE49-F238E27FC236}">
                <a16:creationId xmlns:a16="http://schemas.microsoft.com/office/drawing/2014/main" id="{32E1527A-5045-2C12-A5EC-6848B9BC7328}"/>
              </a:ext>
            </a:extLst>
          </p:cNvPr>
          <p:cNvCxnSpPr>
            <a:cxnSpLocks/>
          </p:cNvCxnSpPr>
          <p:nvPr/>
        </p:nvCxnSpPr>
        <p:spPr>
          <a:xfrm flipH="1">
            <a:off x="1362456" y="2377440"/>
            <a:ext cx="3950208" cy="0"/>
          </a:xfrm>
          <a:prstGeom prst="line">
            <a:avLst/>
          </a:prstGeom>
          <a:ln>
            <a:solidFill>
              <a:srgbClr val="16513D"/>
            </a:solidFill>
          </a:ln>
        </p:spPr>
        <p:style>
          <a:lnRef idx="2">
            <a:schemeClr val="dk1"/>
          </a:lnRef>
          <a:fillRef idx="0">
            <a:schemeClr val="dk1"/>
          </a:fillRef>
          <a:effectRef idx="1">
            <a:schemeClr val="dk1"/>
          </a:effectRef>
          <a:fontRef idx="minor">
            <a:schemeClr val="tx1"/>
          </a:fontRef>
        </p:style>
      </p:cxnSp>
      <p:cxnSp>
        <p:nvCxnSpPr>
          <p:cNvPr id="34" name="Conector reto 19">
            <a:extLst>
              <a:ext uri="{FF2B5EF4-FFF2-40B4-BE49-F238E27FC236}">
                <a16:creationId xmlns:a16="http://schemas.microsoft.com/office/drawing/2014/main" id="{22A96305-9DC7-563E-C0F9-D12AECF16E04}"/>
              </a:ext>
            </a:extLst>
          </p:cNvPr>
          <p:cNvCxnSpPr>
            <a:cxnSpLocks/>
          </p:cNvCxnSpPr>
          <p:nvPr/>
        </p:nvCxnSpPr>
        <p:spPr>
          <a:xfrm flipH="1">
            <a:off x="6626710" y="2377440"/>
            <a:ext cx="3690508" cy="0"/>
          </a:xfrm>
          <a:prstGeom prst="line">
            <a:avLst/>
          </a:prstGeom>
          <a:ln>
            <a:solidFill>
              <a:srgbClr val="16513D"/>
            </a:solidFill>
          </a:ln>
        </p:spPr>
        <p:style>
          <a:lnRef idx="2">
            <a:schemeClr val="dk1"/>
          </a:lnRef>
          <a:fillRef idx="0">
            <a:schemeClr val="dk1"/>
          </a:fillRef>
          <a:effectRef idx="1">
            <a:schemeClr val="dk1"/>
          </a:effectRef>
          <a:fontRef idx="minor">
            <a:schemeClr val="tx1"/>
          </a:fontRef>
        </p:style>
      </p:cxnSp>
      <p:sp>
        <p:nvSpPr>
          <p:cNvPr id="35" name="Rectangle 34">
            <a:extLst>
              <a:ext uri="{FF2B5EF4-FFF2-40B4-BE49-F238E27FC236}">
                <a16:creationId xmlns:a16="http://schemas.microsoft.com/office/drawing/2014/main" id="{8B98B469-69B2-9988-D313-06712BC99E25}"/>
              </a:ext>
            </a:extLst>
          </p:cNvPr>
          <p:cNvSpPr/>
          <p:nvPr/>
        </p:nvSpPr>
        <p:spPr>
          <a:xfrm>
            <a:off x="6449482" y="2542032"/>
            <a:ext cx="4262122" cy="352824"/>
          </a:xfrm>
          <a:prstGeom prst="rect">
            <a:avLst/>
          </a:prstGeom>
          <a:solidFill>
            <a:srgbClr val="18401E"/>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950">
                <a:latin typeface="Montserrat" panose="00000500000000000000" pitchFamily="2" charset="0"/>
              </a:rPr>
              <a:t>BOLSA MAIOR PODE SER RENDA MENOR</a:t>
            </a:r>
          </a:p>
        </p:txBody>
      </p:sp>
      <p:sp>
        <p:nvSpPr>
          <p:cNvPr id="36" name="Rectangle 35">
            <a:extLst>
              <a:ext uri="{FF2B5EF4-FFF2-40B4-BE49-F238E27FC236}">
                <a16:creationId xmlns:a16="http://schemas.microsoft.com/office/drawing/2014/main" id="{465D6807-1226-CEF9-7024-0D32C9EB33C8}"/>
              </a:ext>
            </a:extLst>
          </p:cNvPr>
          <p:cNvSpPr/>
          <p:nvPr/>
        </p:nvSpPr>
        <p:spPr>
          <a:xfrm>
            <a:off x="6454988" y="3419856"/>
            <a:ext cx="4262057" cy="352824"/>
          </a:xfrm>
          <a:prstGeom prst="rect">
            <a:avLst/>
          </a:prstGeom>
          <a:solidFill>
            <a:srgbClr val="18401E"/>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950">
                <a:latin typeface="Montserrat" panose="00000500000000000000" pitchFamily="2" charset="0"/>
              </a:rPr>
              <a:t>A REGRA NÃO OBSERVA O MERCADO LOCAL</a:t>
            </a:r>
          </a:p>
        </p:txBody>
      </p:sp>
      <p:sp>
        <p:nvSpPr>
          <p:cNvPr id="37" name="Rectangle 36">
            <a:extLst>
              <a:ext uri="{FF2B5EF4-FFF2-40B4-BE49-F238E27FC236}">
                <a16:creationId xmlns:a16="http://schemas.microsoft.com/office/drawing/2014/main" id="{1C96347A-61B9-6831-D35F-1F7D89F5306D}"/>
              </a:ext>
            </a:extLst>
          </p:cNvPr>
          <p:cNvSpPr/>
          <p:nvPr/>
        </p:nvSpPr>
        <p:spPr>
          <a:xfrm>
            <a:off x="6449482" y="4325112"/>
            <a:ext cx="4262122" cy="352824"/>
          </a:xfrm>
          <a:prstGeom prst="rect">
            <a:avLst/>
          </a:prstGeom>
          <a:solidFill>
            <a:srgbClr val="18401E"/>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950">
                <a:latin typeface="Montserrat" panose="00000500000000000000" pitchFamily="2" charset="0"/>
              </a:rPr>
              <a:t>O DEFLATOR ATUA NO SENTIDO OPOSTO</a:t>
            </a:r>
          </a:p>
        </p:txBody>
      </p:sp>
      <p:sp>
        <p:nvSpPr>
          <p:cNvPr id="38" name="TextBox 37">
            <a:extLst>
              <a:ext uri="{FF2B5EF4-FFF2-40B4-BE49-F238E27FC236}">
                <a16:creationId xmlns:a16="http://schemas.microsoft.com/office/drawing/2014/main" id="{870DC811-3565-337C-D41E-DD6BCB3E25E6}"/>
              </a:ext>
            </a:extLst>
          </p:cNvPr>
          <p:cNvSpPr txBox="1"/>
          <p:nvPr/>
        </p:nvSpPr>
        <p:spPr>
          <a:xfrm>
            <a:off x="1362456" y="2103120"/>
            <a:ext cx="3950208" cy="276999"/>
          </a:xfrm>
          <a:prstGeom prst="rect">
            <a:avLst/>
          </a:prstGeom>
          <a:noFill/>
        </p:spPr>
        <p:txBody>
          <a:bodyPr wrap="square" rtlCol="0">
            <a:spAutoFit/>
          </a:bodyPr>
          <a:lstStyle/>
          <a:p>
            <a:r>
              <a:rPr lang="pt-BR" sz="1200" b="1">
                <a:latin typeface="Montserrat" panose="00000500000000000000" pitchFamily="2" charset="0"/>
              </a:rPr>
              <a:t>O mesmo valor, dois lugares</a:t>
            </a:r>
          </a:p>
        </p:txBody>
      </p:sp>
      <p:sp>
        <p:nvSpPr>
          <p:cNvPr id="39" name="TextBox 38">
            <a:extLst>
              <a:ext uri="{FF2B5EF4-FFF2-40B4-BE49-F238E27FC236}">
                <a16:creationId xmlns:a16="http://schemas.microsoft.com/office/drawing/2014/main" id="{1DDB3325-20F0-5A60-E701-3EBB263E6184}"/>
              </a:ext>
            </a:extLst>
          </p:cNvPr>
          <p:cNvSpPr txBox="1"/>
          <p:nvPr/>
        </p:nvSpPr>
        <p:spPr>
          <a:xfrm>
            <a:off x="6804612" y="2103120"/>
            <a:ext cx="3998350" cy="276999"/>
          </a:xfrm>
          <a:prstGeom prst="rect">
            <a:avLst/>
          </a:prstGeom>
          <a:noFill/>
        </p:spPr>
        <p:txBody>
          <a:bodyPr wrap="square" rtlCol="0">
            <a:spAutoFit/>
          </a:bodyPr>
          <a:lstStyle/>
          <a:p>
            <a:r>
              <a:rPr lang="pt-BR" sz="1200" b="1">
                <a:latin typeface="Montserrat" panose="00000500000000000000" pitchFamily="2" charset="0"/>
              </a:rPr>
              <a:t>   Desdobramentos</a:t>
            </a:r>
          </a:p>
        </p:txBody>
      </p:sp>
      <p:pic>
        <p:nvPicPr>
          <p:cNvPr id="40" name="Picture 39" descr="remuneracao_total.png"/>
          <p:cNvPicPr>
            <a:picLocks noChangeAspect="1"/>
          </p:cNvPicPr>
          <p:nvPr/>
        </p:nvPicPr>
        <p:blipFill>
          <a:blip r:embed="rId5"/>
          <a:stretch>
            <a:fillRect/>
          </a:stretch>
        </p:blipFill>
        <p:spPr>
          <a:xfrm>
            <a:off x="3200400" y="1115568"/>
            <a:ext cx="5120640" cy="675371"/>
          </a:xfrm>
          <a:prstGeom prst="rect">
            <a:avLst/>
          </a:prstGeom>
        </p:spPr>
      </p:pic>
      <p:sp>
        <p:nvSpPr>
          <p:cNvPr id="41" name="TextBox 40"/>
          <p:cNvSpPr txBox="1"/>
          <p:nvPr/>
        </p:nvSpPr>
        <p:spPr>
          <a:xfrm>
            <a:off x="1362456" y="2542032"/>
            <a:ext cx="3950208" cy="292608"/>
          </a:xfrm>
          <a:prstGeom prst="rect">
            <a:avLst/>
          </a:prstGeom>
          <a:solidFill>
            <a:srgbClr val="114719"/>
          </a:solidFill>
          <a:ln>
            <a:noFill/>
          </a:ln>
        </p:spPr>
        <p:txBody>
          <a:bodyPr wrap="square" anchor="ctr" lIns="73152" rIns="73152" tIns="51206" bIns="51206">
            <a:spAutoFit/>
          </a:bodyPr>
          <a:lstStyle/>
          <a:p>
            <a:pPr algn="l">
              <a:buNone/>
            </a:pPr>
            <a:r>
              <a:rPr sz="950" b="1" i="0">
                <a:solidFill>
                  <a:srgbClr val="FFFFFF"/>
                </a:solidFill>
                <a:latin typeface="Montserrat"/>
              </a:rPr>
              <a:t>CAPITAL OU REGIÃO METROPOLITANA</a:t>
            </a:r>
          </a:p>
        </p:txBody>
      </p:sp>
      <p:sp>
        <p:nvSpPr>
          <p:cNvPr id="42" name="TextBox 41"/>
          <p:cNvSpPr txBox="1"/>
          <p:nvPr/>
        </p:nvSpPr>
        <p:spPr>
          <a:xfrm>
            <a:off x="1362456" y="2852927"/>
            <a:ext cx="3950208" cy="1005840"/>
          </a:xfrm>
          <a:prstGeom prst="rect">
            <a:avLst/>
          </a:prstGeom>
          <a:solidFill>
            <a:srgbClr val="EFF4F0"/>
          </a:solidFill>
          <a:ln>
            <a:noFill/>
          </a:ln>
        </p:spPr>
        <p:txBody>
          <a:bodyPr wrap="square" anchor="t" tIns="64007" bIns="64007">
            <a:spAutoFit/>
          </a:bodyPr>
          <a:lstStyle/>
          <a:p>
            <a:pPr algn="l">
              <a:lnSpc>
                <a:spcPct val="95000"/>
              </a:lnSpc>
              <a:buNone/>
            </a:pPr>
            <a:r>
              <a:rPr sz="1050" b="0" i="0">
                <a:solidFill>
                  <a:srgbClr val="3A3A3A"/>
                </a:solidFill>
                <a:latin typeface="Montserrat"/>
              </a:rPr>
              <a:t>Consultório, planos de saúde e hospitais privados sustentam a especialidade fora das 20 horas do programa: </a:t>
            </a:r>
            <a:r>
              <a:rPr sz="1050" b="1" i="0">
                <a:solidFill>
                  <a:srgbClr val="114719"/>
                </a:solidFill>
                <a:latin typeface="Montserrat"/>
              </a:rPr>
              <a:t>w = B + w</a:t>
            </a:r>
            <a:r>
              <a:rPr sz="700" b="1" i="0">
                <a:solidFill>
                  <a:srgbClr val="114719"/>
                </a:solidFill>
                <a:latin typeface="Montserrat"/>
              </a:rPr>
              <a:t>priv</a:t>
            </a:r>
            <a:r>
              <a:rPr sz="1050" b="0" i="0">
                <a:solidFill>
                  <a:srgbClr val="3A3A3A"/>
                </a:solidFill>
                <a:latin typeface="Montserrat"/>
              </a:rPr>
              <a:t>, com a segunda parcela alta.</a:t>
            </a:r>
          </a:p>
        </p:txBody>
      </p:sp>
      <p:sp>
        <p:nvSpPr>
          <p:cNvPr id="43" name="TextBox 42"/>
          <p:cNvSpPr txBox="1"/>
          <p:nvPr/>
        </p:nvSpPr>
        <p:spPr>
          <a:xfrm>
            <a:off x="1362456" y="3968496"/>
            <a:ext cx="3950208" cy="292608"/>
          </a:xfrm>
          <a:prstGeom prst="rect">
            <a:avLst/>
          </a:prstGeom>
          <a:solidFill>
            <a:srgbClr val="114719"/>
          </a:solidFill>
          <a:ln>
            <a:noFill/>
          </a:ln>
        </p:spPr>
        <p:txBody>
          <a:bodyPr wrap="square" anchor="ctr" lIns="73152" rIns="73152" tIns="51206" bIns="51206">
            <a:spAutoFit/>
          </a:bodyPr>
          <a:lstStyle/>
          <a:p>
            <a:pPr algn="l">
              <a:buNone/>
            </a:pPr>
            <a:r>
              <a:rPr sz="950" b="1" i="0">
                <a:solidFill>
                  <a:srgbClr val="FFFFFF"/>
                </a:solidFill>
                <a:latin typeface="Montserrat"/>
              </a:rPr>
              <a:t>INTERIOR ISOLADO</a:t>
            </a:r>
          </a:p>
        </p:txBody>
      </p:sp>
      <p:sp>
        <p:nvSpPr>
          <p:cNvPr id="44" name="TextBox 43"/>
          <p:cNvSpPr txBox="1"/>
          <p:nvPr/>
        </p:nvSpPr>
        <p:spPr>
          <a:xfrm>
            <a:off x="1362456" y="4279392"/>
            <a:ext cx="3950208" cy="1005840"/>
          </a:xfrm>
          <a:prstGeom prst="rect">
            <a:avLst/>
          </a:prstGeom>
          <a:solidFill>
            <a:srgbClr val="EFF4F0"/>
          </a:solidFill>
          <a:ln>
            <a:noFill/>
          </a:ln>
        </p:spPr>
        <p:txBody>
          <a:bodyPr wrap="square" anchor="t" tIns="64007" bIns="64007">
            <a:spAutoFit/>
          </a:bodyPr>
          <a:lstStyle/>
          <a:p>
            <a:pPr algn="l">
              <a:lnSpc>
                <a:spcPct val="95000"/>
              </a:lnSpc>
              <a:buNone/>
            </a:pPr>
            <a:r>
              <a:rPr sz="1050" b="0" i="0">
                <a:solidFill>
                  <a:srgbClr val="3A3A3A"/>
                </a:solidFill>
                <a:latin typeface="Montserrat"/>
              </a:rPr>
              <a:t>Não há demanda privada que sustente a especialidade: </a:t>
            </a:r>
            <a:r>
              <a:rPr sz="1050" b="1" i="0">
                <a:solidFill>
                  <a:srgbClr val="114719"/>
                </a:solidFill>
                <a:latin typeface="Montserrat"/>
              </a:rPr>
              <a:t>w → B</a:t>
            </a:r>
            <a:r>
              <a:rPr sz="1050" b="0" i="0">
                <a:solidFill>
                  <a:srgbClr val="3A3A3A"/>
                </a:solidFill>
                <a:latin typeface="Montserrat"/>
              </a:rPr>
              <a:t>. A bolsa é toda a remuneração — e é exatamente ali que a política mais aposta nela.</a:t>
            </a:r>
          </a:p>
        </p:txBody>
      </p:sp>
      <p:sp>
        <p:nvSpPr>
          <p:cNvPr id="45" name="TextBox 44"/>
          <p:cNvSpPr txBox="1"/>
          <p:nvPr/>
        </p:nvSpPr>
        <p:spPr>
          <a:xfrm>
            <a:off x="6446520" y="2907791"/>
            <a:ext cx="4261104" cy="493776"/>
          </a:xfrm>
          <a:prstGeom prst="rect">
            <a:avLst/>
          </a:prstGeom>
          <a:noFill/>
          <a:ln>
            <a:noFill/>
          </a:ln>
        </p:spPr>
        <p:txBody>
          <a:bodyPr wrap="square" anchor="t" lIns="73152" rIns="73152" tIns="51206" bIns="51206">
            <a:spAutoFit/>
          </a:bodyPr>
          <a:lstStyle/>
          <a:p>
            <a:pPr algn="ctr">
              <a:lnSpc>
                <a:spcPct val="95000"/>
              </a:lnSpc>
              <a:buNone/>
            </a:pPr>
            <a:r>
              <a:rPr sz="950" b="0" i="0">
                <a:solidFill>
                  <a:srgbClr val="3A3A3A"/>
                </a:solidFill>
                <a:latin typeface="Montserrat"/>
              </a:rPr>
              <a:t>R$ 20 mil sem complemento contra R$ 10 mil mais o consultório da capital</a:t>
            </a:r>
          </a:p>
        </p:txBody>
      </p:sp>
      <p:sp>
        <p:nvSpPr>
          <p:cNvPr id="46" name="TextBox 45"/>
          <p:cNvSpPr txBox="1"/>
          <p:nvPr/>
        </p:nvSpPr>
        <p:spPr>
          <a:xfrm>
            <a:off x="6446520" y="3785616"/>
            <a:ext cx="4261104" cy="493776"/>
          </a:xfrm>
          <a:prstGeom prst="rect">
            <a:avLst/>
          </a:prstGeom>
          <a:noFill/>
          <a:ln>
            <a:noFill/>
          </a:ln>
        </p:spPr>
        <p:txBody>
          <a:bodyPr wrap="square" anchor="t" lIns="73152" rIns="73152" tIns="51206" bIns="51206">
            <a:spAutoFit/>
          </a:bodyPr>
          <a:lstStyle/>
          <a:p>
            <a:pPr algn="ctr">
              <a:lnSpc>
                <a:spcPct val="95000"/>
              </a:lnSpc>
              <a:buNone/>
            </a:pPr>
            <a:r>
              <a:rPr sz="950" b="0" i="0">
                <a:solidFill>
                  <a:srgbClr val="3A3A3A"/>
                </a:solidFill>
                <a:latin typeface="Montserrat"/>
              </a:rPr>
              <a:t>a bolsa responde ao IVS, e o IVS não mede demanda privada</a:t>
            </a:r>
          </a:p>
        </p:txBody>
      </p:sp>
      <p:sp>
        <p:nvSpPr>
          <p:cNvPr id="47" name="TextBox 46"/>
          <p:cNvSpPr txBox="1"/>
          <p:nvPr/>
        </p:nvSpPr>
        <p:spPr>
          <a:xfrm>
            <a:off x="6446520" y="4690872"/>
            <a:ext cx="4261104" cy="493776"/>
          </a:xfrm>
          <a:prstGeom prst="rect">
            <a:avLst/>
          </a:prstGeom>
          <a:noFill/>
          <a:ln>
            <a:noFill/>
          </a:ln>
        </p:spPr>
        <p:txBody>
          <a:bodyPr wrap="square" anchor="t" lIns="73152" rIns="73152" tIns="51206" bIns="51206">
            <a:spAutoFit/>
          </a:bodyPr>
          <a:lstStyle/>
          <a:p>
            <a:pPr algn="ctr">
              <a:lnSpc>
                <a:spcPct val="95000"/>
              </a:lnSpc>
              <a:buNone/>
            </a:pPr>
            <a:r>
              <a:rPr sz="950" b="0" i="0">
                <a:solidFill>
                  <a:srgbClr val="3A3A3A"/>
                </a:solidFill>
                <a:latin typeface="Montserrat"/>
              </a:rPr>
              <a:t>custo de vida menor no interior valoriza a mesma bolsa em termos reais</a:t>
            </a:r>
          </a:p>
        </p:txBody>
      </p:sp>
      <p:sp>
        <p:nvSpPr>
          <p:cNvPr id="48" name="TextBox 47"/>
          <p:cNvSpPr txBox="1"/>
          <p:nvPr/>
        </p:nvSpPr>
        <p:spPr>
          <a:xfrm>
            <a:off x="1362456" y="5449824"/>
            <a:ext cx="9345168" cy="841248"/>
          </a:xfrm>
          <a:prstGeom prst="rect">
            <a:avLst/>
          </a:prstGeom>
          <a:solidFill>
            <a:srgbClr val="EFF4F0"/>
          </a:solidFill>
          <a:ln w="15875">
            <a:solidFill>
              <a:srgbClr val="80B281"/>
            </a:solidFill>
          </a:ln>
        </p:spPr>
        <p:txBody>
          <a:bodyPr wrap="square" anchor="ctr" lIns="128016" rIns="128016" tIns="89611" bIns="89611">
            <a:spAutoFit/>
          </a:bodyPr>
          <a:lstStyle/>
          <a:p>
            <a:pPr algn="l">
              <a:lnSpc>
                <a:spcPct val="95000"/>
              </a:lnSpc>
              <a:buNone/>
            </a:pPr>
            <a:r>
              <a:rPr sz="1100" b="1" i="0">
                <a:solidFill>
                  <a:srgbClr val="114719"/>
                </a:solidFill>
                <a:latin typeface="Montserrat"/>
              </a:rPr>
              <a:t>Onde chegamos.</a:t>
            </a:r>
            <a:r>
              <a:rPr sz="1100" b="0" i="0">
                <a:solidFill>
                  <a:srgbClr val="3A3A3A"/>
                </a:solidFill>
                <a:latin typeface="Montserrat"/>
              </a:rPr>
              <a:t>  A bolsa é a única parcela da remuneração que a regra controla — e, onde o mercado privado não sustenta a especialidade, é também a única que existe. É ali que a política aposta, e é ali que o custo de estar é maior.</a:t>
            </a:r>
          </a:p>
        </p:txBody>
      </p:sp>
    </p:spTree>
    <p:extLst>
      <p:ext uri="{BB962C8B-B14F-4D97-AF65-F5344CB8AC3E}">
        <p14:creationId xmlns:p14="http://schemas.microsoft.com/office/powerpoint/2010/main" val="2473799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7F7A-F16A-0BCE-07AA-67E221987810}"/>
            </a:ext>
          </a:extLst>
        </p:cNvPr>
        <p:cNvGrpSpPr/>
        <p:nvPr/>
      </p:nvGrpSpPr>
      <p:grpSpPr>
        <a:xfrm>
          <a:off x="0" y="0"/>
          <a:ext cx="0" cy="0"/>
          <a:chOff x="0" y="0"/>
          <a:chExt cx="0" cy="0"/>
        </a:xfrm>
      </p:grpSpPr>
      <p:sp>
        <p:nvSpPr>
          <p:cNvPr id="2" name="Title Placeholder 1">
            <a:extLst>
              <a:ext uri="{FF2B5EF4-FFF2-40B4-BE49-F238E27FC236}">
                <a16:creationId xmlns:a16="http://schemas.microsoft.com/office/drawing/2014/main" id="{682EE2C4-FC82-B1C5-CD9C-3736C218150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424B78B5-0329-2F58-48E4-74B0DC774E6E}"/>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0DE72514-114D-68F1-A927-74D63707C6BD}"/>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pt-BR"/>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B7E79B-8647-4B7A-AB06-CE9034CA7501}" type="datetimeFigureOut">
              <a:rPr lang="pt-BR" smtClean="0"/>
              <a:pPr/>
              <a:t>14/09/2026</a:t>
            </a:fld>
            <a:endParaRPr lang="pt-BR"/>
          </a:p>
        </p:txBody>
      </p:sp>
      <p:sp>
        <p:nvSpPr>
          <p:cNvPr id="5" name="Slide Number Placeholder 5">
            <a:extLst>
              <a:ext uri="{FF2B5EF4-FFF2-40B4-BE49-F238E27FC236}">
                <a16:creationId xmlns:a16="http://schemas.microsoft.com/office/drawing/2014/main" id="{56534570-2239-379C-E0EF-9C50DF88D843}"/>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pt-B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B357A3-503C-42D5-B2E3-09AB65DED10B}" type="slidenum">
              <a:rPr lang="pt-BR" smtClean="0"/>
              <a:pPr/>
              <a:t>18</a:t>
            </a:fld>
            <a:endParaRPr lang="pt-BR"/>
          </a:p>
        </p:txBody>
      </p:sp>
      <p:sp>
        <p:nvSpPr>
          <p:cNvPr id="6" name="Rectangle 5">
            <a:extLst>
              <a:ext uri="{FF2B5EF4-FFF2-40B4-BE49-F238E27FC236}">
                <a16:creationId xmlns:a16="http://schemas.microsoft.com/office/drawing/2014/main" id="{64EF7588-827E-1D5D-0A81-55B4BCA139B1}"/>
              </a:ext>
            </a:extLst>
          </p:cNvPr>
          <p:cNvSpPr/>
          <p:nvPr/>
        </p:nvSpPr>
        <p:spPr>
          <a:xfrm>
            <a:off x="0" y="0"/>
            <a:ext cx="12194747" cy="6858000"/>
          </a:xfrm>
          <a:prstGeom prst="rect">
            <a:avLst/>
          </a:prstGeom>
          <a:solidFill>
            <a:srgbClr val="2F73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2">
                  <a:lumMod val="90000"/>
                </a:schemeClr>
              </a:solidFill>
            </a:endParaRPr>
          </a:p>
        </p:txBody>
      </p:sp>
      <p:sp>
        <p:nvSpPr>
          <p:cNvPr id="7" name="Text Placeholder 3">
            <a:extLst>
              <a:ext uri="{FF2B5EF4-FFF2-40B4-BE49-F238E27FC236}">
                <a16:creationId xmlns:a16="http://schemas.microsoft.com/office/drawing/2014/main" id="{A56C6F9F-22E1-B809-F6E0-EFFCFF9A2705}"/>
              </a:ext>
            </a:extLst>
          </p:cNvPr>
          <p:cNvSpPr txBox="1">
            <a:spLocks/>
          </p:cNvSpPr>
          <p:nvPr/>
        </p:nvSpPr>
        <p:spPr>
          <a:xfrm>
            <a:off x="126501" y="101463"/>
            <a:ext cx="6010020" cy="4666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err="1">
                <a:solidFill>
                  <a:schemeClr val="bg1"/>
                </a:solidFill>
                <a:latin typeface="Montserrat" panose="00000500000000000000" pitchFamily="2" charset="0"/>
              </a:rPr>
              <a:t>Sumário</a:t>
            </a:r>
            <a:endParaRPr lang="pt-BR" b="1">
              <a:solidFill>
                <a:schemeClr val="bg1"/>
              </a:solidFill>
              <a:latin typeface="Montserrat" panose="00000500000000000000" pitchFamily="2" charset="0"/>
            </a:endParaRPr>
          </a:p>
        </p:txBody>
      </p:sp>
      <p:sp>
        <p:nvSpPr>
          <p:cNvPr id="8" name="Rectangle 7">
            <a:extLst>
              <a:ext uri="{FF2B5EF4-FFF2-40B4-BE49-F238E27FC236}">
                <a16:creationId xmlns:a16="http://schemas.microsoft.com/office/drawing/2014/main" id="{28A14773-A450-E732-55DC-7920A9AAE674}"/>
              </a:ext>
            </a:extLst>
          </p:cNvPr>
          <p:cNvSpPr/>
          <p:nvPr/>
        </p:nvSpPr>
        <p:spPr>
          <a:xfrm>
            <a:off x="2724167" y="831819"/>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0" name="Rectangle 9">
            <a:extLst>
              <a:ext uri="{FF2B5EF4-FFF2-40B4-BE49-F238E27FC236}">
                <a16:creationId xmlns:a16="http://schemas.microsoft.com/office/drawing/2014/main" id="{EAB58D14-0590-E364-CD77-1FDC9F51101E}"/>
              </a:ext>
            </a:extLst>
          </p:cNvPr>
          <p:cNvSpPr/>
          <p:nvPr/>
        </p:nvSpPr>
        <p:spPr>
          <a:xfrm>
            <a:off x="3078859" y="4975528"/>
            <a:ext cx="3694414" cy="2793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1" name="Rectangle 10">
            <a:extLst>
              <a:ext uri="{FF2B5EF4-FFF2-40B4-BE49-F238E27FC236}">
                <a16:creationId xmlns:a16="http://schemas.microsoft.com/office/drawing/2014/main" id="{1CB9A860-62B5-D375-03A6-C95430D22498}"/>
              </a:ext>
            </a:extLst>
          </p:cNvPr>
          <p:cNvSpPr/>
          <p:nvPr/>
        </p:nvSpPr>
        <p:spPr>
          <a:xfrm>
            <a:off x="2714295" y="831819"/>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12" name="CaixaDeTexto 8">
            <a:extLst>
              <a:ext uri="{FF2B5EF4-FFF2-40B4-BE49-F238E27FC236}">
                <a16:creationId xmlns:a16="http://schemas.microsoft.com/office/drawing/2014/main" id="{92F29A6F-71BB-C45C-6E63-59A38F3359D2}"/>
              </a:ext>
            </a:extLst>
          </p:cNvPr>
          <p:cNvSpPr txBox="1"/>
          <p:nvPr/>
        </p:nvSpPr>
        <p:spPr>
          <a:xfrm>
            <a:off x="4450117" y="1272790"/>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Motivação</a:t>
            </a:r>
          </a:p>
        </p:txBody>
      </p:sp>
      <p:sp>
        <p:nvSpPr>
          <p:cNvPr id="13" name="CaixaDeTexto 10">
            <a:extLst>
              <a:ext uri="{FF2B5EF4-FFF2-40B4-BE49-F238E27FC236}">
                <a16:creationId xmlns:a16="http://schemas.microsoft.com/office/drawing/2014/main" id="{C547D80D-03BB-3C49-6E19-5CBBA3867E33}"/>
              </a:ext>
            </a:extLst>
          </p:cNvPr>
          <p:cNvSpPr txBox="1"/>
          <p:nvPr/>
        </p:nvSpPr>
        <p:spPr>
          <a:xfrm>
            <a:off x="5012265" y="3688982"/>
            <a:ext cx="3924311"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Modelo Teórico</a:t>
            </a:r>
          </a:p>
        </p:txBody>
      </p:sp>
      <p:sp>
        <p:nvSpPr>
          <p:cNvPr id="14" name="CaixaDeTexto 12">
            <a:extLst>
              <a:ext uri="{FF2B5EF4-FFF2-40B4-BE49-F238E27FC236}">
                <a16:creationId xmlns:a16="http://schemas.microsoft.com/office/drawing/2014/main" id="{F7C46663-C81B-2824-2881-5F5610D9A7A1}"/>
              </a:ext>
            </a:extLst>
          </p:cNvPr>
          <p:cNvSpPr txBox="1"/>
          <p:nvPr/>
        </p:nvSpPr>
        <p:spPr>
          <a:xfrm>
            <a:off x="4753482" y="4586302"/>
            <a:ext cx="2235406" cy="461665"/>
          </a:xfrm>
          <a:prstGeom prst="rect">
            <a:avLst/>
          </a:prstGeom>
          <a:noFill/>
        </p:spPr>
        <p:txBody>
          <a:bodyPr wrap="square" rtlCol="0">
            <a:spAutoFit/>
          </a:bodyPr>
          <a:lstStyle/>
          <a:p>
            <a:r>
              <a:rPr lang="pt-BR" sz="2400" b="1" i="1">
                <a:solidFill>
                  <a:srgbClr val="FFFFFF"/>
                </a:solidFill>
                <a:latin typeface="Montserrat" panose="00000500000000000000" pitchFamily="2" charset="0"/>
                <a:cs typeface="Times New Roman" panose="02020603050405020304" pitchFamily="18" charset="0"/>
              </a:rPr>
              <a:t>Hipóteses</a:t>
            </a:r>
          </a:p>
        </p:txBody>
      </p:sp>
      <p:sp>
        <p:nvSpPr>
          <p:cNvPr id="15" name="CaixaDeTexto 13">
            <a:extLst>
              <a:ext uri="{FF2B5EF4-FFF2-40B4-BE49-F238E27FC236}">
                <a16:creationId xmlns:a16="http://schemas.microsoft.com/office/drawing/2014/main" id="{AB8EEAF2-806C-FDB0-4EAF-4F2B2E73B4BE}"/>
              </a:ext>
            </a:extLst>
          </p:cNvPr>
          <p:cNvSpPr txBox="1"/>
          <p:nvPr/>
        </p:nvSpPr>
        <p:spPr>
          <a:xfrm>
            <a:off x="1493269" y="1539704"/>
            <a:ext cx="2811600" cy="246221"/>
          </a:xfrm>
          <a:prstGeom prst="rect">
            <a:avLst/>
          </a:prstGeom>
          <a:noFill/>
        </p:spPr>
        <p:txBody>
          <a:bodyPr wrap="square" lIns="91440" tIns="45720" rIns="91440" bIns="45720" rtlCol="0" anchor="t">
            <a:spAutoFit/>
          </a:bodyPr>
          <a:lstStyle/>
          <a:p>
            <a:r>
              <a:rPr lang="en-US" sz="1000">
                <a:solidFill>
                  <a:schemeClr val="tx1">
                    <a:lumMod val="49000"/>
                    <a:lumOff val="51000"/>
                  </a:schemeClr>
                </a:solidFill>
                <a:latin typeface="Montserrat"/>
              </a:rPr>
              <a:t>Por </a:t>
            </a:r>
            <a:r>
              <a:rPr lang="en-US" sz="1000" err="1">
                <a:solidFill>
                  <a:schemeClr val="tx1">
                    <a:lumMod val="49000"/>
                    <a:lumOff val="51000"/>
                  </a:schemeClr>
                </a:solidFill>
                <a:latin typeface="Montserrat"/>
              </a:rPr>
              <a:t>que</a:t>
            </a:r>
            <a:r>
              <a:rPr lang="en-US" sz="1000">
                <a:solidFill>
                  <a:schemeClr val="tx1">
                    <a:lumMod val="49000"/>
                    <a:lumOff val="51000"/>
                  </a:schemeClr>
                </a:solidFill>
                <a:latin typeface="Montserrat"/>
              </a:rPr>
              <a:t> a </a:t>
            </a:r>
            <a:r>
              <a:rPr lang="en-US" sz="1000" err="1">
                <a:solidFill>
                  <a:schemeClr val="tx1">
                    <a:lumMod val="49000"/>
                    <a:lumOff val="51000"/>
                  </a:schemeClr>
                </a:solidFill>
                <a:latin typeface="Montserrat"/>
              </a:rPr>
              <a:t>pergunta</a:t>
            </a:r>
            <a:r>
              <a:rPr lang="en-US" sz="1000">
                <a:solidFill>
                  <a:schemeClr val="tx1">
                    <a:lumMod val="49000"/>
                    <a:lumOff val="51000"/>
                  </a:schemeClr>
                </a:solidFill>
                <a:latin typeface="Montserrat"/>
              </a:rPr>
              <a:t> é </a:t>
            </a:r>
            <a:r>
              <a:rPr lang="en-US" sz="1000" err="1">
                <a:solidFill>
                  <a:schemeClr val="tx1">
                    <a:lumMod val="49000"/>
                    <a:lumOff val="51000"/>
                  </a:schemeClr>
                </a:solidFill>
                <a:latin typeface="Montserrat"/>
              </a:rPr>
              <a:t>importante</a:t>
            </a:r>
            <a:endParaRPr lang="en-US" sz="1000">
              <a:solidFill>
                <a:schemeClr val="tx1">
                  <a:lumMod val="49000"/>
                  <a:lumOff val="51000"/>
                </a:schemeClr>
              </a:solidFill>
              <a:latin typeface="Montserrat"/>
            </a:endParaRPr>
          </a:p>
        </p:txBody>
      </p:sp>
      <p:sp>
        <p:nvSpPr>
          <p:cNvPr id="16" name="CaixaDeTexto 14">
            <a:extLst>
              <a:ext uri="{FF2B5EF4-FFF2-40B4-BE49-F238E27FC236}">
                <a16:creationId xmlns:a16="http://schemas.microsoft.com/office/drawing/2014/main" id="{BE6B9F4A-DE66-D15E-6980-6EB034490DE8}"/>
              </a:ext>
            </a:extLst>
          </p:cNvPr>
          <p:cNvSpPr txBox="1"/>
          <p:nvPr/>
        </p:nvSpPr>
        <p:spPr>
          <a:xfrm>
            <a:off x="2107016" y="3921088"/>
            <a:ext cx="2736923" cy="400110"/>
          </a:xfrm>
          <a:prstGeom prst="rect">
            <a:avLst/>
          </a:prstGeom>
          <a:noFill/>
        </p:spPr>
        <p:txBody>
          <a:bodyPr wrap="square" lIns="91440" tIns="45720" rIns="91440" bIns="45720" rtlCol="0" anchor="t">
            <a:spAutoFit/>
          </a:bodyPr>
          <a:lstStyle/>
          <a:p>
            <a:r>
              <a:rPr lang="en-US" sz="1000" err="1">
                <a:solidFill>
                  <a:srgbClr val="7F7F7F"/>
                </a:solidFill>
                <a:latin typeface="Montserrat"/>
                <a:cs typeface="Times New Roman"/>
              </a:rPr>
              <a:t>Aplicação</a:t>
            </a:r>
            <a:r>
              <a:rPr lang="en-US" sz="1000">
                <a:solidFill>
                  <a:srgbClr val="7F7F7F"/>
                </a:solidFill>
                <a:latin typeface="Montserrat"/>
                <a:cs typeface="Times New Roman"/>
              </a:rPr>
              <a:t> </a:t>
            </a:r>
            <a:r>
              <a:rPr lang="en-US" sz="1000" err="1">
                <a:solidFill>
                  <a:srgbClr val="7F7F7F"/>
                </a:solidFill>
                <a:latin typeface="Montserrat"/>
                <a:cs typeface="Times New Roman"/>
              </a:rPr>
              <a:t>microeconômica</a:t>
            </a:r>
            <a:r>
              <a:rPr lang="en-US" sz="1000">
                <a:solidFill>
                  <a:srgbClr val="7F7F7F"/>
                </a:solidFill>
                <a:latin typeface="Montserrat"/>
                <a:cs typeface="Times New Roman"/>
              </a:rPr>
              <a:t> e </a:t>
            </a:r>
            <a:r>
              <a:rPr lang="en-US" sz="1000" err="1">
                <a:solidFill>
                  <a:srgbClr val="7F7F7F"/>
                </a:solidFill>
                <a:latin typeface="Montserrat"/>
                <a:cs typeface="Times New Roman"/>
              </a:rPr>
              <a:t>modelo</a:t>
            </a:r>
            <a:r>
              <a:rPr lang="en-US" sz="1000">
                <a:solidFill>
                  <a:srgbClr val="7F7F7F"/>
                </a:solidFill>
                <a:latin typeface="Montserrat"/>
                <a:cs typeface="Times New Roman"/>
              </a:rPr>
              <a:t> </a:t>
            </a:r>
            <a:r>
              <a:rPr lang="en-US" sz="1000" err="1">
                <a:solidFill>
                  <a:srgbClr val="7F7F7F"/>
                </a:solidFill>
                <a:latin typeface="Montserrat"/>
                <a:cs typeface="Times New Roman"/>
              </a:rPr>
              <a:t>proposto</a:t>
            </a:r>
            <a:endParaRPr lang="pt-BR" sz="1000">
              <a:solidFill>
                <a:srgbClr val="7F7F7F"/>
              </a:solidFill>
              <a:latin typeface="Montserrat"/>
              <a:cs typeface="Times New Roman"/>
            </a:endParaRPr>
          </a:p>
        </p:txBody>
      </p:sp>
      <p:sp>
        <p:nvSpPr>
          <p:cNvPr id="17" name="CaixaDeTexto 14">
            <a:extLst>
              <a:ext uri="{FF2B5EF4-FFF2-40B4-BE49-F238E27FC236}">
                <a16:creationId xmlns:a16="http://schemas.microsoft.com/office/drawing/2014/main" id="{90C0E85F-CD8E-38F8-8371-C735C71DF75E}"/>
              </a:ext>
            </a:extLst>
          </p:cNvPr>
          <p:cNvSpPr txBox="1"/>
          <p:nvPr/>
        </p:nvSpPr>
        <p:spPr>
          <a:xfrm>
            <a:off x="1822880" y="4844550"/>
            <a:ext cx="2736922" cy="246221"/>
          </a:xfrm>
          <a:prstGeom prst="rect">
            <a:avLst/>
          </a:prstGeom>
          <a:noFill/>
          <a:ln>
            <a:solidFill>
              <a:schemeClr val="tx1">
                <a:lumMod val="50000"/>
                <a:lumOff val="50000"/>
              </a:schemeClr>
            </a:solidFill>
          </a:ln>
        </p:spPr>
        <p:txBody>
          <a:bodyPr wrap="square" rtlCol="0">
            <a:spAutoFit/>
          </a:bodyPr>
          <a:lstStyle/>
          <a:p>
            <a:r>
              <a:rPr lang="en-US" sz="1000" err="1">
                <a:solidFill>
                  <a:srgbClr val="FFFFFF"/>
                </a:solidFill>
                <a:latin typeface="Montserrat" panose="00000500000000000000" pitchFamily="2" charset="0"/>
                <a:cs typeface="Times New Roman" panose="02020603050405020304" pitchFamily="18" charset="0"/>
              </a:rPr>
              <a:t>Hipóteses</a:t>
            </a:r>
            <a:r>
              <a:rPr lang="en-US" sz="1000">
                <a:solidFill>
                  <a:srgbClr val="FFFFFF"/>
                </a:solidFill>
                <a:latin typeface="Montserrat" panose="00000500000000000000" pitchFamily="2" charset="0"/>
                <a:cs typeface="Times New Roman" panose="02020603050405020304" pitchFamily="18" charset="0"/>
              </a:rPr>
              <a:t> </a:t>
            </a:r>
            <a:r>
              <a:rPr lang="en-US" sz="1000" err="1">
                <a:solidFill>
                  <a:srgbClr val="FFFFFF"/>
                </a:solidFill>
                <a:latin typeface="Montserrat" panose="00000500000000000000" pitchFamily="2" charset="0"/>
                <a:cs typeface="Times New Roman" panose="02020603050405020304" pitchFamily="18" charset="0"/>
              </a:rPr>
              <a:t>formuladas</a:t>
            </a:r>
            <a:endParaRPr lang="pt-BR" sz="1000">
              <a:solidFill>
                <a:srgbClr val="FFFFFF"/>
              </a:solidFill>
              <a:latin typeface="Montserrat" panose="00000500000000000000" pitchFamily="2" charset="0"/>
              <a:cs typeface="Times New Roman" panose="02020603050405020304" pitchFamily="18" charset="0"/>
            </a:endParaRPr>
          </a:p>
        </p:txBody>
      </p:sp>
      <p:sp>
        <p:nvSpPr>
          <p:cNvPr id="18" name="Rosca 3">
            <a:extLst>
              <a:ext uri="{FF2B5EF4-FFF2-40B4-BE49-F238E27FC236}">
                <a16:creationId xmlns:a16="http://schemas.microsoft.com/office/drawing/2014/main" id="{D8F7E646-C5A6-E83D-202F-A1BDE50C9B24}"/>
              </a:ext>
            </a:extLst>
          </p:cNvPr>
          <p:cNvSpPr/>
          <p:nvPr/>
        </p:nvSpPr>
        <p:spPr>
          <a:xfrm rot="10800000">
            <a:off x="-3452695" y="1148756"/>
            <a:ext cx="5396231" cy="4932209"/>
          </a:xfrm>
          <a:prstGeom prst="donut">
            <a:avLst>
              <a:gd name="adj" fmla="val 5392"/>
            </a:avLst>
          </a:prstGeom>
          <a:gradFill>
            <a:gsLst>
              <a:gs pos="0">
                <a:schemeClr val="accent3">
                  <a:lumMod val="50000"/>
                </a:schemeClr>
              </a:gs>
              <a:gs pos="55180">
                <a:srgbClr val="1B6F27"/>
              </a:gs>
              <a:gs pos="99000">
                <a:srgbClr val="20822E"/>
              </a:gs>
            </a:gsLst>
            <a:lin ang="5400000" scaled="1"/>
          </a:gra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nvGrpSpPr>
          <p:cNvPr id="19" name="Agrupar 38">
            <a:extLst>
              <a:ext uri="{FF2B5EF4-FFF2-40B4-BE49-F238E27FC236}">
                <a16:creationId xmlns:a16="http://schemas.microsoft.com/office/drawing/2014/main" id="{9DD8DA25-D83B-F754-354A-52932B1E6E86}"/>
              </a:ext>
            </a:extLst>
          </p:cNvPr>
          <p:cNvGrpSpPr/>
          <p:nvPr/>
        </p:nvGrpSpPr>
        <p:grpSpPr>
          <a:xfrm rot="10800000">
            <a:off x="1493269" y="1392755"/>
            <a:ext cx="2811600" cy="252000"/>
            <a:chOff x="6022821" y="2646629"/>
            <a:chExt cx="2737179" cy="252000"/>
          </a:xfrm>
          <a:solidFill>
            <a:srgbClr val="80B281"/>
          </a:solidFill>
        </p:grpSpPr>
        <p:cxnSp>
          <p:nvCxnSpPr>
            <p:cNvPr id="20" name="Conector de Seta Reta 39">
              <a:extLst>
                <a:ext uri="{FF2B5EF4-FFF2-40B4-BE49-F238E27FC236}">
                  <a16:creationId xmlns:a16="http://schemas.microsoft.com/office/drawing/2014/main" id="{B99E1D5A-6EAC-0BF8-5A41-E4D9921CA4F1}"/>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1" name="Losango 43">
              <a:extLst>
                <a:ext uri="{FF2B5EF4-FFF2-40B4-BE49-F238E27FC236}">
                  <a16:creationId xmlns:a16="http://schemas.microsoft.com/office/drawing/2014/main" id="{D1CB4555-4F27-BB52-24C8-ECD30C4B6C7A}"/>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2" name="Agrupar 47">
            <a:extLst>
              <a:ext uri="{FF2B5EF4-FFF2-40B4-BE49-F238E27FC236}">
                <a16:creationId xmlns:a16="http://schemas.microsoft.com/office/drawing/2014/main" id="{BF238BF0-DB53-7686-C768-A5273FE46E88}"/>
              </a:ext>
            </a:extLst>
          </p:cNvPr>
          <p:cNvGrpSpPr/>
          <p:nvPr/>
        </p:nvGrpSpPr>
        <p:grpSpPr>
          <a:xfrm rot="10800000">
            <a:off x="1847932" y="4705343"/>
            <a:ext cx="2810101" cy="252000"/>
            <a:chOff x="6098372" y="2214756"/>
            <a:chExt cx="2810101" cy="252000"/>
          </a:xfrm>
          <a:solidFill>
            <a:srgbClr val="80B281"/>
          </a:solidFill>
        </p:grpSpPr>
        <p:cxnSp>
          <p:nvCxnSpPr>
            <p:cNvPr id="23" name="Conector de Seta Reta 48">
              <a:extLst>
                <a:ext uri="{FF2B5EF4-FFF2-40B4-BE49-F238E27FC236}">
                  <a16:creationId xmlns:a16="http://schemas.microsoft.com/office/drawing/2014/main" id="{68DF4BE4-B9DB-38E3-7659-18A815036932}"/>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4" name="Losango 49">
              <a:extLst>
                <a:ext uri="{FF2B5EF4-FFF2-40B4-BE49-F238E27FC236}">
                  <a16:creationId xmlns:a16="http://schemas.microsoft.com/office/drawing/2014/main" id="{3EF7271E-787B-5F0E-BF1B-4CD716F7C85E}"/>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5" name="Agrupar 51">
            <a:extLst>
              <a:ext uri="{FF2B5EF4-FFF2-40B4-BE49-F238E27FC236}">
                <a16:creationId xmlns:a16="http://schemas.microsoft.com/office/drawing/2014/main" id="{F5554BC7-43A6-2393-52BC-E5AD6FB5234D}"/>
              </a:ext>
            </a:extLst>
          </p:cNvPr>
          <p:cNvGrpSpPr/>
          <p:nvPr/>
        </p:nvGrpSpPr>
        <p:grpSpPr>
          <a:xfrm rot="10800000">
            <a:off x="2107017" y="3783392"/>
            <a:ext cx="2810101" cy="252000"/>
            <a:chOff x="6098372" y="2214756"/>
            <a:chExt cx="2810101" cy="252000"/>
          </a:xfrm>
          <a:solidFill>
            <a:srgbClr val="80B281"/>
          </a:solidFill>
        </p:grpSpPr>
        <p:cxnSp>
          <p:nvCxnSpPr>
            <p:cNvPr id="26" name="Conector de Seta Reta 52">
              <a:extLst>
                <a:ext uri="{FF2B5EF4-FFF2-40B4-BE49-F238E27FC236}">
                  <a16:creationId xmlns:a16="http://schemas.microsoft.com/office/drawing/2014/main" id="{363DD454-4409-4C98-F818-7BCCA13CDF1C}"/>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7" name="Losango 53">
              <a:extLst>
                <a:ext uri="{FF2B5EF4-FFF2-40B4-BE49-F238E27FC236}">
                  <a16:creationId xmlns:a16="http://schemas.microsoft.com/office/drawing/2014/main" id="{44DF53BF-66C5-6090-BB01-480CC3A7E47A}"/>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FFFFFF"/>
                </a:solidFill>
              </a:endParaRPr>
            </a:p>
          </p:txBody>
        </p:sp>
      </p:grpSp>
      <p:pic>
        <p:nvPicPr>
          <p:cNvPr id="28" name="Picture 27">
            <a:extLst>
              <a:ext uri="{FF2B5EF4-FFF2-40B4-BE49-F238E27FC236}">
                <a16:creationId xmlns:a16="http://schemas.microsoft.com/office/drawing/2014/main" id="{00749450-70CB-A46F-66F2-47429AC3D6B5}"/>
              </a:ext>
            </a:extLst>
          </p:cNvPr>
          <p:cNvPicPr>
            <a:picLocks noChangeAspect="1"/>
          </p:cNvPicPr>
          <p:nvPr/>
        </p:nvPicPr>
        <p:blipFill rotWithShape="1">
          <a:blip r:embed="rId2">
            <a:extLst>
              <a:ext uri="{28A0092B-C50C-407E-A947-70E740481C1C}">
                <a14:useLocalDpi xmlns:a14="http://schemas.microsoft.com/office/drawing/2010/main" val="0"/>
              </a:ext>
            </a:extLst>
          </a:blip>
          <a:srcRect l="10011" t="25381" r="35435" b="13771"/>
          <a:stretch>
            <a:fillRect/>
          </a:stretch>
        </p:blipFill>
        <p:spPr>
          <a:xfrm>
            <a:off x="6451240" y="5396"/>
            <a:ext cx="4691990" cy="3849420"/>
          </a:xfrm>
          <a:prstGeom prst="flowChartMerge">
            <a:avLst/>
          </a:prstGeom>
        </p:spPr>
      </p:pic>
      <p:pic>
        <p:nvPicPr>
          <p:cNvPr id="29" name="Picture 28">
            <a:extLst>
              <a:ext uri="{FF2B5EF4-FFF2-40B4-BE49-F238E27FC236}">
                <a16:creationId xmlns:a16="http://schemas.microsoft.com/office/drawing/2014/main" id="{866143BD-24C6-01E2-C673-085EE8C215FB}"/>
              </a:ext>
            </a:extLst>
          </p:cNvPr>
          <p:cNvPicPr>
            <a:picLocks noChangeAspect="1"/>
          </p:cNvPicPr>
          <p:nvPr/>
        </p:nvPicPr>
        <p:blipFill rotWithShape="1">
          <a:blip r:embed="rId2">
            <a:extLst>
              <a:ext uri="{28A0092B-C50C-407E-A947-70E740481C1C}">
                <a14:useLocalDpi xmlns:a14="http://schemas.microsoft.com/office/drawing/2010/main" val="0"/>
              </a:ext>
            </a:extLst>
          </a:blip>
          <a:srcRect l="52936" t="21443" r="302" b="2100"/>
          <a:stretch>
            <a:fillRect/>
          </a:stretch>
        </p:blipFill>
        <p:spPr>
          <a:xfrm>
            <a:off x="8312055" y="2581690"/>
            <a:ext cx="3930266" cy="4283997"/>
          </a:xfrm>
          <a:prstGeom prst="triangle">
            <a:avLst/>
          </a:prstGeom>
        </p:spPr>
      </p:pic>
      <p:sp>
        <p:nvSpPr>
          <p:cNvPr id="30" name="Isosceles Triangle 29">
            <a:extLst>
              <a:ext uri="{FF2B5EF4-FFF2-40B4-BE49-F238E27FC236}">
                <a16:creationId xmlns:a16="http://schemas.microsoft.com/office/drawing/2014/main" id="{B157AC8D-7016-8037-2DB9-E500BF7AD6B8}"/>
              </a:ext>
            </a:extLst>
          </p:cNvPr>
          <p:cNvSpPr/>
          <p:nvPr/>
        </p:nvSpPr>
        <p:spPr>
          <a:xfrm>
            <a:off x="8297140" y="2574003"/>
            <a:ext cx="3930266" cy="4283997"/>
          </a:xfrm>
          <a:prstGeom prst="triangl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Flowchart: Merge 30">
            <a:extLst>
              <a:ext uri="{FF2B5EF4-FFF2-40B4-BE49-F238E27FC236}">
                <a16:creationId xmlns:a16="http://schemas.microsoft.com/office/drawing/2014/main" id="{AE30D582-92B1-C1C2-BC74-145460445D8A}"/>
              </a:ext>
            </a:extLst>
          </p:cNvPr>
          <p:cNvSpPr/>
          <p:nvPr/>
        </p:nvSpPr>
        <p:spPr>
          <a:xfrm>
            <a:off x="6451240" y="0"/>
            <a:ext cx="4681825" cy="3849420"/>
          </a:xfrm>
          <a:prstGeom prst="flowChartMerg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sp>
        <p:nvSpPr>
          <p:cNvPr id="32" name="Rectangle 31">
            <a:extLst>
              <a:ext uri="{FF2B5EF4-FFF2-40B4-BE49-F238E27FC236}">
                <a16:creationId xmlns:a16="http://schemas.microsoft.com/office/drawing/2014/main" id="{384DF4C2-AA32-E405-1FC3-7AABC19B8278}"/>
              </a:ext>
            </a:extLst>
          </p:cNvPr>
          <p:cNvSpPr/>
          <p:nvPr/>
        </p:nvSpPr>
        <p:spPr>
          <a:xfrm>
            <a:off x="3177302" y="1671066"/>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33" name="Rectangle 32">
            <a:extLst>
              <a:ext uri="{FF2B5EF4-FFF2-40B4-BE49-F238E27FC236}">
                <a16:creationId xmlns:a16="http://schemas.microsoft.com/office/drawing/2014/main" id="{93BF2C2C-F875-DC90-FC54-5B3703374BCA}"/>
              </a:ext>
            </a:extLst>
          </p:cNvPr>
          <p:cNvSpPr/>
          <p:nvPr/>
        </p:nvSpPr>
        <p:spPr>
          <a:xfrm>
            <a:off x="3167430" y="1671066"/>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34" name="CaixaDeTexto 8">
            <a:extLst>
              <a:ext uri="{FF2B5EF4-FFF2-40B4-BE49-F238E27FC236}">
                <a16:creationId xmlns:a16="http://schemas.microsoft.com/office/drawing/2014/main" id="{C7058B73-4559-4F37-BB0C-F376D295A771}"/>
              </a:ext>
            </a:extLst>
          </p:cNvPr>
          <p:cNvSpPr txBox="1"/>
          <p:nvPr/>
        </p:nvSpPr>
        <p:spPr>
          <a:xfrm>
            <a:off x="4896426" y="2044007"/>
            <a:ext cx="2825252" cy="461665"/>
          </a:xfrm>
          <a:prstGeom prst="rect">
            <a:avLst/>
          </a:prstGeom>
          <a:noFill/>
        </p:spPr>
        <p:txBody>
          <a:bodyPr wrap="square" lIns="91440" tIns="45720" rIns="91440" bIns="45720" rtlCol="0" anchor="t">
            <a:spAutoFit/>
          </a:bodyPr>
          <a:lstStyle/>
          <a:p>
            <a:r>
              <a:rPr lang="pt-BR" sz="2400" b="1" i="1">
                <a:solidFill>
                  <a:schemeClr val="tx1">
                    <a:lumMod val="49000"/>
                    <a:lumOff val="51000"/>
                  </a:schemeClr>
                </a:solidFill>
                <a:latin typeface="Montserrat"/>
                <a:cs typeface="Times New Roman"/>
              </a:rPr>
              <a:t>Pergunta</a:t>
            </a:r>
          </a:p>
        </p:txBody>
      </p:sp>
      <p:sp>
        <p:nvSpPr>
          <p:cNvPr id="35" name="CaixaDeTexto 13">
            <a:extLst>
              <a:ext uri="{FF2B5EF4-FFF2-40B4-BE49-F238E27FC236}">
                <a16:creationId xmlns:a16="http://schemas.microsoft.com/office/drawing/2014/main" id="{F04B402C-AD45-9242-B735-DE8C1CC5CDEA}"/>
              </a:ext>
            </a:extLst>
          </p:cNvPr>
          <p:cNvSpPr txBox="1"/>
          <p:nvPr/>
        </p:nvSpPr>
        <p:spPr>
          <a:xfrm>
            <a:off x="1939578" y="2288343"/>
            <a:ext cx="2811600" cy="246221"/>
          </a:xfrm>
          <a:prstGeom prst="rect">
            <a:avLst/>
          </a:prstGeom>
          <a:noFill/>
        </p:spPr>
        <p:txBody>
          <a:bodyPr wrap="square" lIns="91440" tIns="45720" rIns="91440" bIns="45720" rtlCol="0" anchor="t">
            <a:spAutoFit/>
          </a:bodyPr>
          <a:lstStyle/>
          <a:p>
            <a:r>
              <a:rPr lang="en-US" sz="1000" err="1">
                <a:solidFill>
                  <a:srgbClr val="7F7F7F"/>
                </a:solidFill>
                <a:latin typeface="Montserrat"/>
                <a:cs typeface="Times New Roman"/>
              </a:rPr>
              <a:t>Pergunta</a:t>
            </a:r>
            <a:r>
              <a:rPr lang="en-US" sz="1000">
                <a:solidFill>
                  <a:srgbClr val="7F7F7F"/>
                </a:solidFill>
                <a:latin typeface="Montserrat"/>
                <a:cs typeface="Times New Roman"/>
              </a:rPr>
              <a:t> </a:t>
            </a:r>
            <a:r>
              <a:rPr lang="en-US" sz="1000" err="1">
                <a:solidFill>
                  <a:srgbClr val="7F7F7F"/>
                </a:solidFill>
                <a:latin typeface="Montserrat"/>
                <a:cs typeface="Times New Roman"/>
              </a:rPr>
              <a:t>proposta</a:t>
            </a:r>
            <a:endParaRPr lang="pt-BR" sz="1000">
              <a:solidFill>
                <a:srgbClr val="7F7F7F"/>
              </a:solidFill>
              <a:latin typeface="Montserrat"/>
              <a:cs typeface="Times New Roman"/>
            </a:endParaRPr>
          </a:p>
        </p:txBody>
      </p:sp>
      <p:grpSp>
        <p:nvGrpSpPr>
          <p:cNvPr id="36" name="Agrupar 38">
            <a:extLst>
              <a:ext uri="{FF2B5EF4-FFF2-40B4-BE49-F238E27FC236}">
                <a16:creationId xmlns:a16="http://schemas.microsoft.com/office/drawing/2014/main" id="{A2823ADD-7A97-C5A5-8503-B689B55A3359}"/>
              </a:ext>
            </a:extLst>
          </p:cNvPr>
          <p:cNvGrpSpPr/>
          <p:nvPr/>
        </p:nvGrpSpPr>
        <p:grpSpPr>
          <a:xfrm rot="10800000">
            <a:off x="1939578" y="2141394"/>
            <a:ext cx="2811600" cy="252000"/>
            <a:chOff x="6022821" y="2646629"/>
            <a:chExt cx="2737179" cy="252000"/>
          </a:xfrm>
          <a:solidFill>
            <a:srgbClr val="80B281"/>
          </a:solidFill>
        </p:grpSpPr>
        <p:cxnSp>
          <p:nvCxnSpPr>
            <p:cNvPr id="37" name="Conector de Seta Reta 39">
              <a:extLst>
                <a:ext uri="{FF2B5EF4-FFF2-40B4-BE49-F238E27FC236}">
                  <a16:creationId xmlns:a16="http://schemas.microsoft.com/office/drawing/2014/main" id="{681813F5-6FB0-F678-9E90-317E4C01BBF7}"/>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38" name="Losango 43">
              <a:extLst>
                <a:ext uri="{FF2B5EF4-FFF2-40B4-BE49-F238E27FC236}">
                  <a16:creationId xmlns:a16="http://schemas.microsoft.com/office/drawing/2014/main" id="{FB75E6A1-B00D-52ED-6FFD-CA436D9CD896}"/>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
        <p:nvSpPr>
          <p:cNvPr id="39" name="Rectangle 38">
            <a:extLst>
              <a:ext uri="{FF2B5EF4-FFF2-40B4-BE49-F238E27FC236}">
                <a16:creationId xmlns:a16="http://schemas.microsoft.com/office/drawing/2014/main" id="{844C7149-29B2-A6E6-972A-9BE63B697F7A}"/>
              </a:ext>
            </a:extLst>
          </p:cNvPr>
          <p:cNvSpPr/>
          <p:nvPr/>
        </p:nvSpPr>
        <p:spPr>
          <a:xfrm>
            <a:off x="3328855" y="2827588"/>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40" name="Rectangle 39">
            <a:extLst>
              <a:ext uri="{FF2B5EF4-FFF2-40B4-BE49-F238E27FC236}">
                <a16:creationId xmlns:a16="http://schemas.microsoft.com/office/drawing/2014/main" id="{73176597-8EFF-9A4A-D0CE-41058D67E3B5}"/>
              </a:ext>
            </a:extLst>
          </p:cNvPr>
          <p:cNvSpPr/>
          <p:nvPr/>
        </p:nvSpPr>
        <p:spPr>
          <a:xfrm>
            <a:off x="3153778" y="2421054"/>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rgbClr val="7F7F7F"/>
              </a:solidFill>
            </a:endParaRPr>
          </a:p>
        </p:txBody>
      </p:sp>
      <p:sp>
        <p:nvSpPr>
          <p:cNvPr id="41" name="CaixaDeTexto 8">
            <a:extLst>
              <a:ext uri="{FF2B5EF4-FFF2-40B4-BE49-F238E27FC236}">
                <a16:creationId xmlns:a16="http://schemas.microsoft.com/office/drawing/2014/main" id="{76B2C434-05A1-1018-3562-F740790F32C0}"/>
              </a:ext>
            </a:extLst>
          </p:cNvPr>
          <p:cNvSpPr txBox="1"/>
          <p:nvPr/>
        </p:nvSpPr>
        <p:spPr>
          <a:xfrm>
            <a:off x="5054805" y="2861891"/>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Literatura</a:t>
            </a:r>
          </a:p>
        </p:txBody>
      </p:sp>
      <p:sp>
        <p:nvSpPr>
          <p:cNvPr id="42" name="CaixaDeTexto 13">
            <a:extLst>
              <a:ext uri="{FF2B5EF4-FFF2-40B4-BE49-F238E27FC236}">
                <a16:creationId xmlns:a16="http://schemas.microsoft.com/office/drawing/2014/main" id="{E295BA95-2D2A-A2AC-C385-D9C6D956491A}"/>
              </a:ext>
            </a:extLst>
          </p:cNvPr>
          <p:cNvSpPr txBox="1"/>
          <p:nvPr/>
        </p:nvSpPr>
        <p:spPr>
          <a:xfrm>
            <a:off x="2002260" y="3106227"/>
            <a:ext cx="2811600" cy="246221"/>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Literatura</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Teórica</a:t>
            </a:r>
            <a:r>
              <a:rPr lang="en-US" sz="1000">
                <a:solidFill>
                  <a:srgbClr val="7F7F7F"/>
                </a:solidFill>
                <a:latin typeface="Montserrat" panose="00000500000000000000" pitchFamily="2" charset="0"/>
                <a:cs typeface="Times New Roman" panose="02020603050405020304" pitchFamily="18" charset="0"/>
              </a:rPr>
              <a:t> para a </a:t>
            </a:r>
            <a:r>
              <a:rPr lang="en-US" sz="1000" err="1">
                <a:solidFill>
                  <a:srgbClr val="7F7F7F"/>
                </a:solidFill>
                <a:latin typeface="Montserrat" panose="00000500000000000000" pitchFamily="2" charset="0"/>
                <a:cs typeface="Times New Roman" panose="02020603050405020304" pitchFamily="18" charset="0"/>
              </a:rPr>
              <a:t>fundamentação</a:t>
            </a:r>
            <a:endParaRPr lang="en-US" sz="1000">
              <a:solidFill>
                <a:srgbClr val="7F7F7F"/>
              </a:solidFill>
              <a:latin typeface="Montserrat" panose="00000500000000000000" pitchFamily="2" charset="0"/>
              <a:cs typeface="Times New Roman" panose="02020603050405020304" pitchFamily="18" charset="0"/>
            </a:endParaRPr>
          </a:p>
        </p:txBody>
      </p:sp>
      <p:grpSp>
        <p:nvGrpSpPr>
          <p:cNvPr id="43" name="Agrupar 38">
            <a:extLst>
              <a:ext uri="{FF2B5EF4-FFF2-40B4-BE49-F238E27FC236}">
                <a16:creationId xmlns:a16="http://schemas.microsoft.com/office/drawing/2014/main" id="{F7A04237-2F37-7807-BD6A-38EDDDC12F44}"/>
              </a:ext>
            </a:extLst>
          </p:cNvPr>
          <p:cNvGrpSpPr/>
          <p:nvPr/>
        </p:nvGrpSpPr>
        <p:grpSpPr>
          <a:xfrm rot="10800000">
            <a:off x="2097957" y="2959278"/>
            <a:ext cx="2811600" cy="252000"/>
            <a:chOff x="6022821" y="2646629"/>
            <a:chExt cx="2737179" cy="252000"/>
          </a:xfrm>
          <a:solidFill>
            <a:srgbClr val="80B281"/>
          </a:solidFill>
        </p:grpSpPr>
        <p:cxnSp>
          <p:nvCxnSpPr>
            <p:cNvPr id="44" name="Conector de Seta Reta 39">
              <a:extLst>
                <a:ext uri="{FF2B5EF4-FFF2-40B4-BE49-F238E27FC236}">
                  <a16:creationId xmlns:a16="http://schemas.microsoft.com/office/drawing/2014/main" id="{B8678B25-0CFA-F663-3D7B-D03AEF992254}"/>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45" name="Losango 43">
              <a:extLst>
                <a:ext uri="{FF2B5EF4-FFF2-40B4-BE49-F238E27FC236}">
                  <a16:creationId xmlns:a16="http://schemas.microsoft.com/office/drawing/2014/main" id="{FFAA3969-B465-28E3-86D3-F155D7346EBA}"/>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7" name="CaixaDeTexto 12">
            <a:extLst>
              <a:ext uri="{FF2B5EF4-FFF2-40B4-BE49-F238E27FC236}">
                <a16:creationId xmlns:a16="http://schemas.microsoft.com/office/drawing/2014/main" id="{1C672A29-4676-1872-D66C-85EE37F5CC70}"/>
              </a:ext>
            </a:extLst>
          </p:cNvPr>
          <p:cNvSpPr txBox="1"/>
          <p:nvPr/>
        </p:nvSpPr>
        <p:spPr>
          <a:xfrm>
            <a:off x="4108439" y="5355391"/>
            <a:ext cx="4286931"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Viabilidade Empírica</a:t>
            </a:r>
          </a:p>
        </p:txBody>
      </p:sp>
      <p:sp>
        <p:nvSpPr>
          <p:cNvPr id="48" name="CaixaDeTexto 14">
            <a:extLst>
              <a:ext uri="{FF2B5EF4-FFF2-40B4-BE49-F238E27FC236}">
                <a16:creationId xmlns:a16="http://schemas.microsoft.com/office/drawing/2014/main" id="{D4E29C1A-9998-29E7-1D57-6EFBCE682A0E}"/>
              </a:ext>
            </a:extLst>
          </p:cNvPr>
          <p:cNvSpPr txBox="1"/>
          <p:nvPr/>
        </p:nvSpPr>
        <p:spPr>
          <a:xfrm>
            <a:off x="1177838" y="5613639"/>
            <a:ext cx="2736922" cy="400110"/>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Viabilidade</a:t>
            </a:r>
            <a:r>
              <a:rPr lang="en-US" sz="1000">
                <a:solidFill>
                  <a:srgbClr val="7F7F7F"/>
                </a:solidFill>
                <a:latin typeface="Montserrat" panose="00000500000000000000" pitchFamily="2" charset="0"/>
                <a:cs typeface="Times New Roman" panose="02020603050405020304" pitchFamily="18" charset="0"/>
              </a:rPr>
              <a:t> dos dados para a </a:t>
            </a:r>
            <a:r>
              <a:rPr lang="en-US" sz="1000" err="1">
                <a:solidFill>
                  <a:srgbClr val="7F7F7F"/>
                </a:solidFill>
                <a:latin typeface="Montserrat" panose="00000500000000000000" pitchFamily="2" charset="0"/>
                <a:cs typeface="Times New Roman" panose="02020603050405020304" pitchFamily="18" charset="0"/>
              </a:rPr>
              <a:t>realização</a:t>
            </a:r>
            <a:r>
              <a:rPr lang="en-US" sz="1000">
                <a:solidFill>
                  <a:srgbClr val="7F7F7F"/>
                </a:solidFill>
                <a:latin typeface="Montserrat" panose="00000500000000000000" pitchFamily="2" charset="0"/>
                <a:cs typeface="Times New Roman" panose="02020603050405020304" pitchFamily="18" charset="0"/>
              </a:rPr>
              <a:t> do teste empírico</a:t>
            </a:r>
            <a:endParaRPr lang="pt-BR" sz="1000">
              <a:solidFill>
                <a:srgbClr val="7F7F7F"/>
              </a:solidFill>
              <a:latin typeface="Montserrat" panose="00000500000000000000" pitchFamily="2" charset="0"/>
              <a:cs typeface="Times New Roman" panose="02020603050405020304" pitchFamily="18" charset="0"/>
            </a:endParaRPr>
          </a:p>
        </p:txBody>
      </p:sp>
      <p:grpSp>
        <p:nvGrpSpPr>
          <p:cNvPr id="49" name="Agrupar 47">
            <a:extLst>
              <a:ext uri="{FF2B5EF4-FFF2-40B4-BE49-F238E27FC236}">
                <a16:creationId xmlns:a16="http://schemas.microsoft.com/office/drawing/2014/main" id="{5465DECC-B0B2-D4D3-9156-78975D1A0D7F}"/>
              </a:ext>
            </a:extLst>
          </p:cNvPr>
          <p:cNvGrpSpPr/>
          <p:nvPr/>
        </p:nvGrpSpPr>
        <p:grpSpPr>
          <a:xfrm rot="10800000">
            <a:off x="1202890" y="5474432"/>
            <a:ext cx="2810101" cy="252000"/>
            <a:chOff x="6098372" y="2214756"/>
            <a:chExt cx="2810101" cy="252000"/>
          </a:xfrm>
          <a:solidFill>
            <a:srgbClr val="80B281"/>
          </a:solidFill>
        </p:grpSpPr>
        <p:cxnSp>
          <p:nvCxnSpPr>
            <p:cNvPr id="50" name="Conector de Seta Reta 48">
              <a:extLst>
                <a:ext uri="{FF2B5EF4-FFF2-40B4-BE49-F238E27FC236}">
                  <a16:creationId xmlns:a16="http://schemas.microsoft.com/office/drawing/2014/main" id="{34C33C5C-35CE-6356-D533-FEE6E3DD05AB}"/>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51" name="Losango 49">
              <a:extLst>
                <a:ext uri="{FF2B5EF4-FFF2-40B4-BE49-F238E27FC236}">
                  <a16:creationId xmlns:a16="http://schemas.microsoft.com/office/drawing/2014/main" id="{C3F6A0CE-E716-6E8E-262F-86D2ED636278}"/>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Tree>
    <p:extLst>
      <p:ext uri="{BB962C8B-B14F-4D97-AF65-F5344CB8AC3E}">
        <p14:creationId xmlns:p14="http://schemas.microsoft.com/office/powerpoint/2010/main" val="111405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89C2A9-1FE1-3820-81AF-28141BF8B981}"/>
              </a:ext>
            </a:extLst>
          </p:cNvPr>
          <p:cNvSpPr>
            <a:spLocks noGrp="1"/>
          </p:cNvSpPr>
          <p:nvPr>
            <p:ph type="body" sz="quarter" idx="18"/>
          </p:nvPr>
        </p:nvSpPr>
        <p:spPr/>
        <p:txBody>
          <a:bodyPr>
            <a:normAutofit fontScale="62500" lnSpcReduction="20000"/>
          </a:bodyPr>
          <a:lstStyle/>
          <a:p>
            <a:endParaRPr lang="pt-BR"/>
          </a:p>
        </p:txBody>
      </p:sp>
      <p:sp>
        <p:nvSpPr>
          <p:cNvPr id="3" name="Title 2">
            <a:extLst>
              <a:ext uri="{FF2B5EF4-FFF2-40B4-BE49-F238E27FC236}">
                <a16:creationId xmlns:a16="http://schemas.microsoft.com/office/drawing/2014/main" id="{7484B37A-B3DE-F11B-76E7-E49EC370D833}"/>
              </a:ext>
            </a:extLst>
          </p:cNvPr>
          <p:cNvSpPr>
            <a:spLocks noGrp="1"/>
          </p:cNvSpPr>
          <p:nvPr>
            <p:ph type="title"/>
          </p:nvPr>
        </p:nvSpPr>
        <p:spPr/>
        <p:txBody>
          <a:bodyPr>
            <a:noAutofit/>
          </a:bodyPr>
          <a:lstStyle/>
          <a:p>
            <a:r>
              <a:rPr lang="pt-BR" b="1" i="0">
                <a:solidFill>
                  <a:srgbClr val="F0F6FC"/>
                </a:solidFill>
                <a:effectLst/>
              </a:rPr>
              <a:t>Da condição de aceitação sai uma hipótese</a:t>
            </a:r>
            <a:endParaRPr lang="pt-BR"/>
          </a:p>
        </p:txBody>
      </p:sp>
      <p:sp>
        <p:nvSpPr>
          <p:cNvPr id="4" name="TextBox 3"/>
          <p:cNvSpPr txBox="1"/>
          <p:nvPr/>
        </p:nvSpPr>
        <p:spPr>
          <a:xfrm>
            <a:off x="512064" y="768096"/>
            <a:ext cx="5577840" cy="219456"/>
          </a:xfrm>
          <a:prstGeom prst="rect">
            <a:avLst/>
          </a:prstGeom>
          <a:noFill/>
          <a:ln>
            <a:noFill/>
          </a:ln>
        </p:spPr>
        <p:txBody>
          <a:bodyPr wrap="square" anchor="t" lIns="0" rIns="0" tIns="0" bIns="0">
            <a:spAutoFit/>
          </a:bodyPr>
          <a:lstStyle/>
          <a:p>
            <a:pPr algn="l">
              <a:lnSpc>
                <a:spcPct val="100000"/>
              </a:lnSpc>
              <a:buNone/>
            </a:pPr>
            <a:r>
              <a:rPr sz="1000" b="1" i="0">
                <a:solidFill>
                  <a:srgbClr val="056429"/>
                </a:solidFill>
                <a:latin typeface="Montserrat"/>
              </a:rPr>
              <a:t>A DERIVAÇÃO</a:t>
            </a:r>
          </a:p>
        </p:txBody>
      </p:sp>
      <p:cxnSp>
        <p:nvCxnSpPr>
          <p:cNvPr id="5" name="Connector 4"/>
          <p:cNvCxnSpPr/>
          <p:nvPr/>
        </p:nvCxnSpPr>
        <p:spPr>
          <a:xfrm>
            <a:off x="512064" y="987552"/>
            <a:ext cx="5577840" cy="0"/>
          </a:xfrm>
          <a:prstGeom prst="line">
            <a:avLst/>
          </a:prstGeom>
          <a:ln w="15875">
            <a:solidFill>
              <a:srgbClr val="80B28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1097280"/>
            <a:ext cx="5577840" cy="256032"/>
          </a:xfrm>
          <a:prstGeom prst="rect">
            <a:avLst/>
          </a:prstGeom>
          <a:noFill/>
          <a:ln>
            <a:noFill/>
          </a:ln>
        </p:spPr>
        <p:txBody>
          <a:bodyPr wrap="square" anchor="t" lIns="36576" rIns="36576" tIns="25603" bIns="25603">
            <a:spAutoFit/>
          </a:bodyPr>
          <a:lstStyle/>
          <a:p>
            <a:pPr algn="l">
              <a:lnSpc>
                <a:spcPct val="95000"/>
              </a:lnSpc>
              <a:buNone/>
            </a:pPr>
            <a:r>
              <a:rPr sz="1050" b="1" i="0">
                <a:solidFill>
                  <a:srgbClr val="114719"/>
                </a:solidFill>
                <a:latin typeface="Montserrat"/>
              </a:rPr>
              <a:t>Passo 1 · a condição de aceitação</a:t>
            </a:r>
          </a:p>
        </p:txBody>
      </p:sp>
      <p:sp>
        <p:nvSpPr>
          <p:cNvPr id="7" name="TextBox 6"/>
          <p:cNvSpPr txBox="1"/>
          <p:nvPr/>
        </p:nvSpPr>
        <p:spPr>
          <a:xfrm>
            <a:off x="475488" y="1371600"/>
            <a:ext cx="5577840" cy="566928"/>
          </a:xfrm>
          <a:prstGeom prst="rect">
            <a:avLst/>
          </a:prstGeom>
          <a:noFill/>
          <a:ln>
            <a:noFill/>
          </a:ln>
        </p:spPr>
        <p:txBody>
          <a:bodyPr wrap="square" anchor="t" lIns="36576" rIns="36576" tIns="25603" bIns="25603">
            <a:spAutoFit/>
          </a:bodyPr>
          <a:lstStyle/>
          <a:p>
            <a:pPr algn="l">
              <a:lnSpc>
                <a:spcPct val="95000"/>
              </a:lnSpc>
              <a:buNone/>
            </a:pPr>
            <a:r>
              <a:rPr sz="1050" b="0" i="0">
                <a:solidFill>
                  <a:srgbClr val="3A3A3A"/>
                </a:solidFill>
                <a:latin typeface="Montserrat"/>
              </a:rPr>
              <a:t>O médico i aceita a vaga em m quando o que ela vale supera sua melhor alternativa v̄ᵢ:</a:t>
            </a:r>
          </a:p>
        </p:txBody>
      </p:sp>
      <p:pic>
        <p:nvPicPr>
          <p:cNvPr id="8" name="Picture 7" descr="condicao_aceitacao.png"/>
          <p:cNvPicPr>
            <a:picLocks noChangeAspect="1"/>
          </p:cNvPicPr>
          <p:nvPr/>
        </p:nvPicPr>
        <p:blipFill>
          <a:blip r:embed="rId2"/>
          <a:stretch>
            <a:fillRect/>
          </a:stretch>
        </p:blipFill>
        <p:spPr>
          <a:xfrm>
            <a:off x="1920240" y="1773936"/>
            <a:ext cx="2743200" cy="552786"/>
          </a:xfrm>
          <a:prstGeom prst="rect">
            <a:avLst/>
          </a:prstGeom>
        </p:spPr>
      </p:pic>
      <p:sp>
        <p:nvSpPr>
          <p:cNvPr id="9" name="TextBox 8"/>
          <p:cNvSpPr txBox="1"/>
          <p:nvPr/>
        </p:nvSpPr>
        <p:spPr>
          <a:xfrm>
            <a:off x="475488" y="2546178"/>
            <a:ext cx="5577840" cy="256032"/>
          </a:xfrm>
          <a:prstGeom prst="rect">
            <a:avLst/>
          </a:prstGeom>
          <a:noFill/>
          <a:ln>
            <a:noFill/>
          </a:ln>
        </p:spPr>
        <p:txBody>
          <a:bodyPr wrap="square" anchor="t" lIns="36576" rIns="36576" tIns="25603" bIns="25603">
            <a:spAutoFit/>
          </a:bodyPr>
          <a:lstStyle/>
          <a:p>
            <a:pPr algn="l">
              <a:lnSpc>
                <a:spcPct val="95000"/>
              </a:lnSpc>
              <a:buNone/>
            </a:pPr>
            <a:r>
              <a:rPr sz="1050" b="1" i="0">
                <a:solidFill>
                  <a:srgbClr val="114719"/>
                </a:solidFill>
                <a:latin typeface="Montserrat"/>
              </a:rPr>
              <a:t>Passo 2 · do médico à vaga</a:t>
            </a:r>
          </a:p>
        </p:txBody>
      </p:sp>
      <p:sp>
        <p:nvSpPr>
          <p:cNvPr id="10" name="TextBox 9"/>
          <p:cNvSpPr txBox="1"/>
          <p:nvPr/>
        </p:nvSpPr>
        <p:spPr>
          <a:xfrm>
            <a:off x="475488" y="2820498"/>
            <a:ext cx="5577840" cy="566928"/>
          </a:xfrm>
          <a:prstGeom prst="rect">
            <a:avLst/>
          </a:prstGeom>
          <a:noFill/>
          <a:ln>
            <a:noFill/>
          </a:ln>
        </p:spPr>
        <p:txBody>
          <a:bodyPr wrap="square" anchor="t" lIns="36576" rIns="36576" tIns="25603" bIns="25603">
            <a:spAutoFit/>
          </a:bodyPr>
          <a:lstStyle/>
          <a:p>
            <a:pPr algn="l">
              <a:lnSpc>
                <a:spcPct val="95000"/>
              </a:lnSpc>
              <a:buNone/>
            </a:pPr>
            <a:r>
              <a:rPr sz="1050" b="0" i="0">
                <a:solidFill>
                  <a:srgbClr val="3A3A3A"/>
                </a:solidFill>
                <a:latin typeface="Montserrat"/>
              </a:rPr>
              <a:t>A vaga é preenchida se existir ao menos um candidato para quem a desigualdade vale. Tudo o que aumenta o lado esquerdo aumenta essa probabilidade.</a:t>
            </a:r>
          </a:p>
        </p:txBody>
      </p:sp>
      <p:sp>
        <p:nvSpPr>
          <p:cNvPr id="11" name="TextBox 10"/>
          <p:cNvSpPr txBox="1"/>
          <p:nvPr/>
        </p:nvSpPr>
        <p:spPr>
          <a:xfrm>
            <a:off x="475488" y="3424002"/>
            <a:ext cx="5577840" cy="256032"/>
          </a:xfrm>
          <a:prstGeom prst="rect">
            <a:avLst/>
          </a:prstGeom>
          <a:noFill/>
          <a:ln>
            <a:noFill/>
          </a:ln>
        </p:spPr>
        <p:txBody>
          <a:bodyPr wrap="square" anchor="t" lIns="36576" rIns="36576" tIns="25603" bIns="25603">
            <a:spAutoFit/>
          </a:bodyPr>
          <a:lstStyle/>
          <a:p>
            <a:pPr algn="l">
              <a:lnSpc>
                <a:spcPct val="95000"/>
              </a:lnSpc>
              <a:buNone/>
            </a:pPr>
            <a:r>
              <a:rPr sz="1050" b="1" i="0">
                <a:solidFill>
                  <a:srgbClr val="114719"/>
                </a:solidFill>
                <a:latin typeface="Montserrat"/>
              </a:rPr>
              <a:t>Passo 3 · a derivada que o trabalho testa</a:t>
            </a:r>
          </a:p>
        </p:txBody>
      </p:sp>
      <p:pic>
        <p:nvPicPr>
          <p:cNvPr id="12" name="Picture 11" descr="derivada_hipotese.png"/>
          <p:cNvPicPr>
            <a:picLocks noChangeAspect="1"/>
          </p:cNvPicPr>
          <p:nvPr/>
        </p:nvPicPr>
        <p:blipFill>
          <a:blip r:embed="rId3"/>
          <a:stretch>
            <a:fillRect/>
          </a:stretch>
        </p:blipFill>
        <p:spPr>
          <a:xfrm>
            <a:off x="1828800" y="3789761"/>
            <a:ext cx="2926080" cy="653903"/>
          </a:xfrm>
          <a:prstGeom prst="rect">
            <a:avLst/>
          </a:prstGeom>
        </p:spPr>
      </p:pic>
      <p:sp>
        <p:nvSpPr>
          <p:cNvPr id="13" name="TextBox 12"/>
          <p:cNvSpPr txBox="1"/>
          <p:nvPr/>
        </p:nvSpPr>
        <p:spPr>
          <a:xfrm>
            <a:off x="475488" y="4754560"/>
            <a:ext cx="5577840" cy="1005840"/>
          </a:xfrm>
          <a:prstGeom prst="rect">
            <a:avLst/>
          </a:prstGeom>
          <a:solidFill>
            <a:srgbClr val="F2F2F2"/>
          </a:solidFill>
          <a:ln>
            <a:noFill/>
          </a:ln>
        </p:spPr>
        <p:txBody>
          <a:bodyPr wrap="square" anchor="ctr" lIns="109728" rIns="109728" tIns="76809" bIns="76809">
            <a:spAutoFit/>
          </a:bodyPr>
          <a:lstStyle/>
          <a:p>
            <a:pPr algn="l">
              <a:lnSpc>
                <a:spcPct val="95000"/>
              </a:lnSpc>
              <a:buNone/>
            </a:pPr>
            <a:r>
              <a:rPr sz="1000" b="1" i="0">
                <a:solidFill>
                  <a:srgbClr val="114719"/>
                </a:solidFill>
                <a:latin typeface="Montserrat"/>
              </a:rPr>
              <a:t>O custo é obstáculo, não hipótese.</a:t>
            </a:r>
            <a:r>
              <a:rPr sz="1000" b="0" i="0">
                <a:solidFill>
                  <a:srgbClr val="3A3A3A"/>
                </a:solidFill>
                <a:latin typeface="Montserrat"/>
              </a:rPr>
              <a:t>  Ele não entra como segunda hipótese porque não varia livremente: a regra do edital o amarra à bolsa, e os dois sobem juntos. É o que torna a hipótese difícil de testar, não uma segunda afirmação a testar.</a:t>
            </a:r>
          </a:p>
        </p:txBody>
      </p:sp>
      <p:sp>
        <p:nvSpPr>
          <p:cNvPr id="14" name="TextBox 13"/>
          <p:cNvSpPr txBox="1"/>
          <p:nvPr/>
        </p:nvSpPr>
        <p:spPr>
          <a:xfrm>
            <a:off x="6400800" y="1097280"/>
            <a:ext cx="5285232" cy="475488"/>
          </a:xfrm>
          <a:prstGeom prst="rect">
            <a:avLst/>
          </a:prstGeom>
          <a:solidFill>
            <a:srgbClr val="114719"/>
          </a:solidFill>
          <a:ln>
            <a:noFill/>
          </a:ln>
        </p:spPr>
        <p:txBody>
          <a:bodyPr wrap="square" anchor="ctr" lIns="73152" rIns="73152" tIns="51206" bIns="51206">
            <a:spAutoFit/>
          </a:bodyPr>
          <a:lstStyle/>
          <a:p>
            <a:pPr algn="ctr">
              <a:buNone/>
            </a:pPr>
            <a:r>
              <a:rPr sz="1400" b="1" i="0">
                <a:solidFill>
                  <a:srgbClr val="FFFFFF"/>
                </a:solidFill>
                <a:latin typeface="Montserrat"/>
              </a:rPr>
              <a:t>HIPÓTESE ECONÔMICA</a:t>
            </a:r>
          </a:p>
        </p:txBody>
      </p:sp>
      <p:sp>
        <p:nvSpPr>
          <p:cNvPr id="15" name="TextBox 14"/>
          <p:cNvSpPr txBox="1"/>
          <p:nvPr/>
        </p:nvSpPr>
        <p:spPr>
          <a:xfrm>
            <a:off x="6400800" y="1572768"/>
            <a:ext cx="5285232" cy="1554480"/>
          </a:xfrm>
          <a:prstGeom prst="rect">
            <a:avLst/>
          </a:prstGeom>
          <a:solidFill>
            <a:srgbClr val="EFF4F0"/>
          </a:solidFill>
          <a:ln w="19050">
            <a:solidFill>
              <a:srgbClr val="80B281"/>
            </a:solidFill>
          </a:ln>
        </p:spPr>
        <p:txBody>
          <a:bodyPr wrap="square" anchor="ctr" lIns="182880" rIns="182880" tIns="128015" bIns="128015">
            <a:spAutoFit/>
          </a:bodyPr>
          <a:lstStyle/>
          <a:p>
            <a:pPr algn="l">
              <a:lnSpc>
                <a:spcPct val="105000"/>
              </a:lnSpc>
              <a:buNone/>
            </a:pPr>
            <a:r>
              <a:rPr sz="1700" b="1" i="1">
                <a:solidFill>
                  <a:srgbClr val="114719"/>
                </a:solidFill>
                <a:latin typeface="Montserrat"/>
              </a:rPr>
              <a:t>Ceteris paribus</a:t>
            </a:r>
            <a:r>
              <a:rPr sz="1700" b="1" i="0">
                <a:solidFill>
                  <a:srgbClr val="114719"/>
                </a:solidFill>
                <a:latin typeface="Montserrat"/>
              </a:rPr>
              <a:t>, municípios com maior remuneração do PMM-E conseguem atrair mais especialistas.</a:t>
            </a:r>
          </a:p>
        </p:txBody>
      </p:sp>
      <p:sp>
        <p:nvSpPr>
          <p:cNvPr id="16" name="TextBox 15"/>
          <p:cNvSpPr txBox="1"/>
          <p:nvPr/>
        </p:nvSpPr>
        <p:spPr>
          <a:xfrm>
            <a:off x="6400800" y="3493008"/>
            <a:ext cx="5285232" cy="219456"/>
          </a:xfrm>
          <a:prstGeom prst="rect">
            <a:avLst/>
          </a:prstGeom>
          <a:noFill/>
          <a:ln>
            <a:noFill/>
          </a:ln>
        </p:spPr>
        <p:txBody>
          <a:bodyPr wrap="square" anchor="t" lIns="0" rIns="0" tIns="0" bIns="0">
            <a:spAutoFit/>
          </a:bodyPr>
          <a:lstStyle/>
          <a:p>
            <a:pPr algn="l">
              <a:lnSpc>
                <a:spcPct val="100000"/>
              </a:lnSpc>
              <a:buNone/>
            </a:pPr>
            <a:r>
              <a:rPr sz="1000" b="1" i="0">
                <a:solidFill>
                  <a:srgbClr val="056429"/>
                </a:solidFill>
                <a:latin typeface="Montserrat"/>
              </a:rPr>
              <a:t>O QUE ISSO EXIGE NA FRONTEIRA ENTRE DUAS FAIXAS</a:t>
            </a:r>
          </a:p>
        </p:txBody>
      </p:sp>
      <p:cxnSp>
        <p:nvCxnSpPr>
          <p:cNvPr id="17" name="Connector 16"/>
          <p:cNvCxnSpPr/>
          <p:nvPr/>
        </p:nvCxnSpPr>
        <p:spPr>
          <a:xfrm>
            <a:off x="6400800" y="3712463"/>
            <a:ext cx="5285232" cy="0"/>
          </a:xfrm>
          <a:prstGeom prst="line">
            <a:avLst/>
          </a:prstGeom>
          <a:ln w="15875">
            <a:solidFill>
              <a:srgbClr val="80B28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64224" y="3803904"/>
            <a:ext cx="5358384" cy="548640"/>
          </a:xfrm>
          <a:prstGeom prst="rect">
            <a:avLst/>
          </a:prstGeom>
          <a:noFill/>
          <a:ln>
            <a:noFill/>
          </a:ln>
        </p:spPr>
        <p:txBody>
          <a:bodyPr wrap="square" anchor="t" lIns="36576" rIns="36576" tIns="25603" bIns="25603">
            <a:spAutoFit/>
          </a:bodyPr>
          <a:lstStyle/>
          <a:p>
            <a:pPr algn="l">
              <a:lnSpc>
                <a:spcPct val="95000"/>
              </a:lnSpc>
              <a:buNone/>
            </a:pPr>
            <a:r>
              <a:rPr sz="1050" b="0" i="0">
                <a:solidFill>
                  <a:srgbClr val="3A3A3A"/>
                </a:solidFill>
                <a:latin typeface="Montserrat"/>
              </a:rPr>
              <a:t>Do lado mais vulnerável, o preenchimento exige que o degrau monetário supere o degrau de custo:</a:t>
            </a:r>
          </a:p>
        </p:txBody>
      </p:sp>
      <p:pic>
        <p:nvPicPr>
          <p:cNvPr id="19" name="Picture 18" descr="degrau_fronteira.png"/>
          <p:cNvPicPr>
            <a:picLocks noChangeAspect="1"/>
          </p:cNvPicPr>
          <p:nvPr/>
        </p:nvPicPr>
        <p:blipFill>
          <a:blip r:embed="rId4"/>
          <a:stretch>
            <a:fillRect/>
          </a:stretch>
        </p:blipFill>
        <p:spPr>
          <a:xfrm>
            <a:off x="7214616" y="4443984"/>
            <a:ext cx="3657600" cy="607807"/>
          </a:xfrm>
          <a:prstGeom prst="rect">
            <a:avLst/>
          </a:prstGeom>
        </p:spPr>
      </p:pic>
      <p:sp>
        <p:nvSpPr>
          <p:cNvPr id="20" name="TextBox 19"/>
          <p:cNvSpPr txBox="1"/>
          <p:nvPr/>
        </p:nvSpPr>
        <p:spPr>
          <a:xfrm>
            <a:off x="6364224" y="5358384"/>
            <a:ext cx="5358384" cy="969264"/>
          </a:xfrm>
          <a:prstGeom prst="rect">
            <a:avLst/>
          </a:prstGeom>
          <a:solidFill>
            <a:srgbClr val="EFF4F0"/>
          </a:solidFill>
          <a:ln>
            <a:noFill/>
          </a:ln>
        </p:spPr>
        <p:txBody>
          <a:bodyPr wrap="square" anchor="ctr" lIns="109728" rIns="109728" tIns="76809" bIns="76809">
            <a:spAutoFit/>
          </a:bodyPr>
          <a:lstStyle/>
          <a:p>
            <a:pPr algn="l">
              <a:lnSpc>
                <a:spcPct val="95000"/>
              </a:lnSpc>
              <a:buNone/>
            </a:pPr>
            <a:r>
              <a:rPr sz="1050" b="0" i="0">
                <a:solidFill>
                  <a:srgbClr val="3A3A3A"/>
                </a:solidFill>
                <a:latin typeface="Montserrat"/>
              </a:rPr>
              <a:t>A pergunta da apresentação é se essa desigualdade vale — e o que vem a seguir é se conseguimos respondê-la com o que existe publicado.</a:t>
            </a:r>
          </a:p>
        </p:txBody>
      </p:sp>
    </p:spTree>
    <p:extLst>
      <p:ext uri="{BB962C8B-B14F-4D97-AF65-F5344CB8AC3E}">
        <p14:creationId xmlns:p14="http://schemas.microsoft.com/office/powerpoint/2010/main" val="2005768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9B2A4-655C-4DA6-9786-E1F832DDA333}"/>
            </a:ext>
          </a:extLst>
        </p:cNvPr>
        <p:cNvGrpSpPr/>
        <p:nvPr/>
      </p:nvGrpSpPr>
      <p:grpSpPr>
        <a:xfrm>
          <a:off x="0" y="0"/>
          <a:ext cx="0" cy="0"/>
          <a:chOff x="0" y="0"/>
          <a:chExt cx="0" cy="0"/>
        </a:xfrm>
      </p:grpSpPr>
      <p:sp>
        <p:nvSpPr>
          <p:cNvPr id="2" name="Title Placeholder 1">
            <a:extLst>
              <a:ext uri="{FF2B5EF4-FFF2-40B4-BE49-F238E27FC236}">
                <a16:creationId xmlns:a16="http://schemas.microsoft.com/office/drawing/2014/main" id="{1A9106E5-4536-4F14-4901-6AA5C83D940B}"/>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8FFB3AF7-2565-461F-47D3-C209B418B9ED}"/>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209F8BFB-35F5-C0BA-C73C-7FB2B201D6A0}"/>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pt-BR"/>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B7E79B-8647-4B7A-AB06-CE9034CA7501}" type="datetimeFigureOut">
              <a:rPr lang="pt-BR" smtClean="0"/>
              <a:pPr/>
              <a:t>14/09/2026</a:t>
            </a:fld>
            <a:endParaRPr lang="pt-BR"/>
          </a:p>
        </p:txBody>
      </p:sp>
      <p:sp>
        <p:nvSpPr>
          <p:cNvPr id="5" name="Slide Number Placeholder 5">
            <a:extLst>
              <a:ext uri="{FF2B5EF4-FFF2-40B4-BE49-F238E27FC236}">
                <a16:creationId xmlns:a16="http://schemas.microsoft.com/office/drawing/2014/main" id="{2185ED85-2C2C-D4C0-9988-09D0205ED727}"/>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pt-B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B357A3-503C-42D5-B2E3-09AB65DED10B}" type="slidenum">
              <a:rPr lang="pt-BR" smtClean="0"/>
              <a:pPr/>
              <a:t>20</a:t>
            </a:fld>
            <a:endParaRPr lang="pt-BR"/>
          </a:p>
        </p:txBody>
      </p:sp>
      <p:sp>
        <p:nvSpPr>
          <p:cNvPr id="6" name="Rectangle 5">
            <a:extLst>
              <a:ext uri="{FF2B5EF4-FFF2-40B4-BE49-F238E27FC236}">
                <a16:creationId xmlns:a16="http://schemas.microsoft.com/office/drawing/2014/main" id="{D54298DE-A9DD-B09E-5DC9-D367759FA8FC}"/>
              </a:ext>
            </a:extLst>
          </p:cNvPr>
          <p:cNvSpPr/>
          <p:nvPr/>
        </p:nvSpPr>
        <p:spPr>
          <a:xfrm>
            <a:off x="0" y="0"/>
            <a:ext cx="12194747" cy="6858000"/>
          </a:xfrm>
          <a:prstGeom prst="rect">
            <a:avLst/>
          </a:prstGeom>
          <a:solidFill>
            <a:srgbClr val="2F73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bg2">
                  <a:lumMod val="90000"/>
                </a:schemeClr>
              </a:solidFill>
            </a:endParaRPr>
          </a:p>
        </p:txBody>
      </p:sp>
      <p:sp>
        <p:nvSpPr>
          <p:cNvPr id="7" name="Text Placeholder 3">
            <a:extLst>
              <a:ext uri="{FF2B5EF4-FFF2-40B4-BE49-F238E27FC236}">
                <a16:creationId xmlns:a16="http://schemas.microsoft.com/office/drawing/2014/main" id="{917D1334-6927-57FB-1121-92C06710A61A}"/>
              </a:ext>
            </a:extLst>
          </p:cNvPr>
          <p:cNvSpPr txBox="1">
            <a:spLocks/>
          </p:cNvSpPr>
          <p:nvPr/>
        </p:nvSpPr>
        <p:spPr>
          <a:xfrm>
            <a:off x="126501" y="101463"/>
            <a:ext cx="6010020" cy="46663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err="1">
                <a:solidFill>
                  <a:schemeClr val="bg1"/>
                </a:solidFill>
                <a:latin typeface="Montserrat" panose="00000500000000000000" pitchFamily="2" charset="0"/>
              </a:rPr>
              <a:t>Sumário</a:t>
            </a:r>
            <a:endParaRPr lang="pt-BR" b="1">
              <a:solidFill>
                <a:schemeClr val="bg1"/>
              </a:solidFill>
              <a:latin typeface="Montserrat" panose="00000500000000000000" pitchFamily="2" charset="0"/>
            </a:endParaRPr>
          </a:p>
        </p:txBody>
      </p:sp>
      <p:sp>
        <p:nvSpPr>
          <p:cNvPr id="8" name="Rectangle 7">
            <a:extLst>
              <a:ext uri="{FF2B5EF4-FFF2-40B4-BE49-F238E27FC236}">
                <a16:creationId xmlns:a16="http://schemas.microsoft.com/office/drawing/2014/main" id="{C34EB0AF-1856-73A9-8173-199455667DFB}"/>
              </a:ext>
            </a:extLst>
          </p:cNvPr>
          <p:cNvSpPr/>
          <p:nvPr/>
        </p:nvSpPr>
        <p:spPr>
          <a:xfrm>
            <a:off x="2724167" y="831819"/>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0" name="Rectangle 9">
            <a:extLst>
              <a:ext uri="{FF2B5EF4-FFF2-40B4-BE49-F238E27FC236}">
                <a16:creationId xmlns:a16="http://schemas.microsoft.com/office/drawing/2014/main" id="{651A6575-5A7E-F0B5-8C38-D30701A064C9}"/>
              </a:ext>
            </a:extLst>
          </p:cNvPr>
          <p:cNvSpPr/>
          <p:nvPr/>
        </p:nvSpPr>
        <p:spPr>
          <a:xfrm>
            <a:off x="3078859" y="4975528"/>
            <a:ext cx="3694414" cy="2793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11" name="Rectangle 10">
            <a:extLst>
              <a:ext uri="{FF2B5EF4-FFF2-40B4-BE49-F238E27FC236}">
                <a16:creationId xmlns:a16="http://schemas.microsoft.com/office/drawing/2014/main" id="{EE44A7BA-AB9D-DB67-E586-D01447CFBE0E}"/>
              </a:ext>
            </a:extLst>
          </p:cNvPr>
          <p:cNvSpPr/>
          <p:nvPr/>
        </p:nvSpPr>
        <p:spPr>
          <a:xfrm>
            <a:off x="2714295" y="831819"/>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12" name="CaixaDeTexto 8">
            <a:extLst>
              <a:ext uri="{FF2B5EF4-FFF2-40B4-BE49-F238E27FC236}">
                <a16:creationId xmlns:a16="http://schemas.microsoft.com/office/drawing/2014/main" id="{9A719C74-E08D-B6A7-8152-FF16C701DF4E}"/>
              </a:ext>
            </a:extLst>
          </p:cNvPr>
          <p:cNvSpPr txBox="1"/>
          <p:nvPr/>
        </p:nvSpPr>
        <p:spPr>
          <a:xfrm>
            <a:off x="4450117" y="1272790"/>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Motivação</a:t>
            </a:r>
          </a:p>
        </p:txBody>
      </p:sp>
      <p:sp>
        <p:nvSpPr>
          <p:cNvPr id="13" name="CaixaDeTexto 10">
            <a:extLst>
              <a:ext uri="{FF2B5EF4-FFF2-40B4-BE49-F238E27FC236}">
                <a16:creationId xmlns:a16="http://schemas.microsoft.com/office/drawing/2014/main" id="{F3F5CED5-A6FC-B362-08C6-0ACB6F63743D}"/>
              </a:ext>
            </a:extLst>
          </p:cNvPr>
          <p:cNvSpPr txBox="1"/>
          <p:nvPr/>
        </p:nvSpPr>
        <p:spPr>
          <a:xfrm>
            <a:off x="5012265" y="3688982"/>
            <a:ext cx="3924311"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Modelo Teórico</a:t>
            </a:r>
          </a:p>
        </p:txBody>
      </p:sp>
      <p:sp>
        <p:nvSpPr>
          <p:cNvPr id="14" name="CaixaDeTexto 12">
            <a:extLst>
              <a:ext uri="{FF2B5EF4-FFF2-40B4-BE49-F238E27FC236}">
                <a16:creationId xmlns:a16="http://schemas.microsoft.com/office/drawing/2014/main" id="{0C3ABC64-C107-0145-FC77-5F402686AE13}"/>
              </a:ext>
            </a:extLst>
          </p:cNvPr>
          <p:cNvSpPr txBox="1"/>
          <p:nvPr/>
        </p:nvSpPr>
        <p:spPr>
          <a:xfrm>
            <a:off x="4753482" y="4586302"/>
            <a:ext cx="2235406"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Hipóteses</a:t>
            </a:r>
          </a:p>
        </p:txBody>
      </p:sp>
      <p:sp>
        <p:nvSpPr>
          <p:cNvPr id="15" name="CaixaDeTexto 13">
            <a:extLst>
              <a:ext uri="{FF2B5EF4-FFF2-40B4-BE49-F238E27FC236}">
                <a16:creationId xmlns:a16="http://schemas.microsoft.com/office/drawing/2014/main" id="{1C1B0E79-03CD-9B1A-84B0-E6D8F793ACED}"/>
              </a:ext>
            </a:extLst>
          </p:cNvPr>
          <p:cNvSpPr txBox="1"/>
          <p:nvPr/>
        </p:nvSpPr>
        <p:spPr>
          <a:xfrm>
            <a:off x="1493269" y="1539704"/>
            <a:ext cx="2811600" cy="246221"/>
          </a:xfrm>
          <a:prstGeom prst="rect">
            <a:avLst/>
          </a:prstGeom>
          <a:noFill/>
        </p:spPr>
        <p:txBody>
          <a:bodyPr wrap="square" lIns="91440" tIns="45720" rIns="91440" bIns="45720" rtlCol="0" anchor="t">
            <a:spAutoFit/>
          </a:bodyPr>
          <a:lstStyle/>
          <a:p>
            <a:r>
              <a:rPr lang="en-US" sz="1000">
                <a:solidFill>
                  <a:schemeClr val="tx1">
                    <a:lumMod val="49000"/>
                    <a:lumOff val="51000"/>
                  </a:schemeClr>
                </a:solidFill>
                <a:latin typeface="Montserrat"/>
              </a:rPr>
              <a:t>Por </a:t>
            </a:r>
            <a:r>
              <a:rPr lang="en-US" sz="1000" err="1">
                <a:solidFill>
                  <a:schemeClr val="tx1">
                    <a:lumMod val="49000"/>
                    <a:lumOff val="51000"/>
                  </a:schemeClr>
                </a:solidFill>
                <a:latin typeface="Montserrat"/>
              </a:rPr>
              <a:t>que</a:t>
            </a:r>
            <a:r>
              <a:rPr lang="en-US" sz="1000">
                <a:solidFill>
                  <a:schemeClr val="tx1">
                    <a:lumMod val="49000"/>
                    <a:lumOff val="51000"/>
                  </a:schemeClr>
                </a:solidFill>
                <a:latin typeface="Montserrat"/>
              </a:rPr>
              <a:t> a </a:t>
            </a:r>
            <a:r>
              <a:rPr lang="en-US" sz="1000" err="1">
                <a:solidFill>
                  <a:schemeClr val="tx1">
                    <a:lumMod val="49000"/>
                    <a:lumOff val="51000"/>
                  </a:schemeClr>
                </a:solidFill>
                <a:latin typeface="Montserrat"/>
              </a:rPr>
              <a:t>pergunta</a:t>
            </a:r>
            <a:r>
              <a:rPr lang="en-US" sz="1000">
                <a:solidFill>
                  <a:schemeClr val="tx1">
                    <a:lumMod val="49000"/>
                    <a:lumOff val="51000"/>
                  </a:schemeClr>
                </a:solidFill>
                <a:latin typeface="Montserrat"/>
              </a:rPr>
              <a:t> é </a:t>
            </a:r>
            <a:r>
              <a:rPr lang="en-US" sz="1000" err="1">
                <a:solidFill>
                  <a:schemeClr val="tx1">
                    <a:lumMod val="49000"/>
                    <a:lumOff val="51000"/>
                  </a:schemeClr>
                </a:solidFill>
                <a:latin typeface="Montserrat"/>
              </a:rPr>
              <a:t>importante</a:t>
            </a:r>
            <a:endParaRPr lang="en-US" sz="1000">
              <a:solidFill>
                <a:schemeClr val="tx1">
                  <a:lumMod val="49000"/>
                  <a:lumOff val="51000"/>
                </a:schemeClr>
              </a:solidFill>
              <a:latin typeface="Montserrat"/>
            </a:endParaRPr>
          </a:p>
        </p:txBody>
      </p:sp>
      <p:sp>
        <p:nvSpPr>
          <p:cNvPr id="16" name="CaixaDeTexto 14">
            <a:extLst>
              <a:ext uri="{FF2B5EF4-FFF2-40B4-BE49-F238E27FC236}">
                <a16:creationId xmlns:a16="http://schemas.microsoft.com/office/drawing/2014/main" id="{88DF1B68-695C-E9FB-A575-41D14FA58074}"/>
              </a:ext>
            </a:extLst>
          </p:cNvPr>
          <p:cNvSpPr txBox="1"/>
          <p:nvPr/>
        </p:nvSpPr>
        <p:spPr>
          <a:xfrm>
            <a:off x="2107016" y="3921088"/>
            <a:ext cx="2736923" cy="400110"/>
          </a:xfrm>
          <a:prstGeom prst="rect">
            <a:avLst/>
          </a:prstGeom>
          <a:noFill/>
        </p:spPr>
        <p:txBody>
          <a:bodyPr wrap="square" lIns="91440" tIns="45720" rIns="91440" bIns="45720" rtlCol="0" anchor="t">
            <a:spAutoFit/>
          </a:bodyPr>
          <a:lstStyle/>
          <a:p>
            <a:r>
              <a:rPr lang="en-US" sz="1000" err="1">
                <a:solidFill>
                  <a:srgbClr val="7F7F7F"/>
                </a:solidFill>
                <a:latin typeface="Montserrat"/>
                <a:cs typeface="Times New Roman"/>
              </a:rPr>
              <a:t>Aplicação</a:t>
            </a:r>
            <a:r>
              <a:rPr lang="en-US" sz="1000">
                <a:solidFill>
                  <a:srgbClr val="7F7F7F"/>
                </a:solidFill>
                <a:latin typeface="Montserrat"/>
                <a:cs typeface="Times New Roman"/>
              </a:rPr>
              <a:t> </a:t>
            </a:r>
            <a:r>
              <a:rPr lang="en-US" sz="1000" err="1">
                <a:solidFill>
                  <a:srgbClr val="7F7F7F"/>
                </a:solidFill>
                <a:latin typeface="Montserrat"/>
                <a:cs typeface="Times New Roman"/>
              </a:rPr>
              <a:t>microeconômica</a:t>
            </a:r>
            <a:r>
              <a:rPr lang="en-US" sz="1000">
                <a:solidFill>
                  <a:srgbClr val="7F7F7F"/>
                </a:solidFill>
                <a:latin typeface="Montserrat"/>
                <a:cs typeface="Times New Roman"/>
              </a:rPr>
              <a:t> e </a:t>
            </a:r>
            <a:r>
              <a:rPr lang="en-US" sz="1000" err="1">
                <a:solidFill>
                  <a:srgbClr val="7F7F7F"/>
                </a:solidFill>
                <a:latin typeface="Montserrat"/>
                <a:cs typeface="Times New Roman"/>
              </a:rPr>
              <a:t>modelo</a:t>
            </a:r>
            <a:r>
              <a:rPr lang="en-US" sz="1000">
                <a:solidFill>
                  <a:srgbClr val="7F7F7F"/>
                </a:solidFill>
                <a:latin typeface="Montserrat"/>
                <a:cs typeface="Times New Roman"/>
              </a:rPr>
              <a:t> </a:t>
            </a:r>
            <a:r>
              <a:rPr lang="en-US" sz="1000" err="1">
                <a:solidFill>
                  <a:srgbClr val="7F7F7F"/>
                </a:solidFill>
                <a:latin typeface="Montserrat"/>
                <a:cs typeface="Times New Roman"/>
              </a:rPr>
              <a:t>proposto</a:t>
            </a:r>
            <a:endParaRPr lang="pt-BR" sz="1000">
              <a:solidFill>
                <a:srgbClr val="7F7F7F"/>
              </a:solidFill>
              <a:latin typeface="Montserrat"/>
              <a:cs typeface="Times New Roman"/>
            </a:endParaRPr>
          </a:p>
        </p:txBody>
      </p:sp>
      <p:sp>
        <p:nvSpPr>
          <p:cNvPr id="17" name="CaixaDeTexto 14">
            <a:extLst>
              <a:ext uri="{FF2B5EF4-FFF2-40B4-BE49-F238E27FC236}">
                <a16:creationId xmlns:a16="http://schemas.microsoft.com/office/drawing/2014/main" id="{B4BE89EA-661D-1A58-415F-3C8767B209F3}"/>
              </a:ext>
            </a:extLst>
          </p:cNvPr>
          <p:cNvSpPr txBox="1"/>
          <p:nvPr/>
        </p:nvSpPr>
        <p:spPr>
          <a:xfrm>
            <a:off x="1822880" y="4844550"/>
            <a:ext cx="2736922" cy="246221"/>
          </a:xfrm>
          <a:prstGeom prst="rect">
            <a:avLst/>
          </a:prstGeom>
          <a:noFill/>
          <a:ln>
            <a:solidFill>
              <a:schemeClr val="tx1">
                <a:lumMod val="50000"/>
                <a:lumOff val="50000"/>
              </a:schemeClr>
            </a:solidFill>
          </a:ln>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Hipóteses</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formuladas</a:t>
            </a:r>
            <a:endParaRPr lang="pt-BR" sz="1000">
              <a:solidFill>
                <a:srgbClr val="7F7F7F"/>
              </a:solidFill>
              <a:latin typeface="Montserrat" panose="00000500000000000000" pitchFamily="2" charset="0"/>
              <a:cs typeface="Times New Roman" panose="02020603050405020304" pitchFamily="18" charset="0"/>
            </a:endParaRPr>
          </a:p>
        </p:txBody>
      </p:sp>
      <p:sp>
        <p:nvSpPr>
          <p:cNvPr id="18" name="Rosca 3">
            <a:extLst>
              <a:ext uri="{FF2B5EF4-FFF2-40B4-BE49-F238E27FC236}">
                <a16:creationId xmlns:a16="http://schemas.microsoft.com/office/drawing/2014/main" id="{87AF0B51-A521-A5BA-E9C1-5A267C6A3DC8}"/>
              </a:ext>
            </a:extLst>
          </p:cNvPr>
          <p:cNvSpPr/>
          <p:nvPr/>
        </p:nvSpPr>
        <p:spPr>
          <a:xfrm rot="10800000">
            <a:off x="-3452695" y="1148756"/>
            <a:ext cx="5396231" cy="4932209"/>
          </a:xfrm>
          <a:prstGeom prst="donut">
            <a:avLst>
              <a:gd name="adj" fmla="val 5392"/>
            </a:avLst>
          </a:prstGeom>
          <a:gradFill>
            <a:gsLst>
              <a:gs pos="0">
                <a:schemeClr val="accent3">
                  <a:lumMod val="50000"/>
                </a:schemeClr>
              </a:gs>
              <a:gs pos="55180">
                <a:srgbClr val="1B6F27"/>
              </a:gs>
              <a:gs pos="99000">
                <a:srgbClr val="20822E"/>
              </a:gs>
            </a:gsLst>
            <a:lin ang="5400000" scaled="1"/>
          </a:gra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nvGrpSpPr>
          <p:cNvPr id="19" name="Agrupar 38">
            <a:extLst>
              <a:ext uri="{FF2B5EF4-FFF2-40B4-BE49-F238E27FC236}">
                <a16:creationId xmlns:a16="http://schemas.microsoft.com/office/drawing/2014/main" id="{C13D166F-0158-7F7E-D7F8-8F3B92F2542B}"/>
              </a:ext>
            </a:extLst>
          </p:cNvPr>
          <p:cNvGrpSpPr/>
          <p:nvPr/>
        </p:nvGrpSpPr>
        <p:grpSpPr>
          <a:xfrm rot="10800000">
            <a:off x="1493269" y="1392755"/>
            <a:ext cx="2811600" cy="252000"/>
            <a:chOff x="6022821" y="2646629"/>
            <a:chExt cx="2737179" cy="252000"/>
          </a:xfrm>
          <a:solidFill>
            <a:srgbClr val="80B281"/>
          </a:solidFill>
        </p:grpSpPr>
        <p:cxnSp>
          <p:nvCxnSpPr>
            <p:cNvPr id="20" name="Conector de Seta Reta 39">
              <a:extLst>
                <a:ext uri="{FF2B5EF4-FFF2-40B4-BE49-F238E27FC236}">
                  <a16:creationId xmlns:a16="http://schemas.microsoft.com/office/drawing/2014/main" id="{C39AD6DD-5BB3-81AB-B718-93B84BFF9206}"/>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1" name="Losango 43">
              <a:extLst>
                <a:ext uri="{FF2B5EF4-FFF2-40B4-BE49-F238E27FC236}">
                  <a16:creationId xmlns:a16="http://schemas.microsoft.com/office/drawing/2014/main" id="{97D6F470-828C-3D81-7478-A05E9E0EF75F}"/>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2" name="Agrupar 47">
            <a:extLst>
              <a:ext uri="{FF2B5EF4-FFF2-40B4-BE49-F238E27FC236}">
                <a16:creationId xmlns:a16="http://schemas.microsoft.com/office/drawing/2014/main" id="{66689F68-BF99-E7C8-F1D1-5AB3893D87D2}"/>
              </a:ext>
            </a:extLst>
          </p:cNvPr>
          <p:cNvGrpSpPr/>
          <p:nvPr/>
        </p:nvGrpSpPr>
        <p:grpSpPr>
          <a:xfrm rot="10800000">
            <a:off x="1847932" y="4705343"/>
            <a:ext cx="2810101" cy="252000"/>
            <a:chOff x="6098372" y="2214756"/>
            <a:chExt cx="2810101" cy="252000"/>
          </a:xfrm>
          <a:solidFill>
            <a:srgbClr val="80B281"/>
          </a:solidFill>
        </p:grpSpPr>
        <p:cxnSp>
          <p:nvCxnSpPr>
            <p:cNvPr id="23" name="Conector de Seta Reta 48">
              <a:extLst>
                <a:ext uri="{FF2B5EF4-FFF2-40B4-BE49-F238E27FC236}">
                  <a16:creationId xmlns:a16="http://schemas.microsoft.com/office/drawing/2014/main" id="{076C8899-0056-A72E-9E09-174623B34F1C}"/>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4" name="Losango 49">
              <a:extLst>
                <a:ext uri="{FF2B5EF4-FFF2-40B4-BE49-F238E27FC236}">
                  <a16:creationId xmlns:a16="http://schemas.microsoft.com/office/drawing/2014/main" id="{A51E624D-28CC-A645-96F4-669C62F6AAB8}"/>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grpSp>
        <p:nvGrpSpPr>
          <p:cNvPr id="25" name="Agrupar 51">
            <a:extLst>
              <a:ext uri="{FF2B5EF4-FFF2-40B4-BE49-F238E27FC236}">
                <a16:creationId xmlns:a16="http://schemas.microsoft.com/office/drawing/2014/main" id="{65071601-F6E2-2C25-1070-3D355127CF98}"/>
              </a:ext>
            </a:extLst>
          </p:cNvPr>
          <p:cNvGrpSpPr/>
          <p:nvPr/>
        </p:nvGrpSpPr>
        <p:grpSpPr>
          <a:xfrm rot="10800000">
            <a:off x="2107017" y="3783392"/>
            <a:ext cx="2810101" cy="252000"/>
            <a:chOff x="6098372" y="2214756"/>
            <a:chExt cx="2810101" cy="252000"/>
          </a:xfrm>
          <a:solidFill>
            <a:srgbClr val="80B281"/>
          </a:solidFill>
        </p:grpSpPr>
        <p:cxnSp>
          <p:nvCxnSpPr>
            <p:cNvPr id="26" name="Conector de Seta Reta 52">
              <a:extLst>
                <a:ext uri="{FF2B5EF4-FFF2-40B4-BE49-F238E27FC236}">
                  <a16:creationId xmlns:a16="http://schemas.microsoft.com/office/drawing/2014/main" id="{6CD6F03B-4907-28FD-892D-850A859B1108}"/>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27" name="Losango 53">
              <a:extLst>
                <a:ext uri="{FF2B5EF4-FFF2-40B4-BE49-F238E27FC236}">
                  <a16:creationId xmlns:a16="http://schemas.microsoft.com/office/drawing/2014/main" id="{442D4549-0420-E108-2135-BC520142DC32}"/>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FFFFFF"/>
                </a:solidFill>
              </a:endParaRPr>
            </a:p>
          </p:txBody>
        </p:sp>
      </p:grpSp>
      <p:pic>
        <p:nvPicPr>
          <p:cNvPr id="28" name="Picture 27">
            <a:extLst>
              <a:ext uri="{FF2B5EF4-FFF2-40B4-BE49-F238E27FC236}">
                <a16:creationId xmlns:a16="http://schemas.microsoft.com/office/drawing/2014/main" id="{945C7E07-1B23-4484-CDB1-3D63B6268DCC}"/>
              </a:ext>
            </a:extLst>
          </p:cNvPr>
          <p:cNvPicPr>
            <a:picLocks noChangeAspect="1"/>
          </p:cNvPicPr>
          <p:nvPr/>
        </p:nvPicPr>
        <p:blipFill rotWithShape="1">
          <a:blip r:embed="rId2">
            <a:extLst>
              <a:ext uri="{28A0092B-C50C-407E-A947-70E740481C1C}">
                <a14:useLocalDpi xmlns:a14="http://schemas.microsoft.com/office/drawing/2010/main" val="0"/>
              </a:ext>
            </a:extLst>
          </a:blip>
          <a:srcRect l="10011" t="25381" r="35435" b="13771"/>
          <a:stretch>
            <a:fillRect/>
          </a:stretch>
        </p:blipFill>
        <p:spPr>
          <a:xfrm>
            <a:off x="6451240" y="5396"/>
            <a:ext cx="4691990" cy="3849420"/>
          </a:xfrm>
          <a:prstGeom prst="flowChartMerge">
            <a:avLst/>
          </a:prstGeom>
        </p:spPr>
      </p:pic>
      <p:pic>
        <p:nvPicPr>
          <p:cNvPr id="29" name="Picture 28">
            <a:extLst>
              <a:ext uri="{FF2B5EF4-FFF2-40B4-BE49-F238E27FC236}">
                <a16:creationId xmlns:a16="http://schemas.microsoft.com/office/drawing/2014/main" id="{64024853-6675-985C-99C2-92D3FC26B869}"/>
              </a:ext>
            </a:extLst>
          </p:cNvPr>
          <p:cNvPicPr>
            <a:picLocks noChangeAspect="1"/>
          </p:cNvPicPr>
          <p:nvPr/>
        </p:nvPicPr>
        <p:blipFill rotWithShape="1">
          <a:blip r:embed="rId2">
            <a:extLst>
              <a:ext uri="{28A0092B-C50C-407E-A947-70E740481C1C}">
                <a14:useLocalDpi xmlns:a14="http://schemas.microsoft.com/office/drawing/2010/main" val="0"/>
              </a:ext>
            </a:extLst>
          </a:blip>
          <a:srcRect l="52936" t="21443" r="302" b="2100"/>
          <a:stretch>
            <a:fillRect/>
          </a:stretch>
        </p:blipFill>
        <p:spPr>
          <a:xfrm>
            <a:off x="8312055" y="2581690"/>
            <a:ext cx="3930266" cy="4283997"/>
          </a:xfrm>
          <a:prstGeom prst="triangle">
            <a:avLst/>
          </a:prstGeom>
        </p:spPr>
      </p:pic>
      <p:sp>
        <p:nvSpPr>
          <p:cNvPr id="30" name="Isosceles Triangle 29">
            <a:extLst>
              <a:ext uri="{FF2B5EF4-FFF2-40B4-BE49-F238E27FC236}">
                <a16:creationId xmlns:a16="http://schemas.microsoft.com/office/drawing/2014/main" id="{4D543D56-72AB-5767-CB1B-0E85D29A8B0A}"/>
              </a:ext>
            </a:extLst>
          </p:cNvPr>
          <p:cNvSpPr/>
          <p:nvPr/>
        </p:nvSpPr>
        <p:spPr>
          <a:xfrm>
            <a:off x="8297140" y="2574003"/>
            <a:ext cx="3930266" cy="4283997"/>
          </a:xfrm>
          <a:prstGeom prst="triangl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Flowchart: Merge 30">
            <a:extLst>
              <a:ext uri="{FF2B5EF4-FFF2-40B4-BE49-F238E27FC236}">
                <a16:creationId xmlns:a16="http://schemas.microsoft.com/office/drawing/2014/main" id="{A4B98FE3-DBB6-5945-F557-1D64E9F103E6}"/>
              </a:ext>
            </a:extLst>
          </p:cNvPr>
          <p:cNvSpPr/>
          <p:nvPr/>
        </p:nvSpPr>
        <p:spPr>
          <a:xfrm>
            <a:off x="6451240" y="0"/>
            <a:ext cx="4681825" cy="3849420"/>
          </a:xfrm>
          <a:prstGeom prst="flowChartMerge">
            <a:avLst/>
          </a:prstGeom>
          <a:solidFill>
            <a:srgbClr val="1B6F27">
              <a:alpha val="47000"/>
            </a:srgb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sp>
        <p:nvSpPr>
          <p:cNvPr id="32" name="Rectangle 31">
            <a:extLst>
              <a:ext uri="{FF2B5EF4-FFF2-40B4-BE49-F238E27FC236}">
                <a16:creationId xmlns:a16="http://schemas.microsoft.com/office/drawing/2014/main" id="{BD9233CB-CAC2-C6B6-55EF-382460C7F013}"/>
              </a:ext>
            </a:extLst>
          </p:cNvPr>
          <p:cNvSpPr/>
          <p:nvPr/>
        </p:nvSpPr>
        <p:spPr>
          <a:xfrm>
            <a:off x="3177302" y="1671066"/>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33" name="Rectangle 32">
            <a:extLst>
              <a:ext uri="{FF2B5EF4-FFF2-40B4-BE49-F238E27FC236}">
                <a16:creationId xmlns:a16="http://schemas.microsoft.com/office/drawing/2014/main" id="{C3A40920-D72C-8C40-3C05-52D3E7C90601}"/>
              </a:ext>
            </a:extLst>
          </p:cNvPr>
          <p:cNvSpPr/>
          <p:nvPr/>
        </p:nvSpPr>
        <p:spPr>
          <a:xfrm>
            <a:off x="3167430" y="1671066"/>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p>
        </p:txBody>
      </p:sp>
      <p:sp>
        <p:nvSpPr>
          <p:cNvPr id="34" name="CaixaDeTexto 8">
            <a:extLst>
              <a:ext uri="{FF2B5EF4-FFF2-40B4-BE49-F238E27FC236}">
                <a16:creationId xmlns:a16="http://schemas.microsoft.com/office/drawing/2014/main" id="{3D34E0A5-7A4C-69C2-9EFF-930437153C0C}"/>
              </a:ext>
            </a:extLst>
          </p:cNvPr>
          <p:cNvSpPr txBox="1"/>
          <p:nvPr/>
        </p:nvSpPr>
        <p:spPr>
          <a:xfrm>
            <a:off x="4896426" y="2044007"/>
            <a:ext cx="2825252" cy="461665"/>
          </a:xfrm>
          <a:prstGeom prst="rect">
            <a:avLst/>
          </a:prstGeom>
          <a:noFill/>
        </p:spPr>
        <p:txBody>
          <a:bodyPr wrap="square" lIns="91440" tIns="45720" rIns="91440" bIns="45720" rtlCol="0" anchor="t">
            <a:spAutoFit/>
          </a:bodyPr>
          <a:lstStyle/>
          <a:p>
            <a:r>
              <a:rPr lang="pt-BR" sz="2400" b="1" i="1">
                <a:solidFill>
                  <a:schemeClr val="tx1">
                    <a:lumMod val="49000"/>
                    <a:lumOff val="51000"/>
                  </a:schemeClr>
                </a:solidFill>
                <a:latin typeface="Montserrat"/>
                <a:cs typeface="Times New Roman"/>
              </a:rPr>
              <a:t>Pergunta</a:t>
            </a:r>
          </a:p>
        </p:txBody>
      </p:sp>
      <p:sp>
        <p:nvSpPr>
          <p:cNvPr id="35" name="CaixaDeTexto 13">
            <a:extLst>
              <a:ext uri="{FF2B5EF4-FFF2-40B4-BE49-F238E27FC236}">
                <a16:creationId xmlns:a16="http://schemas.microsoft.com/office/drawing/2014/main" id="{8B63D298-E653-8894-5A7A-AE7B4410D28C}"/>
              </a:ext>
            </a:extLst>
          </p:cNvPr>
          <p:cNvSpPr txBox="1"/>
          <p:nvPr/>
        </p:nvSpPr>
        <p:spPr>
          <a:xfrm>
            <a:off x="1939578" y="2288343"/>
            <a:ext cx="2811600" cy="246221"/>
          </a:xfrm>
          <a:prstGeom prst="rect">
            <a:avLst/>
          </a:prstGeom>
          <a:noFill/>
        </p:spPr>
        <p:txBody>
          <a:bodyPr wrap="square" lIns="91440" tIns="45720" rIns="91440" bIns="45720" rtlCol="0" anchor="t">
            <a:spAutoFit/>
          </a:bodyPr>
          <a:lstStyle/>
          <a:p>
            <a:r>
              <a:rPr lang="en-US" sz="1000" err="1">
                <a:solidFill>
                  <a:srgbClr val="7F7F7F"/>
                </a:solidFill>
                <a:latin typeface="Montserrat"/>
                <a:cs typeface="Times New Roman"/>
              </a:rPr>
              <a:t>Pergunta</a:t>
            </a:r>
            <a:r>
              <a:rPr lang="en-US" sz="1000">
                <a:solidFill>
                  <a:srgbClr val="7F7F7F"/>
                </a:solidFill>
                <a:latin typeface="Montserrat"/>
                <a:cs typeface="Times New Roman"/>
              </a:rPr>
              <a:t> </a:t>
            </a:r>
            <a:r>
              <a:rPr lang="en-US" sz="1000" err="1">
                <a:solidFill>
                  <a:srgbClr val="7F7F7F"/>
                </a:solidFill>
                <a:latin typeface="Montserrat"/>
                <a:cs typeface="Times New Roman"/>
              </a:rPr>
              <a:t>proposta</a:t>
            </a:r>
            <a:endParaRPr lang="pt-BR" sz="1000">
              <a:solidFill>
                <a:srgbClr val="7F7F7F"/>
              </a:solidFill>
              <a:latin typeface="Montserrat"/>
              <a:cs typeface="Times New Roman"/>
            </a:endParaRPr>
          </a:p>
        </p:txBody>
      </p:sp>
      <p:grpSp>
        <p:nvGrpSpPr>
          <p:cNvPr id="36" name="Agrupar 38">
            <a:extLst>
              <a:ext uri="{FF2B5EF4-FFF2-40B4-BE49-F238E27FC236}">
                <a16:creationId xmlns:a16="http://schemas.microsoft.com/office/drawing/2014/main" id="{C6A1F4C1-63C0-6669-7C12-C9E54085DC30}"/>
              </a:ext>
            </a:extLst>
          </p:cNvPr>
          <p:cNvGrpSpPr/>
          <p:nvPr/>
        </p:nvGrpSpPr>
        <p:grpSpPr>
          <a:xfrm rot="10800000">
            <a:off x="1939578" y="2141394"/>
            <a:ext cx="2811600" cy="252000"/>
            <a:chOff x="6022821" y="2646629"/>
            <a:chExt cx="2737179" cy="252000"/>
          </a:xfrm>
          <a:solidFill>
            <a:srgbClr val="80B281"/>
          </a:solidFill>
        </p:grpSpPr>
        <p:cxnSp>
          <p:nvCxnSpPr>
            <p:cNvPr id="37" name="Conector de Seta Reta 39">
              <a:extLst>
                <a:ext uri="{FF2B5EF4-FFF2-40B4-BE49-F238E27FC236}">
                  <a16:creationId xmlns:a16="http://schemas.microsoft.com/office/drawing/2014/main" id="{5E193D27-F32E-B0C8-030C-44A3E28C6AEF}"/>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38" name="Losango 43">
              <a:extLst>
                <a:ext uri="{FF2B5EF4-FFF2-40B4-BE49-F238E27FC236}">
                  <a16:creationId xmlns:a16="http://schemas.microsoft.com/office/drawing/2014/main" id="{62797306-6D32-5D53-099C-7D914AA42CF8}"/>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
        <p:nvSpPr>
          <p:cNvPr id="39" name="Rectangle 38">
            <a:extLst>
              <a:ext uri="{FF2B5EF4-FFF2-40B4-BE49-F238E27FC236}">
                <a16:creationId xmlns:a16="http://schemas.microsoft.com/office/drawing/2014/main" id="{90D5A25F-AC85-4ADA-05E8-178491D9EEA1}"/>
              </a:ext>
            </a:extLst>
          </p:cNvPr>
          <p:cNvSpPr/>
          <p:nvPr/>
        </p:nvSpPr>
        <p:spPr>
          <a:xfrm>
            <a:off x="3328855" y="2827588"/>
            <a:ext cx="3694414" cy="8271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chemeClr val="bg1"/>
              </a:solidFill>
            </a:endParaRPr>
          </a:p>
        </p:txBody>
      </p:sp>
      <p:sp>
        <p:nvSpPr>
          <p:cNvPr id="40" name="Rectangle 39">
            <a:extLst>
              <a:ext uri="{FF2B5EF4-FFF2-40B4-BE49-F238E27FC236}">
                <a16:creationId xmlns:a16="http://schemas.microsoft.com/office/drawing/2014/main" id="{1AF8C757-A65C-45C1-C75B-FCD70294036B}"/>
              </a:ext>
            </a:extLst>
          </p:cNvPr>
          <p:cNvSpPr/>
          <p:nvPr/>
        </p:nvSpPr>
        <p:spPr>
          <a:xfrm>
            <a:off x="3153778" y="2421054"/>
            <a:ext cx="2590990" cy="2696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pt-BR">
              <a:solidFill>
                <a:srgbClr val="7F7F7F"/>
              </a:solidFill>
            </a:endParaRPr>
          </a:p>
        </p:txBody>
      </p:sp>
      <p:sp>
        <p:nvSpPr>
          <p:cNvPr id="41" name="CaixaDeTexto 8">
            <a:extLst>
              <a:ext uri="{FF2B5EF4-FFF2-40B4-BE49-F238E27FC236}">
                <a16:creationId xmlns:a16="http://schemas.microsoft.com/office/drawing/2014/main" id="{529EA294-EA89-CFCA-8C91-A2537A14E63D}"/>
              </a:ext>
            </a:extLst>
          </p:cNvPr>
          <p:cNvSpPr txBox="1"/>
          <p:nvPr/>
        </p:nvSpPr>
        <p:spPr>
          <a:xfrm>
            <a:off x="5054805" y="2861891"/>
            <a:ext cx="2825252" cy="461665"/>
          </a:xfrm>
          <a:prstGeom prst="rect">
            <a:avLst/>
          </a:prstGeom>
          <a:noFill/>
        </p:spPr>
        <p:txBody>
          <a:bodyPr wrap="square" rtlCol="0">
            <a:spAutoFit/>
          </a:bodyPr>
          <a:lstStyle/>
          <a:p>
            <a:r>
              <a:rPr lang="pt-BR" sz="2400" b="1" i="1">
                <a:solidFill>
                  <a:srgbClr val="7F7F7F"/>
                </a:solidFill>
                <a:latin typeface="Montserrat" panose="00000500000000000000" pitchFamily="2" charset="0"/>
                <a:cs typeface="Times New Roman" panose="02020603050405020304" pitchFamily="18" charset="0"/>
              </a:rPr>
              <a:t>Literatura</a:t>
            </a:r>
          </a:p>
        </p:txBody>
      </p:sp>
      <p:sp>
        <p:nvSpPr>
          <p:cNvPr id="42" name="CaixaDeTexto 13">
            <a:extLst>
              <a:ext uri="{FF2B5EF4-FFF2-40B4-BE49-F238E27FC236}">
                <a16:creationId xmlns:a16="http://schemas.microsoft.com/office/drawing/2014/main" id="{67F9D46C-3FB3-88E0-6263-1E960DF3C9F2}"/>
              </a:ext>
            </a:extLst>
          </p:cNvPr>
          <p:cNvSpPr txBox="1"/>
          <p:nvPr/>
        </p:nvSpPr>
        <p:spPr>
          <a:xfrm>
            <a:off x="2002260" y="3106227"/>
            <a:ext cx="2811600" cy="246221"/>
          </a:xfrm>
          <a:prstGeom prst="rect">
            <a:avLst/>
          </a:prstGeom>
          <a:noFill/>
        </p:spPr>
        <p:txBody>
          <a:bodyPr wrap="square" rtlCol="0">
            <a:spAutoFit/>
          </a:bodyPr>
          <a:lstStyle/>
          <a:p>
            <a:r>
              <a:rPr lang="en-US" sz="1000" err="1">
                <a:solidFill>
                  <a:srgbClr val="7F7F7F"/>
                </a:solidFill>
                <a:latin typeface="Montserrat" panose="00000500000000000000" pitchFamily="2" charset="0"/>
                <a:cs typeface="Times New Roman" panose="02020603050405020304" pitchFamily="18" charset="0"/>
              </a:rPr>
              <a:t>Literatura</a:t>
            </a:r>
            <a:r>
              <a:rPr lang="en-US" sz="1000">
                <a:solidFill>
                  <a:srgbClr val="7F7F7F"/>
                </a:solidFill>
                <a:latin typeface="Montserrat" panose="00000500000000000000" pitchFamily="2" charset="0"/>
                <a:cs typeface="Times New Roman" panose="02020603050405020304" pitchFamily="18" charset="0"/>
              </a:rPr>
              <a:t> </a:t>
            </a:r>
            <a:r>
              <a:rPr lang="en-US" sz="1000" err="1">
                <a:solidFill>
                  <a:srgbClr val="7F7F7F"/>
                </a:solidFill>
                <a:latin typeface="Montserrat" panose="00000500000000000000" pitchFamily="2" charset="0"/>
                <a:cs typeface="Times New Roman" panose="02020603050405020304" pitchFamily="18" charset="0"/>
              </a:rPr>
              <a:t>Teórica</a:t>
            </a:r>
            <a:r>
              <a:rPr lang="en-US" sz="1000">
                <a:solidFill>
                  <a:srgbClr val="7F7F7F"/>
                </a:solidFill>
                <a:latin typeface="Montserrat" panose="00000500000000000000" pitchFamily="2" charset="0"/>
                <a:cs typeface="Times New Roman" panose="02020603050405020304" pitchFamily="18" charset="0"/>
              </a:rPr>
              <a:t> para a </a:t>
            </a:r>
            <a:r>
              <a:rPr lang="en-US" sz="1000" err="1">
                <a:solidFill>
                  <a:srgbClr val="7F7F7F"/>
                </a:solidFill>
                <a:latin typeface="Montserrat" panose="00000500000000000000" pitchFamily="2" charset="0"/>
                <a:cs typeface="Times New Roman" panose="02020603050405020304" pitchFamily="18" charset="0"/>
              </a:rPr>
              <a:t>fundamentação</a:t>
            </a:r>
            <a:endParaRPr lang="en-US" sz="1000">
              <a:solidFill>
                <a:srgbClr val="7F7F7F"/>
              </a:solidFill>
              <a:latin typeface="Montserrat" panose="00000500000000000000" pitchFamily="2" charset="0"/>
              <a:cs typeface="Times New Roman" panose="02020603050405020304" pitchFamily="18" charset="0"/>
            </a:endParaRPr>
          </a:p>
        </p:txBody>
      </p:sp>
      <p:grpSp>
        <p:nvGrpSpPr>
          <p:cNvPr id="43" name="Agrupar 38">
            <a:extLst>
              <a:ext uri="{FF2B5EF4-FFF2-40B4-BE49-F238E27FC236}">
                <a16:creationId xmlns:a16="http://schemas.microsoft.com/office/drawing/2014/main" id="{91B6363F-EA82-9007-B056-F27962564D31}"/>
              </a:ext>
            </a:extLst>
          </p:cNvPr>
          <p:cNvGrpSpPr/>
          <p:nvPr/>
        </p:nvGrpSpPr>
        <p:grpSpPr>
          <a:xfrm rot="10800000">
            <a:off x="2097957" y="2959278"/>
            <a:ext cx="2811600" cy="252000"/>
            <a:chOff x="6022821" y="2646629"/>
            <a:chExt cx="2737179" cy="252000"/>
          </a:xfrm>
          <a:solidFill>
            <a:srgbClr val="80B281"/>
          </a:solidFill>
        </p:grpSpPr>
        <p:cxnSp>
          <p:nvCxnSpPr>
            <p:cNvPr id="44" name="Conector de Seta Reta 39">
              <a:extLst>
                <a:ext uri="{FF2B5EF4-FFF2-40B4-BE49-F238E27FC236}">
                  <a16:creationId xmlns:a16="http://schemas.microsoft.com/office/drawing/2014/main" id="{710DA8F4-5F85-93A0-C506-7EB15C242D38}"/>
                </a:ext>
              </a:extLst>
            </p:cNvPr>
            <p:cNvCxnSpPr/>
            <p:nvPr/>
          </p:nvCxnSpPr>
          <p:spPr>
            <a:xfrm flipH="1">
              <a:off x="6096000" y="2772629"/>
              <a:ext cx="2664000"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45" name="Losango 43">
              <a:extLst>
                <a:ext uri="{FF2B5EF4-FFF2-40B4-BE49-F238E27FC236}">
                  <a16:creationId xmlns:a16="http://schemas.microsoft.com/office/drawing/2014/main" id="{F6A9F293-CB21-1497-E605-7D9A88753519}"/>
                </a:ext>
              </a:extLst>
            </p:cNvPr>
            <p:cNvSpPr>
              <a:spLocks noChangeAspect="1"/>
            </p:cNvSpPr>
            <p:nvPr/>
          </p:nvSpPr>
          <p:spPr>
            <a:xfrm>
              <a:off x="6022821" y="2646629"/>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7" name="CaixaDeTexto 12">
            <a:extLst>
              <a:ext uri="{FF2B5EF4-FFF2-40B4-BE49-F238E27FC236}">
                <a16:creationId xmlns:a16="http://schemas.microsoft.com/office/drawing/2014/main" id="{1A89AF01-B3B5-5385-D95F-1FA288EE83AB}"/>
              </a:ext>
            </a:extLst>
          </p:cNvPr>
          <p:cNvSpPr txBox="1"/>
          <p:nvPr/>
        </p:nvSpPr>
        <p:spPr>
          <a:xfrm>
            <a:off x="4108439" y="5355391"/>
            <a:ext cx="4286931" cy="461665"/>
          </a:xfrm>
          <a:prstGeom prst="rect">
            <a:avLst/>
          </a:prstGeom>
          <a:noFill/>
        </p:spPr>
        <p:txBody>
          <a:bodyPr wrap="square" rtlCol="0">
            <a:spAutoFit/>
          </a:bodyPr>
          <a:lstStyle/>
          <a:p>
            <a:r>
              <a:rPr lang="pt-BR" sz="2400" b="1" i="1">
                <a:solidFill>
                  <a:srgbClr val="FFFFFF"/>
                </a:solidFill>
                <a:latin typeface="Montserrat" panose="00000500000000000000" pitchFamily="2" charset="0"/>
                <a:cs typeface="Times New Roman" panose="02020603050405020304" pitchFamily="18" charset="0"/>
              </a:rPr>
              <a:t>Viabilidade Empírica</a:t>
            </a:r>
          </a:p>
        </p:txBody>
      </p:sp>
      <p:sp>
        <p:nvSpPr>
          <p:cNvPr id="48" name="CaixaDeTexto 14">
            <a:extLst>
              <a:ext uri="{FF2B5EF4-FFF2-40B4-BE49-F238E27FC236}">
                <a16:creationId xmlns:a16="http://schemas.microsoft.com/office/drawing/2014/main" id="{C79E7D4A-6B41-A034-EC75-460C990B5694}"/>
              </a:ext>
            </a:extLst>
          </p:cNvPr>
          <p:cNvSpPr txBox="1"/>
          <p:nvPr/>
        </p:nvSpPr>
        <p:spPr>
          <a:xfrm>
            <a:off x="1177838" y="5613639"/>
            <a:ext cx="2736922" cy="400110"/>
          </a:xfrm>
          <a:prstGeom prst="rect">
            <a:avLst/>
          </a:prstGeom>
          <a:noFill/>
        </p:spPr>
        <p:txBody>
          <a:bodyPr wrap="square" rtlCol="0">
            <a:spAutoFit/>
          </a:bodyPr>
          <a:lstStyle/>
          <a:p>
            <a:r>
              <a:rPr lang="en-US" sz="1000" err="1">
                <a:solidFill>
                  <a:srgbClr val="FFFFFF"/>
                </a:solidFill>
                <a:latin typeface="Montserrat" panose="00000500000000000000" pitchFamily="2" charset="0"/>
                <a:cs typeface="Times New Roman" panose="02020603050405020304" pitchFamily="18" charset="0"/>
              </a:rPr>
              <a:t>Viabilidade</a:t>
            </a:r>
            <a:r>
              <a:rPr lang="en-US" sz="1000">
                <a:solidFill>
                  <a:srgbClr val="FFFFFF"/>
                </a:solidFill>
                <a:latin typeface="Montserrat" panose="00000500000000000000" pitchFamily="2" charset="0"/>
                <a:cs typeface="Times New Roman" panose="02020603050405020304" pitchFamily="18" charset="0"/>
              </a:rPr>
              <a:t> dos dados para a </a:t>
            </a:r>
            <a:r>
              <a:rPr lang="en-US" sz="1000" err="1">
                <a:solidFill>
                  <a:srgbClr val="FFFFFF"/>
                </a:solidFill>
                <a:latin typeface="Montserrat" panose="00000500000000000000" pitchFamily="2" charset="0"/>
                <a:cs typeface="Times New Roman" panose="02020603050405020304" pitchFamily="18" charset="0"/>
              </a:rPr>
              <a:t>realização</a:t>
            </a:r>
            <a:r>
              <a:rPr lang="en-US" sz="1000">
                <a:solidFill>
                  <a:srgbClr val="FFFFFF"/>
                </a:solidFill>
                <a:latin typeface="Montserrat" panose="00000500000000000000" pitchFamily="2" charset="0"/>
                <a:cs typeface="Times New Roman" panose="02020603050405020304" pitchFamily="18" charset="0"/>
              </a:rPr>
              <a:t> do teste empírico</a:t>
            </a:r>
            <a:endParaRPr lang="pt-BR" sz="1000">
              <a:solidFill>
                <a:srgbClr val="FFFFFF"/>
              </a:solidFill>
              <a:latin typeface="Montserrat" panose="00000500000000000000" pitchFamily="2" charset="0"/>
              <a:cs typeface="Times New Roman" panose="02020603050405020304" pitchFamily="18" charset="0"/>
            </a:endParaRPr>
          </a:p>
        </p:txBody>
      </p:sp>
      <p:grpSp>
        <p:nvGrpSpPr>
          <p:cNvPr id="49" name="Agrupar 47">
            <a:extLst>
              <a:ext uri="{FF2B5EF4-FFF2-40B4-BE49-F238E27FC236}">
                <a16:creationId xmlns:a16="http://schemas.microsoft.com/office/drawing/2014/main" id="{947963E9-8282-F609-26C4-F4F181B56FCE}"/>
              </a:ext>
            </a:extLst>
          </p:cNvPr>
          <p:cNvGrpSpPr/>
          <p:nvPr/>
        </p:nvGrpSpPr>
        <p:grpSpPr>
          <a:xfrm rot="10800000">
            <a:off x="1202890" y="5474432"/>
            <a:ext cx="2810101" cy="252000"/>
            <a:chOff x="6098372" y="2214756"/>
            <a:chExt cx="2810101" cy="252000"/>
          </a:xfrm>
          <a:solidFill>
            <a:srgbClr val="80B281"/>
          </a:solidFill>
        </p:grpSpPr>
        <p:cxnSp>
          <p:nvCxnSpPr>
            <p:cNvPr id="50" name="Conector de Seta Reta 48">
              <a:extLst>
                <a:ext uri="{FF2B5EF4-FFF2-40B4-BE49-F238E27FC236}">
                  <a16:creationId xmlns:a16="http://schemas.microsoft.com/office/drawing/2014/main" id="{7B467DF4-5BAB-D9B8-FB1F-01457D6BA72A}"/>
                </a:ext>
              </a:extLst>
            </p:cNvPr>
            <p:cNvCxnSpPr>
              <a:cxnSpLocks/>
            </p:cNvCxnSpPr>
            <p:nvPr/>
          </p:nvCxnSpPr>
          <p:spPr>
            <a:xfrm flipH="1">
              <a:off x="6171551" y="2340756"/>
              <a:ext cx="2736922" cy="0"/>
            </a:xfrm>
            <a:prstGeom prst="straightConnector1">
              <a:avLst/>
            </a:prstGeom>
            <a:grpFill/>
            <a:ln>
              <a:solidFill>
                <a:srgbClr val="80B281"/>
              </a:solidFill>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51" name="Losango 49">
              <a:extLst>
                <a:ext uri="{FF2B5EF4-FFF2-40B4-BE49-F238E27FC236}">
                  <a16:creationId xmlns:a16="http://schemas.microsoft.com/office/drawing/2014/main" id="{FF3A3EAD-38F2-B8E1-0514-A0EEED4E4BEB}"/>
                </a:ext>
              </a:extLst>
            </p:cNvPr>
            <p:cNvSpPr>
              <a:spLocks noChangeAspect="1"/>
            </p:cNvSpPr>
            <p:nvPr/>
          </p:nvSpPr>
          <p:spPr>
            <a:xfrm>
              <a:off x="6098372" y="2214756"/>
              <a:ext cx="252000" cy="252000"/>
            </a:xfrm>
            <a:prstGeom prst="diamond">
              <a:avLst/>
            </a:prstGeom>
            <a:grpFill/>
            <a:ln>
              <a:solidFill>
                <a:srgbClr val="80B2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7F7F7F"/>
                </a:solidFill>
              </a:endParaRPr>
            </a:p>
          </p:txBody>
        </p:sp>
      </p:grpSp>
    </p:spTree>
    <p:extLst>
      <p:ext uri="{BB962C8B-B14F-4D97-AF65-F5344CB8AC3E}">
        <p14:creationId xmlns:p14="http://schemas.microsoft.com/office/powerpoint/2010/main" val="865773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31790-841A-E231-02FA-7AE22D0E5E7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54186CA-0240-4CD2-612C-3B321C0B389D}"/>
              </a:ext>
            </a:extLst>
          </p:cNvPr>
          <p:cNvSpPr>
            <a:spLocks noGrp="1"/>
          </p:cNvSpPr>
          <p:nvPr>
            <p:ph type="body" sz="quarter" idx="18"/>
          </p:nvPr>
        </p:nvSpPr>
        <p:spPr/>
        <p:txBody>
          <a:bodyPr>
            <a:normAutofit fontScale="62500" lnSpcReduction="20000"/>
          </a:bodyPr>
          <a:lstStyle/>
          <a:p>
            <a:endParaRPr lang="pt-BR"/>
          </a:p>
        </p:txBody>
      </p:sp>
      <p:sp>
        <p:nvSpPr>
          <p:cNvPr id="3" name="Title 2">
            <a:extLst>
              <a:ext uri="{FF2B5EF4-FFF2-40B4-BE49-F238E27FC236}">
                <a16:creationId xmlns:a16="http://schemas.microsoft.com/office/drawing/2014/main" id="{FC11BFCA-8192-586D-3775-6B1DBED48930}"/>
              </a:ext>
            </a:extLst>
          </p:cNvPr>
          <p:cNvSpPr>
            <a:spLocks noGrp="1"/>
          </p:cNvSpPr>
          <p:nvPr>
            <p:ph type="title"/>
          </p:nvPr>
        </p:nvSpPr>
        <p:spPr/>
        <p:txBody>
          <a:bodyPr>
            <a:normAutofit/>
          </a:bodyPr>
          <a:lstStyle/>
          <a:p>
            <a:r>
              <a:rPr lang="pt-BR"/>
              <a:t>Temos as peças; falta a variação exógena</a:t>
            </a:r>
          </a:p>
        </p:txBody>
      </p:sp>
      <p:sp>
        <p:nvSpPr>
          <p:cNvPr id="4" name="TextBox 3"/>
          <p:cNvSpPr txBox="1"/>
          <p:nvPr/>
        </p:nvSpPr>
        <p:spPr>
          <a:xfrm>
            <a:off x="512064" y="768096"/>
            <a:ext cx="5577840" cy="219456"/>
          </a:xfrm>
          <a:prstGeom prst="rect">
            <a:avLst/>
          </a:prstGeom>
          <a:noFill/>
          <a:ln>
            <a:noFill/>
          </a:ln>
        </p:spPr>
        <p:txBody>
          <a:bodyPr wrap="square" anchor="t" lIns="0" rIns="0" tIns="0" bIns="0">
            <a:spAutoFit/>
          </a:bodyPr>
          <a:lstStyle/>
          <a:p>
            <a:pPr algn="l">
              <a:lnSpc>
                <a:spcPct val="100000"/>
              </a:lnSpc>
              <a:buNone/>
            </a:pPr>
            <a:r>
              <a:rPr sz="1000" b="1" i="0">
                <a:solidFill>
                  <a:srgbClr val="056429"/>
                </a:solidFill>
                <a:latin typeface="Montserrat"/>
              </a:rPr>
              <a:t>O QUE CONSEGUIMOS MEDIR</a:t>
            </a:r>
          </a:p>
        </p:txBody>
      </p:sp>
      <p:cxnSp>
        <p:nvCxnSpPr>
          <p:cNvPr id="5" name="Connector 4"/>
          <p:cNvCxnSpPr/>
          <p:nvPr/>
        </p:nvCxnSpPr>
        <p:spPr>
          <a:xfrm>
            <a:off x="512064" y="987552"/>
            <a:ext cx="5577840" cy="0"/>
          </a:xfrm>
          <a:prstGeom prst="line">
            <a:avLst/>
          </a:prstGeom>
          <a:ln w="15875">
            <a:solidFill>
              <a:srgbClr val="80B28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1078992"/>
            <a:ext cx="256032" cy="365760"/>
          </a:xfrm>
          <a:prstGeom prst="rect">
            <a:avLst/>
          </a:prstGeom>
          <a:noFill/>
          <a:ln>
            <a:noFill/>
          </a:ln>
        </p:spPr>
        <p:txBody>
          <a:bodyPr wrap="square" anchor="t" lIns="0" rIns="0" tIns="0" bIns="0">
            <a:spAutoFit/>
          </a:bodyPr>
          <a:lstStyle/>
          <a:p>
            <a:pPr algn="ctr">
              <a:buNone/>
            </a:pPr>
            <a:r>
              <a:rPr sz="1100" b="0" i="0">
                <a:solidFill>
                  <a:srgbClr val="114719"/>
                </a:solidFill>
                <a:latin typeface="Montserrat"/>
              </a:rPr>
              <a:t>●</a:t>
            </a:r>
          </a:p>
        </p:txBody>
      </p:sp>
      <p:sp>
        <p:nvSpPr>
          <p:cNvPr id="7" name="TextBox 6"/>
          <p:cNvSpPr txBox="1"/>
          <p:nvPr/>
        </p:nvSpPr>
        <p:spPr>
          <a:xfrm>
            <a:off x="749808" y="1078992"/>
            <a:ext cx="5340096" cy="365760"/>
          </a:xfrm>
          <a:prstGeom prst="rect">
            <a:avLst/>
          </a:prstGeom>
          <a:noFill/>
          <a:ln>
            <a:noFill/>
          </a:ln>
        </p:spPr>
        <p:txBody>
          <a:bodyPr wrap="square" anchor="t" lIns="18288" rIns="18288" tIns="12801" bIns="12801">
            <a:spAutoFit/>
          </a:bodyPr>
          <a:lstStyle/>
          <a:p>
            <a:pPr algn="l">
              <a:lnSpc>
                <a:spcPct val="95000"/>
              </a:lnSpc>
              <a:buNone/>
            </a:pPr>
            <a:r>
              <a:rPr sz="1000" b="1" i="0">
                <a:solidFill>
                  <a:srgbClr val="114719"/>
                </a:solidFill>
                <a:latin typeface="Montserrat"/>
              </a:rPr>
              <a:t>Preenchimento da vaga — </a:t>
            </a:r>
            <a:r>
              <a:rPr sz="1000" b="0" i="0">
                <a:solidFill>
                  <a:srgbClr val="3A3A3A"/>
                </a:solidFill>
                <a:latin typeface="Montserrat"/>
              </a:rPr>
              <a:t>quadro de vagas e resultados do ciclo 1: 1.295 vagas em 368 municípios</a:t>
            </a:r>
          </a:p>
        </p:txBody>
      </p:sp>
      <p:sp>
        <p:nvSpPr>
          <p:cNvPr id="8" name="TextBox 7"/>
          <p:cNvSpPr txBox="1"/>
          <p:nvPr/>
        </p:nvSpPr>
        <p:spPr>
          <a:xfrm>
            <a:off x="475488" y="1499616"/>
            <a:ext cx="256032" cy="365760"/>
          </a:xfrm>
          <a:prstGeom prst="rect">
            <a:avLst/>
          </a:prstGeom>
          <a:noFill/>
          <a:ln>
            <a:noFill/>
          </a:ln>
        </p:spPr>
        <p:txBody>
          <a:bodyPr wrap="square" anchor="t" lIns="0" rIns="0" tIns="0" bIns="0">
            <a:spAutoFit/>
          </a:bodyPr>
          <a:lstStyle/>
          <a:p>
            <a:pPr algn="ctr">
              <a:buNone/>
            </a:pPr>
            <a:r>
              <a:rPr sz="1100" b="0" i="0">
                <a:solidFill>
                  <a:srgbClr val="114719"/>
                </a:solidFill>
                <a:latin typeface="Montserrat"/>
              </a:rPr>
              <a:t>●</a:t>
            </a:r>
          </a:p>
        </p:txBody>
      </p:sp>
      <p:sp>
        <p:nvSpPr>
          <p:cNvPr id="9" name="TextBox 8"/>
          <p:cNvSpPr txBox="1"/>
          <p:nvPr/>
        </p:nvSpPr>
        <p:spPr>
          <a:xfrm>
            <a:off x="749808" y="1499616"/>
            <a:ext cx="5340096" cy="365760"/>
          </a:xfrm>
          <a:prstGeom prst="rect">
            <a:avLst/>
          </a:prstGeom>
          <a:noFill/>
          <a:ln>
            <a:noFill/>
          </a:ln>
        </p:spPr>
        <p:txBody>
          <a:bodyPr wrap="square" anchor="t" lIns="18288" rIns="18288" tIns="12801" bIns="12801">
            <a:spAutoFit/>
          </a:bodyPr>
          <a:lstStyle/>
          <a:p>
            <a:pPr algn="l">
              <a:lnSpc>
                <a:spcPct val="95000"/>
              </a:lnSpc>
              <a:buNone/>
            </a:pPr>
            <a:r>
              <a:rPr sz="1000" b="1" i="0">
                <a:solidFill>
                  <a:srgbClr val="114719"/>
                </a:solidFill>
                <a:latin typeface="Montserrat"/>
              </a:rPr>
              <a:t>Bolsa Bₘ — </a:t>
            </a:r>
            <a:r>
              <a:rPr sz="1000" b="0" i="0">
                <a:solidFill>
                  <a:srgbClr val="3A3A3A"/>
                </a:solidFill>
                <a:latin typeface="Montserrat"/>
              </a:rPr>
              <a:t>o valor anunciado na vaga: R$ 10, 15 ou 20 mil — edital</a:t>
            </a:r>
          </a:p>
        </p:txBody>
      </p:sp>
      <p:sp>
        <p:nvSpPr>
          <p:cNvPr id="10" name="TextBox 9"/>
          <p:cNvSpPr txBox="1"/>
          <p:nvPr/>
        </p:nvSpPr>
        <p:spPr>
          <a:xfrm>
            <a:off x="475488" y="1920240"/>
            <a:ext cx="256032" cy="658368"/>
          </a:xfrm>
          <a:prstGeom prst="rect">
            <a:avLst/>
          </a:prstGeom>
          <a:noFill/>
          <a:ln>
            <a:noFill/>
          </a:ln>
        </p:spPr>
        <p:txBody>
          <a:bodyPr wrap="square" anchor="t" lIns="0" rIns="0" tIns="0" bIns="0">
            <a:spAutoFit/>
          </a:bodyPr>
          <a:lstStyle/>
          <a:p>
            <a:pPr algn="ctr">
              <a:buNone/>
            </a:pPr>
            <a:r>
              <a:rPr sz="1100" b="0" i="0">
                <a:solidFill>
                  <a:srgbClr val="114719"/>
                </a:solidFill>
                <a:latin typeface="Montserrat"/>
              </a:rPr>
              <a:t>●</a:t>
            </a:r>
          </a:p>
        </p:txBody>
      </p:sp>
      <p:sp>
        <p:nvSpPr>
          <p:cNvPr id="11" name="TextBox 10"/>
          <p:cNvSpPr txBox="1"/>
          <p:nvPr/>
        </p:nvSpPr>
        <p:spPr>
          <a:xfrm>
            <a:off x="749808" y="1920240"/>
            <a:ext cx="5340096" cy="658368"/>
          </a:xfrm>
          <a:prstGeom prst="rect">
            <a:avLst/>
          </a:prstGeom>
          <a:noFill/>
          <a:ln>
            <a:noFill/>
          </a:ln>
        </p:spPr>
        <p:txBody>
          <a:bodyPr wrap="square" anchor="t" lIns="18288" rIns="18288" tIns="12801" bIns="12801">
            <a:spAutoFit/>
          </a:bodyPr>
          <a:lstStyle/>
          <a:p>
            <a:pPr algn="l">
              <a:lnSpc>
                <a:spcPct val="95000"/>
              </a:lnSpc>
              <a:buNone/>
            </a:pPr>
            <a:r>
              <a:rPr sz="1000" b="1" i="0">
                <a:solidFill>
                  <a:srgbClr val="114719"/>
                </a:solidFill>
                <a:latin typeface="Montserrat"/>
              </a:rPr>
              <a:t>Custo cₘ — </a:t>
            </a:r>
            <a:r>
              <a:rPr sz="1000" b="0" i="0">
                <a:solidFill>
                  <a:srgbClr val="3A3A3A"/>
                </a:solidFill>
                <a:latin typeface="Montserrat"/>
              </a:rPr>
              <a:t>IVS e suas três dimensões (Ipea); capital, metropolitano, interior conectado ou remoto (REGIC 2018 e RMs 2022); especialistas e estrutura preexistentes (CNES mensal, jun/2024 a jul/2026)</a:t>
            </a:r>
          </a:p>
        </p:txBody>
      </p:sp>
      <p:sp>
        <p:nvSpPr>
          <p:cNvPr id="12" name="TextBox 11"/>
          <p:cNvSpPr txBox="1"/>
          <p:nvPr/>
        </p:nvSpPr>
        <p:spPr>
          <a:xfrm>
            <a:off x="475488" y="2633472"/>
            <a:ext cx="256032" cy="365760"/>
          </a:xfrm>
          <a:prstGeom prst="rect">
            <a:avLst/>
          </a:prstGeom>
          <a:noFill/>
          <a:ln>
            <a:noFill/>
          </a:ln>
        </p:spPr>
        <p:txBody>
          <a:bodyPr wrap="square" anchor="t" lIns="0" rIns="0" tIns="0" bIns="0">
            <a:spAutoFit/>
          </a:bodyPr>
          <a:lstStyle/>
          <a:p>
            <a:pPr algn="ctr">
              <a:buNone/>
            </a:pPr>
            <a:r>
              <a:rPr sz="1100" b="0" i="0">
                <a:solidFill>
                  <a:srgbClr val="80B281"/>
                </a:solidFill>
                <a:latin typeface="Montserrat"/>
              </a:rPr>
              <a:t>◐</a:t>
            </a:r>
          </a:p>
        </p:txBody>
      </p:sp>
      <p:sp>
        <p:nvSpPr>
          <p:cNvPr id="13" name="TextBox 12"/>
          <p:cNvSpPr txBox="1"/>
          <p:nvPr/>
        </p:nvSpPr>
        <p:spPr>
          <a:xfrm>
            <a:off x="749808" y="2633472"/>
            <a:ext cx="5340096" cy="365760"/>
          </a:xfrm>
          <a:prstGeom prst="rect">
            <a:avLst/>
          </a:prstGeom>
          <a:noFill/>
          <a:ln>
            <a:noFill/>
          </a:ln>
        </p:spPr>
        <p:txBody>
          <a:bodyPr wrap="square" anchor="t" lIns="18288" rIns="18288" tIns="12801" bIns="12801">
            <a:spAutoFit/>
          </a:bodyPr>
          <a:lstStyle/>
          <a:p>
            <a:pPr algn="l">
              <a:lnSpc>
                <a:spcPct val="95000"/>
              </a:lnSpc>
              <a:buNone/>
            </a:pPr>
            <a:r>
              <a:rPr sz="1000" b="1" i="0">
                <a:solidFill>
                  <a:srgbClr val="114719"/>
                </a:solidFill>
                <a:latin typeface="Montserrat"/>
              </a:rPr>
              <a:t>Custo de vida pₘ — </a:t>
            </a:r>
            <a:r>
              <a:rPr sz="1000" b="0" i="0">
                <a:solidFill>
                  <a:srgbClr val="3A3A3A"/>
                </a:solidFill>
                <a:latin typeface="Montserrat"/>
              </a:rPr>
              <a:t>diferenças entre estados — IBGE</a:t>
            </a:r>
          </a:p>
        </p:txBody>
      </p:sp>
      <p:sp>
        <p:nvSpPr>
          <p:cNvPr id="14" name="TextBox 13"/>
          <p:cNvSpPr txBox="1"/>
          <p:nvPr/>
        </p:nvSpPr>
        <p:spPr>
          <a:xfrm>
            <a:off x="475488" y="3054096"/>
            <a:ext cx="256032" cy="365760"/>
          </a:xfrm>
          <a:prstGeom prst="rect">
            <a:avLst/>
          </a:prstGeom>
          <a:noFill/>
          <a:ln>
            <a:noFill/>
          </a:ln>
        </p:spPr>
        <p:txBody>
          <a:bodyPr wrap="square" anchor="t" lIns="0" rIns="0" tIns="0" bIns="0">
            <a:spAutoFit/>
          </a:bodyPr>
          <a:lstStyle/>
          <a:p>
            <a:pPr algn="ctr">
              <a:buNone/>
            </a:pPr>
            <a:r>
              <a:rPr sz="1100" b="0" i="0">
                <a:solidFill>
                  <a:srgbClr val="7F7F7F"/>
                </a:solidFill>
                <a:latin typeface="Montserrat"/>
              </a:rPr>
              <a:t>○</a:t>
            </a:r>
          </a:p>
        </p:txBody>
      </p:sp>
      <p:sp>
        <p:nvSpPr>
          <p:cNvPr id="15" name="TextBox 14"/>
          <p:cNvSpPr txBox="1"/>
          <p:nvPr/>
        </p:nvSpPr>
        <p:spPr>
          <a:xfrm>
            <a:off x="749808" y="3054096"/>
            <a:ext cx="5340096" cy="365760"/>
          </a:xfrm>
          <a:prstGeom prst="rect">
            <a:avLst/>
          </a:prstGeom>
          <a:noFill/>
          <a:ln>
            <a:noFill/>
          </a:ln>
        </p:spPr>
        <p:txBody>
          <a:bodyPr wrap="square" anchor="t" lIns="18288" rIns="18288" tIns="12801" bIns="12801">
            <a:spAutoFit/>
          </a:bodyPr>
          <a:lstStyle/>
          <a:p>
            <a:pPr algn="l">
              <a:lnSpc>
                <a:spcPct val="95000"/>
              </a:lnSpc>
              <a:buNone/>
            </a:pPr>
            <a:r>
              <a:rPr sz="1000" b="1" i="0">
                <a:solidFill>
                  <a:srgbClr val="114719"/>
                </a:solidFill>
                <a:latin typeface="Montserrat"/>
              </a:rPr>
              <a:t>Mercado privado w priv — </a:t>
            </a:r>
            <a:r>
              <a:rPr sz="1000" b="0" i="0">
                <a:solidFill>
                  <a:srgbClr val="7F7F7F"/>
                </a:solidFill>
                <a:latin typeface="Montserrat"/>
              </a:rPr>
              <a:t>não observado</a:t>
            </a:r>
          </a:p>
        </p:txBody>
      </p:sp>
      <p:sp>
        <p:nvSpPr>
          <p:cNvPr id="16" name="TextBox 15"/>
          <p:cNvSpPr txBox="1"/>
          <p:nvPr/>
        </p:nvSpPr>
        <p:spPr>
          <a:xfrm>
            <a:off x="475488" y="3474720"/>
            <a:ext cx="256032" cy="365760"/>
          </a:xfrm>
          <a:prstGeom prst="rect">
            <a:avLst/>
          </a:prstGeom>
          <a:noFill/>
          <a:ln>
            <a:noFill/>
          </a:ln>
        </p:spPr>
        <p:txBody>
          <a:bodyPr wrap="square" anchor="t" lIns="0" rIns="0" tIns="0" bIns="0">
            <a:spAutoFit/>
          </a:bodyPr>
          <a:lstStyle/>
          <a:p>
            <a:pPr algn="ctr">
              <a:buNone/>
            </a:pPr>
            <a:r>
              <a:rPr sz="1100" b="0" i="0">
                <a:solidFill>
                  <a:srgbClr val="7F7F7F"/>
                </a:solidFill>
                <a:latin typeface="Montserrat"/>
              </a:rPr>
              <a:t>○</a:t>
            </a:r>
          </a:p>
        </p:txBody>
      </p:sp>
      <p:sp>
        <p:nvSpPr>
          <p:cNvPr id="17" name="TextBox 16"/>
          <p:cNvSpPr txBox="1"/>
          <p:nvPr/>
        </p:nvSpPr>
        <p:spPr>
          <a:xfrm>
            <a:off x="749808" y="3474720"/>
            <a:ext cx="5340096" cy="365760"/>
          </a:xfrm>
          <a:prstGeom prst="rect">
            <a:avLst/>
          </a:prstGeom>
          <a:noFill/>
          <a:ln>
            <a:noFill/>
          </a:ln>
        </p:spPr>
        <p:txBody>
          <a:bodyPr wrap="square" anchor="t" lIns="18288" rIns="18288" tIns="12801" bIns="12801">
            <a:spAutoFit/>
          </a:bodyPr>
          <a:lstStyle/>
          <a:p>
            <a:pPr algn="l">
              <a:lnSpc>
                <a:spcPct val="95000"/>
              </a:lnSpc>
              <a:buNone/>
            </a:pPr>
            <a:r>
              <a:rPr sz="1000" b="1" i="0">
                <a:solidFill>
                  <a:srgbClr val="114719"/>
                </a:solidFill>
                <a:latin typeface="Montserrat"/>
              </a:rPr>
              <a:t>Distância da família — </a:t>
            </a:r>
            <a:r>
              <a:rPr sz="1000" b="0" i="0">
                <a:solidFill>
                  <a:srgbClr val="7F7F7F"/>
                </a:solidFill>
                <a:latin typeface="Montserrat"/>
              </a:rPr>
              <a:t>não observado</a:t>
            </a:r>
          </a:p>
        </p:txBody>
      </p:sp>
      <p:sp>
        <p:nvSpPr>
          <p:cNvPr id="18" name="TextBox 17"/>
          <p:cNvSpPr txBox="1"/>
          <p:nvPr/>
        </p:nvSpPr>
        <p:spPr>
          <a:xfrm>
            <a:off x="475488" y="3950207"/>
            <a:ext cx="5614416" cy="713232"/>
          </a:xfrm>
          <a:prstGeom prst="rect">
            <a:avLst/>
          </a:prstGeom>
          <a:solidFill>
            <a:srgbClr val="EFF4F0"/>
          </a:solidFill>
          <a:ln>
            <a:noFill/>
          </a:ln>
        </p:spPr>
        <p:txBody>
          <a:bodyPr wrap="square" anchor="ctr" lIns="109728" rIns="109728" tIns="76809" bIns="76809">
            <a:spAutoFit/>
          </a:bodyPr>
          <a:lstStyle/>
          <a:p>
            <a:pPr algn="l">
              <a:lnSpc>
                <a:spcPct val="95000"/>
              </a:lnSpc>
              <a:buNone/>
            </a:pPr>
            <a:r>
              <a:rPr sz="1000" b="0" i="0">
                <a:solidFill>
                  <a:srgbClr val="3A3A3A"/>
                </a:solidFill>
                <a:latin typeface="Montserrat"/>
              </a:rPr>
              <a:t>As duas peças não observadas entram no modelo como parte do custo que o IVS e a tipologia territorial resumem. Para o essencial, os dados existem.</a:t>
            </a:r>
          </a:p>
        </p:txBody>
      </p:sp>
      <p:sp>
        <p:nvSpPr>
          <p:cNvPr id="19" name="TextBox 18"/>
          <p:cNvSpPr txBox="1"/>
          <p:nvPr/>
        </p:nvSpPr>
        <p:spPr>
          <a:xfrm>
            <a:off x="6400800" y="768096"/>
            <a:ext cx="5303520" cy="219456"/>
          </a:xfrm>
          <a:prstGeom prst="rect">
            <a:avLst/>
          </a:prstGeom>
          <a:noFill/>
          <a:ln>
            <a:noFill/>
          </a:ln>
        </p:spPr>
        <p:txBody>
          <a:bodyPr wrap="square" anchor="t" lIns="0" rIns="0" tIns="0" bIns="0">
            <a:spAutoFit/>
          </a:bodyPr>
          <a:lstStyle/>
          <a:p>
            <a:pPr algn="l">
              <a:lnSpc>
                <a:spcPct val="100000"/>
              </a:lnSpc>
              <a:buNone/>
            </a:pPr>
            <a:r>
              <a:rPr sz="1000" b="1" i="0">
                <a:solidFill>
                  <a:srgbClr val="056429"/>
                </a:solidFill>
                <a:latin typeface="Montserrat"/>
              </a:rPr>
              <a:t>ONDE PROCURAR VARIAÇÃO EXÓGENA</a:t>
            </a:r>
          </a:p>
        </p:txBody>
      </p:sp>
      <p:cxnSp>
        <p:nvCxnSpPr>
          <p:cNvPr id="20" name="Connector 19"/>
          <p:cNvCxnSpPr/>
          <p:nvPr/>
        </p:nvCxnSpPr>
        <p:spPr>
          <a:xfrm>
            <a:off x="6400800" y="987552"/>
            <a:ext cx="5303520" cy="0"/>
          </a:xfrm>
          <a:prstGeom prst="line">
            <a:avLst/>
          </a:prstGeom>
          <a:ln w="15875">
            <a:solidFill>
              <a:srgbClr val="80B28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64224" y="1078992"/>
            <a:ext cx="5376672" cy="786384"/>
          </a:xfrm>
          <a:prstGeom prst="rect">
            <a:avLst/>
          </a:prstGeom>
          <a:noFill/>
          <a:ln>
            <a:noFill/>
          </a:ln>
        </p:spPr>
        <p:txBody>
          <a:bodyPr wrap="square" anchor="t" lIns="36576" rIns="36576" tIns="25603" bIns="25603">
            <a:spAutoFit/>
          </a:bodyPr>
          <a:lstStyle/>
          <a:p>
            <a:pPr algn="l">
              <a:lnSpc>
                <a:spcPct val="95000"/>
              </a:lnSpc>
              <a:buNone/>
            </a:pPr>
            <a:r>
              <a:rPr sz="1050" b="0" i="0">
                <a:solidFill>
                  <a:srgbClr val="3A3A3A"/>
                </a:solidFill>
                <a:latin typeface="Montserrat"/>
              </a:rPr>
              <a:t>O edital corta o IVS em categorias, e a categoria fixa a bolsa (cláusula 11.1.4). Os cortes de </a:t>
            </a:r>
            <a:r>
              <a:rPr sz="1050" b="1" i="0">
                <a:solidFill>
                  <a:srgbClr val="114719"/>
                </a:solidFill>
                <a:latin typeface="Montserrat"/>
              </a:rPr>
              <a:t>0,400</a:t>
            </a:r>
            <a:r>
              <a:rPr sz="1050" b="0" i="0">
                <a:solidFill>
                  <a:srgbClr val="3A3A3A"/>
                </a:solidFill>
                <a:latin typeface="Montserrat"/>
              </a:rPr>
              <a:t> e </a:t>
            </a:r>
            <a:r>
              <a:rPr sz="1050" b="1" i="0">
                <a:solidFill>
                  <a:srgbClr val="114719"/>
                </a:solidFill>
                <a:latin typeface="Montserrat"/>
              </a:rPr>
              <a:t>0,500</a:t>
            </a:r>
            <a:r>
              <a:rPr sz="1050" b="0" i="0">
                <a:solidFill>
                  <a:srgbClr val="3A3A3A"/>
                </a:solidFill>
                <a:latin typeface="Montserrat"/>
              </a:rPr>
              <a:t> são o lugar natural de uma regressão descontínua: comparar municípios logo acima e logo abaixo.</a:t>
            </a:r>
          </a:p>
        </p:txBody>
      </p:sp>
      <p:sp>
        <p:nvSpPr>
          <p:cNvPr id="22" name="TextBox 21"/>
          <p:cNvSpPr txBox="1"/>
          <p:nvPr/>
        </p:nvSpPr>
        <p:spPr>
          <a:xfrm>
            <a:off x="6364224" y="1975104"/>
            <a:ext cx="274320" cy="676656"/>
          </a:xfrm>
          <a:prstGeom prst="rect">
            <a:avLst/>
          </a:prstGeom>
          <a:noFill/>
          <a:ln>
            <a:noFill/>
          </a:ln>
        </p:spPr>
        <p:txBody>
          <a:bodyPr wrap="square" anchor="t" lIns="18288" rIns="18288" tIns="12801" bIns="12801">
            <a:spAutoFit/>
          </a:bodyPr>
          <a:lstStyle/>
          <a:p>
            <a:pPr algn="l">
              <a:buNone/>
            </a:pPr>
            <a:r>
              <a:rPr sz="1050" b="1" i="0">
                <a:solidFill>
                  <a:srgbClr val="114719"/>
                </a:solidFill>
                <a:latin typeface="Montserrat"/>
              </a:rPr>
              <a:t>1</a:t>
            </a:r>
          </a:p>
        </p:txBody>
      </p:sp>
      <p:sp>
        <p:nvSpPr>
          <p:cNvPr id="23" name="TextBox 22"/>
          <p:cNvSpPr txBox="1"/>
          <p:nvPr/>
        </p:nvSpPr>
        <p:spPr>
          <a:xfrm>
            <a:off x="6638544" y="1975104"/>
            <a:ext cx="5102352" cy="676656"/>
          </a:xfrm>
          <a:prstGeom prst="rect">
            <a:avLst/>
          </a:prstGeom>
          <a:noFill/>
          <a:ln>
            <a:noFill/>
          </a:ln>
        </p:spPr>
        <p:txBody>
          <a:bodyPr wrap="square" anchor="t" lIns="18288" rIns="18288" tIns="12801" bIns="12801">
            <a:spAutoFit/>
          </a:bodyPr>
          <a:lstStyle/>
          <a:p>
            <a:pPr algn="l">
              <a:lnSpc>
                <a:spcPct val="95000"/>
              </a:lnSpc>
              <a:buNone/>
            </a:pPr>
            <a:r>
              <a:rPr sz="1000" b="1" i="0">
                <a:solidFill>
                  <a:srgbClr val="114719"/>
                </a:solidFill>
                <a:latin typeface="Montserrat"/>
              </a:rPr>
              <a:t>Há suporte comum — </a:t>
            </a:r>
            <a:r>
              <a:rPr sz="1000" b="0" i="0">
                <a:solidFill>
                  <a:srgbClr val="3A3A3A"/>
                </a:solidFill>
                <a:latin typeface="Montserrat"/>
              </a:rPr>
              <a:t>37 municípios com IVS ≤ 0,400 estão na Faixa 1 e 94 na Faixa 2; os intervalos das três faixas se sobrepõem. Não falta variação.</a:t>
            </a:r>
          </a:p>
        </p:txBody>
      </p:sp>
      <p:sp>
        <p:nvSpPr>
          <p:cNvPr id="24" name="TextBox 23"/>
          <p:cNvSpPr txBox="1"/>
          <p:nvPr/>
        </p:nvSpPr>
        <p:spPr>
          <a:xfrm>
            <a:off x="6364224" y="2743200"/>
            <a:ext cx="274320" cy="859536"/>
          </a:xfrm>
          <a:prstGeom prst="rect">
            <a:avLst/>
          </a:prstGeom>
          <a:noFill/>
          <a:ln>
            <a:noFill/>
          </a:ln>
        </p:spPr>
        <p:txBody>
          <a:bodyPr wrap="square" anchor="t" lIns="18288" rIns="18288" tIns="12801" bIns="12801">
            <a:spAutoFit/>
          </a:bodyPr>
          <a:lstStyle/>
          <a:p>
            <a:pPr algn="l">
              <a:buNone/>
            </a:pPr>
            <a:r>
              <a:rPr sz="1050" b="1" i="0">
                <a:solidFill>
                  <a:srgbClr val="114719"/>
                </a:solidFill>
                <a:latin typeface="Montserrat"/>
              </a:rPr>
              <a:t>2</a:t>
            </a:r>
          </a:p>
        </p:txBody>
      </p:sp>
      <p:sp>
        <p:nvSpPr>
          <p:cNvPr id="25" name="TextBox 24"/>
          <p:cNvSpPr txBox="1"/>
          <p:nvPr/>
        </p:nvSpPr>
        <p:spPr>
          <a:xfrm>
            <a:off x="6638544" y="2743200"/>
            <a:ext cx="5102352" cy="859536"/>
          </a:xfrm>
          <a:prstGeom prst="rect">
            <a:avLst/>
          </a:prstGeom>
          <a:noFill/>
          <a:ln>
            <a:noFill/>
          </a:ln>
        </p:spPr>
        <p:txBody>
          <a:bodyPr wrap="square" anchor="t" lIns="18288" rIns="18288" tIns="12801" bIns="12801">
            <a:spAutoFit/>
          </a:bodyPr>
          <a:lstStyle/>
          <a:p>
            <a:pPr algn="l">
              <a:lnSpc>
                <a:spcPct val="95000"/>
              </a:lnSpc>
              <a:buNone/>
            </a:pPr>
            <a:r>
              <a:rPr sz="1000" b="1" i="0">
                <a:solidFill>
                  <a:srgbClr val="114719"/>
                </a:solidFill>
                <a:latin typeface="Montserrat"/>
              </a:rPr>
              <a:t>Mas não há descontinuidade onde os cortes estão — </a:t>
            </a:r>
            <a:r>
              <a:rPr sz="1000" b="0" i="0">
                <a:solidFill>
                  <a:srgbClr val="3A3A3A"/>
                </a:solidFill>
                <a:latin typeface="Montserrat"/>
              </a:rPr>
              <a:t>em torno de 0,500 os dois lados são 100% Faixa 1 em qualquer janela até ±0,050; em torno de 0,400 o maior IVS da Faixa 3 é 0,372. O tratamento é localmente constante nos dois cortes.</a:t>
            </a:r>
          </a:p>
        </p:txBody>
      </p:sp>
      <p:sp>
        <p:nvSpPr>
          <p:cNvPr id="26" name="TextBox 25"/>
          <p:cNvSpPr txBox="1"/>
          <p:nvPr/>
        </p:nvSpPr>
        <p:spPr>
          <a:xfrm>
            <a:off x="6364224" y="3694176"/>
            <a:ext cx="274320" cy="859536"/>
          </a:xfrm>
          <a:prstGeom prst="rect">
            <a:avLst/>
          </a:prstGeom>
          <a:noFill/>
          <a:ln>
            <a:noFill/>
          </a:ln>
        </p:spPr>
        <p:txBody>
          <a:bodyPr wrap="square" anchor="t" lIns="18288" rIns="18288" tIns="12801" bIns="12801">
            <a:spAutoFit/>
          </a:bodyPr>
          <a:lstStyle/>
          <a:p>
            <a:pPr algn="l">
              <a:buNone/>
            </a:pPr>
            <a:r>
              <a:rPr sz="1050" b="1" i="0">
                <a:solidFill>
                  <a:srgbClr val="114719"/>
                </a:solidFill>
                <a:latin typeface="Montserrat"/>
              </a:rPr>
              <a:t>3</a:t>
            </a:r>
          </a:p>
        </p:txBody>
      </p:sp>
      <p:sp>
        <p:nvSpPr>
          <p:cNvPr id="27" name="TextBox 26"/>
          <p:cNvSpPr txBox="1"/>
          <p:nvPr/>
        </p:nvSpPr>
        <p:spPr>
          <a:xfrm>
            <a:off x="6638544" y="3694176"/>
            <a:ext cx="5102352" cy="859536"/>
          </a:xfrm>
          <a:prstGeom prst="rect">
            <a:avLst/>
          </a:prstGeom>
          <a:noFill/>
          <a:ln>
            <a:noFill/>
          </a:ln>
        </p:spPr>
        <p:txBody>
          <a:bodyPr wrap="square" anchor="t" lIns="18288" rIns="18288" tIns="12801" bIns="12801">
            <a:spAutoFit/>
          </a:bodyPr>
          <a:lstStyle/>
          <a:p>
            <a:pPr algn="l">
              <a:lnSpc>
                <a:spcPct val="95000"/>
              </a:lnSpc>
              <a:buNone/>
            </a:pPr>
            <a:r>
              <a:rPr sz="1000" b="1" i="0">
                <a:solidFill>
                  <a:srgbClr val="114719"/>
                </a:solidFill>
                <a:latin typeface="Montserrat"/>
              </a:rPr>
              <a:t>E a variação que sobra não é exógena — </a:t>
            </a:r>
            <a:r>
              <a:rPr sz="1000" b="0" i="0">
                <a:solidFill>
                  <a:srgbClr val="3A3A3A"/>
                </a:solidFill>
                <a:latin typeface="Montserrat"/>
              </a:rPr>
              <a:t>dos 83 municípios fora da melhor regra de limiar possível, os 41 promovidos têm mediana de população de 7.933 contra 32.179 dos 42 rebaixados. Parear por IVS confunde bolsa com posição territorial.</a:t>
            </a:r>
          </a:p>
        </p:txBody>
      </p:sp>
      <p:sp>
        <p:nvSpPr>
          <p:cNvPr id="28" name="TextBox 27"/>
          <p:cNvSpPr txBox="1"/>
          <p:nvPr/>
        </p:nvSpPr>
        <p:spPr>
          <a:xfrm>
            <a:off x="6364224" y="4681728"/>
            <a:ext cx="5376672" cy="1243584"/>
          </a:xfrm>
          <a:prstGeom prst="rect">
            <a:avLst/>
          </a:prstGeom>
          <a:solidFill>
            <a:srgbClr val="EFF4F0"/>
          </a:solidFill>
          <a:ln w="15875">
            <a:solidFill>
              <a:srgbClr val="80B281"/>
            </a:solidFill>
          </a:ln>
        </p:spPr>
        <p:txBody>
          <a:bodyPr wrap="square" anchor="ctr" lIns="109728" rIns="109728" tIns="76809" bIns="76809">
            <a:spAutoFit/>
          </a:bodyPr>
          <a:lstStyle/>
          <a:p>
            <a:pPr algn="l">
              <a:lnSpc>
                <a:spcPct val="95000"/>
              </a:lnSpc>
              <a:buNone/>
            </a:pPr>
            <a:r>
              <a:rPr sz="1050" b="1" i="0">
                <a:solidFill>
                  <a:srgbClr val="114719"/>
                </a:solidFill>
                <a:latin typeface="Montserrat"/>
              </a:rPr>
              <a:t>O que destrava.</a:t>
            </a:r>
            <a:r>
              <a:rPr sz="1050" b="0" i="0">
                <a:solidFill>
                  <a:srgbClr val="3A3A3A"/>
                </a:solidFill>
                <a:latin typeface="Montserrat"/>
              </a:rPr>
              <a:t>  A cláusula 11.1.3 manda seguir critérios de localização definidos no Anexo IV, que o edital não reproduz. O dado tem a forma das duas cláusulas: em 177 dos 368 municípios a faixa publicada está acima da categoria de IVS, e em nenhum abaixo. O IVS é o piso da bolsa, não o seu critério.</a:t>
            </a:r>
          </a:p>
        </p:txBody>
      </p:sp>
      <p:sp>
        <p:nvSpPr>
          <p:cNvPr id="29" name="TextBox 28"/>
          <p:cNvSpPr txBox="1"/>
          <p:nvPr/>
        </p:nvSpPr>
        <p:spPr>
          <a:xfrm>
            <a:off x="128016" y="6419088"/>
            <a:ext cx="11795760" cy="219456"/>
          </a:xfrm>
          <a:prstGeom prst="rect">
            <a:avLst/>
          </a:prstGeom>
          <a:noFill/>
          <a:ln>
            <a:noFill/>
          </a:ln>
        </p:spPr>
        <p:txBody>
          <a:bodyPr wrap="square" anchor="t" lIns="0" rIns="0" tIns="0" bIns="0">
            <a:spAutoFit/>
          </a:bodyPr>
          <a:lstStyle/>
          <a:p>
            <a:pPr algn="l">
              <a:lnSpc>
                <a:spcPct val="100000"/>
              </a:lnSpc>
              <a:buNone/>
            </a:pPr>
            <a:r>
              <a:rPr sz="700" b="0" i="1">
                <a:solidFill>
                  <a:srgbClr val="7F7F7F"/>
                </a:solidFill>
                <a:latin typeface="Montserrat"/>
              </a:rPr>
              <a:t>Diagnóstico de reconstrução da regra, sem abertura de desfecho: output/rdd_bolsa/a01b_reconstrucao_regra_faixa.json. Edital SGTES/MS nº 3/2025, itens 11.1.3 e 11.1.4; Ipea, Atlas da Vulnerabilidade Social (2015).</a:t>
            </a:r>
          </a:p>
        </p:txBody>
      </p:sp>
    </p:spTree>
    <p:extLst>
      <p:ext uri="{BB962C8B-B14F-4D97-AF65-F5344CB8AC3E}">
        <p14:creationId xmlns:p14="http://schemas.microsoft.com/office/powerpoint/2010/main" val="1187255303"/>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eqBox">
            <a:extLst>
              <a:ext uri="{FF2B5EF4-FFF2-40B4-BE49-F238E27FC236}">
                <a16:creationId xmlns:a16="http://schemas.microsoft.com/office/drawing/2014/main" id="{13F1096F-F06A-5191-B542-930D190B653F}"/>
              </a:ext>
            </a:extLst>
          </p:cNvPr>
          <p:cNvSpPr/>
          <p:nvPr/>
        </p:nvSpPr>
        <p:spPr>
          <a:xfrm>
            <a:off x="508000" y="1092200"/>
            <a:ext cx="11176000" cy="1092200"/>
          </a:xfrm>
          <a:prstGeom prst="roundRect">
            <a:avLst/>
          </a:prstGeom>
          <a:solidFill>
            <a:srgbClr val="E7F1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6" name="cBox">
            <a:extLst>
              <a:ext uri="{FF2B5EF4-FFF2-40B4-BE49-F238E27FC236}">
                <a16:creationId xmlns:a16="http://schemas.microsoft.com/office/drawing/2014/main" id="{72891DE0-38B3-30DE-8602-833FAECA049D}"/>
              </a:ext>
            </a:extLst>
          </p:cNvPr>
          <p:cNvSpPr/>
          <p:nvPr/>
        </p:nvSpPr>
        <p:spPr>
          <a:xfrm>
            <a:off x="508000" y="5435600"/>
            <a:ext cx="11176000" cy="838200"/>
          </a:xfrm>
          <a:prstGeom prst="roundRect">
            <a:avLst/>
          </a:prstGeom>
          <a:solidFill>
            <a:srgbClr val="F3F7F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15" name="Title 14">
            <a:extLst>
              <a:ext uri="{FF2B5EF4-FFF2-40B4-BE49-F238E27FC236}">
                <a16:creationId xmlns:a16="http://schemas.microsoft.com/office/drawing/2014/main" id="{448D68A5-7FFE-EB35-A774-DC915FA3D6B0}"/>
              </a:ext>
            </a:extLst>
          </p:cNvPr>
          <p:cNvSpPr>
            <a:spLocks noGrp="1"/>
          </p:cNvSpPr>
          <p:nvPr>
            <p:ph type="title"/>
          </p:nvPr>
        </p:nvSpPr>
        <p:spPr/>
        <p:txBody>
          <a:bodyPr>
            <a:normAutofit/>
          </a:bodyPr>
          <a:lstStyle/>
          <a:p>
            <a:pPr marL="0" indent="0" algn="l">
              <a:lnSpc>
                <a:spcPct val="108000"/>
              </a:lnSpc>
              <a:spcAft>
                <a:spcPts val="400"/>
              </a:spcAft>
              <a:buNone/>
            </a:pPr>
            <a:r>
              <a:rPr lang="pt-BR" sz="2400" b="1">
                <a:solidFill>
                  <a:srgbClr val="FFFFFF"/>
                </a:solidFill>
                <a:latin typeface="Montserrat" pitchFamily="2" charset="77"/>
              </a:rPr>
              <a:t>Equipe e capital entram duas vezes no custo de atender</a:t>
            </a:r>
          </a:p>
        </p:txBody>
      </p:sp>
      <p:sp>
        <p:nvSpPr>
          <p:cNvPr id="25" name="kicker">
            <a:extLst>
              <a:ext uri="{FF2B5EF4-FFF2-40B4-BE49-F238E27FC236}">
                <a16:creationId xmlns:a16="http://schemas.microsoft.com/office/drawing/2014/main" id="{20248416-8FE3-9D21-7160-73F93C6FC4CE}"/>
              </a:ext>
            </a:extLst>
          </p:cNvPr>
          <p:cNvSpPr txBox="1"/>
          <p:nvPr/>
        </p:nvSpPr>
        <p:spPr>
          <a:xfrm>
            <a:off x="508000" y="736600"/>
            <a:ext cx="8890000" cy="282578"/>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200" b="1" spc="100">
                <a:solidFill>
                  <a:srgbClr val="056429"/>
                </a:solidFill>
                <a:latin typeface="Montserrat" pitchFamily="2" charset="77"/>
              </a:rPr>
              <a:t>CHONÉ &amp; MA (2011), §2.3;  REINHARDT (1972, 1975)</a:t>
            </a:r>
          </a:p>
        </p:txBody>
      </p:sp>
      <p:sp>
        <p:nvSpPr>
          <p:cNvPr id="40" name="h1">
            <a:extLst>
              <a:ext uri="{FF2B5EF4-FFF2-40B4-BE49-F238E27FC236}">
                <a16:creationId xmlns:a16="http://schemas.microsoft.com/office/drawing/2014/main" id="{AD25428D-D77E-987E-3E67-ADE3F1CCF516}"/>
              </a:ext>
            </a:extLst>
          </p:cNvPr>
          <p:cNvSpPr txBox="1"/>
          <p:nvPr/>
        </p:nvSpPr>
        <p:spPr>
          <a:xfrm>
            <a:off x="508000" y="2413000"/>
            <a:ext cx="5588000" cy="298415"/>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300" b="1" spc="100">
                <a:solidFill>
                  <a:srgbClr val="056429"/>
                </a:solidFill>
                <a:latin typeface="Montserrat" pitchFamily="2" charset="77"/>
              </a:rPr>
              <a:t>A CURVA EM U DO CUSTO LÍQUIDO</a:t>
            </a:r>
          </a:p>
        </p:txBody>
      </p:sp>
      <p:sp>
        <p:nvSpPr>
          <p:cNvPr id="41" name="rule1">
            <a:extLst>
              <a:ext uri="{FF2B5EF4-FFF2-40B4-BE49-F238E27FC236}">
                <a16:creationId xmlns:a16="http://schemas.microsoft.com/office/drawing/2014/main" id="{6AAFC25D-3170-92AA-7CA2-4069E54FA03C}"/>
              </a:ext>
            </a:extLst>
          </p:cNvPr>
          <p:cNvSpPr/>
          <p:nvPr/>
        </p:nvSpPr>
        <p:spPr>
          <a:xfrm>
            <a:off x="512064" y="2688336"/>
            <a:ext cx="5852160" cy="1905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3" name="h2">
            <a:extLst>
              <a:ext uri="{FF2B5EF4-FFF2-40B4-BE49-F238E27FC236}">
                <a16:creationId xmlns:a16="http://schemas.microsoft.com/office/drawing/2014/main" id="{284AC9A8-F0E1-397A-801F-83032B46E4EA}"/>
              </a:ext>
            </a:extLst>
          </p:cNvPr>
          <p:cNvSpPr txBox="1"/>
          <p:nvPr/>
        </p:nvSpPr>
        <p:spPr>
          <a:xfrm>
            <a:off x="6477000" y="2413000"/>
            <a:ext cx="5207000" cy="298415"/>
          </a:xfrm>
          <a:prstGeom prst="rect">
            <a:avLst/>
          </a:prstGeom>
          <a:noFill/>
        </p:spPr>
        <p:txBody>
          <a:bodyPr vertOverflow="overflow" vert="horz" wrap="square" rtlCol="0" anchor="t">
            <a:spAutoFit/>
          </a:bodyPr>
          <a:lstStyle/>
          <a:p>
            <a:pPr marL="0" indent="0" algn="l">
              <a:lnSpc>
                <a:spcPct val="108000"/>
              </a:lnSpc>
              <a:spcAft>
                <a:spcPts val="400"/>
              </a:spcAft>
              <a:buNone/>
            </a:pPr>
            <a:r>
              <a:rPr lang="pt-BR" sz="1300" b="1" spc="100">
                <a:solidFill>
                  <a:srgbClr val="056429"/>
                </a:solidFill>
                <a:latin typeface="Montserrat" pitchFamily="2" charset="77"/>
              </a:rPr>
              <a:t>OS DOIS CANAIS DE EQUIPE E CAPITAL</a:t>
            </a:r>
          </a:p>
        </p:txBody>
      </p:sp>
      <p:sp>
        <p:nvSpPr>
          <p:cNvPr id="44" name="rule2">
            <a:extLst>
              <a:ext uri="{FF2B5EF4-FFF2-40B4-BE49-F238E27FC236}">
                <a16:creationId xmlns:a16="http://schemas.microsoft.com/office/drawing/2014/main" id="{A6F469FE-961F-D97C-215E-85D5B15F7E4D}"/>
              </a:ext>
            </a:extLst>
          </p:cNvPr>
          <p:cNvSpPr/>
          <p:nvPr/>
        </p:nvSpPr>
        <p:spPr>
          <a:xfrm>
            <a:off x="6477000" y="2692400"/>
            <a:ext cx="5207000" cy="1905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7" name="cBar">
            <a:extLst>
              <a:ext uri="{FF2B5EF4-FFF2-40B4-BE49-F238E27FC236}">
                <a16:creationId xmlns:a16="http://schemas.microsoft.com/office/drawing/2014/main" id="{4DE59DB0-47B4-64D9-6131-D7F0AF23FBE4}"/>
              </a:ext>
            </a:extLst>
          </p:cNvPr>
          <p:cNvSpPr/>
          <p:nvPr/>
        </p:nvSpPr>
        <p:spPr>
          <a:xfrm>
            <a:off x="508000" y="5511800"/>
            <a:ext cx="63500" cy="685800"/>
          </a:xfrm>
          <a:prstGeom prst="rect">
            <a:avLst/>
          </a:prstGeom>
          <a:solidFill>
            <a:srgbClr val="05642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latin typeface="Montserrat" pitchFamily="2" charset="77"/>
            </a:endParaRPr>
          </a:p>
        </p:txBody>
      </p:sp>
      <p:sp>
        <p:nvSpPr>
          <p:cNvPr id="48" name="cText">
            <a:extLst>
              <a:ext uri="{FF2B5EF4-FFF2-40B4-BE49-F238E27FC236}">
                <a16:creationId xmlns:a16="http://schemas.microsoft.com/office/drawing/2014/main" id="{59B5D038-130A-EDBE-1135-6003F1CAC5E5}"/>
              </a:ext>
            </a:extLst>
          </p:cNvPr>
          <p:cNvSpPr txBox="1"/>
          <p:nvPr/>
        </p:nvSpPr>
        <p:spPr>
          <a:xfrm>
            <a:off x="787400" y="5575300"/>
            <a:ext cx="10668000" cy="584199"/>
          </a:xfrm>
          <a:prstGeom prst="rect">
            <a:avLst/>
          </a:prstGeom>
          <a:noFill/>
        </p:spPr>
        <p:txBody>
          <a:bodyPr vertOverflow="overflow" vert="horz" wrap="square" rtlCol="0" anchor="ctr">
            <a:spAutoFit/>
          </a:bodyPr>
          <a:lstStyle/>
          <a:p>
            <a:pPr marL="0" indent="0" algn="l">
              <a:lnSpc>
                <a:spcPct val="110000"/>
              </a:lnSpc>
              <a:spcAft>
                <a:spcPts val="400"/>
              </a:spcAft>
              <a:buNone/>
            </a:pPr>
            <a:r>
              <a:rPr lang="pt-BR" sz="1500" b="1">
                <a:solidFill>
                  <a:srgbClr val="056429"/>
                </a:solidFill>
                <a:latin typeface="Montserrat" pitchFamily="2" charset="77"/>
              </a:rPr>
              <a:t>Onde chegamos:  a estrutura do município entra na decisão por dois canais, não um — e nada disso aparece no valor anunciado da bolsa.</a:t>
            </a:r>
          </a:p>
        </p:txBody>
      </p:sp>
      <p:pic>
        <p:nvPicPr>
          <p:cNvPr id="49" name="Picture 48" descr="derivadas_lk.png"/>
          <p:cNvPicPr>
            <a:picLocks noChangeAspect="1"/>
          </p:cNvPicPr>
          <p:nvPr/>
        </p:nvPicPr>
        <p:blipFill>
          <a:blip r:embed="rId3"/>
          <a:stretch>
            <a:fillRect/>
          </a:stretch>
        </p:blipFill>
        <p:spPr>
          <a:xfrm>
            <a:off x="2761488" y="1298448"/>
            <a:ext cx="6675120" cy="717162"/>
          </a:xfrm>
          <a:prstGeom prst="rect">
            <a:avLst/>
          </a:prstGeom>
        </p:spPr>
      </p:pic>
      <p:pic>
        <p:nvPicPr>
          <p:cNvPr id="50" name="Picture 49" descr="custo_laboral_deck.png"/>
          <p:cNvPicPr>
            <a:picLocks noChangeAspect="1"/>
          </p:cNvPicPr>
          <p:nvPr/>
        </p:nvPicPr>
        <p:blipFill>
          <a:blip r:embed="rId4"/>
          <a:stretch>
            <a:fillRect/>
          </a:stretch>
        </p:blipFill>
        <p:spPr>
          <a:xfrm>
            <a:off x="475488" y="2761488"/>
            <a:ext cx="5669280" cy="2345629"/>
          </a:xfrm>
          <a:prstGeom prst="rect">
            <a:avLst/>
          </a:prstGeom>
        </p:spPr>
      </p:pic>
      <p:sp>
        <p:nvSpPr>
          <p:cNvPr id="51" name="TextBox 50"/>
          <p:cNvSpPr txBox="1"/>
          <p:nvPr/>
        </p:nvSpPr>
        <p:spPr>
          <a:xfrm>
            <a:off x="512064" y="5138928"/>
            <a:ext cx="5852160" cy="292608"/>
          </a:xfrm>
          <a:prstGeom prst="rect">
            <a:avLst/>
          </a:prstGeom>
          <a:noFill/>
          <a:ln>
            <a:noFill/>
          </a:ln>
        </p:spPr>
        <p:txBody>
          <a:bodyPr wrap="square" anchor="t" lIns="0" rIns="0" tIns="0" bIns="0">
            <a:spAutoFit/>
          </a:bodyPr>
          <a:lstStyle/>
          <a:p>
            <a:pPr algn="l">
              <a:lnSpc>
                <a:spcPct val="95000"/>
              </a:lnSpc>
              <a:buNone/>
            </a:pPr>
            <a:r>
              <a:rPr sz="950" b="0" i="1">
                <a:solidFill>
                  <a:srgbClr val="7F7F7F"/>
                </a:solidFill>
                <a:latin typeface="Montserrat"/>
              </a:rPr>
              <a:t>O custo marginal c′(q) = C′ − αB′ tem sinal incerto; c″ ≫ 0 não tem. Daí o U.</a:t>
            </a:r>
          </a:p>
        </p:txBody>
      </p:sp>
      <p:sp>
        <p:nvSpPr>
          <p:cNvPr id="52" name="TextBox 51"/>
          <p:cNvSpPr txBox="1"/>
          <p:nvPr/>
        </p:nvSpPr>
        <p:spPr>
          <a:xfrm>
            <a:off x="6473952" y="2724912"/>
            <a:ext cx="5266944" cy="274320"/>
          </a:xfrm>
          <a:prstGeom prst="rect">
            <a:avLst/>
          </a:prstGeom>
          <a:solidFill>
            <a:srgbClr val="114719"/>
          </a:solidFill>
          <a:ln>
            <a:noFill/>
          </a:ln>
        </p:spPr>
        <p:txBody>
          <a:bodyPr wrap="square" anchor="ctr" lIns="73152" rIns="73152" tIns="51206" bIns="51206">
            <a:spAutoFit/>
          </a:bodyPr>
          <a:lstStyle/>
          <a:p>
            <a:pPr algn="l">
              <a:buNone/>
            </a:pPr>
            <a:r>
              <a:rPr sz="950" b="1" i="0">
                <a:solidFill>
                  <a:srgbClr val="FFFFFF"/>
                </a:solidFill>
                <a:latin typeface="Montserrat"/>
              </a:rPr>
              <a:t>CANAL 1 · JÁ ESTÁ EM CHONÉ &amp; MA</a:t>
            </a:r>
          </a:p>
        </p:txBody>
      </p:sp>
      <p:sp>
        <p:nvSpPr>
          <p:cNvPr id="53" name="TextBox 52"/>
          <p:cNvSpPr txBox="1"/>
          <p:nvPr/>
        </p:nvSpPr>
        <p:spPr>
          <a:xfrm>
            <a:off x="6473952" y="3017520"/>
            <a:ext cx="5266944" cy="987552"/>
          </a:xfrm>
          <a:prstGeom prst="rect">
            <a:avLst/>
          </a:prstGeom>
          <a:solidFill>
            <a:srgbClr val="EFF4F0"/>
          </a:solidFill>
          <a:ln>
            <a:noFill/>
          </a:ln>
        </p:spPr>
        <p:txBody>
          <a:bodyPr wrap="square" anchor="t" tIns="64007" bIns="64007">
            <a:spAutoFit/>
          </a:bodyPr>
          <a:lstStyle/>
          <a:p>
            <a:pPr algn="l">
              <a:lnSpc>
                <a:spcPct val="95000"/>
              </a:lnSpc>
              <a:buNone/>
            </a:pPr>
            <a:r>
              <a:rPr sz="1050" b="0" i="0">
                <a:solidFill>
                  <a:srgbClr val="3A3A3A"/>
                </a:solidFill>
                <a:latin typeface="Montserrat"/>
              </a:rPr>
              <a:t>Com equipe de apoio e capital instalado, o mesmo volume de atendimentos </a:t>
            </a:r>
            <a:r>
              <a:rPr sz="1050" b="1" i="0">
                <a:solidFill>
                  <a:srgbClr val="114719"/>
                </a:solidFill>
                <a:latin typeface="Montserrat"/>
              </a:rPr>
              <a:t>cansa menos</a:t>
            </a:r>
            <a:r>
              <a:rPr sz="1050" b="0" i="0">
                <a:solidFill>
                  <a:srgbClr val="3A3A3A"/>
                </a:solidFill>
                <a:latin typeface="Montserrat"/>
              </a:rPr>
              <a:t>: leitos, equipamento e pessoal reduzem o esforço de produzir q.</a:t>
            </a:r>
          </a:p>
        </p:txBody>
      </p:sp>
      <p:sp>
        <p:nvSpPr>
          <p:cNvPr id="54" name="TextBox 53"/>
          <p:cNvSpPr txBox="1"/>
          <p:nvPr/>
        </p:nvSpPr>
        <p:spPr>
          <a:xfrm>
            <a:off x="6473952" y="4041648"/>
            <a:ext cx="5266944" cy="274320"/>
          </a:xfrm>
          <a:prstGeom prst="rect">
            <a:avLst/>
          </a:prstGeom>
          <a:solidFill>
            <a:srgbClr val="114719"/>
          </a:solidFill>
          <a:ln>
            <a:noFill/>
          </a:ln>
        </p:spPr>
        <p:txBody>
          <a:bodyPr wrap="square" anchor="ctr" lIns="73152" rIns="73152" tIns="51206" bIns="51206">
            <a:spAutoFit/>
          </a:bodyPr>
          <a:lstStyle/>
          <a:p>
            <a:pPr algn="l">
              <a:buNone/>
            </a:pPr>
            <a:r>
              <a:rPr sz="950" b="1" i="0">
                <a:solidFill>
                  <a:srgbClr val="FFFFFF"/>
                </a:solidFill>
                <a:latin typeface="Montserrat"/>
              </a:rPr>
              <a:t>CANAL 2 · EXTENSÃO DESTE PROJETO</a:t>
            </a:r>
          </a:p>
        </p:txBody>
      </p:sp>
      <p:sp>
        <p:nvSpPr>
          <p:cNvPr id="55" name="TextBox 54"/>
          <p:cNvSpPr txBox="1"/>
          <p:nvPr/>
        </p:nvSpPr>
        <p:spPr>
          <a:xfrm>
            <a:off x="6473952" y="4334256"/>
            <a:ext cx="5266944" cy="987552"/>
          </a:xfrm>
          <a:prstGeom prst="rect">
            <a:avLst/>
          </a:prstGeom>
          <a:solidFill>
            <a:srgbClr val="EFF4F0"/>
          </a:solidFill>
          <a:ln>
            <a:noFill/>
          </a:ln>
        </p:spPr>
        <p:txBody>
          <a:bodyPr wrap="square" anchor="t" tIns="64007" bIns="64007">
            <a:spAutoFit/>
          </a:bodyPr>
          <a:lstStyle/>
          <a:p>
            <a:pPr algn="l">
              <a:lnSpc>
                <a:spcPct val="95000"/>
              </a:lnSpc>
              <a:buNone/>
            </a:pPr>
            <a:r>
              <a:rPr sz="1050" b="0" i="0">
                <a:solidFill>
                  <a:srgbClr val="3A3A3A"/>
                </a:solidFill>
                <a:latin typeface="Montserrat"/>
              </a:rPr>
              <a:t>Sem medicamento, insumo cirúrgico ou maquinário em funcionamento, o atendimento </a:t>
            </a:r>
            <a:r>
              <a:rPr sz="1050" b="1" i="0">
                <a:solidFill>
                  <a:srgbClr val="114719"/>
                </a:solidFill>
                <a:latin typeface="Montserrat"/>
              </a:rPr>
              <a:t>perde resolutividade</a:t>
            </a:r>
            <a:r>
              <a:rPr sz="1050" b="0" i="0">
                <a:solidFill>
                  <a:srgbClr val="3A3A3A"/>
                </a:solidFill>
                <a:latin typeface="Montserrat"/>
              </a:rPr>
              <a:t> — e com ela cai o benefício ao paciente, que é o que move o médico altruísta. O canal vem da função de produção médica de Reinhardt.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a:extLst>
              <a:ext uri="{FF2B5EF4-FFF2-40B4-BE49-F238E27FC236}">
                <a16:creationId xmlns:a16="http://schemas.microsoft.com/office/drawing/2014/main" id="{250F146C-89B5-EB90-3DBB-3884526E8635}"/>
              </a:ext>
            </a:extLst>
          </p:cNvPr>
          <p:cNvSpPr>
            <a:spLocks noGrp="1"/>
          </p:cNvSpPr>
          <p:nvPr>
            <p:ph type="body" sz="quarter" idx="18"/>
          </p:nvPr>
        </p:nvSpPr>
        <p:spPr/>
        <p:txBody>
          <a:bodyPr>
            <a:normAutofit fontScale="62500" lnSpcReduction="20000"/>
          </a:bodyPr>
          <a:lstStyle/>
          <a:p>
            <a:endParaRPr lang="pt-BR"/>
          </a:p>
        </p:txBody>
      </p:sp>
      <p:sp>
        <p:nvSpPr>
          <p:cNvPr id="3" name="Title 2">
            <a:extLst>
              <a:ext uri="{FF2B5EF4-FFF2-40B4-BE49-F238E27FC236}">
                <a16:creationId xmlns:a16="http://schemas.microsoft.com/office/drawing/2014/main" id="{A6AD2358-6AFA-940D-0B39-1FBA14940795}"/>
              </a:ext>
            </a:extLst>
          </p:cNvPr>
          <p:cNvSpPr>
            <a:spLocks noGrp="1"/>
          </p:cNvSpPr>
          <p:nvPr>
            <p:ph type="title"/>
          </p:nvPr>
        </p:nvSpPr>
        <p:spPr/>
        <p:txBody>
          <a:bodyPr>
            <a:normAutofit/>
          </a:bodyPr>
          <a:lstStyle/>
          <a:p>
            <a:r>
              <a:rPr lang="pt-BR">
                <a:solidFill>
                  <a:srgbClr val="F0F6FC"/>
                </a:solidFill>
                <a:latin typeface="Montserrat"/>
              </a:rPr>
              <a:t>O IVS organiza o custo, com um sinal e uma dúvida</a:t>
            </a:r>
            <a:endParaRPr lang="en-US"/>
          </a:p>
        </p:txBody>
      </p:sp>
      <p:sp>
        <p:nvSpPr>
          <p:cNvPr id="18" name="Rectangle 17">
            <a:extLst>
              <a:ext uri="{FF2B5EF4-FFF2-40B4-BE49-F238E27FC236}">
                <a16:creationId xmlns:a16="http://schemas.microsoft.com/office/drawing/2014/main" id="{067BC014-55CC-69AF-12BB-55C87B6F2ACF}"/>
              </a:ext>
            </a:extLst>
          </p:cNvPr>
          <p:cNvSpPr/>
          <p:nvPr/>
        </p:nvSpPr>
        <p:spPr>
          <a:xfrm>
            <a:off x="2103120" y="786384"/>
            <a:ext cx="7223760" cy="676656"/>
          </a:xfrm>
          <a:prstGeom prst="rect">
            <a:avLst/>
          </a:prstGeom>
          <a:solidFill>
            <a:schemeClr val="bg1"/>
          </a:solidFill>
          <a:ln w="38100">
            <a:solidFill>
              <a:srgbClr val="114719"/>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mn-lt"/>
              <a:cs typeface="+mn-lt"/>
            </a:endParaRPr>
          </a:p>
        </p:txBody>
      </p:sp>
      <p:pic>
        <p:nvPicPr>
          <p:cNvPr id="19" name="Picture 18" descr="custo_por_ivs.png"/>
          <p:cNvPicPr>
            <a:picLocks noChangeAspect="1"/>
          </p:cNvPicPr>
          <p:nvPr/>
        </p:nvPicPr>
        <p:blipFill>
          <a:blip r:embed="rId5"/>
          <a:stretch>
            <a:fillRect/>
          </a:stretch>
        </p:blipFill>
        <p:spPr>
          <a:xfrm>
            <a:off x="4572000" y="914400"/>
            <a:ext cx="2286000" cy="306042"/>
          </a:xfrm>
          <a:prstGeom prst="rect">
            <a:avLst/>
          </a:prstGeom>
        </p:spPr>
      </p:pic>
      <p:sp>
        <p:nvSpPr>
          <p:cNvPr id="20" name="TextBox 19"/>
          <p:cNvSpPr txBox="1"/>
          <p:nvPr/>
        </p:nvSpPr>
        <p:spPr>
          <a:xfrm>
            <a:off x="512064" y="1591056"/>
            <a:ext cx="11173968" cy="310896"/>
          </a:xfrm>
          <a:prstGeom prst="rect">
            <a:avLst/>
          </a:prstGeom>
          <a:noFill/>
          <a:ln>
            <a:noFill/>
          </a:ln>
        </p:spPr>
        <p:txBody>
          <a:bodyPr wrap="square" anchor="t" lIns="0" rIns="0" tIns="0" bIns="0">
            <a:spAutoFit/>
          </a:bodyPr>
          <a:lstStyle/>
          <a:p>
            <a:pPr algn="ctr">
              <a:lnSpc>
                <a:spcPct val="95000"/>
              </a:lnSpc>
              <a:buNone/>
            </a:pPr>
            <a:r>
              <a:rPr sz="1100" b="0" i="0">
                <a:solidFill>
                  <a:srgbClr val="3A3A3A"/>
                </a:solidFill>
                <a:latin typeface="Montserrat"/>
              </a:rPr>
              <a:t>Distância da família, aluguel e esforço clínico não são observados. O IVS é. E cada dimensão do índice corresponde a um bloco do custo.</a:t>
            </a:r>
          </a:p>
        </p:txBody>
      </p:sp>
      <p:sp>
        <p:nvSpPr>
          <p:cNvPr id="21" name="TextBox 20"/>
          <p:cNvSpPr txBox="1"/>
          <p:nvPr/>
        </p:nvSpPr>
        <p:spPr>
          <a:xfrm>
            <a:off x="512064" y="1975104"/>
            <a:ext cx="5413248" cy="329184"/>
          </a:xfrm>
          <a:prstGeom prst="rect">
            <a:avLst/>
          </a:prstGeom>
          <a:solidFill>
            <a:srgbClr val="114719"/>
          </a:solidFill>
          <a:ln>
            <a:noFill/>
          </a:ln>
        </p:spPr>
        <p:txBody>
          <a:bodyPr wrap="square" anchor="ctr" lIns="73152" rIns="73152" tIns="51206" bIns="51206">
            <a:spAutoFit/>
          </a:bodyPr>
          <a:lstStyle/>
          <a:p>
            <a:pPr algn="l">
              <a:buNone/>
            </a:pPr>
            <a:r>
              <a:rPr sz="1000" b="1" i="0">
                <a:solidFill>
                  <a:srgbClr val="FFFFFF"/>
                </a:solidFill>
                <a:latin typeface="Montserrat"/>
              </a:rPr>
              <a:t>CUSTO GEOGRÁFICO  ·  SINAL CONHECIDO</a:t>
            </a:r>
          </a:p>
        </p:txBody>
      </p:sp>
      <p:sp>
        <p:nvSpPr>
          <p:cNvPr id="22" name="TextBox 21"/>
          <p:cNvSpPr txBox="1"/>
          <p:nvPr/>
        </p:nvSpPr>
        <p:spPr>
          <a:xfrm>
            <a:off x="512064" y="2377440"/>
            <a:ext cx="5413248" cy="1005840"/>
          </a:xfrm>
          <a:prstGeom prst="rect">
            <a:avLst/>
          </a:prstGeom>
          <a:solidFill>
            <a:srgbClr val="EFF4F0"/>
          </a:solidFill>
          <a:ln>
            <a:noFill/>
          </a:ln>
        </p:spPr>
        <p:txBody>
          <a:bodyPr wrap="square" anchor="t" tIns="64007" bIns="64007">
            <a:spAutoFit/>
          </a:bodyPr>
          <a:lstStyle/>
          <a:p>
            <a:pPr algn="l">
              <a:lnSpc>
                <a:spcPct val="95000"/>
              </a:lnSpc>
              <a:spcAft>
                <a:spcPts val="300"/>
              </a:spcAft>
              <a:buNone/>
            </a:pPr>
            <a:r>
              <a:rPr sz="1000" b="1" i="0">
                <a:solidFill>
                  <a:srgbClr val="114719"/>
                </a:solidFill>
                <a:latin typeface="Montserrat"/>
              </a:rPr>
              <a:t>Infraestrutura urbana</a:t>
            </a:r>
          </a:p>
          <a:p>
            <a:pPr algn="l">
              <a:lnSpc>
                <a:spcPct val="95000"/>
              </a:lnSpc>
              <a:buNone/>
            </a:pPr>
            <a:r>
              <a:rPr sz="1000" b="0" i="0">
                <a:solidFill>
                  <a:srgbClr val="3A3A3A"/>
                </a:solidFill>
                <a:latin typeface="Montserrat"/>
              </a:rPr>
              <a:t>saneamento, coleta de lixo, tempo de deslocamento — é a amenidade Aₘ de Redding &amp; Rossi-Hansberg. Índice maior, amenidade pior.</a:t>
            </a:r>
          </a:p>
        </p:txBody>
      </p:sp>
      <p:sp>
        <p:nvSpPr>
          <p:cNvPr id="23" name="TextBox 22"/>
          <p:cNvSpPr txBox="1"/>
          <p:nvPr/>
        </p:nvSpPr>
        <p:spPr>
          <a:xfrm>
            <a:off x="512064" y="3493008"/>
            <a:ext cx="5413248" cy="1005840"/>
          </a:xfrm>
          <a:prstGeom prst="rect">
            <a:avLst/>
          </a:prstGeom>
          <a:solidFill>
            <a:srgbClr val="EFF4F0"/>
          </a:solidFill>
          <a:ln>
            <a:noFill/>
          </a:ln>
        </p:spPr>
        <p:txBody>
          <a:bodyPr wrap="square" anchor="t" tIns="64007" bIns="64007">
            <a:spAutoFit/>
          </a:bodyPr>
          <a:lstStyle/>
          <a:p>
            <a:pPr algn="l">
              <a:lnSpc>
                <a:spcPct val="95000"/>
              </a:lnSpc>
              <a:spcAft>
                <a:spcPts val="300"/>
              </a:spcAft>
              <a:buNone/>
            </a:pPr>
            <a:r>
              <a:rPr sz="1000" b="1" i="0">
                <a:solidFill>
                  <a:srgbClr val="114719"/>
                </a:solidFill>
                <a:latin typeface="Montserrat"/>
              </a:rPr>
              <a:t>Renda e trabalho</a:t>
            </a:r>
          </a:p>
          <a:p>
            <a:pPr algn="l">
              <a:lnSpc>
                <a:spcPct val="95000"/>
              </a:lnSpc>
              <a:buNone/>
            </a:pPr>
            <a:r>
              <a:rPr sz="1000" b="0" i="0">
                <a:solidFill>
                  <a:srgbClr val="3A3A3A"/>
                </a:solidFill>
                <a:latin typeface="Montserrat"/>
              </a:rPr>
              <a:t>pobreza, desemprego, informalidade — sem renda local não há mercado privado que sustente a especialidade, e w tende a B.</a:t>
            </a:r>
          </a:p>
        </p:txBody>
      </p:sp>
      <p:sp>
        <p:nvSpPr>
          <p:cNvPr id="24" name="TextBox 23"/>
          <p:cNvSpPr txBox="1"/>
          <p:nvPr/>
        </p:nvSpPr>
        <p:spPr>
          <a:xfrm>
            <a:off x="512064" y="4608576"/>
            <a:ext cx="5413248" cy="402336"/>
          </a:xfrm>
          <a:prstGeom prst="rect">
            <a:avLst/>
          </a:prstGeom>
          <a:noFill/>
          <a:ln>
            <a:noFill/>
          </a:ln>
        </p:spPr>
        <p:txBody>
          <a:bodyPr wrap="square" anchor="t" lIns="18288" rIns="18288" tIns="12801" bIns="12801">
            <a:spAutoFit/>
          </a:bodyPr>
          <a:lstStyle/>
          <a:p>
            <a:pPr algn="l">
              <a:lnSpc>
                <a:spcPct val="95000"/>
              </a:lnSpc>
              <a:buNone/>
            </a:pPr>
            <a:r>
              <a:rPr sz="1000" b="1" i="0">
                <a:solidFill>
                  <a:srgbClr val="114719"/>
                </a:solidFill>
                <a:latin typeface="Montserrat"/>
              </a:rPr>
              <a:t>Nas duas dimensões o sentido é o mesmo: IVS maior, custo maior.</a:t>
            </a:r>
          </a:p>
        </p:txBody>
      </p:sp>
      <p:sp>
        <p:nvSpPr>
          <p:cNvPr id="25" name="TextBox 24"/>
          <p:cNvSpPr txBox="1"/>
          <p:nvPr/>
        </p:nvSpPr>
        <p:spPr>
          <a:xfrm>
            <a:off x="6272784" y="1975104"/>
            <a:ext cx="5413248" cy="329184"/>
          </a:xfrm>
          <a:prstGeom prst="rect">
            <a:avLst/>
          </a:prstGeom>
          <a:solidFill>
            <a:srgbClr val="056429"/>
          </a:solidFill>
          <a:ln>
            <a:noFill/>
          </a:ln>
        </p:spPr>
        <p:txBody>
          <a:bodyPr wrap="square" anchor="ctr" lIns="73152" rIns="73152" tIns="51206" bIns="51206">
            <a:spAutoFit/>
          </a:bodyPr>
          <a:lstStyle/>
          <a:p>
            <a:pPr algn="l">
              <a:buNone/>
            </a:pPr>
            <a:r>
              <a:rPr sz="1000" b="1" i="0">
                <a:solidFill>
                  <a:srgbClr val="FFFFFF"/>
                </a:solidFill>
                <a:latin typeface="Montserrat"/>
              </a:rPr>
              <a:t>CUSTO LABORAL  ·  SINAL AMBÍGUO</a:t>
            </a:r>
          </a:p>
        </p:txBody>
      </p:sp>
      <p:sp>
        <p:nvSpPr>
          <p:cNvPr id="26" name="TextBox 25"/>
          <p:cNvSpPr txBox="1"/>
          <p:nvPr/>
        </p:nvSpPr>
        <p:spPr>
          <a:xfrm>
            <a:off x="6272784" y="2377440"/>
            <a:ext cx="5413248" cy="1005840"/>
          </a:xfrm>
          <a:prstGeom prst="rect">
            <a:avLst/>
          </a:prstGeom>
          <a:solidFill>
            <a:srgbClr val="EFF4F0"/>
          </a:solidFill>
          <a:ln>
            <a:noFill/>
          </a:ln>
        </p:spPr>
        <p:txBody>
          <a:bodyPr wrap="square" anchor="t" tIns="64007" bIns="64007">
            <a:spAutoFit/>
          </a:bodyPr>
          <a:lstStyle/>
          <a:p>
            <a:pPr algn="l">
              <a:lnSpc>
                <a:spcPct val="95000"/>
              </a:lnSpc>
              <a:spcAft>
                <a:spcPts val="300"/>
              </a:spcAft>
              <a:buNone/>
            </a:pPr>
            <a:r>
              <a:rPr sz="1000" b="1" i="0">
                <a:solidFill>
                  <a:srgbClr val="114719"/>
                </a:solidFill>
                <a:latin typeface="Montserrat"/>
              </a:rPr>
              <a:t>Capital humano</a:t>
            </a:r>
          </a:p>
          <a:p>
            <a:pPr algn="l">
              <a:lnSpc>
                <a:spcPct val="95000"/>
              </a:lnSpc>
              <a:buNone/>
            </a:pPr>
            <a:r>
              <a:rPr sz="1000" b="0" i="0">
                <a:solidFill>
                  <a:srgbClr val="3A3A3A"/>
                </a:solidFill>
                <a:latin typeface="Montserrat"/>
              </a:rPr>
              <a:t>mortalidade infantil, analfabetismo, mães adolescentes. Carência sanitária eleva a gravidade do caso — e com ela o benefício de atender, B′(q) ↑, o que reduz o custo para um médico altruísta.</a:t>
            </a:r>
          </a:p>
        </p:txBody>
      </p:sp>
      <p:sp>
        <p:nvSpPr>
          <p:cNvPr id="27" name="TextBox 26"/>
          <p:cNvSpPr txBox="1"/>
          <p:nvPr/>
        </p:nvSpPr>
        <p:spPr>
          <a:xfrm>
            <a:off x="6272784" y="3493008"/>
            <a:ext cx="5413248" cy="1005840"/>
          </a:xfrm>
          <a:prstGeom prst="rect">
            <a:avLst/>
          </a:prstGeom>
          <a:solidFill>
            <a:srgbClr val="EFF4F0"/>
          </a:solidFill>
          <a:ln>
            <a:noFill/>
          </a:ln>
        </p:spPr>
        <p:txBody>
          <a:bodyPr wrap="square" anchor="t" tIns="64007" bIns="64007">
            <a:spAutoFit/>
          </a:bodyPr>
          <a:lstStyle/>
          <a:p>
            <a:pPr algn="l">
              <a:lnSpc>
                <a:spcPct val="95000"/>
              </a:lnSpc>
              <a:spcAft>
                <a:spcPts val="300"/>
              </a:spcAft>
              <a:buNone/>
            </a:pPr>
            <a:r>
              <a:rPr sz="1000" b="1" i="0">
                <a:solidFill>
                  <a:srgbClr val="114719"/>
                </a:solidFill>
                <a:latin typeface="Montserrat"/>
              </a:rPr>
              <a:t>A mesma dimensão, em sentido contrário</a:t>
            </a:r>
          </a:p>
          <a:p>
            <a:pPr algn="l">
              <a:lnSpc>
                <a:spcPct val="95000"/>
              </a:lnSpc>
              <a:buNone/>
            </a:pPr>
            <a:r>
              <a:rPr sz="1000" b="0" i="0">
                <a:solidFill>
                  <a:srgbClr val="3A3A3A"/>
                </a:solidFill>
                <a:latin typeface="Montserrat"/>
              </a:rPr>
              <a:t>carência também sinaliza escassez de equipe L e de capital K, o que eleva o cansaço C(q).</a:t>
            </a:r>
          </a:p>
        </p:txBody>
      </p:sp>
      <p:sp>
        <p:nvSpPr>
          <p:cNvPr id="28" name="TextBox 27"/>
          <p:cNvSpPr txBox="1"/>
          <p:nvPr/>
        </p:nvSpPr>
        <p:spPr>
          <a:xfrm>
            <a:off x="6272784" y="4608576"/>
            <a:ext cx="5413248" cy="402336"/>
          </a:xfrm>
          <a:prstGeom prst="rect">
            <a:avLst/>
          </a:prstGeom>
          <a:noFill/>
          <a:ln>
            <a:noFill/>
          </a:ln>
        </p:spPr>
        <p:txBody>
          <a:bodyPr wrap="square" anchor="t" lIns="18288" rIns="18288" tIns="12801" bIns="12801">
            <a:spAutoFit/>
          </a:bodyPr>
          <a:lstStyle/>
          <a:p>
            <a:pPr algn="l">
              <a:lnSpc>
                <a:spcPct val="95000"/>
              </a:lnSpc>
              <a:buNone/>
            </a:pPr>
            <a:r>
              <a:rPr sz="1000" b="1" i="0">
                <a:solidFill>
                  <a:srgbClr val="056429"/>
                </a:solidFill>
                <a:latin typeface="Montserrat"/>
              </a:rPr>
              <a:t>Os dois efeitos se opõem: o sinal de ∂c laboral/∂IVS é questão empírica.</a:t>
            </a:r>
          </a:p>
        </p:txBody>
      </p:sp>
      <p:sp>
        <p:nvSpPr>
          <p:cNvPr id="29" name="TextBox 28"/>
          <p:cNvSpPr txBox="1"/>
          <p:nvPr/>
        </p:nvSpPr>
        <p:spPr>
          <a:xfrm>
            <a:off x="512064" y="5431536"/>
            <a:ext cx="11173968" cy="841248"/>
          </a:xfrm>
          <a:prstGeom prst="rect">
            <a:avLst/>
          </a:prstGeom>
          <a:solidFill>
            <a:srgbClr val="EFF4F0"/>
          </a:solidFill>
          <a:ln w="15875">
            <a:solidFill>
              <a:srgbClr val="80B281"/>
            </a:solidFill>
          </a:ln>
        </p:spPr>
        <p:txBody>
          <a:bodyPr wrap="square" anchor="ctr" lIns="128016" rIns="128016" tIns="89611" bIns="89611">
            <a:spAutoFit/>
          </a:bodyPr>
          <a:lstStyle/>
          <a:p>
            <a:pPr algn="l">
              <a:lnSpc>
                <a:spcPct val="95000"/>
              </a:lnSpc>
              <a:spcAft>
                <a:spcPts val="400"/>
              </a:spcAft>
              <a:buNone/>
            </a:pPr>
            <a:r>
              <a:rPr sz="1150" b="1" i="0">
                <a:solidFill>
                  <a:srgbClr val="114719"/>
                </a:solidFill>
                <a:latin typeface="Montserrat"/>
              </a:rPr>
              <a:t>O que não é ambíguo.</a:t>
            </a:r>
            <a:r>
              <a:rPr sz="1150" b="0" i="0">
                <a:solidFill>
                  <a:srgbClr val="3A3A3A"/>
                </a:solidFill>
                <a:latin typeface="Montserrat"/>
              </a:rPr>
              <a:t>  O sinal de ∂c laboral/∂K: mais equipe e mais capital reduzem o custo de atender pelos dois canais do slide anterior. O que não sabemos é quanto do IVS é falta de K.</a:t>
            </a:r>
          </a:p>
          <a:p>
            <a:pPr algn="l">
              <a:lnSpc>
                <a:spcPct val="95000"/>
              </a:lnSpc>
              <a:buNone/>
            </a:pPr>
            <a:r>
              <a:rPr sz="1150" b="0" i="0">
                <a:solidFill>
                  <a:srgbClr val="3A3A3A"/>
                </a:solidFill>
                <a:latin typeface="Montserrat"/>
              </a:rPr>
              <a:t>É por isso que o objeto do trabalho é o </a:t>
            </a:r>
            <a:r>
              <a:rPr sz="1150" b="1" i="0">
                <a:solidFill>
                  <a:srgbClr val="114719"/>
                </a:solidFill>
                <a:latin typeface="Montserrat"/>
              </a:rPr>
              <a:t>degrau da bolsa entre faixas</a:t>
            </a:r>
            <a:r>
              <a:rPr sz="1150" b="0" i="0">
                <a:solidFill>
                  <a:srgbClr val="3A3A3A"/>
                </a:solidFill>
                <a:latin typeface="Montserrat"/>
              </a:rPr>
              <a:t>, e não a inclinação do índice.</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2013 - 2022">
  <a:themeElements>
    <a:clrScheme name="Tema do 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9553001-6307-0648-A07B-CCACFB8D8DAB}">
  <we:reference id="wa200010725" version="1.0.0.1" store="en-US" storeType="OMEX"/>
  <we:alternateReferences>
    <we:reference id="WA200010725" version="1.0.0.1" store="" storeType="OMEX"/>
  </we:alternateReferences>
  <we:properties>
    <we:property name="claude.fileId" value="&quot;5c5ac6b1-f68a-4f11-a502-6011a988e64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bf3eb3e-0d9a-437c-860c-69ce48f2cdf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38C8786BE86CB408D96F421BBC77521" ma:contentTypeVersion="5" ma:contentTypeDescription="Create a new document." ma:contentTypeScope="" ma:versionID="5da4dd9addb67677410ddfb5845d64f7">
  <xsd:schema xmlns:xsd="http://www.w3.org/2001/XMLSchema" xmlns:xs="http://www.w3.org/2001/XMLSchema" xmlns:p="http://schemas.microsoft.com/office/2006/metadata/properties" xmlns:ns3="6bf3eb3e-0d9a-437c-860c-69ce48f2cdf0" targetNamespace="http://schemas.microsoft.com/office/2006/metadata/properties" ma:root="true" ma:fieldsID="fb40ab77a2ad640a954feaa1eb039dd4" ns3:_="">
    <xsd:import namespace="6bf3eb3e-0d9a-437c-860c-69ce48f2cdf0"/>
    <xsd:element name="properties">
      <xsd:complexType>
        <xsd:sequence>
          <xsd:element name="documentManagement">
            <xsd:complexType>
              <xsd:all>
                <xsd:element ref="ns3:_activity" minOccurs="0"/>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3eb3e-0d9a-437c-860c-69ce48f2cdf0"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DateTaken" ma:index="9" nillable="true" ma:displayName="MediaServiceDateTaken" ma:hidden="true" ma:indexed="true" ma:internalName="MediaServiceDateTaken" ma:readOnly="true">
      <xsd:simpleType>
        <xsd:restriction base="dms:Text"/>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9A4F2D-BA7A-420A-859C-AF67393E28D2}">
  <ds:schemaRefs>
    <ds:schemaRef ds:uri="6bf3eb3e-0d9a-437c-860c-69ce48f2cdf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A42ECBC-5C73-45EC-9763-C55A66CE0F51}">
  <ds:schemaRefs>
    <ds:schemaRef ds:uri="http://schemas.microsoft.com/sharepoint/v3/contenttype/forms"/>
  </ds:schemaRefs>
</ds:datastoreItem>
</file>

<file path=customXml/itemProps3.xml><?xml version="1.0" encoding="utf-8"?>
<ds:datastoreItem xmlns:ds="http://schemas.openxmlformats.org/officeDocument/2006/customXml" ds:itemID="{CF5D4C76-7C3B-451C-A6D4-FBDF882EB00F}">
  <ds:schemaRefs>
    <ds:schemaRef ds:uri="6bf3eb3e-0d9a-437c-860c-69ce48f2cdf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0</Notes>
  <HiddenSlides>0</HiddenSlides>
  <ScaleCrop>false</ScaleCrop>
  <HeadingPairs>
    <vt:vector size="4" baseType="variant">
      <vt:variant>
        <vt:lpstr>Theme</vt:lpstr>
      </vt:variant>
      <vt:variant>
        <vt:i4>2</vt:i4>
      </vt:variant>
      <vt:variant>
        <vt:lpstr>Slide Titles</vt:lpstr>
      </vt:variant>
      <vt:variant>
        <vt:i4>20</vt:i4>
      </vt:variant>
    </vt:vector>
  </HeadingPairs>
  <TitlesOfParts>
    <vt:vector size="22" baseType="lpstr">
      <vt:lpstr>1_Office Theme</vt:lpstr>
      <vt:lpstr>Tema do Office 2013 - 2022</vt:lpstr>
      <vt:lpstr>PowerPoint Presentation</vt:lpstr>
      <vt:lpstr>PowerPoint Presentation</vt:lpstr>
      <vt:lpstr>A escassez de especialistas já é tratada como urgência sanitária</vt:lpstr>
      <vt:lpstr>Política direciona incentivos aos territórios mais vulneráveis</vt:lpstr>
      <vt:lpstr>Presença de especialistas cresceu em todos os níveis sociais</vt:lpstr>
      <vt:lpstr>PowerPoint Presentation</vt:lpstr>
      <vt:lpstr>II. Pergunta</vt:lpstr>
      <vt:lpstr>PowerPoint Presentation</vt:lpstr>
      <vt:lpstr>O modelo combina três elementos da teoria</vt:lpstr>
      <vt:lpstr>A escolha locacional maximiza a renda real líquida</vt:lpstr>
      <vt:lpstr>Amenidades e moradia definem quanto vale o salário</vt:lpstr>
      <vt:lpstr>Atender rende, cansa e gera benefício ao paciente</vt:lpstr>
      <vt:lpstr>PowerPoint Presentation</vt:lpstr>
      <vt:lpstr>Como o médico escolhe onde trabalhar</vt:lpstr>
      <vt:lpstr>A infraestrutura reduz os custos de atuação</vt:lpstr>
      <vt:lpstr>PowerPoint Presentation</vt:lpstr>
      <vt:lpstr>Da condição de aceitação saem duas hipóteses</vt:lpstr>
      <vt:lpstr>PowerPoint Presentation</vt:lpstr>
      <vt:lpstr>O desafio é separar o efeito da bolsa do efeito da vulnerabilidade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benegra.rg@gmail.com</dc:creator>
  <cp:revision>29</cp:revision>
  <dcterms:created xsi:type="dcterms:W3CDTF">2026-08-31T13:12:19Z</dcterms:created>
  <dcterms:modified xsi:type="dcterms:W3CDTF">2026-09-14T13:43:36Z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0x010100038C8786BE86CB408D96F421BBC77521</vt:lpwstr>
  </property>
</Properties>
</file>