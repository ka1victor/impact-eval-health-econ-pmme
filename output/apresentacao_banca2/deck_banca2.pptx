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5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404" r:id="rId51"/>
    <p:sldId id="405" r:id="rId52"/>
    <p:sldId id="406" r:id="rId53"/>
    <p:sldId id="407" r:id="rId54"/>
    <p:sldId id="408" r:id="rId55"/>
    <p:sldId id="395" r:id="rId31"/>
    <p:sldId id="409" r:id="rId56"/>
    <p:sldId id="410" r:id="rId57"/>
    <p:sldId id="411" r:id="rId58"/>
    <p:sldId id="412" r:id="rId59"/>
    <p:sldId id="413" r:id="rId60"/>
    <p:sldId id="414" r:id="rId61"/>
    <p:sldId id="396" r:id="rId33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  <p:sldId id="345" r:id="rId35"/>
    <p:sldId id="350" r:id="rId36"/>
    <p:sldId id="424" r:id="rId71"/>
    <p:sldId id="425" r:id="rId72"/>
    <p:sldId id="426" r:id="rId73"/>
    <p:sldId id="344" r:id="rId41"/>
    <p:sldId id="328" r:id="rId39"/>
    <p:sldId id="351" r:id="rId40"/>
    <p:sldId id="427" r:id="rId74"/>
    <p:sldId id="428" r:id="rId75"/>
    <p:sldId id="429" r:id="rId76"/>
    <p:sldId id="430" r:id="rId77"/>
    <p:sldId id="431" r:id="rId78"/>
    <p:sldId id="432" r:id="rId79"/>
    <p:sldId id="433" r:id="rId80"/>
    <p:sldId id="434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Resposta à pergunta "já rolou em três edições?": sim. Cada ciclo tem edital, quadro de vagas, escolha dos candidatos e resultado próprios. O ciclo 1 abriu com o Edital nº 3/2025 e o quadro de 24/07/2025; a 2ª chamada, em 29/09/2025, só teve vagas de cadastro reserva. O ciclo 2 abriu em 03/02/2026, com o quadro retificado em 13/02/2026 (o vigente na inscrição, usado nas análises) e de novo em 19/03/2026. No ciclo 3, os gestores aderiram primeiro (resultado de 15/07/2026) e o quadro dos médicos saiu em 16/07/2026; o resultado de 25/08/2026 está sub judice. Os médicos dos ciclos 1 e 2 chegaram, na lista de ativos, entre as coortes trimestrais de 202507 e 202604. O CNES depois do início só existe para os ciclos 1 e 2. Cautela: Cada ciclo é analisado dentro dele mesmo; o ciclo 3 pós-início segue congelado.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exige 1ª opção numa célula do quadro, ligação ao CNES e município de origem, e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traço conta os municípios com vaga em cada faixa de IVS de 0,010, um por ciclo. Se o Ministério ou os gestores escolhessem pôr vagas de um lado do corte, haveria mais municípios logo acima ou logo abaixo dele. O teste de densidade (Poisson local) do ciclo 1 não vê isso: p de Holm 0,707 em 0,300 e 0,658 em 0,400. No ciclo 3, há mais municípios logo acima de 0,400; é descritivo, sem teste, e a hipótese de que o quadro responda ao corte está na fila, com protocolo próprio. Cautela: Descritivo; o teste de densidade é o do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gráfico clássico da RDD sem nenhum controle; o salto é a distância entre as duas retas no corte. Cada elemento está explicado na figura: o ponto é a média de uma faixa de IVS de 0,010 (o tamanho é o número de células ou de municípios), azul do lado de bolsa menor e laranja do lado de bolsa maior; a linha é a reta local de cada lado, com kernel triangular e h = 0,050; a tracejada é o corte. Em 0,400, as vagas oferecidas caem de 7,05 para 3,93 por município na janela. Em 0,300, ficam em 10,08 e 9,82; os pontos da célula preenchida estão no mesmo nível dos dois lados, e a reta do lado de bolsa menor sobe até o corte por causa de poucos municípios. É o que o slide da queda em 0,300 retoma. Cautela: Descritivo: médias por faixa, sem controles; o teste é a RDD da H1.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5.425 candidatos com 1ª opção e município de origem, ligados ao CNES por CPF mascarado e nome (portão G1). A origem é o município do estabelecimento em que o candidato tinha vínculo médico na competência anterior às inscrições; não é residência nem naturalidade. Mesmo município está dentro da mesma região, que está dentro da mesma UF. É preferência revelada: mistura família, rede, registro no conselho e clientela. Cautela: Descritivo: origem é o vínculo no CNES antes das inscrições, não residência; o peso da origem não é causal.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ciclo, um salto por corte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controle é o número de vagas oferecidas no quadro da 1ª chamada, imediatas mais cadastro reserva; a regra foi verificada nos quadros antes de estimar (doc 49, §2), porque um alocado da 1ª chamada pode ocupar vaga de reserva. A decomposição é exata (Frisch–Waugh–Lovell): o salto sem controle é igual ao salto com controle mais a soma, por ciclo, do coeficiente das vagas vezes o salto nas vagas. As vagas são definidas pelo gestor antes da escolha dos candidatos, mas podem responder ao corte; por isso relatamos as duas leituras. Sensibilidades em cada corte: com um só coeficiente das vagas, −1,64 em 0,300 e −0,11 em 0,400; com inclinação do controle diferente de cada lado, −1,38 e −0,04. O IC honesto contém zero nos dois cortes. Cautela: Em 0,400 quase todo o salto passa pela oferta de vagas; em 0,300, pelo preenchimento.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de McFadden: cada candidato escolhe a vaga de maior utilidade entre as do seu curso e ciclo. A amostra tem 5.421 candidatos. O peso da bolsa é por R$ 1 mil por mês; um degrau é R$ 5 mil. A curva do IVS absorve tudo o que muda suave com a vulnerabilidade, e só o salto da bolsa nos cortes identifica o peso dela. A H3 usa o mesmo modelo e soma dois coeficientes com a covariância conjunta; é pós-resultado porque os coeficientes já eram conhecidos. Cautela: Escolha entre vagas abertas, não entrada no programa; o peso da bolsa é o do pacote do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ciclos 1 e 2 entram no programa em meses diferentes, então a coorte de entrada faz o papel do ciclo. O estudo de evento escalonado compara cada médico, depois de entrar, com os que ainda não entraram no mesmo mês, usando como base o mês anterior à entrada. O pré testa se os grupos já se afastavam antes. Rambachan–Roth diz até que tamanho de violação da tendência paralela a conclusão continua de pé. A comparação na nota de corte usa quem ficou um ou dois pontos abaixo da nota como controle. Cautela: Associação sob tendências paralelas: vínculo cadastrado não é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teste de zero pergunta se o salto é diferente de zero; o TOST pergunta se ele é pequeno. Com IC que contém zero, não dá para dizer "não mudou nada": só o TOST permite dizer que um aumento de certo tamanho fica descartado. As margens são as do protocolo 60; a de N1 foi transplantada da referência de candidaturas. Cautela: "Não houve aumento de X ou mais" só onde o teste do aumento rejeita; equivalência só onde os dois rejeitam.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cada hipótese foi testada: regra sharp, o IVS oficial reproduz a faixa nos três ciclos; manipulação, o IVS foi medido em 2010, antes do programa, e há teste de densidade; continuidade, balanço de covariáveis e placebos de outcome e de corte; só a bolsa salta, spline com nós nos cortes, placebos de corte e spline cúbico; independência de alternativas, logit aninhado por região e logit misto; tendências paralelas, teste conjunto do pré e Rambachan–Roth; alocação perto da nota de corte, balanço e desempate por regra fixa. A regra sharp é o que torna a descontinuidade possível. A ameaça que não se testa por inteiro é a das co-políticas: emendas, custeio de MAC, o IED da APS e a coparticipação do PMMB mudam nos mesmos cortes. Na DiRD, só a parte fixa no tempo delas sai. Cautela: Outras regras federais mudam em 0,300 e 0,400: por isso "pacote do corte".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mapa dos resultados: uma linha por pergunta, na ordem da cadeia, e os próximos slides aprofundam cada uma. Cinza: o IC contém o nulo. O preenchimento aparece por corte, 0,300 e 0,400 separados; ali a força sai do TOST do protocolo 60: nos quatro casos, não houve aumento do tamanho da margem ou mais. Verde em N1 a 0,300 é negativo, mas não é queda: linha por corte, sem correção múltipla, com IC honesto que contém zero e pacote do corte. Verde em P6 Y1 é quase mecânico. Verde em P4 é associação: nas horas totais o pré passa e a conclusão aguenta violações de tendência do tamanho das do pré, mas outros outcomes do P4 falham no pré. A linha da H3 rejeita zero, mas é pós-resultado e compara dois pesos do mesmo modelo de escolha: não é efeito da bolsa nem da geografia. A força de cada linha sai de uma regra fixa do gerador sobre os valores de output/: TOST por corte, "sem aumento ≥ margem"; Holm ou IC com o nulo, inconclusivo; pré do Wald, ATT; estatuto do bloco, exploratório; Holm abaixo de 0,05 num bloco pós-resultado, "rejeita zero, pós-resultado". As linhas nos cortes de IVS medem o pacote do corte.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IC que contém zero não é efeito zero. Cada corte separado, ciclos 1 a 3. A célula aberta preenchida (A3): em 0,300, −8,4 p.p. [−18,5; +1,7], MDE 14,5; em 0,400, −1,3 p.p. [−14,0; +11,3], MDE 18,1. As vagas preenchidas por município com controle das vagas oferecidas (N1): em 0,300, −1,45 [−2,67; −0,22], p 0,021, sobre uma média de 2,32 do lado de bolsa menor; em 0,400, −0,14 [−0,82; +0,54], p 0,682, sobre 1,96. Sem controle, −1,56 [−3,73; +0,61] e −1,36 [−3,30; +0,57]. No TOST, com IC 90%: A3 em 0,300, [−16,9; +0,1]; em 0,400, [−11,9; +9,3]; N1 em 0,300, [−2,48; −0,42], margem de 0,58 vaga; em 0,400, [−0,71; +0,43], margem de 0,49. Nos quatro, só o teste do aumento rejeita: não houve aumento de +10 p.p. ou de +25% da média ou mais, no IC convencional e para o pacote do corte; uma queda desse tamanho não fica descartada. N1 em 0,300 não é queda: é linha por corte, sem correção múltipla; o IC honesto vai de −90,23 a +87,34 (em 0,400, de −47,07 a +46,79); e é o pacote do corte. Por que o sinal sai negativo (doc 49b): em 0,400, do lado de bolsa maior há municípios menores e menos vagas oferecidas (−3,59 por município); a taxa por vaga não salta (+2,5 p.p.), e com o controle o salto quase some. Em 0,300, o porte não explica: cai a taxa de preenchimento por vaga oferecida, −16,0 p.p. [−27,9; −4,1]; −8,1 p.p. disso, 51%, vêm do ciclo 2, onde sobe a parte das vagas que é cadastro reserva. O resultado depende da medida: com só as vagas imediatas no denominador, −19,2 p.p. [−43,1; +4,7]. Cautela: Pacote do corte, com o IC convencional; uma queda do mesmo tamanho não fica descartada.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mesma regressão com e sem as vagas oferecidas do quadro da 1ª chamada. A decomposição é exata (Frisch–Waugh–Lovell): o salto sem controle é igual ao com controle mais a parte que passa pelas vagas, que é a soma, por ciclo, do coeficiente das vagas vezes o salto nas vagas; essa parte é uma soma algébrica, sem IC próprio. Em 0,400, do lado de bolsa maior as vagas oferecidas caem de 7,05 para 3,93 por município na janela, e o lado de baixo tem alguns municípios grandes; dado o número de vagas, a diferença quase some (−0,14). Em 0,300, as médias de vagas oferecidas ficam em 10,08 e 9,82, e o salto nelas é +0,39 [−6,69; +7,46]: a oferta não muda, e o que cai é o preenchimento dado as vagas, que o slide seguinte tenta explicar. Nenhuma linha por corte tem correção múltipla; no Holm pré-registrado da família N (empilhado, no apêndice), N1 não rejeita zero. É o pacote do corte. Cautela: Se as vagas respondem ao corte, o controle compara municípios diferentes: por isso as duas versões. Pacote do corte; nenhuma linha passa no Holm.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do protocolo 61 (doc 57l), auditado (auditoria 33, aprovado com correções de texto): descritivo e pós-resultado. Q1 é N1 com controle; Q2, a taxa por vaga oferecida; Q3, a célula aberta preenchida. Nas médias da janela, sem reta nem efeitos fixos, 33,3% das células são preenchidas abaixo de 0,300 e 33,5% acima. Do lado de cima: índice de curso −4,5 p.p. [−7,1; −2,0] (cursos que preenchem pouco em qualquer lugar); +10,6 [+3,5; +17,8] células do mesmo curso na mesma UF; no ciclo 2, +28,4 p.p. [+8,3; +48,4] de células só de reserva. Que menos células tiveram candidato de 1ª opção é estimativa imprecisa: −10,8 p.p. [−28,2; +6,7]. Igualando a composição, Q2 vai a −5,1 p.p., 32% do original; a concorrência, Q2 a −4,3 p.p., 27%; quem teve candidato de 1ª opção, Q1 a −0,49, 34%; nenhum fator reduz a queda à metade nas três medidas. Acaso: com os 3 cortes falsos do protocolo, o p por posto é 0,250, o menor possível; numa grade maior, fora do protocolo, 0,031. Esses fatores se formam depois do anúncio da faixa: descrevem o que acompanha a queda, não a causa. Cautela: Nada disso mostra que a bolsa reduz o preenchimento: o corte junta a bolsa com outras regras.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resultado por ciclo, do logit condicional com distância (M5): a razão de chances compara duas vagas abertas do mesmo curso e ciclo que diferem só no degrau de R$ 5 mil, com o IVS contínuo controlado. O modelo com os três ciclos juntos (M1), que é a primária do protocolo, dá 1,24 [0,99; 1,55], p 0,065: inconclusivo; ele está no apêndice com as outras especificações. No ciclo 2 sem a distância (E9, exploratório), 1,95 [1,48; 2,57]; o sinal do ciclo 2 resiste a placebos de corte e a poucos clusters. São 5.421 candidatos de 1ª opção. O que não mede: quem deixou de se candidatar e quantos médicos o programa atrai.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Escolha de quem se candidatou, entre vagas abertas. As seis sensibilidades: M2 1,18; M4 1,73; M5 por ciclo 2,34, 1,31 e 2,37; M7 2,07. θ_UF é mesma UF, outra região de saúde, contra uma vaga em outra UF à mesma distância. No modelo de escolha, toda a amplitude da bolsa pesa 0,42 [−0,03; 0,87] na utilidade, e a vaga na mesma UF de origem, fora da região de saúde, pesa 2,40 [2,28; 2,53]. A bolsa pesa pouco perto do custo do lugar. Em km, toda a bolsa vale 224 km [−18; 466]; o IC contém zero.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θ é preferência revelada condicional ao modelo, não efeito da geografia. É causal? O peso da bolsa tem identificação quase-experimental pelos saltos nos cortes; o da origem é preferência revelada, porque a origem é onde o médico já trabalhava, não uma condição sorteada. Cautela: Pós-resultado: θ é preferência revelada, não efeito da geografia; β é o pacote do corte.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H1, cada corte separado: em 0,300, N1 fica negativo em todas as variantes; em 0,400, fica perto de zero em todas.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nenhum dos dois IC por corte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Em todas as RDD e no logit, o contraste nos cortes é o pacote do corte.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Holm pré-registrado é o da família N1–N4 empilhada; por corte, os p são sem correção. N3 e N4 só têm a estimativa empilhada. Cautela: Por corte: negativo em 0,300, perto de zero em 0,400; p por corte sem correção múltipla.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ordem de Dal Bó et al. (+15,1 p.p.), nenhum dos dois IC por corte a admitiria, com o IC convencional; um aumento de +10 p.p. fica fora do IC em 0,300, mas não em 0,400.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banca2_01_regra_bolsa_ivs_oficial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2_exp_densidade_ivs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3_exp_rdd_crua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4_exp_escolha_origem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banca2_05_cadeia_resumo_doc57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banca2_06_h1_preenchimento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banca2_07_h1_controle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banca2_08_DQ_quanto_da_queda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banca2_09_h2_escolha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banca2_10_P1h_magnitudes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banca2_11_h4_horas_medico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3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55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56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54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02" name="Nó 1"/>
          <p:cNvSpPr/>
          <p:nvPr/>
        </p:nvSpPr>
        <p:spPr>
          <a:xfrm>
            <a:off x="283464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3" name="Nó 2"/>
          <p:cNvSpPr/>
          <p:nvPr/>
        </p:nvSpPr>
        <p:spPr>
          <a:xfrm>
            <a:off x="2688336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4" name="Seta 1"/>
          <p:cNvCxnSpPr/>
          <p:nvPr/>
        </p:nvCxnSpPr>
        <p:spPr>
          <a:xfrm>
            <a:off x="2322576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5" name="Nó 3"/>
          <p:cNvSpPr/>
          <p:nvPr/>
        </p:nvSpPr>
        <p:spPr>
          <a:xfrm>
            <a:off x="5093208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6" name="Seta 2"/>
          <p:cNvCxnSpPr/>
          <p:nvPr/>
        </p:nvCxnSpPr>
        <p:spPr>
          <a:xfrm>
            <a:off x="4727448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7" name="Nó 4"/>
          <p:cNvSpPr/>
          <p:nvPr/>
        </p:nvSpPr>
        <p:spPr>
          <a:xfrm>
            <a:off x="7498080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8" name="Seta 3"/>
          <p:cNvCxnSpPr/>
          <p:nvPr/>
        </p:nvCxnSpPr>
        <p:spPr>
          <a:xfrm>
            <a:off x="7132320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9" name="Nó 5"/>
          <p:cNvSpPr/>
          <p:nvPr/>
        </p:nvSpPr>
        <p:spPr>
          <a:xfrm>
            <a:off x="9902952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10" name="Seta 4"/>
          <p:cNvCxnSpPr/>
          <p:nvPr/>
        </p:nvCxnSpPr>
        <p:spPr>
          <a:xfrm>
            <a:off x="9537192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11" name="H1"/>
          <p:cNvSpPr/>
          <p:nvPr/>
        </p:nvSpPr>
        <p:spPr>
          <a:xfrm>
            <a:off x="329184" y="804672"/>
            <a:ext cx="9116568" cy="29260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2" name="H2"/>
          <p:cNvSpPr/>
          <p:nvPr/>
        </p:nvSpPr>
        <p:spPr>
          <a:xfrm>
            <a:off x="329184" y="2029968"/>
            <a:ext cx="6711696" cy="29260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3" name="H3"/>
          <p:cNvSpPr/>
          <p:nvPr/>
        </p:nvSpPr>
        <p:spPr>
          <a:xfrm>
            <a:off x="2871216" y="1014984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4" name="H4"/>
          <p:cNvSpPr/>
          <p:nvPr/>
        </p:nvSpPr>
        <p:spPr>
          <a:xfrm>
            <a:off x="7543800" y="2029968"/>
            <a:ext cx="4306824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5" name="Tabela"/>
          <p:cNvGraphicFramePr>
            <a:graphicFrameLocks noGrp="1"/>
          </p:cNvGraphicFramePr>
          <p:nvPr/>
        </p:nvGraphicFramePr>
        <p:xfrm>
          <a:off x="292608" y="2414016"/>
          <a:ext cx="11594592" cy="1832864"/>
        </p:xfrm>
        <a:graphic>
          <a:graphicData uri="http://schemas.openxmlformats.org/drawingml/2006/table">
            <a:tbl>
              <a:tblPr firstRow="1" bandRow="1"/>
              <a:tblGrid>
                <a:gridCol w="2534557"/>
                <a:gridCol w="6218215"/>
                <a:gridCol w="2841820"/>
              </a:tblGrid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A pergunta, em linguagem simples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Onde a bolsa é maior, mais vagas são preenchidas?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médicos escolhem mais as vagas de bolsa maior?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A bolsa pesa pouco comparada a trabalhar na UF de origem?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Se a bolsa pesa pouco perto do custo do lugar (H3), ela muda quem escolhe qual vaga (H2) sem mudar quantas vagas preenchem (H1).</a:t>
            </a:r>
          </a:p>
        </p:txBody>
      </p:sp>
      <p:sp>
        <p:nvSpPr>
          <p:cNvPr id="11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PMM-E já teve três chamamentos: os três ciclos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Cada ciclo é analisado dentro dele mesmo; o ciclo 3 pós-início segue congelado.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2316439"/>
        </p:xfrm>
        <a:graphic>
          <a:graphicData uri="http://schemas.openxmlformats.org/drawingml/2006/table">
            <a:tbl>
              <a:tblPr firstRow="1" bandRow="1"/>
              <a:tblGrid>
                <a:gridCol w="772033"/>
                <a:gridCol w="2936999"/>
                <a:gridCol w="3494642"/>
                <a:gridCol w="2579278"/>
                <a:gridCol w="1811640"/>
              </a:tblGrid>
              <a:tr h="39188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Chamamento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Quadro de vagas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4151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3/2025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24/07/2025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10/09/2025 (alocação retificada)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29/09/2025, só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151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1/2026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03/02/2026 (retificado em 13/02/2026 e 19/03/2026)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05/05/2026 (remanescentes)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16/04/2026, só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151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Chamamento nº 28/2026 (gestores: 15/07/2026)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16/07/2026 (retificado em 24/07/2026)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25/08/2026, sub judice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houve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338328" y="3303991"/>
            <a:ext cx="11548872" cy="942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Quadro, candidatos, escolhas e 1ª chamada: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temos dos ciclos 1, 2 e 3.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2ª chamada e CNES depois do início: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só dos ciclos 1 e 2.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Sim, o programa já rodou três vezes: cada ciclo é uma rodada nova de vagas e candidatos. O ciclo 3 entra no preenchimento e na escolha; o seguimento dele no CNES espera a competência 202703 madura.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output/apresentacao_banca2/cronologia_ciclos.csv, gerada por scripts/apresentacao/gerar_figuras_banca2.py a partir de docs/auditorias/aquisicao/A01_vagas_e_versionamento.md (datas de publicação), do protocolo 48, §8 (editais), e de output/rdd_bolsa/K_D2_resumo.json (coortes de chegada).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7772400" cy="4746752"/>
        </p:xfrm>
        <a:graphic>
          <a:graphicData uri="http://schemas.openxmlformats.org/drawingml/2006/table">
            <a:tbl>
              <a:tblPr firstRow="1" bandRow="1"/>
              <a:tblGrid>
                <a:gridCol w="3165137"/>
                <a:gridCol w="1259259"/>
                <a:gridCol w="1297844"/>
                <a:gridCol w="2050159"/>
              </a:tblGrid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(estab. × curso)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(universo G1)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até a 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8385048" y="804672"/>
            <a:ext cx="3502152" cy="19637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estabelecimento × curso.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alguma confirmação ou homologação.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"…":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partes do universo G1.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339328" y="2951338"/>
            <a:ext cx="3547872" cy="260008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Os ciclos diferem em tamanho e em preenchimento: por isso comparamos sempre dentro do ciclo, perto dos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Primeiro estágio sharp: dois cortes, +R$ 5 mil em cada, 0 municípios do lado errado no ciclo 1.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28185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06056"/>
            <a:ext cx="7315200" cy="174536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é fixada pelo IVS de 2010, medido antes do programa: perto de cada corte, só ela (e as regras do mesmo corte) muda.</a:t>
            </a:r>
          </a:p>
        </p:txBody>
      </p:sp>
      <p:graphicFrame>
        <p:nvGraphicFramePr>
          <p:cNvPr id="104" name="Tabela"/>
          <p:cNvGraphicFramePr>
            <a:graphicFrameLocks noGrp="1"/>
          </p:cNvGraphicFramePr>
          <p:nvPr/>
        </p:nvGraphicFramePr>
        <p:xfrm>
          <a:off x="7882128" y="804672"/>
          <a:ext cx="4005072" cy="4746752"/>
        </p:xfrm>
        <a:graphic>
          <a:graphicData uri="http://schemas.openxmlformats.org/drawingml/2006/table">
            <a:tbl>
              <a:tblPr firstRow="1" bandRow="1"/>
              <a:tblGrid>
                <a:gridCol w="2670048"/>
                <a:gridCol w="1335024"/>
              </a:tblGrid>
              <a:tr h="84921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52416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Ciclo 1: os municípios com vaga não se acumulam nos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Descritivo; o teste de densidade é o do ciclo 1.</a:t>
            </a:r>
          </a:p>
        </p:txBody>
      </p:sp>
      <p:pic>
        <p:nvPicPr>
          <p:cNvPr id="102" name="Figura" descr="Municípios com vaga por faixa de IVS de 0,010, um traço por ciclo, com os cortes tracejad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391278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Teste de densidade E1 (ciclo 1):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sem acúmulo nos cortes; p de Holm 0,707 em 0,300 e 0,658 em 0,400.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 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mais municípios logo acima de 0,400; descritivo, sem teste.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029346"/>
            <a:ext cx="400507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 IVS é de 2010 e ninguém muda de faixa; o que poderia mudar é quem entra no quadro de vagas. No ciclo 1, o teste não vê seleção nos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output/rdd_bolsa/outcomes/outcomes_V_municipio.parquet; output/rdd_bolsa/E1_densidade_estimativas.csv (doc 37);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Nos dados crus, o lado de bolsa maior não preenche mais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médias por faixa, sem controles; o teste é a RDD da H1.</a:t>
            </a:r>
          </a:p>
        </p:txBody>
      </p:sp>
      <p:pic>
        <p:nvPicPr>
          <p:cNvPr id="102" name="Figura" descr="Gráfico cru da RDD por corte: célula preenchida e vagas oferecidas por faixa estreita de IVS, com a reta local de cada l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738" y="804672"/>
            <a:ext cx="9008332" cy="344220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4384040"/>
            <a:ext cx="11594592" cy="116738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do lado de bolsa maior há menos vagas oferecidas (7,05 → 3,93 por município).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oferta não muda (10,08 e 9,82), e a célula preenchida só cai quando a reta é levada até 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 e outcomes_V_municipio.parquet; output/rdd_bolsa/ND_estimativas.csv (doc 49b); figura por scripts/apresentacao/gerar_figuras_banca2.py.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1ª opção fica perto de onde o médico já trabalhava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origem é o vínculo no CNES antes das inscrições, não residência; o peso da origem não é causal.</a:t>
            </a:r>
          </a:p>
        </p:txBody>
      </p:sp>
      <p:pic>
        <p:nvPicPr>
          <p:cNvPr id="102" name="Figura" descr="1ª opção em relação ao município de origem do candidato (mesma UF, mesma região de saúde, mesmo município) e distância origem–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863840" cy="420624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476488" y="804672"/>
            <a:ext cx="341071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1ª opção: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79% na UF de origem, 46% na região de saúde e 36% no próprio município.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Distância: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mediana de 51 km entre a origem e a 1ª opção.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430768" y="3029346"/>
            <a:ext cx="3456432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Antes de qualquer modelo, a escolha já se concentra perto de onde o médico trabalhava; a H3 mede esse peso na mesma escala da bolsa.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output/aquisicao/malha_municipios_regioes_saude.parquet;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894707"/>
                <a:gridCol w="3911728"/>
                <a:gridCol w="2766138"/>
                <a:gridCol w="3022018"/>
              </a:tblGrid>
              <a:tr h="3972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em cada corte do IVS 2010 oficial, 0,300 e 0,400 separados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TOST com IC 90%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9145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Cada pergunta tem o desenho que ela pede: um salto no corte para o preenchimento, uma escolha entre vagas para a bolsa e o lugar, e a trajetória do médico antes e depois de entrar para a capacidade.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H1: o salto no corte, com e sem 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0,400 quase todo o salto passa pela oferta de vagas; em 0,300, pelo preenchimento.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na 1ª chamada, por município e ciclo (N1); a célula aberta preenchida (A3) usa a mesma RDD, com efeitos fixos de curso × ciclo e de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municípios com vaga no quadro, ciclos 1–3; kernel triangular, h = 0,050;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901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= intercepto do ciclo + salto × (lado de bolsa maior) + reta de cada lado do corte, por ciclo + coeficiente do ciclo × vagas oferecidas; sem controle, sai o último termo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salto comum aos ciclos; intercepto, retas e coeficiente das vagas oferecidas,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município (CR1)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controle = efeito total (abrir vagas + preenchê-las); com controle = preenchimento dado o número de vagas; total = via oferta + com controle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vagas oferecidas podem responder ao corte: aí o controle compara municípios diferentes;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único das vagas; inclinação por lado; IC honesto; h = 0,030 e 0,080; donut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48, §1, §3 e §7; doc 49, §2, §3 e §5; output/rdd_bolsa/N_estimativas.csv; equação formal no apêndice.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H2 e da H3: o logit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entre vagas abertas, não entrada no programa; o peso da bolsa é o do pacote do corte.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50816"/>
        </p:xfrm>
        <a:graphic>
          <a:graphicData uri="http://schemas.openxmlformats.org/drawingml/2006/table">
            <a:tbl>
              <a:tblPr firstRow="1" bandRow="1"/>
              <a:tblGrid>
                <a:gridCol w="2474240"/>
                <a:gridCol w="9120352"/>
              </a:tblGrid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 1ª opção de cada candidato, entre todas as vagas (células) do mesmo curso e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ligados ao CNES e com município de origem,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utilidade da vaga = peso da bolsa × bolsa + curva suave do IVS (nós nos cortes) + peso da distância × distância até a origem + pesos de mesma UF, mesma região e mesmo município + porte, capital e vaga imediata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pesos comuns aos ciclos na principal (M1); um peso da bolsa por ciclo no M5, o da 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conjunto de escolha (curso × ciclo)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H2: razão de chances de a vaga ser a 1ª opção por +R$ 5 mil. H3: toda a bolsa (10 × peso por R$ 1 mil) contra a mesma UF de origem, com a covariância conjunta; unilateral,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É causal?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bolsa: quase-experimental, pelo salto nos cortes (pacote do corte); origem: preferência revelada, não efeito causal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quem se candidatou; independência de alternativas irrelevantes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distância, efeito fixo de UF, por ciclo, explodido (1ª e 2ª opção), misto, aninhado, placebos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57i; equação formal no apêndice.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H4: horas antes e depois de entrar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paralelas: vínculo cadastrado não é presença.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semanais cadastradas do médico no CNES: totais, no município do posto e fora dele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mês; médicos dos ciclos 1 e 2 na lista de ativos,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45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k meses depois de entrar = mudança das horas desde o mês anterior à entrada, nos que entraram, menos a mesma mudança nos que ainda não entraram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um efeito por coorte de entrada (mês de início) e por mês; o resultado é a média do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agrupado por médico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associação da entrada com as horas cadastradas, sob tendências paralelas; não é efeito da bolsa nem da participação no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pré falha em parte dos outcomes; horas cadastradas não são presença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(violações de tendência); comparação com quem ficou logo abaixo da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57h; equação formal no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do TOST: o IC de 90% cabe na margem?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"Não houve aumento de X ou mais" só onde o teste do aumento rejeita; equivalência só onde os dois rejeitam.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salto no corte de A3 e de N1 com controle,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a da RDD da H1: ciclos 1–3, kernel triangular, h = 0,050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63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dois testes unilaterais a 5%: o salto é menor que +margem? é maior que −margem? Equivale a ver se o IC de 90% cabe em ±10 p.p. (A3) ou em ±25% da média abaixo do corte (N1)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da RDD: salto comum aos ciclos; retas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da RDD, agrupado por município (IC convencional)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0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dois rejeitam: equivalência; só o do aumento: não houve aumento do tamanho da margem ou mais; nenhum: inconclusivo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vale sob a aproximação local linear; margens fixadas depois de ver os IC; barra que sai pela esquerda não é queda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(nem o descarte do aumento se sustenta); A3 só no 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60, parte A; doc 57j; auditoria 32.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Outras regras federais mudam em 0,300 e 0,400: por isso "pacote do corte".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6603637"/>
                <a:gridCol w="4990955"/>
              </a:tblGrid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 (para quais H)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IVS, regra sharp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 (H1)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 (H4)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 (H4, P6)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As hipóteses que sustentam o desenho passam; as que falham estão rotuladas e mudam a leitura: por causa delas falamos em pacote do corte e em associação na H4.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pic>
        <p:nvPicPr>
          <p:cNvPr id="102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415340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5132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bolsa reordena a 1ª opção só no ciclo 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Preenchimento: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nenhum aumento detectável em nenhum dos dois cortes.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médico soma horas, mas metade já estava lá.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500791"/>
            <a:ext cx="4005072" cy="205063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muda quem escolhe qual vaga, não quantas vagas preenchem; metade de quem chega já trabalhava no município.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em nenhum dos dois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Pacote do corte, com o IC convencional; uma queda do mesmo tamanho não fica descartada.</a:t>
            </a:r>
          </a:p>
        </p:txBody>
      </p:sp>
      <p:pic>
        <p:nvPicPr>
          <p:cNvPr id="102" name="Figura" descr="H1 por corte: célula aberta preenchida (A3) e vagas preenchidas por município (N1), em 0,300 e em 0,400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132320" cy="466088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744968" y="804672"/>
            <a:ext cx="414223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em cada corte, sem aumento de +10 p.p. (A3) nem de +25% da média (N1).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N1 em 0,300 não é queda: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sem correção múltipla; IC honesto contém zero.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699248" y="3029346"/>
            <a:ext cx="418795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Em 0,400, do lado de bolsa maior há menos vagas oferecidas (−3,59); com o controle, o salto quase some. Em 0,300, cai a taxa por vaga oferecida (−16,0 p.p.), 51% dela no ciclo 2; depende da medida.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S57_resumo.json (A3; doc 57, §4.2); EQ_estimativas.csv (TOST; doc 57j; auditoria 32); ND_estimativas.csv (doc 49b, §3).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controle muda a leitura: em 0,400 a queda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Se as vagas respondem ao corte, o controle compara municípios diferentes: por isso as duas versões. Pacote do corte; nenhuma linha passa no Holm.</a:t>
            </a:r>
          </a:p>
        </p:txBody>
      </p:sp>
      <p:pic>
        <p:nvPicPr>
          <p:cNvPr id="102" name="Figura" descr="Antes e depois do controle das vagas oferecidas, por corte: total, via vagas oferecidas e com controle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901" y="804672"/>
            <a:ext cx="10096006" cy="291388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55720"/>
            <a:ext cx="11594592" cy="14315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−1,36 = −1,22 via vagas + −0,14: do lado de bolsa maior há menos vagas oferecidas (−3,59), e com o controle a diferença quase some.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−1,56 = −0,11 + −1,45: a oferta não muda (+0,39); cai o preenchimento dado as vagas.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output/rdd_bolsa/ND_estimativas.csv (médias na janela; doc 49b, §3); figura por scripts/apresentacao/gerar_figuras_banca2.py.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 que o preenchimento cai em 0,300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Nada disso mostra que a bolsa reduz o preenchimento: o corte junta a bolsa com outras regras.</a:t>
            </a:r>
          </a:p>
        </p:txBody>
      </p:sp>
      <p:pic>
        <p:nvPicPr>
          <p:cNvPr id="102" name="Figura" descr="Diagnóstico do protocolo 61: quanto da queda em 0,300 sobra ao igualar cada fator entre os lados do corte, para Q1, Q2 e Q3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132320" cy="320954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744968" y="804672"/>
            <a:ext cx="4142232" cy="5063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É a estimativa no corte, não os dados: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nas médias da janela, 33,3% das células são preenchidas abaixo e 33,5% acima; a queda vem da reta levada até o corte, com poucos municípios. O acaso não está descartado.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 vagas do lado de cima eram diferentes: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cursos que preenchem pouco em qualquer lugar, mais células do mesmo curso na mesma UF disputando candidatos e, no ciclo 2, mais células só de reserva. Igualando esses fatores, a queda diminui pela metade ou mais em parte das medidas, mas nenhum fator faz isso nas três.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output/rdd_bolsa/DQ_estimativas.csv, DQ_resumo.json e DQ_figuras/DQ_quanto_da_queda.png (protocolo 61; doc 57l; auditoria 33, §8); figura usada sem redesenho, conferida pelo hash.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pic>
        <p:nvPicPr>
          <p:cNvPr id="102" name="Figura" descr="H2: razão de chances da 1ª opção por +R$ 5 mil, um resultado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498080" cy="415010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110728" y="804672"/>
            <a:ext cx="3776472" cy="1767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 2: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1,70 [1,22; 2,37] por +R$ 5 mil, p 0,002.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Ciclos 1 e 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1,07 [0,69; 1,65] e 1,00 [0,72; 1,39]; o IC contém 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065008" y="2754620"/>
            <a:ext cx="3822192" cy="27968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Só no ciclo 2 a vaga de bolsa maior é mais escolhida como 1ª opção; nos ciclos 1 e 3, não. A igualdade entre ciclos tem p 0,058.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57a); output/rdd_bolsa/E8_resumo.json (E9, doc 44, §5.2), nas notas.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Pós-resultado: θ é preferência revelada, não efeito da geografia; β é o pacote do corte.</a:t>
            </a:r>
          </a:p>
        </p:txBody>
      </p:sp>
      <p:pic>
        <p:nvPicPr>
          <p:cNvPr id="102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4846320" cy="272470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338328" y="3666541"/>
            <a:ext cx="4800600" cy="18848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Log-chance: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0,21 ≈ chance cerca de 24% maior de a vaga ser a 1ª opção, sem distinção de zero; não é efeito no preenchimento.</a:t>
            </a:r>
          </a:p>
        </p:txBody>
      </p:sp>
      <p:sp>
        <p:nvSpPr>
          <p:cNvPr id="104" name="Como foi medido"/>
          <p:cNvSpPr/>
          <p:nvPr/>
        </p:nvSpPr>
        <p:spPr>
          <a:xfrm>
            <a:off x="5413248" y="804672"/>
            <a:ext cx="6473952" cy="25689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Como foi medido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Logit da H2 (ciclos 1–3): cada candidato escolhe a 1ª opção entre as vagas do seu curso e ciclo; pesos de bolsa, distância, origem, porte, capital, vaga imediata e IVS em curva suave.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H3 compara dois pesos, toda a bolsa (R$ 10 → 20 mil) e a UF de origem: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D_UF = θ_UF − 10·β = 1,98 [1,56; 2,40]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, p unilateral &lt; 0,001 (Holm), pós-resultado.</a:t>
            </a:r>
          </a:p>
        </p:txBody>
      </p:sp>
      <p:sp>
        <p:nvSpPr>
          <p:cNvPr id="105" name="É causal?"/>
          <p:cNvSpPr/>
          <p:nvPr/>
        </p:nvSpPr>
        <p:spPr>
          <a:xfrm>
            <a:off x="5413248" y="3510788"/>
            <a:ext cx="6473952" cy="20406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É causal?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Bolsa, quase-experimental: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salta nos cortes e o resto varia suave; vale o pacote do corte, para quem se candidatou.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Origem, não: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preferência revelada (família, rede, registro, clientela), não sorteada.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pic>
        <p:nvPicPr>
          <p:cNvPr id="102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618635" cy="44825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231283" y="804672"/>
            <a:ext cx="3655917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51,0% [48,4; 53,7] já tinham vínculo no município do posto.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as horas totais aguentam violações até 1,30 vez a maior do pré.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185563" y="3029346"/>
            <a:ext cx="3701637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Quem entra passa a ter mais horas cadastradas, sobretudo no posto. Mas metade já trabalhava ali: parte do ganho é registro novo, não médico novo.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114552"/>
                <a:gridCol w="5240020"/>
                <a:gridCol w="5240020"/>
              </a:tblGrid>
              <a:tr h="3639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593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negativo com h = 0,030 e 0,080 (−1,50 e −1,00), no donut (−1,53) e com um só coeficiente (−1,64); 0,400: perto de zero (−0,23, +0,03, +0,36, −0,11)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honesto contém zero nos dois cortes; em 0,300 a leitura depende da medida da taxa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2752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positivo em todas as especificações (de +0,0304 a +0,0759 por R$ 1 mil); o ciclo 2 resiste a placebos (p por posto 0,036)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ciclo 2 com spline cúbico: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de 1,18 a 2,37, com q de BKY &lt; 0,05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os coeficientes do M1 já eram conhecidos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totais aguentam violações até 1,30 vez a maior do pré; no posto, até 1,90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posto, só até 0,78; na nota de corte, +7,91 [−0,63; +16,45]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Nenhuma conclusão muda com outras janelas, especificações ou violações moderadas de tendência; as ressalvas dizem onde a leitura depende de uma escolha.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2" name="Coluna 1"/>
          <p:cNvSpPr/>
          <p:nvPr/>
        </p:nvSpPr>
        <p:spPr>
          <a:xfrm>
            <a:off x="292608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3" name="Cabeçalho 1"/>
          <p:cNvSpPr txBox="1"/>
          <p:nvPr/>
        </p:nvSpPr>
        <p:spPr>
          <a:xfrm>
            <a:off x="521208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4" name="Marcadores 1"/>
          <p:cNvSpPr txBox="1"/>
          <p:nvPr/>
        </p:nvSpPr>
        <p:spPr>
          <a:xfrm>
            <a:off x="521208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Em 0,300 e 0,400 mudam também emendas, custeio de MAC, o IED da APS e a coparticipação do PMMB; o salto mede tudo junto.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escolha é só de quem já se candidatou; o logit não vê quem deixou de se inscrever.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Horas e vínculos são cadastros do CNES. Não é a participação no PMM-E, nem o Agora Tem Especialistas.</a:t>
            </a:r>
          </a:p>
        </p:txBody>
      </p:sp>
      <p:sp>
        <p:nvSpPr>
          <p:cNvPr id="105" name="Coluna 2"/>
          <p:cNvSpPr/>
          <p:nvPr/>
        </p:nvSpPr>
        <p:spPr>
          <a:xfrm>
            <a:off x="6249924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6" name="Cabeçalho 2"/>
          <p:cNvSpPr txBox="1"/>
          <p:nvPr/>
        </p:nvSpPr>
        <p:spPr>
          <a:xfrm>
            <a:off x="6478524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7" name="Marcadores 2"/>
          <p:cNvSpPr txBox="1"/>
          <p:nvPr/>
        </p:nvSpPr>
        <p:spPr>
          <a:xfrm>
            <a:off x="6478524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+33% no salário anunciado deu +15,1 p.p. na aceitação. Aqui, com degraus de +50% e +33%, o IC admite no máximo +1,7 p.p. em 0,300 e +11,3 em 0,400.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Escolha não é expansão.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bolsa reordena candidatos entre vagas sem mudar quantas vagas preenchem.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repetir o ciclo 2 no ciclo 3, com a competência 202703 madura; pedir o universo de inscritos e a folha de pagamento.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24942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805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9" name="Marcadores"/>
          <p:cNvSpPr txBox="1"/>
          <p:nvPr/>
        </p:nvSpPr>
        <p:spPr>
          <a:xfrm>
            <a:off x="292608" y="3328416"/>
            <a:ext cx="11594592" cy="1958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especificações formais de cada estimador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todas as RDD e no logit, o contraste nos cortes é o pacote do corte.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816352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H1 com controle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N1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β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δ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γ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H2 e H3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28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;  H3: θ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UF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− 10·β &gt; 0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H4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ATT(g, t) =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= g] −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&gt; t],  b = g − 1</a:t>
            </a:r>
          </a:p>
        </p:txBody>
      </p:sp>
      <p:sp>
        <p:nvSpPr>
          <p:cNvPr id="109" name="Rótulo 4"/>
          <p:cNvSpPr txBox="1"/>
          <p:nvPr/>
        </p:nvSpPr>
        <p:spPr>
          <a:xfrm>
            <a:off x="521208" y="277977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TOST</a:t>
            </a:r>
          </a:p>
        </p:txBody>
      </p:sp>
      <p:sp>
        <p:nvSpPr>
          <p:cNvPr id="110" name="Equação 4"/>
          <p:cNvSpPr txBox="1"/>
          <p:nvPr/>
        </p:nvSpPr>
        <p:spPr>
          <a:xfrm>
            <a:off x="3081528" y="2779776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IC 90%(τ) ⊂ (−margem; +margem)</a:t>
            </a:r>
          </a:p>
        </p:txBody>
      </p:sp>
      <p:sp>
        <p:nvSpPr>
          <p:cNvPr id="111" name="Marcadores"/>
          <p:cNvSpPr txBox="1"/>
          <p:nvPr/>
        </p:nvSpPr>
        <p:spPr>
          <a:xfrm>
            <a:off x="292608" y="3895344"/>
            <a:ext cx="11594592" cy="165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H1: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D_m = 1 se o IVS do município passa do corte c; g = ciclo; V_m = vagas oferecidas (imediatas + cadastro reserva); kernel triangular, h = 0,050; CR1 por município. Sem controle, tira-se γ_g·V_m.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H2 e H3: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B_j = bolsa da vaga em R$ mil; f = spline do IVS com nós nos cortes; X_j = porte, capital, vaga imediata; erro agrupado por conjunto de escolha.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H4: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g = mês de entrada; Y = horas do médico no CNES; controles ainda não tratados; bootstrap por médico.</a:t>
            </a:r>
          </a:p>
        </p:txBody>
      </p:sp>
      <p:sp>
        <p:nvSpPr>
          <p:cNvPr id="11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48, 52, 52b, 54, 59 e 60.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8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3" name="Cartão 2"/>
          <p:cNvSpPr/>
          <p:nvPr/>
        </p:nvSpPr>
        <p:spPr>
          <a:xfrm>
            <a:off x="4248912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4" name="Cartão 3"/>
          <p:cNvSpPr/>
          <p:nvPr/>
        </p:nvSpPr>
        <p:spPr>
          <a:xfrm>
            <a:off x="8205216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909828"/>
                <a:gridCol w="5669381"/>
                <a:gridCol w="5015383"/>
              </a:tblGrid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497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 por corte, com controle das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corte: negativo em 0,300, perto de zero em 0,400; p por corte sem correção múltipla.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7010463"/>
                <a:gridCol w="869647"/>
                <a:gridCol w="869647"/>
                <a:gridCol w="1747861"/>
                <a:gridCol w="1096973"/>
              </a:tblGrid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[−2,67; −0,22]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[−0,82; +0,54]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0,682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[−1,23; −0,05]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[−0,40; +0,36]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0,908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−1,56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[−3,73; +0,61]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[−3,30; +0,57]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0,124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0,376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0,717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4797839"/>
                <a:gridCol w="1720239"/>
                <a:gridCol w="2204771"/>
                <a:gridCol w="1884144"/>
                <a:gridCol w="987598"/>
              </a:tblGrid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26,0%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+0,9 [−23,5; +25,3]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+25,3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37,2%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−12,4 [−37,5; +12,6]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+12,6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35,8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48,3%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−10,8 [−28,2; +6,7]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+6,7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49,6%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−2,7 [−19,7; +14,3]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1600847"/>
                <a:gridCol w="4733731"/>
                <a:gridCol w="5260013"/>
              </a:tblGrid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E9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 2, sem distância (exploratório)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razão de chances por +R$ 5 mil: 1,95 [1,48; 2,57]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862584"/>
                <a:gridCol w="3630432"/>
                <a:gridCol w="3627849"/>
                <a:gridCol w="3473727"/>
              </a:tblGrid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−1,50 e −1,00; 0,400: −0,23 e +0,03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 em cada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−1,53 [−2,85; −0,20]; 0,400: +0,36 [−0,23; +0,94]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em 0,300, mesmo sinal; em 0,400, perto de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−1,64 [−3,00; −0,27]; 0,400: −0,11 [−0,88; +0,67]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leitura nas duas formas do controle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[−90,23; +87,34]; 0,400: [−47,07; +46,79]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por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3" name="Cartão 2"/>
          <p:cNvSpPr/>
          <p:nvPr/>
        </p:nvSpPr>
        <p:spPr>
          <a:xfrm>
            <a:off x="6227064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4" name="Cartão 3"/>
          <p:cNvSpPr/>
          <p:nvPr/>
        </p:nvSpPr>
        <p:spPr>
          <a:xfrm>
            <a:off x="292608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+1,7 p.p. em 0,300 e +11,3 p.p. em 0,400.</a:t>
            </a:r>
          </a:p>
        </p:txBody>
      </p:sp>
      <p:sp>
        <p:nvSpPr>
          <p:cNvPr id="105" name="Cartão 4"/>
          <p:cNvSpPr/>
          <p:nvPr/>
        </p:nvSpPr>
        <p:spPr>
          <a:xfrm>
            <a:off x="6227064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