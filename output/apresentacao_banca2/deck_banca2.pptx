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9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0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317" r:id="rId6"/>
    <p:sldId id="390" r:id="rId7"/>
    <p:sldId id="353" r:id="rId8"/>
    <p:sldId id="272" r:id="rId9"/>
    <p:sldId id="354" r:id="rId10"/>
    <p:sldId id="359" r:id="rId11"/>
    <p:sldId id="360" r:id="rId12"/>
    <p:sldId id="347" r:id="rId13"/>
    <p:sldId id="355" r:id="rId14"/>
    <p:sldId id="346" r:id="rId15"/>
    <p:sldId id="311" r:id="rId16"/>
    <p:sldId id="391" r:id="rId17"/>
    <p:sldId id="356" r:id="rId18"/>
    <p:sldId id="314" r:id="rId19"/>
    <p:sldId id="392" r:id="rId20"/>
    <p:sldId id="286" r:id="rId21"/>
    <p:sldId id="382" r:id="rId22"/>
    <p:sldId id="384" r:id="rId23"/>
    <p:sldId id="329" r:id="rId24"/>
    <p:sldId id="326" r:id="rId25"/>
    <p:sldId id="389" r:id="rId26"/>
    <p:sldId id="393" r:id="rId27"/>
    <p:sldId id="352" r:id="rId28"/>
    <p:sldId id="402" r:id="rId49"/>
    <p:sldId id="394" r:id="rId29"/>
    <p:sldId id="403" r:id="rId50"/>
    <p:sldId id="395" r:id="rId31"/>
    <p:sldId id="404" r:id="rId51"/>
    <p:sldId id="405" r:id="rId52"/>
    <p:sldId id="406" r:id="rId53"/>
    <p:sldId id="396" r:id="rId33"/>
    <p:sldId id="407" r:id="rId54"/>
    <p:sldId id="408" r:id="rId55"/>
    <p:sldId id="409" r:id="rId56"/>
    <p:sldId id="410" r:id="rId57"/>
    <p:sldId id="411" r:id="rId58"/>
    <p:sldId id="412" r:id="rId59"/>
    <p:sldId id="413" r:id="rId60"/>
    <p:sldId id="345" r:id="rId35"/>
    <p:sldId id="350" r:id="rId36"/>
    <p:sldId id="414" r:id="rId61"/>
    <p:sldId id="415" r:id="rId62"/>
    <p:sldId id="344" r:id="rId41"/>
    <p:sldId id="328" r:id="rId39"/>
    <p:sldId id="351" r:id="rId40"/>
    <p:sldId id="416" r:id="rId63"/>
    <p:sldId id="417" r:id="rId64"/>
    <p:sldId id="418" r:id="rId65"/>
    <p:sldId id="419" r:id="rId66"/>
    <p:sldId id="420" r:id="rId67"/>
    <p:sldId id="421" r:id="rId68"/>
    <p:sldId id="422" r:id="rId69"/>
    <p:sldId id="423" r:id="rId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5" Type="http://schemas.openxmlformats.org/officeDocument/2006/relationships/slide" Target="slides/slide30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46" Type="http://schemas.openxmlformats.org/officeDocument/2006/relationships/tableStyles" Target="tableStyle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Relationship Id="rId70" Type="http://schemas.openxmlformats.org/officeDocument/2006/relationships/slide" Target="slides/slide5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Especialistas_100k_hab!$B$1</c:f>
              <c:strCache>
                <c:ptCount val="1"/>
                <c:pt idx="0">
                  <c:v>Especialistas / 100 mil hab.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3A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B8B-3743-A7E4-39F810EA9C10}"/>
              </c:ext>
            </c:extLst>
          </c:dPt>
          <c:dPt>
            <c:idx val="1"/>
            <c:invertIfNegative val="0"/>
            <c:bubble3D val="0"/>
            <c:spPr>
              <a:solidFill>
                <a:srgbClr val="27533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B-3743-A7E4-39F810EA9C10}"/>
              </c:ext>
            </c:extLst>
          </c:dPt>
          <c:dPt>
            <c:idx val="2"/>
            <c:invertIfNegative val="0"/>
            <c:bubble3D val="0"/>
            <c:spPr>
              <a:solidFill>
                <a:srgbClr val="39644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B8B-3743-A7E4-39F810EA9C10}"/>
              </c:ext>
            </c:extLst>
          </c:dPt>
          <c:dPt>
            <c:idx val="3"/>
            <c:invertIfNegative val="0"/>
            <c:bubble3D val="0"/>
            <c:spPr>
              <a:solidFill>
                <a:srgbClr val="47715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B8B-3743-A7E4-39F810EA9C10}"/>
              </c:ext>
            </c:extLst>
          </c:dPt>
          <c:dPt>
            <c:idx val="4"/>
            <c:invertIfNegative val="0"/>
            <c:bubble3D val="0"/>
            <c:spPr>
              <a:solidFill>
                <a:srgbClr val="59816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B8B-3743-A7E4-39F810EA9C10}"/>
              </c:ext>
            </c:extLst>
          </c:dPt>
          <c:dPt>
            <c:idx val="5"/>
            <c:invertIfNegative val="0"/>
            <c:bubble3D val="0"/>
            <c:spPr>
              <a:solidFill>
                <a:srgbClr val="698F6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3B8B-3743-A7E4-39F810EA9C10}"/>
              </c:ext>
            </c:extLst>
          </c:dPt>
          <c:dPt>
            <c:idx val="6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3B8B-3743-A7E4-39F810EA9C10}"/>
              </c:ext>
            </c:extLst>
          </c:dPt>
          <c:dPt>
            <c:idx val="7"/>
            <c:invertIfNegative val="0"/>
            <c:bubble3D val="0"/>
            <c:spPr>
              <a:solidFill>
                <a:srgbClr val="8BAA8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3B8B-3743-A7E4-39F810EA9C10}"/>
              </c:ext>
            </c:extLst>
          </c:dPt>
          <c:dPt>
            <c:idx val="8"/>
            <c:invertIfNegative val="0"/>
            <c:bubble3D val="0"/>
            <c:spPr>
              <a:solidFill>
                <a:srgbClr val="98B49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3B8B-3743-A7E4-39F810EA9C10}"/>
              </c:ext>
            </c:extLst>
          </c:dPt>
          <c:dPt>
            <c:idx val="9"/>
            <c:invertIfNegative val="0"/>
            <c:bubble3D val="0"/>
            <c:spPr>
              <a:solidFill>
                <a:srgbClr val="9FBA9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3B8B-3743-A7E4-39F810EA9C10}"/>
              </c:ext>
            </c:extLst>
          </c:dPt>
          <c:dPt>
            <c:idx val="10"/>
            <c:invertIfNegative val="0"/>
            <c:bubble3D val="0"/>
            <c:spPr>
              <a:solidFill>
                <a:srgbClr val="A9C0A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3B8B-3743-A7E4-39F810EA9C10}"/>
              </c:ext>
            </c:extLst>
          </c:dPt>
          <c:dPt>
            <c:idx val="11"/>
            <c:invertIfNegative val="0"/>
            <c:bubble3D val="0"/>
            <c:spPr>
              <a:solidFill>
                <a:srgbClr val="B1C8A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3B8B-3743-A7E4-39F810EA9C10}"/>
              </c:ext>
            </c:extLst>
          </c:dPt>
          <c:dPt>
            <c:idx val="12"/>
            <c:invertIfNegative val="0"/>
            <c:bubble3D val="0"/>
            <c:spPr>
              <a:solidFill>
                <a:srgbClr val="B9CDB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3B8B-3743-A7E4-39F810EA9C10}"/>
              </c:ext>
            </c:extLst>
          </c:dPt>
          <c:dPt>
            <c:idx val="13"/>
            <c:invertIfNegative val="0"/>
            <c:bubble3D val="0"/>
            <c:spPr>
              <a:solidFill>
                <a:srgbClr val="C6D7C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3B8B-3743-A7E4-39F810EA9C10}"/>
              </c:ext>
            </c:extLst>
          </c:dPt>
          <c:dPt>
            <c:idx val="14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3B8B-3743-A7E4-39F810EA9C10}"/>
              </c:ext>
            </c:extLst>
          </c:dPt>
          <c:dPt>
            <c:idx val="15"/>
            <c:invertIfNegative val="0"/>
            <c:bubble3D val="0"/>
            <c:spPr>
              <a:solidFill>
                <a:srgbClr val="E2E9E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3B8B-3743-A7E4-39F810EA9C10}"/>
              </c:ext>
            </c:extLst>
          </c:dPt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8B-3743-A7E4-39F810EA9C10}"/>
                </c:ext>
              </c:extLst>
            </c:dLbl>
            <c:dLbl>
              <c:idx val="15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3B8B-3743-A7E4-39F810EA9C1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Especialistas_100k_hab!$A$2:$A$17</c:f>
              <c:strCache>
                <c:ptCount val="16"/>
                <c:pt idx="0">
                  <c:v>DF</c:v>
                </c:pt>
                <c:pt idx="1">
                  <c:v>SP</c:v>
                </c:pt>
                <c:pt idx="2">
                  <c:v>RJ</c:v>
                </c:pt>
                <c:pt idx="3">
                  <c:v>RS</c:v>
                </c:pt>
                <c:pt idx="4">
                  <c:v>SC</c:v>
                </c:pt>
                <c:pt idx="5">
                  <c:v>PR</c:v>
                </c:pt>
                <c:pt idx="6">
                  <c:v>ES</c:v>
                </c:pt>
                <c:pt idx="7">
                  <c:v>MG</c:v>
                </c:pt>
                <c:pt idx="8">
                  <c:v>MS</c:v>
                </c:pt>
                <c:pt idx="9">
                  <c:v>GO</c:v>
                </c:pt>
                <c:pt idx="10">
                  <c:v>MT</c:v>
                </c:pt>
                <c:pt idx="11">
                  <c:v>BA</c:v>
                </c:pt>
                <c:pt idx="12">
                  <c:v>PE</c:v>
                </c:pt>
                <c:pt idx="13">
                  <c:v>CE</c:v>
                </c:pt>
                <c:pt idx="14">
                  <c:v>PA</c:v>
                </c:pt>
                <c:pt idx="15">
                  <c:v>MA</c:v>
                </c:pt>
              </c:strCache>
            </c:strRef>
          </c:cat>
          <c:val>
            <c:numRef>
              <c:f>Especialistas_100k_hab!$B$2:$B$17</c:f>
              <c:numCache>
                <c:formatCode>General</c:formatCode>
                <c:ptCount val="16"/>
                <c:pt idx="0">
                  <c:v>453.5</c:v>
                </c:pt>
                <c:pt idx="1">
                  <c:v>414</c:v>
                </c:pt>
                <c:pt idx="2">
                  <c:v>390</c:v>
                </c:pt>
                <c:pt idx="3">
                  <c:v>375</c:v>
                </c:pt>
                <c:pt idx="4">
                  <c:v>355</c:v>
                </c:pt>
                <c:pt idx="5">
                  <c:v>345</c:v>
                </c:pt>
                <c:pt idx="6">
                  <c:v>325</c:v>
                </c:pt>
                <c:pt idx="7">
                  <c:v>310</c:v>
                </c:pt>
                <c:pt idx="8">
                  <c:v>275</c:v>
                </c:pt>
                <c:pt idx="9">
                  <c:v>260</c:v>
                </c:pt>
                <c:pt idx="10">
                  <c:v>240</c:v>
                </c:pt>
                <c:pt idx="11">
                  <c:v>215</c:v>
                </c:pt>
                <c:pt idx="12">
                  <c:v>195</c:v>
                </c:pt>
                <c:pt idx="13">
                  <c:v>165</c:v>
                </c:pt>
                <c:pt idx="14">
                  <c:v>145</c:v>
                </c:pt>
                <c:pt idx="15">
                  <c:v>68.2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0-3B8B-3743-A7E4-39F810EA9C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27"/>
        <c:axId val="1286443664"/>
        <c:axId val="1275612048"/>
      </c:barChart>
      <c:catAx>
        <c:axId val="12864436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12048"/>
        <c:crosses val="autoZero"/>
        <c:auto val="1"/>
        <c:lblAlgn val="ctr"/>
        <c:lblOffset val="100"/>
        <c:noMultiLvlLbl val="0"/>
      </c:catAx>
      <c:valAx>
        <c:axId val="1275612048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Especialistas / 100.000 hab.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8644366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9D9-6C4E-9ADF-95ED375AE6B4}"/>
              </c:ext>
            </c:extLst>
          </c:dPt>
          <c:dPt>
            <c:idx val="1"/>
            <c:invertIfNegative val="0"/>
            <c:bubble3D val="0"/>
            <c:spPr>
              <a:solidFill>
                <a:srgbClr val="2D604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9D9-6C4E-9ADF-95ED375AE6B4}"/>
              </c:ext>
            </c:extLst>
          </c:dPt>
          <c:dPt>
            <c:idx val="2"/>
            <c:invertIfNegative val="0"/>
            <c:bubble3D val="0"/>
            <c:spPr>
              <a:solidFill>
                <a:srgbClr val="567F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9D9-6C4E-9ADF-95ED375AE6B4}"/>
              </c:ext>
            </c:extLst>
          </c:dPt>
          <c:dPt>
            <c:idx val="3"/>
            <c:invertIfNegative val="0"/>
            <c:bubble3D val="0"/>
            <c:spPr>
              <a:solidFill>
                <a:srgbClr val="75987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9D9-6C4E-9ADF-95ED375AE6B4}"/>
              </c:ext>
            </c:extLst>
          </c:dPt>
          <c:dPt>
            <c:idx val="4"/>
            <c:invertIfNegative val="0"/>
            <c:bubble3D val="0"/>
            <c:spPr>
              <a:solidFill>
                <a:srgbClr val="A1B7A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9D9-6C4E-9ADF-95ED375AE6B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'Distancia_alta compl_xidade'!$A$2:$A$6</c:f>
              <c:strCache>
                <c:ptCount val="5"/>
                <c:pt idx="0">
                  <c:v>Norte</c:v>
                </c:pt>
                <c:pt idx="1">
                  <c:v>Centro-Oeste</c:v>
                </c:pt>
                <c:pt idx="2">
                  <c:v>Nordeste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'Distancia_alta compl_xidade'!$B$2:$B$6</c:f>
              <c:numCache>
                <c:formatCode>General</c:formatCode>
                <c:ptCount val="5"/>
                <c:pt idx="0">
                  <c:v>276</c:v>
                </c:pt>
                <c:pt idx="1">
                  <c:v>256</c:v>
                </c:pt>
                <c:pt idx="2">
                  <c:v>179</c:v>
                </c:pt>
                <c:pt idx="3">
                  <c:v>107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9D9-6C4E-9ADF-95ED375A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2"/>
        <c:overlap val="-27"/>
        <c:axId val="1379009104"/>
        <c:axId val="1275623568"/>
      </c:barChart>
      <c:catAx>
        <c:axId val="1379009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23568"/>
        <c:crosses val="autoZero"/>
        <c:auto val="1"/>
        <c:lblAlgn val="ctr"/>
        <c:lblOffset val="100"/>
        <c:noMultiLvlLbl val="0"/>
      </c:catAx>
      <c:valAx>
        <c:axId val="1275623568"/>
        <c:scaling>
          <c:orientation val="minMax"/>
          <c:max val="40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Distância média (Km)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7900910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Especialistas_100k_hab!$B$1</c:f>
              <c:strCache>
                <c:ptCount val="1"/>
                <c:pt idx="0">
                  <c:v>Especialistas / 100 mil hab.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3A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B8B-3743-A7E4-39F810EA9C10}"/>
              </c:ext>
            </c:extLst>
          </c:dPt>
          <c:dPt>
            <c:idx val="1"/>
            <c:invertIfNegative val="0"/>
            <c:bubble3D val="0"/>
            <c:spPr>
              <a:solidFill>
                <a:srgbClr val="27533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B-3743-A7E4-39F810EA9C10}"/>
              </c:ext>
            </c:extLst>
          </c:dPt>
          <c:dPt>
            <c:idx val="2"/>
            <c:invertIfNegative val="0"/>
            <c:bubble3D val="0"/>
            <c:spPr>
              <a:solidFill>
                <a:srgbClr val="39644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B8B-3743-A7E4-39F810EA9C10}"/>
              </c:ext>
            </c:extLst>
          </c:dPt>
          <c:dPt>
            <c:idx val="3"/>
            <c:invertIfNegative val="0"/>
            <c:bubble3D val="0"/>
            <c:spPr>
              <a:solidFill>
                <a:srgbClr val="47715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B8B-3743-A7E4-39F810EA9C10}"/>
              </c:ext>
            </c:extLst>
          </c:dPt>
          <c:dPt>
            <c:idx val="4"/>
            <c:invertIfNegative val="0"/>
            <c:bubble3D val="0"/>
            <c:spPr>
              <a:solidFill>
                <a:srgbClr val="59816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B8B-3743-A7E4-39F810EA9C10}"/>
              </c:ext>
            </c:extLst>
          </c:dPt>
          <c:dPt>
            <c:idx val="5"/>
            <c:invertIfNegative val="0"/>
            <c:bubble3D val="0"/>
            <c:spPr>
              <a:solidFill>
                <a:srgbClr val="698F6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3B8B-3743-A7E4-39F810EA9C10}"/>
              </c:ext>
            </c:extLst>
          </c:dPt>
          <c:dPt>
            <c:idx val="6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3B8B-3743-A7E4-39F810EA9C10}"/>
              </c:ext>
            </c:extLst>
          </c:dPt>
          <c:dPt>
            <c:idx val="7"/>
            <c:invertIfNegative val="0"/>
            <c:bubble3D val="0"/>
            <c:spPr>
              <a:solidFill>
                <a:srgbClr val="8BAA8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3B8B-3743-A7E4-39F810EA9C10}"/>
              </c:ext>
            </c:extLst>
          </c:dPt>
          <c:dPt>
            <c:idx val="8"/>
            <c:invertIfNegative val="0"/>
            <c:bubble3D val="0"/>
            <c:spPr>
              <a:solidFill>
                <a:srgbClr val="98B49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3B8B-3743-A7E4-39F810EA9C10}"/>
              </c:ext>
            </c:extLst>
          </c:dPt>
          <c:dPt>
            <c:idx val="9"/>
            <c:invertIfNegative val="0"/>
            <c:bubble3D val="0"/>
            <c:spPr>
              <a:solidFill>
                <a:srgbClr val="9FBA9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3B8B-3743-A7E4-39F810EA9C10}"/>
              </c:ext>
            </c:extLst>
          </c:dPt>
          <c:dPt>
            <c:idx val="10"/>
            <c:invertIfNegative val="0"/>
            <c:bubble3D val="0"/>
            <c:spPr>
              <a:solidFill>
                <a:srgbClr val="A9C0A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3B8B-3743-A7E4-39F810EA9C10}"/>
              </c:ext>
            </c:extLst>
          </c:dPt>
          <c:dPt>
            <c:idx val="11"/>
            <c:invertIfNegative val="0"/>
            <c:bubble3D val="0"/>
            <c:spPr>
              <a:solidFill>
                <a:srgbClr val="B1C8A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3B8B-3743-A7E4-39F810EA9C10}"/>
              </c:ext>
            </c:extLst>
          </c:dPt>
          <c:dPt>
            <c:idx val="12"/>
            <c:invertIfNegative val="0"/>
            <c:bubble3D val="0"/>
            <c:spPr>
              <a:solidFill>
                <a:srgbClr val="B9CDB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3B8B-3743-A7E4-39F810EA9C10}"/>
              </c:ext>
            </c:extLst>
          </c:dPt>
          <c:dPt>
            <c:idx val="13"/>
            <c:invertIfNegative val="0"/>
            <c:bubble3D val="0"/>
            <c:spPr>
              <a:solidFill>
                <a:srgbClr val="C6D7C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3B8B-3743-A7E4-39F810EA9C10}"/>
              </c:ext>
            </c:extLst>
          </c:dPt>
          <c:dPt>
            <c:idx val="14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3B8B-3743-A7E4-39F810EA9C10}"/>
              </c:ext>
            </c:extLst>
          </c:dPt>
          <c:dPt>
            <c:idx val="15"/>
            <c:invertIfNegative val="0"/>
            <c:bubble3D val="0"/>
            <c:spPr>
              <a:solidFill>
                <a:srgbClr val="E2E9E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3B8B-3743-A7E4-39F810EA9C10}"/>
              </c:ext>
            </c:extLst>
          </c:dPt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8B-3743-A7E4-39F810EA9C10}"/>
                </c:ext>
              </c:extLst>
            </c:dLbl>
            <c:dLbl>
              <c:idx val="15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3B8B-3743-A7E4-39F810EA9C1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Especialistas_100k_hab!$A$2:$A$17</c:f>
              <c:strCache>
                <c:ptCount val="16"/>
                <c:pt idx="0">
                  <c:v>DF</c:v>
                </c:pt>
                <c:pt idx="1">
                  <c:v>SP</c:v>
                </c:pt>
                <c:pt idx="2">
                  <c:v>RJ</c:v>
                </c:pt>
                <c:pt idx="3">
                  <c:v>RS</c:v>
                </c:pt>
                <c:pt idx="4">
                  <c:v>SC</c:v>
                </c:pt>
                <c:pt idx="5">
                  <c:v>PR</c:v>
                </c:pt>
                <c:pt idx="6">
                  <c:v>ES</c:v>
                </c:pt>
                <c:pt idx="7">
                  <c:v>MG</c:v>
                </c:pt>
                <c:pt idx="8">
                  <c:v>MS</c:v>
                </c:pt>
                <c:pt idx="9">
                  <c:v>GO</c:v>
                </c:pt>
                <c:pt idx="10">
                  <c:v>MT</c:v>
                </c:pt>
                <c:pt idx="11">
                  <c:v>BA</c:v>
                </c:pt>
                <c:pt idx="12">
                  <c:v>PE</c:v>
                </c:pt>
                <c:pt idx="13">
                  <c:v>CE</c:v>
                </c:pt>
                <c:pt idx="14">
                  <c:v>PA</c:v>
                </c:pt>
                <c:pt idx="15">
                  <c:v>MA</c:v>
                </c:pt>
              </c:strCache>
            </c:strRef>
          </c:cat>
          <c:val>
            <c:numRef>
              <c:f>Especialistas_100k_hab!$B$2:$B$17</c:f>
              <c:numCache>
                <c:formatCode>General</c:formatCode>
                <c:ptCount val="16"/>
                <c:pt idx="0">
                  <c:v>453.5</c:v>
                </c:pt>
                <c:pt idx="1">
                  <c:v>414</c:v>
                </c:pt>
                <c:pt idx="2">
                  <c:v>390</c:v>
                </c:pt>
                <c:pt idx="3">
                  <c:v>375</c:v>
                </c:pt>
                <c:pt idx="4">
                  <c:v>355</c:v>
                </c:pt>
                <c:pt idx="5">
                  <c:v>345</c:v>
                </c:pt>
                <c:pt idx="6">
                  <c:v>325</c:v>
                </c:pt>
                <c:pt idx="7">
                  <c:v>310</c:v>
                </c:pt>
                <c:pt idx="8">
                  <c:v>275</c:v>
                </c:pt>
                <c:pt idx="9">
                  <c:v>260</c:v>
                </c:pt>
                <c:pt idx="10">
                  <c:v>240</c:v>
                </c:pt>
                <c:pt idx="11">
                  <c:v>215</c:v>
                </c:pt>
                <c:pt idx="12">
                  <c:v>195</c:v>
                </c:pt>
                <c:pt idx="13">
                  <c:v>165</c:v>
                </c:pt>
                <c:pt idx="14">
                  <c:v>145</c:v>
                </c:pt>
                <c:pt idx="15">
                  <c:v>68.2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0-3B8B-3743-A7E4-39F810EA9C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27"/>
        <c:axId val="1286443664"/>
        <c:axId val="1275612048"/>
      </c:barChart>
      <c:catAx>
        <c:axId val="12864436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12048"/>
        <c:crosses val="autoZero"/>
        <c:auto val="1"/>
        <c:lblAlgn val="ctr"/>
        <c:lblOffset val="100"/>
        <c:noMultiLvlLbl val="0"/>
      </c:catAx>
      <c:valAx>
        <c:axId val="1275612048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Especialistas / 100.000 hab.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8644366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9D9-6C4E-9ADF-95ED375AE6B4}"/>
              </c:ext>
            </c:extLst>
          </c:dPt>
          <c:dPt>
            <c:idx val="1"/>
            <c:invertIfNegative val="0"/>
            <c:bubble3D val="0"/>
            <c:spPr>
              <a:solidFill>
                <a:srgbClr val="2D604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9D9-6C4E-9ADF-95ED375AE6B4}"/>
              </c:ext>
            </c:extLst>
          </c:dPt>
          <c:dPt>
            <c:idx val="2"/>
            <c:invertIfNegative val="0"/>
            <c:bubble3D val="0"/>
            <c:spPr>
              <a:solidFill>
                <a:srgbClr val="567F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9D9-6C4E-9ADF-95ED375AE6B4}"/>
              </c:ext>
            </c:extLst>
          </c:dPt>
          <c:dPt>
            <c:idx val="3"/>
            <c:invertIfNegative val="0"/>
            <c:bubble3D val="0"/>
            <c:spPr>
              <a:solidFill>
                <a:srgbClr val="75987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9D9-6C4E-9ADF-95ED375AE6B4}"/>
              </c:ext>
            </c:extLst>
          </c:dPt>
          <c:dPt>
            <c:idx val="4"/>
            <c:invertIfNegative val="0"/>
            <c:bubble3D val="0"/>
            <c:spPr>
              <a:solidFill>
                <a:srgbClr val="A1B7A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9D9-6C4E-9ADF-95ED375AE6B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'Distancia_alta compl_xidade'!$A$2:$A$6</c:f>
              <c:strCache>
                <c:ptCount val="5"/>
                <c:pt idx="0">
                  <c:v>Norte</c:v>
                </c:pt>
                <c:pt idx="1">
                  <c:v>Centro-Oeste</c:v>
                </c:pt>
                <c:pt idx="2">
                  <c:v>Nordeste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'Distancia_alta compl_xidade'!$B$2:$B$6</c:f>
              <c:numCache>
                <c:formatCode>General</c:formatCode>
                <c:ptCount val="5"/>
                <c:pt idx="0">
                  <c:v>276</c:v>
                </c:pt>
                <c:pt idx="1">
                  <c:v>256</c:v>
                </c:pt>
                <c:pt idx="2">
                  <c:v>179</c:v>
                </c:pt>
                <c:pt idx="3">
                  <c:v>107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9D9-6C4E-9ADF-95ED375A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2"/>
        <c:overlap val="-27"/>
        <c:axId val="1379009104"/>
        <c:axId val="1275623568"/>
      </c:barChart>
      <c:catAx>
        <c:axId val="1379009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23568"/>
        <c:crosses val="autoZero"/>
        <c:auto val="1"/>
        <c:lblAlgn val="ctr"/>
        <c:lblOffset val="100"/>
        <c:noMultiLvlLbl val="0"/>
      </c:catAx>
      <c:valAx>
        <c:axId val="1275623568"/>
        <c:scaling>
          <c:orientation val="minMax"/>
          <c:max val="40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Distância média (Km)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7900910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04-49E6-8FD0-88DBCDF24D9F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04-49E6-8FD0-88DBCDF24D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Variação</a:t>
                </a:r>
                <a:r>
                  <a:rPr lang="pt-BR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no Período</a:t>
                </a:r>
                <a:endParaRPr lang="pt-BR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432-4E6E-84BC-7B6E6A5EC65F}"/>
              </c:ext>
            </c:extLst>
          </c:dPt>
          <c:dPt>
            <c:idx val="1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432-4E6E-84BC-7B6E6A5EC65F}"/>
              </c:ext>
            </c:extLst>
          </c:dPt>
          <c:dPt>
            <c:idx val="2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432-4E6E-84BC-7B6E6A5EC65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Valor_bolsas!$B$2:$B$4</c:f>
              <c:strCache>
                <c:ptCount val="3"/>
                <c:pt idx="0">
                  <c:v>Faixa 3 (IVS até 0,300)</c:v>
                </c:pt>
                <c:pt idx="1">
                  <c:v>Faixa 2 (IVS de 0,301 a 0,400)</c:v>
                </c:pt>
                <c:pt idx="2">
                  <c:v>Faixa 1 (IVS acima de 0,400)</c:v>
                </c:pt>
              </c:strCache>
            </c:strRef>
          </c:cat>
          <c:val>
            <c:numRef>
              <c:f>Valor_bolsas!$C$2:$C$4</c:f>
              <c:numCache>
                <c:formatCode>"R$"#,##0_);[Red]\("R$"#,##0\)</c:formatCode>
                <c:ptCount val="3"/>
                <c:pt idx="0">
                  <c:v>10000</c:v>
                </c:pt>
                <c:pt idx="1">
                  <c:v>15000</c:v>
                </c:pt>
                <c:pt idx="2">
                  <c:v>20000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432-4E6E-84BC-7B6E6A5EC6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6"/>
        <c:overlap val="-27"/>
        <c:axId val="1328534608"/>
        <c:axId val="826493712"/>
      </c:barChart>
      <c:catAx>
        <c:axId val="1328534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826493712"/>
        <c:crosses val="autoZero"/>
        <c:auto val="1"/>
        <c:lblAlgn val="ctr"/>
        <c:lblOffset val="100"/>
        <c:noMultiLvlLbl val="0"/>
      </c:catAx>
      <c:valAx>
        <c:axId val="826493712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Incentivo financeiro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&quot;R$&quot;#,##0_);[Red]\(&quot;R$&quot;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285346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60-42C0-8E50-AB0E278E1FC5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960-42C0-8E50-AB0E278E1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Variação</a:t>
                </a:r>
                <a:r>
                  <a:rPr lang="pt-BR" baseline="0"/>
                  <a:t> no Período</a:t>
                </a:r>
                <a:endParaRPr lang="pt-BR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04-49E6-8FD0-88DBCDF24D9F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04-49E6-8FD0-88DBCDF24D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Variação</a:t>
                </a:r>
                <a:r>
                  <a:rPr lang="pt-BR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no Período</a:t>
                </a:r>
                <a:endParaRPr lang="pt-BR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67DA2-7CB7-3D5A-4888-787C3515D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91B910-7623-03CF-C1D9-700C9666C8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4EF556-7597-5B4A-431D-541C595580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1. </a:t>
            </a:r>
            <a:r>
              <a:rPr lang="en-US" err="1">
                <a:latin typeface="Calibri"/>
                <a:ea typeface="Calibri"/>
                <a:cs typeface="Calibri"/>
              </a:rPr>
              <a:t>Princípio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equidade</a:t>
            </a:r>
            <a:r>
              <a:rPr lang="en-US">
                <a:latin typeface="Calibri"/>
                <a:ea typeface="Calibri"/>
                <a:cs typeface="Calibri"/>
              </a:rPr>
              <a:t> do SUS</a:t>
            </a:r>
            <a:br>
              <a:rPr lang="en-US">
                <a:latin typeface="Calibri"/>
                <a:ea typeface="Calibri"/>
                <a:cs typeface="Calibri"/>
              </a:rPr>
            </a:br>
            <a:r>
              <a:rPr lang="en-US">
                <a:latin typeface="Calibri"/>
                <a:ea typeface="Calibri"/>
                <a:cs typeface="Calibri"/>
              </a:rPr>
              <a:t>2.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 para </a:t>
            </a:r>
            <a:r>
              <a:rPr lang="en-US" err="1">
                <a:latin typeface="Calibri"/>
                <a:ea typeface="Calibri"/>
                <a:cs typeface="Calibri"/>
              </a:rPr>
              <a:t>buscar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tratamento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muito</a:t>
            </a:r>
            <a:r>
              <a:rPr lang="en-US">
                <a:latin typeface="Calibri"/>
                <a:ea typeface="Calibri"/>
                <a:cs typeface="Calibri"/>
              </a:rPr>
              <a:t> Desigual</a:t>
            </a:r>
            <a:br>
              <a:rPr lang="en-US">
                <a:latin typeface="Calibri"/>
                <a:ea typeface="Calibri"/>
                <a:cs typeface="Calibri"/>
              </a:rPr>
            </a:br>
            <a:br>
              <a:rPr lang="en-US">
                <a:latin typeface="Calibri"/>
                <a:ea typeface="Calibri"/>
                <a:cs typeface="Calibri"/>
              </a:rPr>
            </a:br>
            <a:r>
              <a:rPr lang="pt-BR"/>
              <a:t>-Destacar que a presença dos especialistas é baixa e </a:t>
            </a:r>
            <a:r>
              <a:rPr lang="pt-BR" err="1"/>
              <a:t>concetrada</a:t>
            </a:r>
            <a:r>
              <a:rPr lang="pt-BR"/>
              <a:t> no sul e sudeste</a:t>
            </a:r>
            <a:br>
              <a:rPr lang="pt-BR"/>
            </a:br>
            <a:r>
              <a:rPr lang="pt-BR"/>
              <a:t>-Evidenciar que parte dos procedimentos que deveriam ser realizados não são por espera e distância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38B4EF-7F9C-D81C-E575-815E78D029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16286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1. </a:t>
            </a:r>
            <a:r>
              <a:rPr lang="en-US" err="1">
                <a:latin typeface="Calibri"/>
                <a:ea typeface="Calibri"/>
                <a:cs typeface="Calibri"/>
              </a:rPr>
              <a:t>Princípio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equidade</a:t>
            </a:r>
            <a:r>
              <a:rPr lang="en-US">
                <a:latin typeface="Calibri"/>
                <a:ea typeface="Calibri"/>
                <a:cs typeface="Calibri"/>
              </a:rPr>
              <a:t> do SUS</a:t>
            </a:r>
            <a:br>
              <a:rPr lang="en-US">
                <a:latin typeface="Calibri"/>
                <a:ea typeface="Calibri"/>
                <a:cs typeface="Calibri"/>
              </a:rPr>
            </a:br>
            <a:r>
              <a:rPr lang="en-US">
                <a:latin typeface="Calibri"/>
                <a:ea typeface="Calibri"/>
                <a:cs typeface="Calibri"/>
              </a:rPr>
              <a:t>2.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 para </a:t>
            </a:r>
            <a:r>
              <a:rPr lang="en-US" err="1">
                <a:latin typeface="Calibri"/>
                <a:ea typeface="Calibri"/>
                <a:cs typeface="Calibri"/>
              </a:rPr>
              <a:t>buscar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tratamento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muito</a:t>
            </a:r>
            <a:r>
              <a:rPr lang="en-US">
                <a:latin typeface="Calibri"/>
                <a:ea typeface="Calibri"/>
                <a:cs typeface="Calibri"/>
              </a:rPr>
              <a:t> Desigual</a:t>
            </a:r>
            <a:br>
              <a:rPr lang="en-US">
                <a:latin typeface="Calibri"/>
                <a:ea typeface="Calibri"/>
                <a:cs typeface="Calibri"/>
              </a:rPr>
            </a:br>
            <a:br>
              <a:rPr lang="en-US">
                <a:latin typeface="Calibri"/>
                <a:ea typeface="Calibri"/>
                <a:cs typeface="Calibri"/>
              </a:rPr>
            </a:br>
            <a:r>
              <a:rPr lang="pt-BR"/>
              <a:t>-Destacar que a presença dos especialistas é baixa e </a:t>
            </a:r>
            <a:r>
              <a:rPr lang="pt-BR" err="1"/>
              <a:t>concetrada</a:t>
            </a:r>
            <a:r>
              <a:rPr lang="pt-BR"/>
              <a:t> no sul e sudeste</a:t>
            </a:r>
            <a:br>
              <a:rPr lang="pt-BR"/>
            </a:br>
            <a:r>
              <a:rPr lang="pt-BR"/>
              <a:t>-Evidenciar que parte dos procedimentos que deveriam ser realizados não são por espera e distância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6745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43F92-6540-ABC3-CEA5-6ADE00485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108F83-E890-AB8E-6CDF-21E51A57CF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6A20AD-4B42-178A-4BC8-944C98FA53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BD44-65BF-B0B4-4541-7396244A2E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24909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ACF9-49B8-1925-F8F8-1DEE95EAD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D6BDA-B712-77EC-E934-434EB28B44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65380-E262-AA30-D541-B06613FEAC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6C3DF-B19A-EC11-F658-CE07D81708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2340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Programa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importante</a:t>
            </a:r>
            <a:r>
              <a:rPr lang="en-US">
                <a:latin typeface="Calibri"/>
                <a:ea typeface="Calibri"/>
                <a:cs typeface="Calibri"/>
              </a:rPr>
              <a:t> pro </a:t>
            </a:r>
            <a:r>
              <a:rPr lang="en-US" err="1">
                <a:latin typeface="Calibri"/>
                <a:ea typeface="Calibri"/>
                <a:cs typeface="Calibri"/>
              </a:rPr>
              <a:t>governo</a:t>
            </a:r>
            <a:endParaRPr lang="en-US">
              <a:latin typeface="Calibri"/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r>
              <a:rPr lang="en-US">
                <a:latin typeface="Calibri"/>
                <a:ea typeface="Calibri"/>
                <a:cs typeface="Calibri"/>
              </a:rPr>
              <a:t>Análise </a:t>
            </a:r>
            <a:r>
              <a:rPr lang="en-US" err="1">
                <a:latin typeface="Calibri"/>
                <a:ea typeface="Calibri"/>
                <a:cs typeface="Calibri"/>
              </a:rPr>
              <a:t>descritiva</a:t>
            </a:r>
            <a:r>
              <a:rPr lang="en-US">
                <a:latin typeface="Calibri"/>
                <a:ea typeface="Calibri"/>
                <a:cs typeface="Calibri"/>
              </a:rPr>
              <a:t> da </a:t>
            </a:r>
            <a:r>
              <a:rPr lang="en-US" err="1">
                <a:latin typeface="Calibri"/>
                <a:ea typeface="Calibri"/>
                <a:cs typeface="Calibri"/>
              </a:rPr>
              <a:t>política</a:t>
            </a:r>
            <a:endParaRPr lang="en-US">
              <a:latin typeface="Calibri"/>
              <a:ea typeface="Calibri"/>
              <a:cs typeface="Calibri"/>
            </a:endParaRPr>
          </a:p>
          <a:p>
            <a:pPr lvl="1" indent="-171450">
              <a:buFontTx/>
              <a:buAutoNum type="arabicPeriod"/>
            </a:pPr>
            <a:r>
              <a:rPr lang="en-US" err="1">
                <a:latin typeface="Calibri"/>
                <a:ea typeface="Calibri"/>
                <a:cs typeface="Calibri"/>
              </a:rPr>
              <a:t>Progama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apresenta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indícios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efetividade</a:t>
            </a:r>
            <a:endParaRPr lang="en-US">
              <a:latin typeface="Calibri"/>
              <a:ea typeface="Calibri"/>
              <a:cs typeface="Calibri"/>
            </a:endParaRPr>
          </a:p>
          <a:p>
            <a:pPr lvl="1" indent="-171450">
              <a:buFontTx/>
              <a:buAutoNum type="arabicPeriod"/>
            </a:pPr>
            <a:r>
              <a:rPr lang="en-US" err="1">
                <a:latin typeface="Calibri"/>
                <a:ea typeface="Calibri"/>
                <a:cs typeface="Calibri"/>
              </a:rPr>
              <a:t>Crescimento</a:t>
            </a:r>
            <a:r>
              <a:rPr lang="en-US">
                <a:latin typeface="Calibri"/>
                <a:ea typeface="Calibri"/>
                <a:cs typeface="Calibri"/>
              </a:rPr>
              <a:t> percentual </a:t>
            </a:r>
            <a:r>
              <a:rPr lang="en-US" err="1">
                <a:latin typeface="Calibri"/>
                <a:ea typeface="Calibri"/>
                <a:cs typeface="Calibri"/>
              </a:rPr>
              <a:t>aumenta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nos</a:t>
            </a:r>
            <a:r>
              <a:rPr lang="en-US">
                <a:latin typeface="Calibri"/>
                <a:ea typeface="Calibri"/>
                <a:cs typeface="Calibri"/>
              </a:rPr>
              <a:t> 9 meses </a:t>
            </a:r>
            <a:r>
              <a:rPr lang="en-US" err="1">
                <a:latin typeface="Calibri"/>
                <a:ea typeface="Calibri"/>
                <a:cs typeface="Calibri"/>
              </a:rPr>
              <a:t>depois</a:t>
            </a:r>
            <a:r>
              <a:rPr lang="en-US">
                <a:latin typeface="Calibri"/>
                <a:ea typeface="Calibri"/>
                <a:cs typeface="Calibri"/>
              </a:rPr>
              <a:t> da </a:t>
            </a:r>
            <a:r>
              <a:rPr lang="en-US" err="1">
                <a:latin typeface="Calibri"/>
                <a:ea typeface="Calibri"/>
                <a:cs typeface="Calibri"/>
              </a:rPr>
              <a:t>homologação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em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relação</a:t>
            </a:r>
            <a:r>
              <a:rPr lang="en-US">
                <a:latin typeface="Calibri"/>
                <a:ea typeface="Calibri"/>
                <a:cs typeface="Calibri"/>
              </a:rPr>
              <a:t> a 9 meses antes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38386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37F8A-49A9-AE8E-5FF5-B781325A9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F81E9-5940-7F5E-3B36-78335E3DFA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6C11CB-1A73-1238-2B61-DAAF5E6CF5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2DE2B1-639C-E8C3-FF9D-7C5AB7FB96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88809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Falar que utilizamos três literaturas, uma para como o medico escolhe a localidade e duas referentes aos custos (laboral e geográfico)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22030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Nossa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adaptação</a:t>
            </a:r>
            <a:r>
              <a:rPr lang="en-US">
                <a:latin typeface="Calibri"/>
                <a:ea typeface="Calibri"/>
                <a:cs typeface="Calibri"/>
              </a:rPr>
              <a:t> do </a:t>
            </a:r>
            <a:r>
              <a:rPr lang="en-US" err="1">
                <a:latin typeface="Calibri"/>
                <a:ea typeface="Calibri"/>
                <a:cs typeface="Calibri"/>
              </a:rPr>
              <a:t>modelo</a:t>
            </a:r>
            <a:r>
              <a:rPr lang="en-US">
                <a:latin typeface="Calibri"/>
                <a:ea typeface="Calibri"/>
                <a:cs typeface="Calibri"/>
              </a:rPr>
              <a:t>: </a:t>
            </a:r>
            <a:r>
              <a:rPr lang="en-US" err="1">
                <a:latin typeface="Calibri"/>
                <a:ea typeface="Calibri"/>
                <a:cs typeface="Calibri"/>
              </a:rPr>
              <a:t>incluimos</a:t>
            </a:r>
            <a:r>
              <a:rPr lang="en-US">
                <a:latin typeface="Calibri"/>
                <a:ea typeface="Calibri"/>
                <a:cs typeface="Calibri"/>
              </a:rPr>
              <a:t> a </a:t>
            </a:r>
            <a:r>
              <a:rPr lang="en-US" err="1">
                <a:latin typeface="Calibri"/>
                <a:ea typeface="Calibri"/>
                <a:cs typeface="Calibri"/>
              </a:rPr>
              <a:t>bolsa</a:t>
            </a:r>
            <a:endParaRPr lang="en-US">
              <a:latin typeface="Calibri"/>
              <a:ea typeface="Calibri"/>
              <a:cs typeface="Calibri"/>
            </a:endParaRPr>
          </a:p>
          <a:p>
            <a:pPr marL="285750" indent="-285750">
              <a:buFont typeface="Calibri"/>
              <a:buChar char="-"/>
            </a:pPr>
            <a:r>
              <a:rPr lang="en-US" b="1">
                <a:latin typeface="Calibri"/>
                <a:ea typeface="Calibri"/>
                <a:cs typeface="Calibri"/>
              </a:rPr>
              <a:t>Mecanismo da </a:t>
            </a:r>
            <a:r>
              <a:rPr lang="en-US" b="1" err="1">
                <a:latin typeface="Calibri"/>
                <a:ea typeface="Calibri"/>
                <a:cs typeface="Calibri"/>
              </a:rPr>
              <a:t>política</a:t>
            </a:r>
            <a:r>
              <a:rPr lang="en-US" b="1">
                <a:latin typeface="Calibri"/>
                <a:ea typeface="Calibri"/>
                <a:cs typeface="Calibri"/>
              </a:rPr>
              <a:t>: </a:t>
            </a:r>
            <a:r>
              <a:rPr lang="en-US" b="1" err="1">
                <a:latin typeface="Calibri"/>
                <a:ea typeface="Calibri"/>
                <a:cs typeface="Calibri"/>
              </a:rPr>
              <a:t>através</a:t>
            </a:r>
            <a:r>
              <a:rPr lang="en-US" b="1">
                <a:latin typeface="Calibri"/>
                <a:ea typeface="Calibri"/>
                <a:cs typeface="Calibri"/>
              </a:rPr>
              <a:t> da </a:t>
            </a:r>
            <a:r>
              <a:rPr lang="en-US" b="1" err="1">
                <a:latin typeface="Calibri"/>
                <a:ea typeface="Calibri"/>
                <a:cs typeface="Calibri"/>
              </a:rPr>
              <a:t>bolsa</a:t>
            </a:r>
            <a:r>
              <a:rPr lang="en-US" b="1">
                <a:latin typeface="Calibri"/>
                <a:ea typeface="Calibri"/>
                <a:cs typeface="Calibri"/>
              </a:rPr>
              <a:t>, </a:t>
            </a:r>
            <a:r>
              <a:rPr lang="en-US" b="1" err="1">
                <a:latin typeface="Calibri"/>
                <a:ea typeface="Calibri"/>
                <a:cs typeface="Calibri"/>
              </a:rPr>
              <a:t>elevamos</a:t>
            </a:r>
            <a:r>
              <a:rPr lang="en-US" b="1">
                <a:latin typeface="Calibri"/>
                <a:ea typeface="Calibri"/>
                <a:cs typeface="Calibri"/>
              </a:rPr>
              <a:t> a </a:t>
            </a:r>
            <a:r>
              <a:rPr lang="en-US" b="1" err="1">
                <a:latin typeface="Calibri"/>
                <a:ea typeface="Calibri"/>
                <a:cs typeface="Calibri"/>
              </a:rPr>
              <a:t>expectativa</a:t>
            </a:r>
            <a:r>
              <a:rPr lang="en-US" b="1">
                <a:latin typeface="Calibri"/>
                <a:ea typeface="Calibri"/>
                <a:cs typeface="Calibri"/>
              </a:rPr>
              <a:t> de </a:t>
            </a:r>
            <a:r>
              <a:rPr lang="en-US" b="1" err="1">
                <a:latin typeface="Calibri"/>
                <a:ea typeface="Calibri"/>
                <a:cs typeface="Calibri"/>
              </a:rPr>
              <a:t>remuneração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em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regiões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onde</a:t>
            </a:r>
            <a:r>
              <a:rPr lang="en-US" b="1">
                <a:latin typeface="Calibri"/>
                <a:ea typeface="Calibri"/>
                <a:cs typeface="Calibri"/>
              </a:rPr>
              <a:t> o mercado local </a:t>
            </a:r>
            <a:r>
              <a:rPr lang="en-US" b="1" err="1">
                <a:latin typeface="Calibri"/>
                <a:ea typeface="Calibri"/>
                <a:cs typeface="Calibri"/>
              </a:rPr>
              <a:t>é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pouco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lucrativo</a:t>
            </a:r>
            <a:endParaRPr lang="en-US" b="1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38620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err="1"/>
              <a:t>Somatória</a:t>
            </a:r>
            <a:r>
              <a:rPr lang="en-US"/>
              <a:t> e </a:t>
            </a:r>
            <a:r>
              <a:rPr lang="en-US" err="1"/>
              <a:t>desconto</a:t>
            </a:r>
            <a:r>
              <a:rPr lang="en-US"/>
              <a:t>: </a:t>
            </a:r>
            <a:r>
              <a:rPr lang="en-US" err="1"/>
              <a:t>Escolha</a:t>
            </a:r>
            <a:r>
              <a:rPr lang="en-US"/>
              <a:t> intertemporal, </a:t>
            </a:r>
            <a:r>
              <a:rPr lang="en-US" err="1"/>
              <a:t>considera</a:t>
            </a:r>
            <a:r>
              <a:rPr lang="en-US"/>
              <a:t> </a:t>
            </a:r>
            <a:r>
              <a:rPr lang="en-US" err="1"/>
              <a:t>remuneração</a:t>
            </a:r>
            <a:r>
              <a:rPr lang="en-US"/>
              <a:t> de </a:t>
            </a:r>
            <a:r>
              <a:rPr lang="en-US" err="1"/>
              <a:t>vários</a:t>
            </a:r>
            <a:r>
              <a:rPr lang="en-US"/>
              <a:t> </a:t>
            </a:r>
            <a:r>
              <a:rPr lang="en-US" err="1"/>
              <a:t>períodos</a:t>
            </a:r>
            <a:r>
              <a:rPr lang="en-US"/>
              <a:t> </a:t>
            </a:r>
            <a:r>
              <a:rPr lang="en-US" err="1"/>
              <a:t>descontados</a:t>
            </a:r>
            <a:endParaRPr lang="en-US"/>
          </a:p>
          <a:p>
            <a:pPr marL="228600" indent="-228600">
              <a:buAutoNum type="arabicPeriod"/>
            </a:pPr>
            <a:r>
              <a:rPr lang="en-US"/>
              <a:t>W é </a:t>
            </a:r>
            <a:r>
              <a:rPr lang="en-US" err="1"/>
              <a:t>determinado</a:t>
            </a:r>
            <a:r>
              <a:rPr lang="en-US"/>
              <a:t> </a:t>
            </a:r>
            <a:r>
              <a:rPr lang="en-US" err="1"/>
              <a:t>pelo</a:t>
            </a:r>
            <a:r>
              <a:rPr lang="en-US"/>
              <a:t> mercado local, </a:t>
            </a:r>
            <a:r>
              <a:rPr lang="en-US" err="1"/>
              <a:t>que</a:t>
            </a:r>
            <a:r>
              <a:rPr lang="en-US"/>
              <a:t> é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lucrativo</a:t>
            </a:r>
            <a:r>
              <a:rPr lang="en-US"/>
              <a:t> </a:t>
            </a:r>
            <a:r>
              <a:rPr lang="en-US" err="1"/>
              <a:t>em</a:t>
            </a:r>
            <a:r>
              <a:rPr lang="en-US"/>
              <a:t>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pobres</a:t>
            </a:r>
            <a:r>
              <a:rPr lang="en-US"/>
              <a:t> </a:t>
            </a:r>
          </a:p>
          <a:p>
            <a:pPr marL="228600" indent="-228600">
              <a:buAutoNum type="arabicPeriod"/>
            </a:pPr>
            <a:r>
              <a:rPr lang="en-US" err="1"/>
              <a:t>Custo</a:t>
            </a:r>
            <a:r>
              <a:rPr lang="en-US"/>
              <a:t>: </a:t>
            </a:r>
            <a:r>
              <a:rPr lang="en-US" err="1"/>
              <a:t>por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as </a:t>
            </a:r>
            <a:r>
              <a:rPr lang="en-US" err="1"/>
              <a:t>pessoas</a:t>
            </a:r>
            <a:r>
              <a:rPr lang="en-US"/>
              <a:t> </a:t>
            </a:r>
            <a:r>
              <a:rPr lang="en-US" err="1"/>
              <a:t>não</a:t>
            </a:r>
            <a:r>
              <a:rPr lang="en-US"/>
              <a:t> </a:t>
            </a:r>
            <a:r>
              <a:rPr lang="en-US" err="1"/>
              <a:t>iriam</a:t>
            </a:r>
            <a:r>
              <a:rPr lang="en-US"/>
              <a:t> </a:t>
            </a:r>
            <a:r>
              <a:rPr lang="en-US" err="1"/>
              <a:t>pra</a:t>
            </a:r>
            <a:r>
              <a:rPr lang="en-US"/>
              <a:t> </a:t>
            </a:r>
            <a:r>
              <a:rPr lang="en-US" err="1"/>
              <a:t>lá</a:t>
            </a:r>
            <a:r>
              <a:rPr lang="en-US"/>
              <a:t>?</a:t>
            </a:r>
          </a:p>
          <a:p>
            <a:pPr marL="228600" indent="-228600">
              <a:buAutoNum type="arabicPeriod"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5571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Calibri"/>
              <a:buChar char="-"/>
            </a:pPr>
            <a:r>
              <a:rPr lang="en-US">
                <a:latin typeface="Calibri"/>
                <a:ea typeface="Calibri"/>
                <a:cs typeface="Calibri"/>
              </a:rPr>
              <a:t>Só </a:t>
            </a:r>
            <a:r>
              <a:rPr lang="en-US" err="1">
                <a:latin typeface="Calibri"/>
                <a:ea typeface="Calibri"/>
                <a:cs typeface="Calibri"/>
              </a:rPr>
              <a:t>pra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destrinchar</a:t>
            </a:r>
            <a:r>
              <a:rPr lang="en-US">
                <a:latin typeface="Calibri"/>
                <a:ea typeface="Calibri"/>
                <a:cs typeface="Calibri"/>
              </a:rPr>
              <a:t> o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que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ficou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meio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oculto</a:t>
            </a:r>
            <a:endParaRPr lang="en-US">
              <a:latin typeface="Calibri"/>
              <a:ea typeface="Calibri"/>
              <a:cs typeface="Calibri"/>
            </a:endParaRPr>
          </a:p>
          <a:p>
            <a:pPr marL="228600" indent="-22860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Desutilidade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viver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ali</a:t>
            </a:r>
            <a:r>
              <a:rPr lang="en-US">
                <a:latin typeface="Calibri"/>
                <a:ea typeface="Calibri"/>
                <a:cs typeface="Calibri"/>
              </a:rPr>
              <a:t> (</a:t>
            </a:r>
            <a:r>
              <a:rPr lang="en-US" err="1">
                <a:latin typeface="Calibri"/>
                <a:ea typeface="Calibri"/>
                <a:cs typeface="Calibri"/>
              </a:rPr>
              <a:t>qualidade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vida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distância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grandes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centros</a:t>
            </a:r>
            <a:r>
              <a:rPr lang="en-US">
                <a:latin typeface="Calibri"/>
                <a:ea typeface="Calibri"/>
                <a:cs typeface="Calibri"/>
              </a:rPr>
              <a:t>)</a:t>
            </a:r>
            <a:endParaRPr lang="en-US"/>
          </a:p>
          <a:p>
            <a:pPr marL="228600" indent="-22860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Desutilidade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trabalhar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ali</a:t>
            </a:r>
            <a:r>
              <a:rPr lang="en-US">
                <a:latin typeface="Calibri"/>
                <a:ea typeface="Calibri"/>
                <a:cs typeface="Calibri"/>
              </a:rPr>
              <a:t> (</a:t>
            </a:r>
            <a:r>
              <a:rPr lang="en-US" err="1">
                <a:latin typeface="Calibri"/>
                <a:ea typeface="Calibri"/>
                <a:cs typeface="Calibri"/>
              </a:rPr>
              <a:t>esforço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altruísmo</a:t>
            </a:r>
            <a:r>
              <a:rPr lang="en-US">
                <a:latin typeface="Calibri"/>
                <a:ea typeface="Calibri"/>
                <a:cs typeface="Calibri"/>
              </a:rPr>
              <a:t> * </a:t>
            </a:r>
            <a:r>
              <a:rPr lang="en-US" err="1">
                <a:latin typeface="Calibri"/>
                <a:ea typeface="Calibri"/>
                <a:cs typeface="Calibri"/>
              </a:rPr>
              <a:t>benefício</a:t>
            </a:r>
            <a:r>
              <a:rPr lang="en-US">
                <a:latin typeface="Calibri"/>
                <a:ea typeface="Calibri"/>
                <a:cs typeface="Calibri"/>
              </a:rPr>
              <a:t>)</a:t>
            </a:r>
          </a:p>
          <a:p>
            <a:pPr marL="228600" indent="-228600">
              <a:buFont typeface="Calibri"/>
              <a:buChar char="-"/>
            </a:pPr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11671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373AD-50CB-411F-F192-93FAB3D4B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081B98-F2C6-57D1-A7C7-513F241EA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F31B8E-45EB-9FAC-531A-FE5D74310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Nossa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adaptação</a:t>
            </a:r>
            <a:r>
              <a:rPr lang="en-US">
                <a:latin typeface="Calibri"/>
                <a:ea typeface="Calibri"/>
                <a:cs typeface="Calibri"/>
              </a:rPr>
              <a:t> do </a:t>
            </a:r>
            <a:r>
              <a:rPr lang="en-US" err="1">
                <a:latin typeface="Calibri"/>
                <a:ea typeface="Calibri"/>
                <a:cs typeface="Calibri"/>
              </a:rPr>
              <a:t>modelo</a:t>
            </a:r>
            <a:r>
              <a:rPr lang="en-US">
                <a:latin typeface="Calibri"/>
                <a:ea typeface="Calibri"/>
                <a:cs typeface="Calibri"/>
              </a:rPr>
              <a:t>: </a:t>
            </a:r>
            <a:r>
              <a:rPr lang="en-US" err="1">
                <a:latin typeface="Calibri"/>
                <a:ea typeface="Calibri"/>
                <a:cs typeface="Calibri"/>
              </a:rPr>
              <a:t>incluimos</a:t>
            </a:r>
            <a:r>
              <a:rPr lang="en-US">
                <a:latin typeface="Calibri"/>
                <a:ea typeface="Calibri"/>
                <a:cs typeface="Calibri"/>
              </a:rPr>
              <a:t> a </a:t>
            </a:r>
            <a:r>
              <a:rPr lang="en-US" err="1">
                <a:latin typeface="Calibri"/>
                <a:ea typeface="Calibri"/>
                <a:cs typeface="Calibri"/>
              </a:rPr>
              <a:t>bolsa</a:t>
            </a:r>
            <a:endParaRPr lang="en-US">
              <a:latin typeface="Calibri"/>
              <a:ea typeface="Calibri"/>
              <a:cs typeface="Calibri"/>
            </a:endParaRPr>
          </a:p>
          <a:p>
            <a:pPr marL="285750" indent="-285750">
              <a:buFont typeface="Calibri"/>
              <a:buChar char="-"/>
            </a:pPr>
            <a:r>
              <a:rPr lang="en-US" b="1">
                <a:latin typeface="Calibri"/>
                <a:ea typeface="Calibri"/>
                <a:cs typeface="Calibri"/>
              </a:rPr>
              <a:t>Mecanismo da </a:t>
            </a:r>
            <a:r>
              <a:rPr lang="en-US" b="1" err="1">
                <a:latin typeface="Calibri"/>
                <a:ea typeface="Calibri"/>
                <a:cs typeface="Calibri"/>
              </a:rPr>
              <a:t>política</a:t>
            </a:r>
            <a:r>
              <a:rPr lang="en-US" b="1">
                <a:latin typeface="Calibri"/>
                <a:ea typeface="Calibri"/>
                <a:cs typeface="Calibri"/>
              </a:rPr>
              <a:t>: </a:t>
            </a:r>
            <a:r>
              <a:rPr lang="en-US" b="1" err="1">
                <a:latin typeface="Calibri"/>
                <a:ea typeface="Calibri"/>
                <a:cs typeface="Calibri"/>
              </a:rPr>
              <a:t>através</a:t>
            </a:r>
            <a:r>
              <a:rPr lang="en-US" b="1">
                <a:latin typeface="Calibri"/>
                <a:ea typeface="Calibri"/>
                <a:cs typeface="Calibri"/>
              </a:rPr>
              <a:t> da </a:t>
            </a:r>
            <a:r>
              <a:rPr lang="en-US" b="1" err="1">
                <a:latin typeface="Calibri"/>
                <a:ea typeface="Calibri"/>
                <a:cs typeface="Calibri"/>
              </a:rPr>
              <a:t>bolsa</a:t>
            </a:r>
            <a:r>
              <a:rPr lang="en-US" b="1">
                <a:latin typeface="Calibri"/>
                <a:ea typeface="Calibri"/>
                <a:cs typeface="Calibri"/>
              </a:rPr>
              <a:t>, </a:t>
            </a:r>
            <a:r>
              <a:rPr lang="en-US" b="1" err="1">
                <a:latin typeface="Calibri"/>
                <a:ea typeface="Calibri"/>
                <a:cs typeface="Calibri"/>
              </a:rPr>
              <a:t>elevamos</a:t>
            </a:r>
            <a:r>
              <a:rPr lang="en-US" b="1">
                <a:latin typeface="Calibri"/>
                <a:ea typeface="Calibri"/>
                <a:cs typeface="Calibri"/>
              </a:rPr>
              <a:t> a </a:t>
            </a:r>
            <a:r>
              <a:rPr lang="en-US" b="1" err="1">
                <a:latin typeface="Calibri"/>
                <a:ea typeface="Calibri"/>
                <a:cs typeface="Calibri"/>
              </a:rPr>
              <a:t>expectativa</a:t>
            </a:r>
            <a:r>
              <a:rPr lang="en-US" b="1">
                <a:latin typeface="Calibri"/>
                <a:ea typeface="Calibri"/>
                <a:cs typeface="Calibri"/>
              </a:rPr>
              <a:t> de </a:t>
            </a:r>
            <a:r>
              <a:rPr lang="en-US" b="1" err="1">
                <a:latin typeface="Calibri"/>
                <a:ea typeface="Calibri"/>
                <a:cs typeface="Calibri"/>
              </a:rPr>
              <a:t>remuneração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em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regiões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onde</a:t>
            </a:r>
            <a:r>
              <a:rPr lang="en-US" b="1">
                <a:latin typeface="Calibri"/>
                <a:ea typeface="Calibri"/>
                <a:cs typeface="Calibri"/>
              </a:rPr>
              <a:t> o mercado local </a:t>
            </a:r>
            <a:r>
              <a:rPr lang="en-US" b="1" err="1">
                <a:latin typeface="Calibri"/>
                <a:ea typeface="Calibri"/>
                <a:cs typeface="Calibri"/>
              </a:rPr>
              <a:t>é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pouco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lucrativo</a:t>
            </a:r>
            <a:endParaRPr lang="en-US" b="1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F7436-A7C6-BA97-3AF6-CC0E21687F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6218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Divisor do apêndice.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>
                <a:effectLst/>
              </a:rPr>
              <a:t>Em relação a viabilidade dos dados:</a:t>
            </a:r>
            <a:endParaRPr lang="pt-BR"/>
          </a:p>
          <a:p>
            <a:pPr marL="228600" indent="-228600">
              <a:buAutoNum type="arabicPeriod"/>
            </a:pPr>
            <a:r>
              <a:rPr lang="pt-BR"/>
              <a:t>Preenchimento de vagas do PMME: </a:t>
            </a:r>
            <a:r>
              <a:rPr lang="pt-BR">
                <a:effectLst/>
              </a:rPr>
              <a:t>CNES</a:t>
            </a:r>
            <a:r>
              <a:rPr lang="pt-BR"/>
              <a:t> (cadastro nacional de estabelecimentos de saúde), do ministério da saúde, tem dado</a:t>
            </a:r>
            <a:r>
              <a:rPr lang="pt-BR">
                <a:effectLst/>
              </a:rPr>
              <a:t> </a:t>
            </a:r>
            <a:r>
              <a:rPr lang="pt-BR"/>
              <a:t>quebrado por especialidade</a:t>
            </a:r>
          </a:p>
          <a:p>
            <a:pPr marL="228600" indent="-228600">
              <a:buAutoNum type="arabicPeriod"/>
            </a:pPr>
            <a:r>
              <a:rPr lang="pt-BR">
                <a:effectLst/>
              </a:rPr>
              <a:t>Valor das bolsas: quadro de vagas e homologação do MS, observando a faixa publicada em cada vaga</a:t>
            </a:r>
          </a:p>
          <a:p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8607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>
                <a:effectLst/>
              </a:rPr>
              <a:t>Em relação a viabilidade dos dados:</a:t>
            </a:r>
            <a:endParaRPr lang="pt-BR"/>
          </a:p>
          <a:p>
            <a:pPr marL="228600" indent="-228600">
              <a:buAutoNum type="arabicPeriod"/>
            </a:pPr>
            <a:r>
              <a:rPr lang="pt-BR"/>
              <a:t>Preenchimento de vagas do PMME: </a:t>
            </a:r>
            <a:r>
              <a:rPr lang="pt-BR">
                <a:effectLst/>
              </a:rPr>
              <a:t>CNES</a:t>
            </a:r>
            <a:r>
              <a:rPr lang="pt-BR"/>
              <a:t> (cadastro nacional de estabelecimentos de saúde), do ministério da saúde, tem dado</a:t>
            </a:r>
            <a:r>
              <a:rPr lang="pt-BR">
                <a:effectLst/>
              </a:rPr>
              <a:t> </a:t>
            </a:r>
            <a:r>
              <a:rPr lang="pt-BR"/>
              <a:t>quebrado por especialidade</a:t>
            </a:r>
          </a:p>
          <a:p>
            <a:pPr marL="228600" indent="-228600">
              <a:buAutoNum type="arabicPeriod"/>
            </a:pPr>
            <a:r>
              <a:rPr lang="pt-BR"/>
              <a:t>Mercado</a:t>
            </a:r>
            <a:r>
              <a:rPr lang="pt-BR">
                <a:effectLst/>
              </a:rPr>
              <a:t> local: classifica os municípios em capital, metrópole, interior próximo de polo e interior remoto para ser proxy da atividade privada e </a:t>
            </a:r>
            <a:r>
              <a:rPr lang="pt-BR" err="1">
                <a:effectLst/>
              </a:rPr>
              <a:t>possibiliade</a:t>
            </a:r>
            <a:r>
              <a:rPr lang="pt-BR">
                <a:effectLst/>
              </a:rPr>
              <a:t> de renda </a:t>
            </a:r>
            <a:endParaRPr lang="pt-BR"/>
          </a:p>
          <a:p>
            <a:r>
              <a:rPr lang="pt-BR">
                <a:effectLst/>
              </a:rPr>
              <a:t>• Custo de vida: despesas estaduais das famílias como proxy das diferenças de custo entre localidades.</a:t>
            </a:r>
          </a:p>
          <a:p>
            <a:r>
              <a:rPr lang="pt-BR">
                <a:effectLst/>
              </a:rPr>
              <a:t>• Desvantagens locais: IVS utilizado para custos não monetários.</a:t>
            </a:r>
          </a:p>
          <a:p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02049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CE466-46A7-9214-0934-FF9BF6AFB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FB1B97-EB6A-1377-27E0-9E2C615F84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31B9D7-2F84-C786-6840-201780B97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EE337-4BCB-0028-775F-129750A62D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80193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banca 1 testava só a última seta. Testar cada seta explica um resultado nulo no fim da cadeia: se a bolsa pesa pouco perto do custo do lugar (H3), ela reordena candidatos entre vagas (H2) sem mudar quantas vagas preenchem (H1). A H4 pergunta se o médico que chega aumenta a capacidade ou só passa a ser registrado onde já estava. Cautela: H3 é a hipótese central; H1 testa a consistência da cadeia.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ciclo 2 abriu mais vagas imediatas e preencheu uma fração maior das células; o ciclo 3 tem muito cadastro reserva. A ligação ao CNES passa de nove em cada dez candidatos em todos os ciclos. Se perguntarem pelos universos: o G1 conta todos os candidatos dos resultados; nos ciclos 2 e 3 alguns não têm a 1ª opção numa célula do quadro da 1ª chamada e ficam fora da escolha. A amostra do P1 exige 1ª opção numa célula do quadro, ligação ao CNES e município de origem, e soma 5.421 candidatos. Ciclo 3: só a 1ª chamada; o seguimento pós-início segue congelado. Uma célula pode ter várias vagas. A faixa é a da grade aplicada: até 0,300 → R$ 10 mil; de 0,301 a 0,400 → R$ 15 mil; acima de 0,400 → R$ 20 mil. As oito bases, com período, unidade e cobertura, estão no apêndice. Cautela: Descritivo: as diferenças entre ciclos não são efeito da bolsa.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Todos os protocolos foram congelados antes de estimar; o da H3 (52b) é pós-resultado. Especificações principais: na H1, kernel triangular com h = 0,050, uma reta de cada lado por ciclo × corte, salto comum e efeitos fixos de curso × ciclo e de tipo de vaga; na H2 e na H3, bolsa linear em R$ mil, IVS em spline com nós nos cortes, distância, mesma UF, mesma região, mesmo município, porte, capital e vaga imediata; na H4, controles ainda não tratados com base g − 1, efeito fixo de célula na comparação local e permutação na célula. O IC honesto (Armstrong e Kolesár) protege contra curvatura no corte; com o M do protocolo, ele sai largo demais para informar. Holm controla o erro nas primárias de cada família. Cautela: Nos cortes, o contraste é sempre o pacote do corte; nenhum estimador mede a participação no PMM-E.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Como cada hipótese foi testada: regra sharp, o IVS oficial reproduz a faixa nos três ciclos; manipulação, o IVS foi medido em 2010, antes do programa, e há teste de densidade; continuidade, balanço de covariáveis e placebos de outcome e de corte; só a bolsa salta, spline com nós nos cortes, placebos de corte e spline cúbico; independência de alternativas, logit aninhado por região e logit misto; tendências paralelas, teste conjunto do pré e Rambachan–Roth; alocação perto da nota de corte, balanço e desempate por regra fixa. A regra sharp é o que torna a descontinuidade possível. A ameaça que não se testa por inteiro é a das co-políticas: emendas, custeio de MAC, o IED da APS e a coparticipação do PMMB mudam nos mesmos cortes. Na DiRD, só a parte fixa no tempo delas sai. Cautela: Outras regras federais mudam em 0,300 e 0,400: por isso "pacote do corte".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evidência de que o desenho existe: o primeiro estágio é a própria regra. Cada ponto é um município do ciclo 1, na altura da bolsa anunciada. Até 0,300, R$ 10 mil; até 0,400, R$ 15 mil; acima, R$ 20 mil. O FAQ do edital descreve outra grade; a aplicada é esta. Cautela: Primeiro estágio sharp: dois cortes, +R$ 5 mil em cada, 0 municípios do lado errado no ciclo 1.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o mapa dos resultados: uma linha por pergunta, na ordem da cadeia, e os próximos slides aprofundam cada uma. Cinza: o IC contém o nulo. Verde em N1 é negativo e não passa no Holm. Verde em P6 Y1 é quase mecânico. Verde em P4 é associação: nas horas totais o pré passa e a conclusão aguenta violações de tendência do tamanho das do pré, mas outros outcomes do P4 falham no pré. A linha da H3 rejeita zero, mas é pós-resultado e compara dois pesos do mesmo modelo de escolha: não é efeito da bolsa nem da geografia. A força de cada linha sai de uma regra fixa do gerador sobre os valores de output/: Holm ou IC com o nulo, inconclusivo; pré do Wald, ATT; estatuto do bloco, exploratório; Holm abaixo de 0,05 num bloco pós-resultado, "rejeita zero, pós-resultado". As linhas nos cortes de IVS medem o pacote do corte. Cautela: Nenhuma pergunta tem hoje evidência causal limpa de mudança no resultado medido.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Esta é a variável que o grupo pediu: o número de vagas preenchidas controlando o número de vagas oferecidas (N1): −0,76 [−1,44; −0,07] por município, sobre uma média de 2,16 do lado de bolsa menor. Ao lado, a probabilidade de a célula aberta ser preenchida (A3), que não depende do porte: −4,9 p.p. [−12,9; +3,2], MDE de 11,5 p.p. Nenhuma das duas mostra aumento. O sinal de N1 é negativo, mas não sobrevive ao Holm e, com um só coeficiente do controle, mudaria (ver Robustez); por isso a leitura é "não detectamos aumento", não "a bolsa reduz". Sem controle, −1,45 [−2,90; −0,01]: inclui a resposta da oferta de vagas. Por corte, o maior aumento compatível da A3 é +1,7 em 0,300 e +11,3 em 0,400. O sinal de N1 em 0,400 vem do porte; em 0,300, da taxa por vaga (doc 49b). É o pacote do corte, não a bolsa isolada. Cautela: Inconclusivo: IC que contém zero não é efeito zero. O descarte de ganhos grandes vale com o IC convencional e para o pacote do corte.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Logit condicional da 1ª opção de 5.421 candidatos entre as vagas abertas do seu curso e ciclo. A razão de chances compara duas vagas que diferem só no degrau de R$ 5 mil, com o IVS contínuo controlado. No ciclo 2: 1,70 [1,22; 2,37]; sem distância (E9), 1,95 [1,48; 2,57]. O que não mede: quem deixou de se candidatar e quantos médicos o programa atrai. O sinal do ciclo 2 também resiste a poucos clusters (bootstrap de Webb). Cautela: Inconclusivo na primária. Escolha não é expansão: o que uma vaga ganha, outra do mesmo curso perde.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hipótese central: incentivo limitado. As seis sensibilidades: M2 1,18; M4 1,73; M5 por ciclo 2,34, 1,31 e 2,37; M7 2,07. θ_UF é mesma UF, outra região de saúde, contra uma vaga em outra UF à mesma distância. O IC do km contém zero porque o de β contém. No modelo de escolha, toda a amplitude da bolsa pesa 0,42 [−0,03; 0,87] na utilidade, e a vaga na mesma UF de origem, fora da região de saúde, pesa 2,40 [2,28; 2,53]. A bolsa pesa pouco perto do custo do lugar. Isso é coerente com a H1 não detectar aumento de preenchimento: a bolsa reordena os candidatos entre as vagas abertas (H2), e o que uma vaga ganha outra do mesmo curso perde; ela não traz mais candidatos, e o logit não vê quem não se inscreveu. Um degrau de R$ 5 mil vale 112 km, também com IC que contém zero. Se perguntarem pelo p de 0,035 do km: é unilateral e descritivo; o teste pré-registrado da bolsa é o bilateral do P1a, com p 0,065, que não rejeita. Não usamos o km como prova de que a bolsa importa. Cautela: Escolha de quem se candidatou, entre vagas abertas: θ é preferência revelada condicional ao modelo, não efeito da geografia; β é o pacote do corte.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pergunta é se o programa cria oferta ou paga quem já estava. O médico soma +6,6 h/sem [+5,4; +7,8] de horas totais cadastradas (pré com p 0,310), sobretudo no município do posto (+8,7, com o pré falhando, p 0,001), e perde −2,1 fora dele. Metade já trabalhava no município. Na nota de corte (P4-CA), horas totais +7,91 [−0,63; +16,45], p de Holm 0,162; no município da 1ª opção, +10,92. Na comparação com quem ficou um ou dois pontos abaixo da nota de corte, o pré passa e a direção é a mesma, mas o IC das horas totais contém zero. As horas no município da 1ª opção são em parte mecânicas: ser alocado cria o vínculo. Cautela: Associação sob tendências paralelas, não efeito da bolsa nem da participação no PMM-E: horas cadastradas não são presença.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Duas ressalvas da H1: com um só coeficiente do controle, N1 rejeitaria zero depois do Holm, mas o Wald rejeita essa restrição; e o IC honesto, com o M da regra de bolso, sai largo demais para informar. Ruptura de M̄ igual a 1 quer dizer que a conclusão aguenta violações de tendência do mesmo tamanho das vistas no pré. O apêndice traz cada teste com o número. A H3 é pós-resultado porque os coeficientes do M1 já eram conhecidos quando o protocolo 52b foi congelado. Cautela: Especificações fixadas em protocolo antes de estimar; a H3 é pós-resultado e está rotulada assim.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À esquerda, o que o contraste não mede. Nos mesmos cortes mudam o teto de emendas e de custeio de MAC (+20% para IVS maior que 0,3), o estrato do IED da APS e o teto de coparticipação do PMMB (10% → 40% em 0,3; 40% → 100% em 0,4); a DiRD tira só a parte fixa no tempo. O logit não vê quem deixou de se inscrever, e um aumento igual da bolsa em todas as vagas não muda nenhuma escolha no modelo. Horas e vínculos são cadastros do CNES, não horas trabalhadas nem retenção individual. O efeito candidato é o incentivo marginal de R$ 5 mil anunciado, como pacote do corte. À direita: em Dal Bó et al., candidaturas +26%; em Bobba et al., um adicional de +13% por regra não mudou o preenchimento. Aqui o degrau é de +50% em 0,300 e +33% em 0,400; se a resposta fosse da mesma ordem, o IC empilhado não a admitiria. Contextos e outcomes diferentes: lá, servidores e aceitação da oferta; aqui, especialistas e célula com confirmação ou homologação. O detalhe da literatura e das co-políticas está no apêndice. Cautela: Inconclusivo não quer dizer que a bolsa não funciona: é ausência de efeito detectável, nos limites acima.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primeira linha é o modelo da banca 1. A segunda é a equação que estimamos para a escolha: a bolsa entra linear, o IVS em spline com nós nos cortes, e a distância e a origem entram como custo. A terceira é a descontinuidade do preenchimento. As equações completas do modelo ficam no apêndice da banca final. Cautela: Hipótese de identificação comum: dado o IVS contínuo, só a bolsa (com as regras do mesmo corte) salta em 0,300 e 0,400.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célula (estabelecimento × curso) é a unidade do quadro de vagas. O IVS é o oficial do Ipea, que coincide com o escore do Ministério. O CNES liga o candidato ao seu município de origem e acompanha as horas do médico mês a mês. A ligação usa CPF mascarado e nome só em memória. Cautela: Nome, CPF e CRM só ficam em memória ou em cache fora do Git; nenhuma saída os traz.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FAILURE MODE: o arquivo não é inventado; é a linha errada da base certa.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RDD em nível mede um pacote; a DiRD tira só a parte constante dessas regras.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Nenhuma linha rejeita zero depois do Holm; o sinal é negativo em todas.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No ciclo 1, a faixa saiu depois do pedido dos gestores; ali a amostra não descarta efeitos moderados.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leitura da H2 é sensível à especificação; só o M1 é a principal, e as demais são relatadas, não escolhidas.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Duas ressalvas: com um só coeficiente do controle, N1 rejeitaria zero depois do Holm, mas o Wald rejeita essa restrição; e o IC honesto, com o M da regra de bolso, sai largo demais para informar. Ruptura de M̄ igual a 1 quer dizer que a conclusão aguenta violações de tendência do mesmo tamanho das vistas no pré. Na H3, a faixa de 1,18 a 2,37 vai do M2 (distância em log) ao ciclo 3; o q de BKY é o piso da grade do algoritmo, e o P1h é pós-resultado, porque os coeficientes do M1 já eram conhecidos. Cautela: Nenhuma especificação foi escolhida depois de ver o resultado; a comparação da H3 é pós-resultado e está rotulada.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O sinal da escolha vem do ciclo 2; o ciclo 3 maduro é a replicação fora da amostra.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0,400 o degrau relativo é do tamanho do sorteio de Dal Bó et al.; em 0,300 é maior. Se a resposta aqui fosse da mesma ordem, o salto passaria da referência de +10 p.p., e o IC empilhado não admite isso, com o IC convencional. O ciclo 3 maduro é a replicação fora da amostra do sinal do ciclo 2. Cautela: Contextos e outcomes diferentes: lá, servidores e aceitação da oferta; aqui, especialistas e célula com confirmação ou homologação.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chart" Target="../charts/char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chart" Target="../charts/chart5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chart" Target="../charts/char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chart" Target="../charts/char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Relationship Id="rId5" Type="http://schemas.openxmlformats.org/officeDocument/2006/relationships/chart" Target="../charts/chart9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chart" Target="../charts/chart10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chart" Target="../charts/char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banca2_01_regra_bolsa_ivs_oficial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banca2_02_cadeia_resumo_doc57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banca2_03_h1_preenchimento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banca2_04_h2_escolha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banca2_05_P1h_magnitudes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banca2_06_h4_horas_medico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3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in scrubs&#10;&#10;Description automatically generated">
            <a:extLst>
              <a:ext uri="{FF2B5EF4-FFF2-40B4-BE49-F238E27FC236}">
                <a16:creationId xmlns:a16="http://schemas.microsoft.com/office/drawing/2014/main" id="{51C0B4CC-5D89-60B0-E0CE-8509F42F98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CaixaDeTexto 3">
            <a:extLst>
              <a:ext uri="{FF2B5EF4-FFF2-40B4-BE49-F238E27FC236}">
                <a16:creationId xmlns:a16="http://schemas.microsoft.com/office/drawing/2014/main" id="{72BC5D49-81F0-36D0-0DA9-FD55B01A1D55}"/>
              </a:ext>
            </a:extLst>
          </p:cNvPr>
          <p:cNvSpPr txBox="1"/>
          <p:nvPr/>
        </p:nvSpPr>
        <p:spPr>
          <a:xfrm>
            <a:off x="265291" y="296963"/>
            <a:ext cx="10577276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Remuneração como incentivo limitado:</a:t>
            </a:r>
            <a:endParaRPr lang="en-US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um modelo de escolha racional para o</a:t>
            </a:r>
            <a:endParaRPr lang="en-US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Programa Mais Médicos Especialistas</a:t>
            </a:r>
            <a:endParaRPr lang="pt-BR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CaixaDeTexto 3">
            <a:extLst>
              <a:ext uri="{FF2B5EF4-FFF2-40B4-BE49-F238E27FC236}">
                <a16:creationId xmlns:a16="http://schemas.microsoft.com/office/drawing/2014/main" id="{00BC5D0C-9282-390D-6D6E-1B02823708B5}"/>
              </a:ext>
            </a:extLst>
          </p:cNvPr>
          <p:cNvSpPr txBox="1"/>
          <p:nvPr/>
        </p:nvSpPr>
        <p:spPr>
          <a:xfrm>
            <a:off x="265291" y="6095997"/>
            <a:ext cx="11887907" cy="61555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pt-BR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Grupo 2</a:t>
            </a:r>
          </a:p>
          <a:p>
            <a:pPr algn="just"/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Bernardo Gomes, Bruno Manta, Felipe Barros, Felipe Marques, Gabriel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Benegra</a:t>
            </a:r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,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Kauã</a:t>
            </a:r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 Santos, Vinicius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Sbruzzi</a:t>
            </a:r>
            <a:endParaRPr lang="pt-BR" sz="1600" b="1">
              <a:solidFill>
                <a:schemeClr val="bg1"/>
              </a:solidFill>
              <a:latin typeface="Montserrat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95601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69553-67C4-EC03-A4FD-CE513343F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173D28-E653-6ABB-65E3-9D35E320789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F925DA-89BB-5DEC-F182-B9B49BDB956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12B54-2EFD-9ADE-42EE-6F3CFF7E6E85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A81ABD8-616F-68A0-6123-3D1105749CD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92A472-BBCB-B1A9-02D3-73E25495145D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2DC8BCD6-8045-4F0B-8C10-A3A4B3526C12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770340-3D91-BCE9-4C40-7570FE7BCC1B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74918B-2246-9AB4-826A-B48E427D32C7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827CF5-C4D8-6002-6B38-3AD6982ABE5D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8405FB4-DAA7-0983-71E2-70523B01CF0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48AE956-E246-E67C-F75B-74FDC7A3FE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CDE7AF54-06DF-68EE-AC17-079E2FDD609F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F73C6392-7E12-46EA-17AE-9A82C951E7A6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87B5F3D-9241-0302-C512-A8FF889CAE7A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485B06D-CB48-B969-C711-04FA5834BCC3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E6F03BD-5240-A658-C2B9-E81442B4C22C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900CB8A-DBD7-86FA-A5E8-C52A73805089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4FE112DC-C6B8-EA46-CBB9-EFB34831D665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6D6D8CC-071A-6FEC-7BF1-0E944E7D3D1F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4E731C5F-FF2B-958C-775D-2889C59A0015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ABEE45AC-1F88-9C80-5A9D-25C8FC0DECB0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chemeClr val="bg1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chemeClr val="bg1"/>
                  </a:solidFill>
                  <a:latin typeface="Montserrat"/>
                </a:rPr>
                <a:t>importância</a:t>
              </a:r>
              <a:endParaRPr lang="en-US" sz="1000">
                <a:solidFill>
                  <a:schemeClr val="bg1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B8541768-B452-7B09-F322-80CD46CD4FD6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23F14DCA-1D07-8152-55BB-27EB0866DBF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88ACFBD3-E6AE-1D00-E7AD-5DF5C096DA5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42D44C1-4EA5-B26A-1A5D-65182DD60670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2C57B673-824B-CB74-75C1-03A2E8AD7A0B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3BCF08FD-CCFF-333F-F26B-DA577435CEF7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97F9EBF3-B179-F0C0-AB3B-5ECF88AF0FA6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8573B3CE-ACE4-0EAF-45C7-95A8EDFF6E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D54C4866-5D9B-BC9E-52F6-F7F4E205A93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0CDB06A-6651-3F94-4D07-B55FCF9158BF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B9D97A2D-12B2-78E7-DECD-0EF1EF0ABDDE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2A5EEBDA-A6E4-B80E-40E6-BA03CF3C933E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25D6A18-F8B9-BAA7-F194-6AC9D6C80EAC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4B656800-9948-5038-11E7-C1EBD8955B1F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9C3E47EE-E0CC-327A-037B-1A788985623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51626DA-069E-75F6-460D-FAB2D5C6A215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358370EF-10BF-3ABE-FF88-00E74EF333BB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DCCBDB7F-B958-A8F1-E067-E3A6464A7127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D28EAF37-343D-DB33-B628-C9F3D067D731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E8654656-9BBF-E294-CDE2-F2763D4951BD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24F6DFF8-1197-495F-3719-D4F53C7DA8C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C0FBD47-1421-5613-29ED-49D53C7A23F5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69EF170F-7C0B-99B1-AA2C-C85FE5383EB7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9371A593-E34B-66F1-31EC-D7F9F069F452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EC0A629E-00D1-288A-A03E-943E4F6C889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EA9E561E-9F5A-312D-0154-B99213E908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105A3530-9D3E-F0A6-EC1C-01C9B6E76F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6F8223B-3A85-4ED9-D28B-1A69D7D57A47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AD7F4A08-51C6-BC25-372B-A8AF97A463E5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3D6BCF7C-473E-C89A-B7A9-BC900651ABAF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A475767A-CD69-A94E-2927-E0DAFA10847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63C14009-3306-586B-7940-75C8F4BFCE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5BCB15F1-BC4F-6FA5-47D4-3738B87EF3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AFB2F98D-795F-03EE-CDC8-C4B0E99E63ED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39DBD2E1-3A71-5825-F799-51E70A0B2845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1B59065E-E9B0-44D7-7333-16D281CDB80F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46178F39-9EBD-4B90-E12A-2D1DE31DBE7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BA8DDB91-12DB-7F6C-9ABA-9A6320717D8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E9125BCC-E8C5-2E24-1766-954C4658CA7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98216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BE457-DAEC-68EF-46EF-651BAE795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97972477-8631-2D32-A8BF-F4E60309128D}"/>
              </a:ext>
            </a:extLst>
          </p:cNvPr>
          <p:cNvGrpSpPr/>
          <p:nvPr/>
        </p:nvGrpSpPr>
        <p:grpSpPr>
          <a:xfrm>
            <a:off x="4267048" y="914400"/>
            <a:ext cx="3657600" cy="2377440"/>
            <a:chOff x="4267048" y="914400"/>
            <a:chExt cx="3657600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A7A8BB31-8D5E-1E8C-5A79-A390B5C3F036}"/>
                </a:ext>
              </a:extLst>
            </p:cNvPr>
            <p:cNvSpPr/>
            <p:nvPr/>
          </p:nvSpPr>
          <p:spPr>
            <a:xfrm>
              <a:off x="4267048" y="914400"/>
              <a:ext cx="3657600" cy="2377440"/>
            </a:xfrm>
            <a:custGeom>
              <a:avLst/>
              <a:gdLst/>
              <a:ahLst/>
              <a:cxnLst/>
              <a:rect l="l" t="t" r="r" b="b"/>
              <a:pathLst>
                <a:path w="3657600" h="2377440">
                  <a:moveTo>
                    <a:pt x="0" y="0"/>
                  </a:moveTo>
                  <a:lnTo>
                    <a:pt x="3657600" y="0"/>
                  </a:lnTo>
                  <a:lnTo>
                    <a:pt x="3657600" y="2358695"/>
                  </a:lnTo>
                  <a:lnTo>
                    <a:pt x="3650010" y="2349825"/>
                  </a:lnTo>
                  <a:lnTo>
                    <a:pt x="3617184" y="2353940"/>
                  </a:lnTo>
                  <a:lnTo>
                    <a:pt x="3576036" y="2354397"/>
                  </a:lnTo>
                  <a:lnTo>
                    <a:pt x="3547323" y="2354031"/>
                  </a:lnTo>
                  <a:lnTo>
                    <a:pt x="3505261" y="2360615"/>
                  </a:lnTo>
                  <a:lnTo>
                    <a:pt x="3446465" y="2341778"/>
                  </a:lnTo>
                  <a:lnTo>
                    <a:pt x="3411626" y="2357872"/>
                  </a:lnTo>
                  <a:lnTo>
                    <a:pt x="3386572" y="2354763"/>
                  </a:lnTo>
                  <a:lnTo>
                    <a:pt x="3326587" y="2377440"/>
                  </a:lnTo>
                  <a:lnTo>
                    <a:pt x="3281050" y="2372777"/>
                  </a:lnTo>
                  <a:lnTo>
                    <a:pt x="3255173" y="2360981"/>
                  </a:lnTo>
                  <a:lnTo>
                    <a:pt x="3195737" y="2365278"/>
                  </a:lnTo>
                  <a:lnTo>
                    <a:pt x="3136392" y="2357598"/>
                  </a:lnTo>
                  <a:lnTo>
                    <a:pt x="3100273" y="2346899"/>
                  </a:lnTo>
                  <a:lnTo>
                    <a:pt x="3053822" y="2358055"/>
                  </a:lnTo>
                  <a:lnTo>
                    <a:pt x="3017063" y="2350008"/>
                  </a:lnTo>
                  <a:lnTo>
                    <a:pt x="2975092" y="2346442"/>
                  </a:lnTo>
                  <a:lnTo>
                    <a:pt x="2913644" y="2332452"/>
                  </a:lnTo>
                  <a:lnTo>
                    <a:pt x="2847624" y="2327239"/>
                  </a:lnTo>
                  <a:lnTo>
                    <a:pt x="2784439" y="2325319"/>
                  </a:lnTo>
                  <a:lnTo>
                    <a:pt x="2727198" y="2351654"/>
                  </a:lnTo>
                  <a:lnTo>
                    <a:pt x="2697206" y="2346533"/>
                  </a:lnTo>
                  <a:lnTo>
                    <a:pt x="2668036" y="2359884"/>
                  </a:lnTo>
                  <a:lnTo>
                    <a:pt x="2620579" y="2374880"/>
                  </a:lnTo>
                  <a:lnTo>
                    <a:pt x="2594884" y="2356317"/>
                  </a:lnTo>
                  <a:lnTo>
                    <a:pt x="2557120" y="2373965"/>
                  </a:lnTo>
                  <a:lnTo>
                    <a:pt x="2496129" y="2362535"/>
                  </a:lnTo>
                  <a:lnTo>
                    <a:pt x="2455255" y="2349459"/>
                  </a:lnTo>
                  <a:lnTo>
                    <a:pt x="2407615" y="2335012"/>
                  </a:lnTo>
                  <a:lnTo>
                    <a:pt x="2358329" y="2326508"/>
                  </a:lnTo>
                  <a:lnTo>
                    <a:pt x="2331903" y="2345527"/>
                  </a:lnTo>
                  <a:lnTo>
                    <a:pt x="2295510" y="2323582"/>
                  </a:lnTo>
                  <a:lnTo>
                    <a:pt x="2257471" y="2329525"/>
                  </a:lnTo>
                  <a:lnTo>
                    <a:pt x="2202058" y="2321936"/>
                  </a:lnTo>
                  <a:lnTo>
                    <a:pt x="2136221" y="2339675"/>
                  </a:lnTo>
                  <a:lnTo>
                    <a:pt x="2104400" y="2345527"/>
                  </a:lnTo>
                  <a:lnTo>
                    <a:pt x="2058954" y="2333457"/>
                  </a:lnTo>
                  <a:lnTo>
                    <a:pt x="2005554" y="2321022"/>
                  </a:lnTo>
                  <a:lnTo>
                    <a:pt x="1937614" y="2339767"/>
                  </a:lnTo>
                  <a:lnTo>
                    <a:pt x="1913565" y="2341230"/>
                  </a:lnTo>
                  <a:lnTo>
                    <a:pt x="1846905" y="2357232"/>
                  </a:lnTo>
                  <a:lnTo>
                    <a:pt x="1813255" y="2344339"/>
                  </a:lnTo>
                  <a:lnTo>
                    <a:pt x="1761774" y="2364364"/>
                  </a:lnTo>
                  <a:lnTo>
                    <a:pt x="1734342" y="2366650"/>
                  </a:lnTo>
                  <a:lnTo>
                    <a:pt x="1692372" y="2370491"/>
                  </a:lnTo>
                  <a:lnTo>
                    <a:pt x="1642171" y="2372136"/>
                  </a:lnTo>
                  <a:lnTo>
                    <a:pt x="1609527" y="2371405"/>
                  </a:lnTo>
                  <a:lnTo>
                    <a:pt x="1552743" y="2366742"/>
                  </a:lnTo>
                  <a:lnTo>
                    <a:pt x="1497239" y="2371131"/>
                  </a:lnTo>
                  <a:lnTo>
                    <a:pt x="1474013" y="2370125"/>
                  </a:lnTo>
                  <a:lnTo>
                    <a:pt x="1449507" y="2362718"/>
                  </a:lnTo>
                  <a:lnTo>
                    <a:pt x="1420155" y="2345436"/>
                  </a:lnTo>
                  <a:lnTo>
                    <a:pt x="1381750" y="2343516"/>
                  </a:lnTo>
                  <a:lnTo>
                    <a:pt x="1314816" y="2342053"/>
                  </a:lnTo>
                  <a:lnTo>
                    <a:pt x="1279520" y="2347813"/>
                  </a:lnTo>
                  <a:lnTo>
                    <a:pt x="1217158" y="2354123"/>
                  </a:lnTo>
                  <a:lnTo>
                    <a:pt x="1184788" y="2357323"/>
                  </a:lnTo>
                  <a:lnTo>
                    <a:pt x="1131753" y="2347356"/>
                  </a:lnTo>
                  <a:lnTo>
                    <a:pt x="1099840" y="2342784"/>
                  </a:lnTo>
                  <a:lnTo>
                    <a:pt x="1039764" y="2347905"/>
                  </a:lnTo>
                  <a:lnTo>
                    <a:pt x="976671" y="2361072"/>
                  </a:lnTo>
                  <a:lnTo>
                    <a:pt x="947136" y="2341687"/>
                  </a:lnTo>
                  <a:lnTo>
                    <a:pt x="901141" y="2341230"/>
                  </a:lnTo>
                  <a:lnTo>
                    <a:pt x="861822" y="2347905"/>
                  </a:lnTo>
                  <a:lnTo>
                    <a:pt x="831098" y="2342327"/>
                  </a:lnTo>
                  <a:lnTo>
                    <a:pt x="775045" y="2341778"/>
                  </a:lnTo>
                  <a:lnTo>
                    <a:pt x="731703" y="2356683"/>
                  </a:lnTo>
                  <a:lnTo>
                    <a:pt x="699882" y="2358238"/>
                  </a:lnTo>
                  <a:lnTo>
                    <a:pt x="673638" y="2358420"/>
                  </a:lnTo>
                  <a:lnTo>
                    <a:pt x="641452" y="2348454"/>
                  </a:lnTo>
                  <a:lnTo>
                    <a:pt x="580735" y="2352111"/>
                  </a:lnTo>
                  <a:lnTo>
                    <a:pt x="527334" y="2346808"/>
                  </a:lnTo>
                  <a:lnTo>
                    <a:pt x="478231" y="2360158"/>
                  </a:lnTo>
                  <a:lnTo>
                    <a:pt x="447324" y="2362535"/>
                  </a:lnTo>
                  <a:lnTo>
                    <a:pt x="402427" y="2364638"/>
                  </a:lnTo>
                  <a:lnTo>
                    <a:pt x="369600" y="2350557"/>
                  </a:lnTo>
                  <a:lnTo>
                    <a:pt x="341803" y="2361347"/>
                  </a:lnTo>
                  <a:lnTo>
                    <a:pt x="282550" y="2358695"/>
                  </a:lnTo>
                  <a:lnTo>
                    <a:pt x="245516" y="2337664"/>
                  </a:lnTo>
                  <a:lnTo>
                    <a:pt x="206014" y="2349002"/>
                  </a:lnTo>
                  <a:lnTo>
                    <a:pt x="169804" y="2356134"/>
                  </a:lnTo>
                  <a:lnTo>
                    <a:pt x="110642" y="2354306"/>
                  </a:lnTo>
                  <a:lnTo>
                    <a:pt x="48555" y="2352751"/>
                  </a:lnTo>
                  <a:lnTo>
                    <a:pt x="0" y="2362078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6D180736-C864-CDAD-93FE-09AA1E209817}"/>
                </a:ext>
              </a:extLst>
            </p:cNvPr>
            <p:cNvSpPr txBox="1"/>
            <p:nvPr/>
          </p:nvSpPr>
          <p:spPr>
            <a:xfrm>
              <a:off x="6827368" y="1097280"/>
              <a:ext cx="868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12/06/2026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32F7BD4B-53DE-0425-BD44-F70A889F6760}"/>
                </a:ext>
              </a:extLst>
            </p:cNvPr>
            <p:cNvSpPr/>
            <p:nvPr/>
          </p:nvSpPr>
          <p:spPr>
            <a:xfrm>
              <a:off x="4495648" y="1444752"/>
              <a:ext cx="3200400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1B81480F-361A-3A1E-6F4C-F6ECD40689DB}"/>
                </a:ext>
              </a:extLst>
            </p:cNvPr>
            <p:cNvSpPr txBox="1"/>
            <p:nvPr/>
          </p:nvSpPr>
          <p:spPr>
            <a:xfrm>
              <a:off x="4495648" y="1572768"/>
              <a:ext cx="3200400" cy="14264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Formação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médica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avança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, mas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ainda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faltam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no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Brasil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endParaRPr lang="en-US" sz="1600"/>
            </a:p>
          </p:txBody>
        </p:sp>
      </p:grpSp>
      <p:grpSp>
        <p:nvGrpSpPr>
          <p:cNvPr id="54" name="Cartão: Nome da fonte">
            <a:extLst>
              <a:ext uri="{FF2B5EF4-FFF2-40B4-BE49-F238E27FC236}">
                <a16:creationId xmlns:a16="http://schemas.microsoft.com/office/drawing/2014/main" id="{1B3E7167-3A8F-DEEC-C8A1-C37C5E84D23A}"/>
              </a:ext>
            </a:extLst>
          </p:cNvPr>
          <p:cNvGrpSpPr/>
          <p:nvPr/>
        </p:nvGrpSpPr>
        <p:grpSpPr>
          <a:xfrm>
            <a:off x="8214055" y="914400"/>
            <a:ext cx="3657600" cy="2377440"/>
            <a:chOff x="8214055" y="914400"/>
            <a:chExt cx="3657600" cy="2377440"/>
          </a:xfrm>
        </p:grpSpPr>
        <p:sp>
          <p:nvSpPr>
            <p:cNvPr id="55" name="Papel">
              <a:extLst>
                <a:ext uri="{FF2B5EF4-FFF2-40B4-BE49-F238E27FC236}">
                  <a16:creationId xmlns:a16="http://schemas.microsoft.com/office/drawing/2014/main" id="{78F49D44-541F-F9B2-8B6C-D56D67A2DF6C}"/>
                </a:ext>
              </a:extLst>
            </p:cNvPr>
            <p:cNvSpPr/>
            <p:nvPr/>
          </p:nvSpPr>
          <p:spPr>
            <a:xfrm>
              <a:off x="8214055" y="914400"/>
              <a:ext cx="3657600" cy="2377440"/>
            </a:xfrm>
            <a:custGeom>
              <a:avLst/>
              <a:gdLst/>
              <a:ahLst/>
              <a:cxnLst/>
              <a:rect l="l" t="t" r="r" b="b"/>
              <a:pathLst>
                <a:path w="3657600" h="2377440">
                  <a:moveTo>
                    <a:pt x="0" y="0"/>
                  </a:moveTo>
                  <a:lnTo>
                    <a:pt x="3657600" y="0"/>
                  </a:lnTo>
                  <a:lnTo>
                    <a:pt x="3657600" y="2340132"/>
                  </a:lnTo>
                  <a:lnTo>
                    <a:pt x="3632637" y="2357232"/>
                  </a:lnTo>
                  <a:lnTo>
                    <a:pt x="3567714" y="2354763"/>
                  </a:lnTo>
                  <a:lnTo>
                    <a:pt x="3530041" y="2349917"/>
                  </a:lnTo>
                  <a:lnTo>
                    <a:pt x="3464204" y="2346716"/>
                  </a:lnTo>
                  <a:lnTo>
                    <a:pt x="3433572" y="2354763"/>
                  </a:lnTo>
                  <a:lnTo>
                    <a:pt x="3373587" y="2350465"/>
                  </a:lnTo>
                  <a:lnTo>
                    <a:pt x="3320826" y="2365278"/>
                  </a:lnTo>
                  <a:lnTo>
                    <a:pt x="3261208" y="2338669"/>
                  </a:lnTo>
                  <a:lnTo>
                    <a:pt x="3193359" y="2340315"/>
                  </a:lnTo>
                  <a:lnTo>
                    <a:pt x="3157972" y="2335286"/>
                  </a:lnTo>
                  <a:lnTo>
                    <a:pt x="3092501" y="2336658"/>
                  </a:lnTo>
                  <a:lnTo>
                    <a:pt x="3043306" y="2344796"/>
                  </a:lnTo>
                  <a:lnTo>
                    <a:pt x="2982316" y="2353391"/>
                  </a:lnTo>
                  <a:lnTo>
                    <a:pt x="2915107" y="2342327"/>
                  </a:lnTo>
                  <a:lnTo>
                    <a:pt x="2851465" y="2328428"/>
                  </a:lnTo>
                  <a:lnTo>
                    <a:pt x="2807574" y="2325319"/>
                  </a:lnTo>
                  <a:lnTo>
                    <a:pt x="2756367" y="2329617"/>
                  </a:lnTo>
                  <a:lnTo>
                    <a:pt x="2703789" y="2332269"/>
                  </a:lnTo>
                  <a:lnTo>
                    <a:pt x="2670322" y="2340864"/>
                  </a:lnTo>
                  <a:lnTo>
                    <a:pt x="2609240" y="2345710"/>
                  </a:lnTo>
                  <a:lnTo>
                    <a:pt x="2574950" y="2335743"/>
                  </a:lnTo>
                  <a:lnTo>
                    <a:pt x="2530328" y="2353666"/>
                  </a:lnTo>
                  <a:lnTo>
                    <a:pt x="2497684" y="2351562"/>
                  </a:lnTo>
                  <a:lnTo>
                    <a:pt x="2455896" y="2354123"/>
                  </a:lnTo>
                  <a:lnTo>
                    <a:pt x="2430384" y="2351928"/>
                  </a:lnTo>
                  <a:lnTo>
                    <a:pt x="2363267" y="2359243"/>
                  </a:lnTo>
                  <a:lnTo>
                    <a:pt x="2302185" y="2373508"/>
                  </a:lnTo>
                  <a:lnTo>
                    <a:pt x="2274479" y="2364456"/>
                  </a:lnTo>
                  <a:lnTo>
                    <a:pt x="2225650" y="2377440"/>
                  </a:lnTo>
                  <a:lnTo>
                    <a:pt x="2175266" y="2374788"/>
                  </a:lnTo>
                  <a:lnTo>
                    <a:pt x="2109521" y="2363724"/>
                  </a:lnTo>
                  <a:lnTo>
                    <a:pt x="2074225" y="2369942"/>
                  </a:lnTo>
                  <a:lnTo>
                    <a:pt x="2048622" y="2367290"/>
                  </a:lnTo>
                  <a:lnTo>
                    <a:pt x="2021373" y="2361621"/>
                  </a:lnTo>
                  <a:lnTo>
                    <a:pt x="1993941" y="2353757"/>
                  </a:lnTo>
                  <a:lnTo>
                    <a:pt x="1928835" y="2357872"/>
                  </a:lnTo>
                  <a:lnTo>
                    <a:pt x="1901495" y="2346533"/>
                  </a:lnTo>
                  <a:lnTo>
                    <a:pt x="1844253" y="2346716"/>
                  </a:lnTo>
                  <a:lnTo>
                    <a:pt x="1807769" y="2348454"/>
                  </a:lnTo>
                  <a:lnTo>
                    <a:pt x="1739920" y="2357415"/>
                  </a:lnTo>
                  <a:lnTo>
                    <a:pt x="1675729" y="2356592"/>
                  </a:lnTo>
                  <a:lnTo>
                    <a:pt x="1630284" y="2358695"/>
                  </a:lnTo>
                  <a:lnTo>
                    <a:pt x="1599743" y="2360706"/>
                  </a:lnTo>
                  <a:lnTo>
                    <a:pt x="1537929" y="2351105"/>
                  </a:lnTo>
                  <a:lnTo>
                    <a:pt x="1504645" y="2355403"/>
                  </a:lnTo>
                  <a:lnTo>
                    <a:pt x="1466332" y="2352294"/>
                  </a:lnTo>
                  <a:lnTo>
                    <a:pt x="1419332" y="2354580"/>
                  </a:lnTo>
                  <a:lnTo>
                    <a:pt x="1359804" y="2343241"/>
                  </a:lnTo>
                  <a:lnTo>
                    <a:pt x="1326246" y="2349185"/>
                  </a:lnTo>
                  <a:lnTo>
                    <a:pt x="1258854" y="2347082"/>
                  </a:lnTo>
                  <a:lnTo>
                    <a:pt x="1195944" y="2334097"/>
                  </a:lnTo>
                  <a:lnTo>
                    <a:pt x="1131753" y="2324588"/>
                  </a:lnTo>
                  <a:lnTo>
                    <a:pt x="1106790" y="2326416"/>
                  </a:lnTo>
                  <a:lnTo>
                    <a:pt x="1077529" y="2339492"/>
                  </a:lnTo>
                  <a:lnTo>
                    <a:pt x="1051286" y="2324771"/>
                  </a:lnTo>
                  <a:lnTo>
                    <a:pt x="1017544" y="2339310"/>
                  </a:lnTo>
                  <a:lnTo>
                    <a:pt x="994501" y="2329708"/>
                  </a:lnTo>
                  <a:lnTo>
                    <a:pt x="934974" y="2332360"/>
                  </a:lnTo>
                  <a:lnTo>
                    <a:pt x="871332" y="2347631"/>
                  </a:lnTo>
                  <a:lnTo>
                    <a:pt x="816834" y="2355769"/>
                  </a:lnTo>
                  <a:lnTo>
                    <a:pt x="758769" y="2353940"/>
                  </a:lnTo>
                  <a:lnTo>
                    <a:pt x="719724" y="2352111"/>
                  </a:lnTo>
                  <a:lnTo>
                    <a:pt x="682325" y="2353757"/>
                  </a:lnTo>
                  <a:lnTo>
                    <a:pt x="616763" y="2352294"/>
                  </a:lnTo>
                  <a:lnTo>
                    <a:pt x="575249" y="2353940"/>
                  </a:lnTo>
                  <a:lnTo>
                    <a:pt x="513618" y="2347082"/>
                  </a:lnTo>
                  <a:lnTo>
                    <a:pt x="490393" y="2340315"/>
                  </a:lnTo>
                  <a:lnTo>
                    <a:pt x="457749" y="2351288"/>
                  </a:lnTo>
                  <a:lnTo>
                    <a:pt x="433060" y="2338852"/>
                  </a:lnTo>
                  <a:lnTo>
                    <a:pt x="390815" y="2318004"/>
                  </a:lnTo>
                  <a:lnTo>
                    <a:pt x="353507" y="2331446"/>
                  </a:lnTo>
                  <a:lnTo>
                    <a:pt x="324795" y="2326874"/>
                  </a:lnTo>
                  <a:lnTo>
                    <a:pt x="260147" y="2316724"/>
                  </a:lnTo>
                  <a:lnTo>
                    <a:pt x="233355" y="2321936"/>
                  </a:lnTo>
                  <a:lnTo>
                    <a:pt x="189829" y="2328520"/>
                  </a:lnTo>
                  <a:lnTo>
                    <a:pt x="127284" y="2339035"/>
                  </a:lnTo>
                  <a:lnTo>
                    <a:pt x="61905" y="2343333"/>
                  </a:lnTo>
                  <a:lnTo>
                    <a:pt x="0" y="2349185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7" name="Data">
              <a:extLst>
                <a:ext uri="{FF2B5EF4-FFF2-40B4-BE49-F238E27FC236}">
                  <a16:creationId xmlns:a16="http://schemas.microsoft.com/office/drawing/2014/main" id="{86BA46D7-0A92-E3E8-A98D-931D0D34AA2F}"/>
                </a:ext>
              </a:extLst>
            </p:cNvPr>
            <p:cNvSpPr txBox="1"/>
            <p:nvPr/>
          </p:nvSpPr>
          <p:spPr>
            <a:xfrm>
              <a:off x="10774375" y="1097280"/>
              <a:ext cx="868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20/05/2004</a:t>
              </a:r>
              <a:endParaRPr lang="en-US" sz="1000"/>
            </a:p>
          </p:txBody>
        </p:sp>
        <p:sp>
          <p:nvSpPr>
            <p:cNvPr id="58" name="Fio">
              <a:extLst>
                <a:ext uri="{FF2B5EF4-FFF2-40B4-BE49-F238E27FC236}">
                  <a16:creationId xmlns:a16="http://schemas.microsoft.com/office/drawing/2014/main" id="{1A009AE2-7247-28C6-AAFE-6B1395B51A24}"/>
                </a:ext>
              </a:extLst>
            </p:cNvPr>
            <p:cNvSpPr/>
            <p:nvPr/>
          </p:nvSpPr>
          <p:spPr>
            <a:xfrm>
              <a:off x="8442655" y="1444752"/>
              <a:ext cx="3200400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9" name="Manchete">
              <a:extLst>
                <a:ext uri="{FF2B5EF4-FFF2-40B4-BE49-F238E27FC236}">
                  <a16:creationId xmlns:a16="http://schemas.microsoft.com/office/drawing/2014/main" id="{6003D96D-B78F-5D04-351E-53747F60E967}"/>
                </a:ext>
              </a:extLst>
            </p:cNvPr>
            <p:cNvSpPr txBox="1"/>
            <p:nvPr/>
          </p:nvSpPr>
          <p:spPr>
            <a:xfrm>
              <a:off x="8442655" y="1572768"/>
              <a:ext cx="3200400" cy="14264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Faltam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doenças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do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fígado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o País,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apontam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debatedores</a:t>
              </a:r>
              <a:endParaRPr lang="en-US" sz="1600"/>
            </a:p>
          </p:txBody>
        </p:sp>
      </p:grpSp>
      <p:graphicFrame>
        <p:nvGraphicFramePr>
          <p:cNvPr id="9" name="Chart 14">
            <a:extLst>
              <a:ext uri="{FF2B5EF4-FFF2-40B4-BE49-F238E27FC236}">
                <a16:creationId xmlns:a16="http://schemas.microsoft.com/office/drawing/2014/main" id="{E90925CC-BBE1-F5FB-AF40-2698BD35E3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12029641"/>
              </p:ext>
            </p:extLst>
          </p:nvPr>
        </p:nvGraphicFramePr>
        <p:xfrm>
          <a:off x="114804" y="4186814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826DC3-7529-AFDC-5F8A-A6D81F5079C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3</a:t>
            </a:fld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DB5E61-35C8-54BB-FE34-C9B844776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1" y="49540"/>
            <a:ext cx="11527643" cy="555135"/>
          </a:xfrm>
        </p:spPr>
        <p:txBody>
          <a:bodyPr/>
          <a:lstStyle/>
          <a:p>
            <a:r>
              <a:rPr lang="pt-BR" sz="2400" b="1" i="0">
                <a:solidFill>
                  <a:srgbClr val="F0F6FC"/>
                </a:solidFill>
                <a:effectLst/>
              </a:rPr>
              <a:t>A escassez de especialistas já é tratada como urgência sanitária</a:t>
            </a:r>
            <a:endParaRPr lang="pt-BR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6FBECA57-C4B1-BA5E-E462-E52B3C8D29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76642756"/>
              </p:ext>
            </p:extLst>
          </p:nvPr>
        </p:nvGraphicFramePr>
        <p:xfrm>
          <a:off x="6209963" y="4186893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47">
            <a:extLst>
              <a:ext uri="{FF2B5EF4-FFF2-40B4-BE49-F238E27FC236}">
                <a16:creationId xmlns:a16="http://schemas.microsoft.com/office/drawing/2014/main" id="{F50DA493-64F7-3458-5831-5A693EB8DD03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Medicina S/A ; Amado Mundo; Agência Câmara; Scheffer et al., Demografia Médica no Brasil 2025 (FMUSP/AMB); IBGE, REGIC 2018.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80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CA2E2F7-63A6-7299-46CF-A4FC545BCE20}"/>
              </a:ext>
            </a:extLst>
          </p:cNvPr>
          <p:cNvGrpSpPr/>
          <p:nvPr/>
        </p:nvGrpSpPr>
        <p:grpSpPr>
          <a:xfrm>
            <a:off x="114804" y="3633311"/>
            <a:ext cx="6305382" cy="497566"/>
            <a:chOff x="114804" y="3633311"/>
            <a:chExt cx="6305382" cy="497566"/>
          </a:xfrm>
        </p:grpSpPr>
        <p:sp>
          <p:nvSpPr>
            <p:cNvPr id="24" name="Text Placeholder 7">
              <a:extLst>
                <a:ext uri="{FF2B5EF4-FFF2-40B4-BE49-F238E27FC236}">
                  <a16:creationId xmlns:a16="http://schemas.microsoft.com/office/drawing/2014/main" id="{7389DC84-B045-18FB-9481-61EC1EE2CBE6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Escassez de especialistas é concentrada territorialmente</a:t>
              </a:r>
            </a:p>
          </p:txBody>
        </p:sp>
        <p:sp>
          <p:nvSpPr>
            <p:cNvPr id="26" name="Text Placeholder 8">
              <a:extLst>
                <a:ext uri="{FF2B5EF4-FFF2-40B4-BE49-F238E27FC236}">
                  <a16:creationId xmlns:a16="http://schemas.microsoft.com/office/drawing/2014/main" id="{433818BB-2FCD-8E93-42EF-52C94CE39959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Médicos especialistas por 100 mil habitantes, por UF – 2024 </a:t>
              </a:r>
            </a:p>
            <a:p>
              <a:endParaRPr lang="pt-BR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9DB732E-A3CE-0C57-6CFA-E1A9ED6260E3}"/>
              </a:ext>
            </a:extLst>
          </p:cNvPr>
          <p:cNvGrpSpPr/>
          <p:nvPr/>
        </p:nvGrpSpPr>
        <p:grpSpPr>
          <a:xfrm>
            <a:off x="6209963" y="3633311"/>
            <a:ext cx="6405635" cy="497566"/>
            <a:chOff x="6209963" y="3633311"/>
            <a:chExt cx="6405635" cy="497566"/>
          </a:xfrm>
        </p:grpSpPr>
        <p:sp>
          <p:nvSpPr>
            <p:cNvPr id="28" name="Text Placeholder 5">
              <a:extLst>
                <a:ext uri="{FF2B5EF4-FFF2-40B4-BE49-F238E27FC236}">
                  <a16:creationId xmlns:a16="http://schemas.microsoft.com/office/drawing/2014/main" id="{1A8A6667-D13A-9205-942A-5FA9847B3E9F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 Serviços especializados exigem longos deslocamentos  </a:t>
              </a:r>
              <a:endParaRPr lang="pt-BR"/>
            </a:p>
          </p:txBody>
        </p:sp>
        <p:sp>
          <p:nvSpPr>
            <p:cNvPr id="30" name="Text Placeholder 8">
              <a:extLst>
                <a:ext uri="{FF2B5EF4-FFF2-40B4-BE49-F238E27FC236}">
                  <a16:creationId xmlns:a16="http://schemas.microsoft.com/office/drawing/2014/main" id="{DABFB344-10B0-BD52-0D87-2F82EB3A51A9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Deslocamento médio da população para serviços de alta complexidade </a:t>
              </a:r>
            </a:p>
            <a:p>
              <a:endParaRPr lang="pt-BR"/>
            </a:p>
          </p:txBody>
        </p:sp>
      </p:grpSp>
      <p:sp>
        <p:nvSpPr>
          <p:cNvPr id="65" name="Papel">
            <a:extLst>
              <a:ext uri="{FF2B5EF4-FFF2-40B4-BE49-F238E27FC236}">
                <a16:creationId xmlns:a16="http://schemas.microsoft.com/office/drawing/2014/main" id="{7EA30D3B-E626-15AB-57F3-AF13CBD9AE14}"/>
              </a:ext>
            </a:extLst>
          </p:cNvPr>
          <p:cNvSpPr/>
          <p:nvPr/>
        </p:nvSpPr>
        <p:spPr>
          <a:xfrm>
            <a:off x="320040" y="914400"/>
            <a:ext cx="3657600" cy="2377440"/>
          </a:xfrm>
          <a:custGeom>
            <a:avLst/>
            <a:gdLst/>
            <a:ahLst/>
            <a:cxnLst/>
            <a:rect l="l" t="t" r="r" b="b"/>
            <a:pathLst>
              <a:path w="3657600" h="2377440">
                <a:moveTo>
                  <a:pt x="0" y="0"/>
                </a:moveTo>
                <a:lnTo>
                  <a:pt x="3657600" y="0"/>
                </a:lnTo>
                <a:lnTo>
                  <a:pt x="3657600" y="2312792"/>
                </a:lnTo>
                <a:lnTo>
                  <a:pt x="3604382" y="2318553"/>
                </a:lnTo>
                <a:lnTo>
                  <a:pt x="3573567" y="2317547"/>
                </a:lnTo>
                <a:lnTo>
                  <a:pt x="3516874" y="2321296"/>
                </a:lnTo>
                <a:lnTo>
                  <a:pt x="3459541" y="2329251"/>
                </a:lnTo>
                <a:lnTo>
                  <a:pt x="3406689" y="2336383"/>
                </a:lnTo>
                <a:lnTo>
                  <a:pt x="3379805" y="2330074"/>
                </a:lnTo>
                <a:lnTo>
                  <a:pt x="3311865" y="2339035"/>
                </a:lnTo>
                <a:lnTo>
                  <a:pt x="3286902" y="2343241"/>
                </a:lnTo>
                <a:lnTo>
                  <a:pt x="3261299" y="2335926"/>
                </a:lnTo>
                <a:lnTo>
                  <a:pt x="3223809" y="2332726"/>
                </a:lnTo>
                <a:lnTo>
                  <a:pt x="3158520" y="2346259"/>
                </a:lnTo>
                <a:lnTo>
                  <a:pt x="3123956" y="2350099"/>
                </a:lnTo>
                <a:lnTo>
                  <a:pt x="3058211" y="2358512"/>
                </a:lnTo>
                <a:lnTo>
                  <a:pt x="3034894" y="2345527"/>
                </a:lnTo>
                <a:lnTo>
                  <a:pt x="2986522" y="2364456"/>
                </a:lnTo>
                <a:lnTo>
                  <a:pt x="2941808" y="2353757"/>
                </a:lnTo>
                <a:lnTo>
                  <a:pt x="2889870" y="2364456"/>
                </a:lnTo>
                <a:lnTo>
                  <a:pt x="2840858" y="2347082"/>
                </a:lnTo>
                <a:lnTo>
                  <a:pt x="2775661" y="2333823"/>
                </a:lnTo>
                <a:lnTo>
                  <a:pt x="2714854" y="2336383"/>
                </a:lnTo>
                <a:lnTo>
                  <a:pt x="2666208" y="2344887"/>
                </a:lnTo>
                <a:lnTo>
                  <a:pt x="2642525" y="2332086"/>
                </a:lnTo>
                <a:lnTo>
                  <a:pt x="2604577" y="2322576"/>
                </a:lnTo>
                <a:lnTo>
                  <a:pt x="2558400" y="2329708"/>
                </a:lnTo>
                <a:lnTo>
                  <a:pt x="2532705" y="2333915"/>
                </a:lnTo>
                <a:lnTo>
                  <a:pt x="2490826" y="2340681"/>
                </a:lnTo>
                <a:lnTo>
                  <a:pt x="2462113" y="2343241"/>
                </a:lnTo>
                <a:lnTo>
                  <a:pt x="2419045" y="2341413"/>
                </a:lnTo>
                <a:lnTo>
                  <a:pt x="2375977" y="2355037"/>
                </a:lnTo>
                <a:lnTo>
                  <a:pt x="2312975" y="2351105"/>
                </a:lnTo>
                <a:lnTo>
                  <a:pt x="2269907" y="2354031"/>
                </a:lnTo>
                <a:lnTo>
                  <a:pt x="2224369" y="2377440"/>
                </a:lnTo>
                <a:lnTo>
                  <a:pt x="2187976" y="2371496"/>
                </a:lnTo>
                <a:lnTo>
                  <a:pt x="2125066" y="2367656"/>
                </a:lnTo>
                <a:lnTo>
                  <a:pt x="2095896" y="2351654"/>
                </a:lnTo>
                <a:lnTo>
                  <a:pt x="2041307" y="2347173"/>
                </a:lnTo>
                <a:lnTo>
                  <a:pt x="1996410" y="2341961"/>
                </a:lnTo>
                <a:lnTo>
                  <a:pt x="1931030" y="2363175"/>
                </a:lnTo>
                <a:lnTo>
                  <a:pt x="1901129" y="2355860"/>
                </a:lnTo>
                <a:lnTo>
                  <a:pt x="1876989" y="2357598"/>
                </a:lnTo>
                <a:lnTo>
                  <a:pt x="1851569" y="2360524"/>
                </a:lnTo>
                <a:lnTo>
                  <a:pt x="1822765" y="2336841"/>
                </a:lnTo>
                <a:lnTo>
                  <a:pt x="1758940" y="2337024"/>
                </a:lnTo>
                <a:lnTo>
                  <a:pt x="1735531" y="2324953"/>
                </a:lnTo>
                <a:lnTo>
                  <a:pt x="1679021" y="2323856"/>
                </a:lnTo>
                <a:lnTo>
                  <a:pt x="1634856" y="2323308"/>
                </a:lnTo>
                <a:lnTo>
                  <a:pt x="1573682" y="2320564"/>
                </a:lnTo>
                <a:lnTo>
                  <a:pt x="1524213" y="2336566"/>
                </a:lnTo>
                <a:lnTo>
                  <a:pt x="1498610" y="2320290"/>
                </a:lnTo>
                <a:lnTo>
                  <a:pt x="1443746" y="2337846"/>
                </a:lnTo>
                <a:lnTo>
                  <a:pt x="1419332" y="2334463"/>
                </a:lnTo>
                <a:lnTo>
                  <a:pt x="1382298" y="2314895"/>
                </a:lnTo>
                <a:lnTo>
                  <a:pt x="1359438" y="2332269"/>
                </a:lnTo>
                <a:lnTo>
                  <a:pt x="1329080" y="2321387"/>
                </a:lnTo>
                <a:lnTo>
                  <a:pt x="1305123" y="2310963"/>
                </a:lnTo>
                <a:lnTo>
                  <a:pt x="1249619" y="2327331"/>
                </a:lnTo>
                <a:lnTo>
                  <a:pt x="1215969" y="2326142"/>
                </a:lnTo>
                <a:lnTo>
                  <a:pt x="1150224" y="2322667"/>
                </a:lnTo>
                <a:lnTo>
                  <a:pt x="1113191" y="2336109"/>
                </a:lnTo>
                <a:lnTo>
                  <a:pt x="1081644" y="2324862"/>
                </a:lnTo>
                <a:lnTo>
                  <a:pt x="1034461" y="2338029"/>
                </a:lnTo>
                <a:lnTo>
                  <a:pt x="967344" y="2355037"/>
                </a:lnTo>
                <a:lnTo>
                  <a:pt x="934334" y="2347996"/>
                </a:lnTo>
                <a:lnTo>
                  <a:pt x="879104" y="2349642"/>
                </a:lnTo>
                <a:lnTo>
                  <a:pt x="832470" y="2342053"/>
                </a:lnTo>
                <a:lnTo>
                  <a:pt x="782909" y="2366010"/>
                </a:lnTo>
                <a:lnTo>
                  <a:pt x="740755" y="2348454"/>
                </a:lnTo>
                <a:lnTo>
                  <a:pt x="708111" y="2350191"/>
                </a:lnTo>
                <a:lnTo>
                  <a:pt x="668701" y="2362992"/>
                </a:lnTo>
                <a:lnTo>
                  <a:pt x="621335" y="2360432"/>
                </a:lnTo>
                <a:lnTo>
                  <a:pt x="581924" y="2362078"/>
                </a:lnTo>
                <a:lnTo>
                  <a:pt x="553578" y="2361347"/>
                </a:lnTo>
                <a:lnTo>
                  <a:pt x="518922" y="2357049"/>
                </a:lnTo>
                <a:lnTo>
                  <a:pt x="473934" y="2371588"/>
                </a:lnTo>
                <a:lnTo>
                  <a:pt x="431505" y="2360798"/>
                </a:lnTo>
                <a:lnTo>
                  <a:pt x="400964" y="2354214"/>
                </a:lnTo>
                <a:lnTo>
                  <a:pt x="368320" y="2359701"/>
                </a:lnTo>
                <a:lnTo>
                  <a:pt x="323240" y="2353026"/>
                </a:lnTo>
                <a:lnTo>
                  <a:pt x="294528" y="2356043"/>
                </a:lnTo>
                <a:lnTo>
                  <a:pt x="256215" y="2359243"/>
                </a:lnTo>
                <a:lnTo>
                  <a:pt x="232623" y="2358329"/>
                </a:lnTo>
                <a:lnTo>
                  <a:pt x="205923" y="2357598"/>
                </a:lnTo>
                <a:lnTo>
                  <a:pt x="168067" y="2345253"/>
                </a:lnTo>
                <a:lnTo>
                  <a:pt x="101041" y="2335926"/>
                </a:lnTo>
                <a:lnTo>
                  <a:pt x="53218" y="2341504"/>
                </a:lnTo>
                <a:lnTo>
                  <a:pt x="0" y="2337938"/>
                </a:lnTo>
                <a:close/>
              </a:path>
            </a:pathLst>
          </a:custGeom>
          <a:solidFill>
            <a:srgbClr val="F8F8F5"/>
          </a:solidFill>
          <a:ln w="6350">
            <a:solidFill>
              <a:srgbClr val="DADBD6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7" name="Data">
            <a:extLst>
              <a:ext uri="{FF2B5EF4-FFF2-40B4-BE49-F238E27FC236}">
                <a16:creationId xmlns:a16="http://schemas.microsoft.com/office/drawing/2014/main" id="{85F8C1FA-4D01-0D9B-2155-92F8AA156D2D}"/>
              </a:ext>
            </a:extLst>
          </p:cNvPr>
          <p:cNvSpPr txBox="1"/>
          <p:nvPr/>
        </p:nvSpPr>
        <p:spPr>
          <a:xfrm>
            <a:off x="2880360" y="10972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646A6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17/02/2026</a:t>
            </a:r>
            <a:endParaRPr lang="en-US" sz="1000"/>
          </a:p>
        </p:txBody>
      </p:sp>
      <p:sp>
        <p:nvSpPr>
          <p:cNvPr id="68" name="Fio">
            <a:extLst>
              <a:ext uri="{FF2B5EF4-FFF2-40B4-BE49-F238E27FC236}">
                <a16:creationId xmlns:a16="http://schemas.microsoft.com/office/drawing/2014/main" id="{13AAC318-5A3B-B1FA-D0A2-7DFBF96FEF92}"/>
              </a:ext>
            </a:extLst>
          </p:cNvPr>
          <p:cNvSpPr/>
          <p:nvPr/>
        </p:nvSpPr>
        <p:spPr>
          <a:xfrm>
            <a:off x="548640" y="1444752"/>
            <a:ext cx="3200400" cy="0"/>
          </a:xfrm>
          <a:prstGeom prst="line">
            <a:avLst/>
          </a:prstGeom>
          <a:noFill/>
          <a:ln w="12700">
            <a:solidFill>
              <a:srgbClr val="1B3A2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72" name="Picture 71" descr="Medcloud – PACS, RIS, Patient Portal and Storage">
            <a:extLst>
              <a:ext uri="{FF2B5EF4-FFF2-40B4-BE49-F238E27FC236}">
                <a16:creationId xmlns:a16="http://schemas.microsoft.com/office/drawing/2014/main" id="{176AF49E-5BC5-4B90-1F6F-7E1D5AA55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831" y="962954"/>
            <a:ext cx="1433357" cy="468000"/>
          </a:xfrm>
          <a:prstGeom prst="rect">
            <a:avLst/>
          </a:prstGeom>
        </p:spPr>
      </p:pic>
      <p:sp>
        <p:nvSpPr>
          <p:cNvPr id="69" name="Manchete">
            <a:extLst>
              <a:ext uri="{FF2B5EF4-FFF2-40B4-BE49-F238E27FC236}">
                <a16:creationId xmlns:a16="http://schemas.microsoft.com/office/drawing/2014/main" id="{F6A261E2-0785-A0DC-8F78-1767ADD59EC8}"/>
              </a:ext>
            </a:extLst>
          </p:cNvPr>
          <p:cNvSpPr txBox="1"/>
          <p:nvPr/>
        </p:nvSpPr>
        <p:spPr>
          <a:xfrm>
            <a:off x="548640" y="1572768"/>
            <a:ext cx="32004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A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escassez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especialistas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deixou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ser um simples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sinal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alerta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</a:t>
            </a:r>
            <a:endParaRPr lang="en-US" sz="1600"/>
          </a:p>
        </p:txBody>
      </p:sp>
      <p:sp>
        <p:nvSpPr>
          <p:cNvPr id="71" name="Fonte">
            <a:extLst>
              <a:ext uri="{FF2B5EF4-FFF2-40B4-BE49-F238E27FC236}">
                <a16:creationId xmlns:a16="http://schemas.microsoft.com/office/drawing/2014/main" id="{C4341365-9121-70ED-9D8A-8E117C150D19}"/>
              </a:ext>
            </a:extLst>
          </p:cNvPr>
          <p:cNvSpPr txBox="1"/>
          <p:nvPr/>
        </p:nvSpPr>
        <p:spPr>
          <a:xfrm>
            <a:off x="544831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latin typeface="Montserrat" pitchFamily="34" charset="0"/>
              </a:rPr>
              <a:t>Por </a:t>
            </a:r>
            <a:r>
              <a:rPr lang="en-US" sz="1050" b="1">
                <a:latin typeface="Montserrat" pitchFamily="34" charset="0"/>
              </a:rPr>
              <a:t>Antonio José Gonçalves</a:t>
            </a:r>
            <a:endParaRPr lang="en-US" sz="1100" b="1"/>
          </a:p>
        </p:txBody>
      </p:sp>
      <p:pic>
        <p:nvPicPr>
          <p:cNvPr id="8" name="Picture 7" descr="Ficheiro:Logo Câmara dos Deputados Brasil.png – Wikipédia, a enciclopédia  livre">
            <a:extLst>
              <a:ext uri="{FF2B5EF4-FFF2-40B4-BE49-F238E27FC236}">
                <a16:creationId xmlns:a16="http://schemas.microsoft.com/office/drawing/2014/main" id="{AB3E20C2-0712-770A-1073-29082BB604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2309" y="1034743"/>
            <a:ext cx="1140557" cy="324000"/>
          </a:xfrm>
          <a:prstGeom prst="rect">
            <a:avLst/>
          </a:prstGeom>
        </p:spPr>
      </p:pic>
      <p:sp>
        <p:nvSpPr>
          <p:cNvPr id="86" name="Fonte">
            <a:extLst>
              <a:ext uri="{FF2B5EF4-FFF2-40B4-BE49-F238E27FC236}">
                <a16:creationId xmlns:a16="http://schemas.microsoft.com/office/drawing/2014/main" id="{12CA722A-FBDB-36E3-370C-400F2FD367B4}"/>
              </a:ext>
            </a:extLst>
          </p:cNvPr>
          <p:cNvSpPr txBox="1"/>
          <p:nvPr/>
        </p:nvSpPr>
        <p:spPr>
          <a:xfrm>
            <a:off x="4495648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latin typeface="Montserrat" pitchFamily="34" charset="0"/>
              </a:rPr>
              <a:t>Por </a:t>
            </a:r>
            <a:r>
              <a:rPr lang="en-US" sz="1050" b="1">
                <a:latin typeface="Montserrat" pitchFamily="34" charset="0"/>
              </a:rPr>
              <a:t>Priscila Planelis</a:t>
            </a:r>
            <a:endParaRPr lang="en-US" sz="1100" b="1"/>
          </a:p>
        </p:txBody>
      </p:sp>
      <p:sp>
        <p:nvSpPr>
          <p:cNvPr id="88" name="Fonte">
            <a:extLst>
              <a:ext uri="{FF2B5EF4-FFF2-40B4-BE49-F238E27FC236}">
                <a16:creationId xmlns:a16="http://schemas.microsoft.com/office/drawing/2014/main" id="{D696FA7E-872E-ACFC-1025-065DB0F734FC}"/>
              </a:ext>
            </a:extLst>
          </p:cNvPr>
          <p:cNvSpPr txBox="1"/>
          <p:nvPr/>
        </p:nvSpPr>
        <p:spPr>
          <a:xfrm>
            <a:off x="8442655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err="1">
                <a:latin typeface="Montserrat" pitchFamily="34" charset="0"/>
              </a:rPr>
              <a:t>Agência</a:t>
            </a:r>
            <a:r>
              <a:rPr lang="en-US" sz="1050" b="1">
                <a:latin typeface="Montserrat" pitchFamily="34" charset="0"/>
              </a:rPr>
              <a:t> Câmara </a:t>
            </a:r>
            <a:r>
              <a:rPr lang="en-US" sz="1050" b="1" err="1">
                <a:latin typeface="Montserrat" pitchFamily="34" charset="0"/>
              </a:rPr>
              <a:t>Notícias</a:t>
            </a:r>
            <a:endParaRPr lang="en-US" sz="1100" b="1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F84D396-5A9B-966C-2B4C-CD491A850D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1276" y="1009054"/>
            <a:ext cx="2160000" cy="395260"/>
          </a:xfrm>
          <a:prstGeom prst="rect">
            <a:avLst/>
          </a:prstGeom>
        </p:spPr>
      </p:pic>
      <p:sp>
        <p:nvSpPr>
          <p:cNvPr id="11" name="CaixaDeTexto 4">
            <a:extLst>
              <a:ext uri="{FF2B5EF4-FFF2-40B4-BE49-F238E27FC236}">
                <a16:creationId xmlns:a16="http://schemas.microsoft.com/office/drawing/2014/main" id="{181570C7-8426-7492-0D99-324BAED4BAA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20722255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hart 14">
            <a:extLst>
              <a:ext uri="{FF2B5EF4-FFF2-40B4-BE49-F238E27FC236}">
                <a16:creationId xmlns:a16="http://schemas.microsoft.com/office/drawing/2014/main" id="{6DE7F02F-00D3-C89F-66F5-C164ADAD092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0826295"/>
              </p:ext>
            </p:extLst>
          </p:nvPr>
        </p:nvGraphicFramePr>
        <p:xfrm>
          <a:off x="96401" y="4186814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59F54C-2DCF-8105-C178-F76D6C10DC7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4</a:t>
            </a:fld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3F0DF1-831B-C8EE-9529-7A1584C93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1" y="49540"/>
            <a:ext cx="11527643" cy="555135"/>
          </a:xfrm>
        </p:spPr>
        <p:txBody>
          <a:bodyPr/>
          <a:lstStyle/>
          <a:p>
            <a:r>
              <a:rPr lang="pt-BR" sz="2400" b="1" i="0">
                <a:solidFill>
                  <a:srgbClr val="F0F6FC"/>
                </a:solidFill>
                <a:effectLst/>
              </a:rPr>
              <a:t>A escassez de especialistas já é tratada como urgência sanitária</a:t>
            </a:r>
            <a:endParaRPr lang="pt-BR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5F20F580-F193-F790-FA49-A7BA188D3EB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8658" y="3911852"/>
            <a:ext cx="5593565" cy="197609"/>
          </a:xfrm>
        </p:spPr>
        <p:txBody>
          <a:bodyPr>
            <a:noAutofit/>
          </a:bodyPr>
          <a:lstStyle/>
          <a:p>
            <a:r>
              <a:rPr lang="pt-BR" sz="1000"/>
              <a:t>Médicos especialistas por 100 mil habitantes, por UF — 2024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4D91091-551A-3521-80D9-88AA240C7C3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8657" y="3626558"/>
            <a:ext cx="5736363" cy="301466"/>
          </a:xfrm>
        </p:spPr>
        <p:txBody>
          <a:bodyPr/>
          <a:lstStyle/>
          <a:p>
            <a:r>
              <a:rPr lang="pt-BR"/>
              <a:t>I. Escassez de especialistas é concentrada territorialmente</a:t>
            </a:r>
          </a:p>
          <a:p>
            <a:endParaRPr lang="pt-B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94AB9AB-586C-C31A-9B88-135210E5EABB}"/>
              </a:ext>
            </a:extLst>
          </p:cNvPr>
          <p:cNvSpPr txBox="1">
            <a:spLocks/>
          </p:cNvSpPr>
          <p:nvPr/>
        </p:nvSpPr>
        <p:spPr>
          <a:xfrm>
            <a:off x="5977404" y="3626558"/>
            <a:ext cx="6094363" cy="303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O acesso a serviços especializados exige longas distâncias</a:t>
            </a:r>
          </a:p>
          <a:p>
            <a:endParaRPr lang="pt-BR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CA22AA-3A37-0DB2-B9CE-A340D0644D2D}"/>
              </a:ext>
            </a:extLst>
          </p:cNvPr>
          <p:cNvSpPr txBox="1">
            <a:spLocks/>
          </p:cNvSpPr>
          <p:nvPr/>
        </p:nvSpPr>
        <p:spPr>
          <a:xfrm>
            <a:off x="5977405" y="3911852"/>
            <a:ext cx="6120451" cy="1395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900"/>
              <a:t>Deslocamento médio da população para serviços de alta complexidade (km)</a:t>
            </a:r>
          </a:p>
          <a:p>
            <a:endParaRPr lang="pt-BR" sz="900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7E1C1D41-567A-FB20-1E44-07EF3FC145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3138574"/>
              </p:ext>
            </p:extLst>
          </p:nvPr>
        </p:nvGraphicFramePr>
        <p:xfrm>
          <a:off x="6216366" y="4198768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6" name="Imagem 15">
            <a:extLst>
              <a:ext uri="{FF2B5EF4-FFF2-40B4-BE49-F238E27FC236}">
                <a16:creationId xmlns:a16="http://schemas.microsoft.com/office/drawing/2014/main" id="{BC6F6E1E-9C7F-105C-D78F-39AE4F6FB0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45" y="692242"/>
            <a:ext cx="4169453" cy="1673051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B6A88CE3-6E82-6A6A-25FB-28F49054CB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3075" y="646220"/>
            <a:ext cx="4315660" cy="1706401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D84B9164-4452-4239-1241-4FB4E61031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48820" y="2396013"/>
            <a:ext cx="7772400" cy="108317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5FA1AA0-0B33-B5F8-3B0C-D6D25BBEB18A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6" name="Text 47">
            <a:extLst>
              <a:ext uri="{FF2B5EF4-FFF2-40B4-BE49-F238E27FC236}">
                <a16:creationId xmlns:a16="http://schemas.microsoft.com/office/drawing/2014/main" id="{6D4469EB-7206-72B7-1A21-EECA3D666919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Medicina S/A ; Amado Mundo; Agência Câmara; Scheffer et al., Demografia Médica no Brasil 2025 (FMUSP/AMB); IBGE, REGIC 2018.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40414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49B1E-5658-9113-52D1-FB7D87E4E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38F27F5F-A328-FF2A-4ADD-B33B1CE8F1BE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F25F9F87-DF1B-3A71-D5A8-497A89A757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C6FDCFFC-F108-5BA7-FF8F-C17ADD1175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68295508-6370-3224-07A5-8FEDB51955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CC620BD2-4EC5-7566-1EC6-B430FD9111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AD8FC39C-EC7A-D0C2-BA6D-01980DF27C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A9505483-871C-E876-7642-80A800736A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29BE5CA4-5913-CEC8-1D73-F0A8C686E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B370C6D3-F1F9-C580-F0DB-3E8568AFCC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60F013C9-5CCB-9713-0BBC-E992EA1286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DDA8C318-9026-724A-4ABA-A687C7DB63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FBFD5CDB-B53C-FDE3-75F2-E286DAC01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7E8CEC7A-2C18-F577-C9C4-15CD3F85B3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09F54EF1-1654-B7E3-377D-0BDF909DFE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0D0DF900-4442-1EDF-F4A3-96C5F8EB73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5FF994CE-4D33-A42D-4BB9-0F783C2752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084DD543-8EAF-3783-FC1B-B92D079BA3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31BDA2E3-088E-51B6-6E30-067F16B241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42F92552-AF4C-2650-8E55-FFA6E369D4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FC8E8684-783A-5E22-7D30-574A974251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5484E18D-15AC-2DA1-04D1-170047A411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1BE53272-2426-9C2B-A799-756B51C66D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0D1D6F17-FACB-2975-34F0-199A03C4C1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7AF16DC7-E170-B738-BD98-0EB6DE38B5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3D16F072-00FD-C718-A1D3-046D8814AE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DCABB251-78D2-4481-5DEB-25DD4E9802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B1C2E995-43CC-3B2A-6919-4EEB5F82D0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083C1CC-249C-4E00-518C-7C8CC8FF05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5D5EDFA5-4842-DA4A-4977-99CBAC535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C1212E-6542-2969-90FB-D0F6B2D4F7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5</a:t>
            </a:fld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15CC14FA-06FA-AC9C-2C41-5935CC914644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35240D0-8A92-1D9A-4EF2-605743FDB452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0B291A0D-C7E4-205B-4112-E4BF2452BC81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B49564BD-E7DB-5B11-2017-C82687B54032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B9388E0-29C5-4F04-8001-EFF6E73E61B4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6E81D39D-7E85-56DD-2282-7D8739F54D12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D37972BC-AB29-025E-0E99-7B04EB869008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0B00B5F-E9CF-0C21-7B10-551A56642BAA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E5C37A24-417E-FF55-1F35-04419119F4FB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5588FDB4-2275-D8E6-D926-69522FADA7A2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15568DCF-7BCB-65F8-9751-8232EF53F1EB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Infraestrutura 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lixo e tempo de deslocamento ao 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2E28750C-1CF2-9456-7F3C-86D899F88049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35A995A7-9EDD-8405-2FD4-2B4C481C009F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Mortalidade infantil,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D2DEB170-0420-41F1-82A6-4B48970B1531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9D860684-BA2A-A421-30BB-945B4C5E13FF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Pobreza,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D1519720-65BB-0FAC-7C89-2D9A95DDA667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812E13D6-B8EE-2C77-C9BB-119ADE86F076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CFF3A1EE-811E-9542-5234-9C045437C979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540AF335-19B7-FE7F-4A6F-D0183B84394F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3E1B60A1-7499-AC61-C96B-6766DE5D7E99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FD0D20F8-3DAE-85B4-F533-410D98883961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0D382729-8F2A-6161-2F3E-BFCBB1533D31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FEED28D3-60EF-FD5C-0F5F-CB5E7D275869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7D1B6E3C-B126-CAB9-49B0-29E987E953EF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1E30FEA0-218C-4B90-4ADF-3389A806100E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6EB6F7DB-3328-E948-CE35-3FC7FFABF765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9F00335B-5F8F-AF5A-69EE-9FE9F701D642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9FC2EE4C-84F2-AED8-E166-DC2C388D86D0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FAB59FC3-042E-C8E7-7EB8-040D8CB30D65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</a:t>
              </a:r>
              <a:r>
                <a:rPr lang="en-US" sz="1200" err="1">
                  <a:latin typeface="Montserrat" panose="00000500000000000000" pitchFamily="2" charset="0"/>
                </a:rPr>
                <a:t>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7D268D5C-BA7C-BAD5-B046-2BBB9B5E0E2E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C8BE4BE2-E045-0259-7EDE-289B45D7C643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73" name="III - Nota 1 (instrumento da política)">
            <a:extLst>
              <a:ext uri="{FF2B5EF4-FFF2-40B4-BE49-F238E27FC236}">
                <a16:creationId xmlns:a16="http://schemas.microsoft.com/office/drawing/2014/main" id="{5429066B-FC55-0288-127F-570E37E6CA01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339122EB-D251-402B-9C56-F69F0280DE1A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3B04B5AD-07AB-5FDE-F760-9107D397BD61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2E9BDF79-95CF-E944-71FC-102131E99211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1E7F0189-F7A4-E4DA-36D9-EBAA1B0CB8BB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3E3F24E9-DE60-ABEC-6BC9-EB4BB26B5883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C53189FB-DCB7-8CD5-0DF5-232F8F8D8BA8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62EE2D71-5B1A-EC43-A7E8-CF93BBF25B1C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3F1F20C1-81E4-9176-9AF2-320220A876FF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74F67A51-306E-DDAB-87D5-89B3ECD26EE2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B976DB-78B5-CF64-1F00-90D3C4423949}"/>
              </a:ext>
            </a:extLst>
          </p:cNvPr>
          <p:cNvSpPr/>
          <p:nvPr/>
        </p:nvSpPr>
        <p:spPr>
          <a:xfrm>
            <a:off x="0" y="2476726"/>
            <a:ext cx="12192000" cy="394613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C8504EF-F33A-660A-1F8A-D9EE1CA3A25A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1118591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457C5-24F3-7D8E-9604-91726B247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69E2DE58-FE2E-B926-C930-89BECC883479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98C5C3AB-D609-5B23-F625-C5316E0861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4B6A32CC-6450-13B4-857D-2BA75E64AA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E24DE222-C22F-9161-5312-EE20A13E0A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96C0D80B-45B9-4C57-ED7F-4BAC007AD1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965E7D52-7CE4-B0BD-B077-6B9C300C7A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322ADD52-B8CC-76E4-A1B5-0054ECEE59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812F1C2B-17D4-A1BB-A1A4-34C0CEF6F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28982042-F098-43EB-8439-130DB4D3B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C1F35254-3190-8067-2C9C-0E525F2BE4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511F41FE-1454-2583-3B92-E300F7C823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046E6158-6C74-B29F-9FC5-E26E0ACF1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7A7160D6-200F-545E-1E22-71954E325E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C2AE7687-AE13-AC44-8206-5132C133F1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81F293DC-2770-596B-8A1F-0332EACEA2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57BE7B37-7E40-1A33-EB50-CA62365706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0FDA407D-36F1-858C-C411-38DEA580A0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89D537AE-601C-185F-DA5A-D341D59232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5B187AB8-526D-D8C3-2781-F0AF9BC9F1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0FDFC1B3-5E47-4FAF-3884-D626916358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FF7E266-426C-0FC1-92E8-7079E86F49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F85ABE3D-7AA8-5D0C-E0D4-FF705BF58E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DF27FC5D-C06B-1730-A2E2-4987C93993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17E61897-A558-0D07-DC33-327ECD664D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E830E7B6-11F8-BF32-A721-90AC3DA4D1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EBDD5882-9675-778C-1A51-184DAC4C06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2D53EEEE-C304-D776-4B3E-987EE7B4C3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79C574B-BAEE-D057-D73D-35C3BBFAFB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D5E80C06-8CA7-0EE8-C7F9-71536970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009485-BBC8-A7D9-CE96-AAA1AD690B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6</a:t>
            </a:fld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878DAAF7-690B-E9A2-283C-651C2A9277A0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2101FF7-D112-AD6B-B1AB-CCF2C7D2C52C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E444D3CC-DE61-216A-BADE-6F4B320CDB2E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37145DD6-4F5A-607B-A51B-553490D92FE3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2BE0CE0-7D2A-3A73-757D-31676CE45331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D5FAF33B-4F4A-C3C8-6E8F-D88E43C7C4CB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C292713A-A9FA-88F7-DE84-5B763BA4A142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2E78654-293B-AEDF-AFB3-9F6F902EC7E6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4666314E-962C-F635-872A-DABC013AE275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39E50A35-CD29-10E0-06DD-2B88644F9248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38033E9D-0F29-1322-4A9F-ED814D35A58F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Infraestrutura</a:t>
            </a: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lixo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tempo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deslocamento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782F54F4-0DF8-B13D-173F-CCD5B4AF97A1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022E2060-8C96-9B60-F445-096D3B23859A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Mortalidade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infantil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068DC968-AEF6-66F4-34E8-80A1BD178221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3F83C9A7-D462-E09A-01AD-D60C5F172581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Pobreza,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48AF9B36-7A37-3C6B-7B41-0F02D1A6BB65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4AD3D1C6-8FB1-BB4D-BCA5-2CB255C5EA0F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DBA4A0F2-D9AB-9090-D2EF-A7558A59B891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3E9A17B9-F533-5422-06AE-5B0BB099F136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BB0A01B5-76C0-D716-773E-646CC6E18412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AE7D3EEB-A895-A774-2476-DC26295D9EF3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ED155366-3477-651D-20AB-889E08CA73FA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FC2A8D5B-F0EA-8163-26D0-B55A42428B6E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CDF775AB-7A1B-CEA4-ED37-548985279BE6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65478270-8CC3-885A-97E9-868D4A9B0E08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9D2595A4-61E2-325A-0DD2-D61D2D93CD0D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07334462-F841-F626-3881-E49573AD3334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077DF75D-3016-CF54-361D-54506BF0615B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D8E22DC9-3ACC-5787-5CFA-67A3975F60CF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</a:t>
              </a:r>
              <a:r>
                <a:rPr lang="en-US" sz="1200" err="1">
                  <a:latin typeface="Montserrat" panose="00000500000000000000" pitchFamily="2" charset="0"/>
                </a:rPr>
                <a:t>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15BDD6C1-25C3-9507-E487-5AEEAE463D09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9C119796-2CFA-E2C1-A980-05B8C99AA3F4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B9428B34-FBDC-A6F6-C2F8-7963D5F51B24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F2E5EB2A-5CB7-B5CF-9284-17763D07A9BB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E5800431-AE14-E2ED-D72C-1170568296FB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EA3557C1-1DAF-693F-CC6D-11F167443DD3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E1621A6D-48E1-B505-0A9F-3D376F63E24F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36FFC31B-E234-8D88-ED57-01A8635DEAED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35A8F000-64D7-EE67-EAF1-0B13F641D8CA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100CCAAB-3061-9403-0ADE-E45D7B690A52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16238E4D-AB29-4F30-ED58-880BB9C2F960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7" name="CaixaDeTexto 4">
            <a:extLst>
              <a:ext uri="{FF2B5EF4-FFF2-40B4-BE49-F238E27FC236}">
                <a16:creationId xmlns:a16="http://schemas.microsoft.com/office/drawing/2014/main" id="{F3DE6335-05B4-B2CC-8270-7C44A642315C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9" name="III - Nota 1 (instrumento da política)">
            <a:extLst>
              <a:ext uri="{FF2B5EF4-FFF2-40B4-BE49-F238E27FC236}">
                <a16:creationId xmlns:a16="http://schemas.microsoft.com/office/drawing/2014/main" id="{AEF949FA-A933-4B26-F32C-2C9B4CB9EA6D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76EDC8-5A1C-96AB-36B3-AF62290AD82D}"/>
              </a:ext>
            </a:extLst>
          </p:cNvPr>
          <p:cNvSpPr/>
          <p:nvPr/>
        </p:nvSpPr>
        <p:spPr>
          <a:xfrm>
            <a:off x="6170516" y="2489426"/>
            <a:ext cx="6097684" cy="394613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537549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C3E5-3182-9F7C-7F0E-76A78CBEC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42EB3065-F385-D1D6-C7F4-1B1CDD732716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EF4A8783-9E24-620F-F647-703DCE46B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13FC2AE4-20D2-3791-A97C-1458BC254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48A7268F-5F51-DC1B-9A42-4A000A87D2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35E63A66-5E9E-3F76-D7F9-E5F2025BE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D6D832D8-BA03-AAC3-D08C-28043E3BF0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D5DCDB27-A4AC-2767-EBEB-D99E5A1FE2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264FB2C6-463D-A000-1A5A-1172EA1D91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B789347E-7FB8-AAA2-80B3-4B1220DBDD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F4F64035-2145-6FE0-1CC7-61A096FE34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FE264092-1A8A-5F02-1AC6-BB0BA7CE3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304DE6FA-8E0C-F437-C516-3CD6A78825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E64B2DE3-7C40-E10C-8807-DD366F5C2D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901A1047-D6C0-E04B-D35C-8E558FB6A7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671C9125-0F7F-A34A-D074-2F6E4DF02D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13BC4577-924B-C088-F297-41F953EAC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45C1A611-4BF3-EFCF-0D5F-A000117BEE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490263E6-11C7-5424-40A4-E62AF6F97D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21F779C7-048F-497E-1AE3-D7795A1C4A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BFB6D7B3-63C0-2EAD-8645-D61B9B47D9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E93F2625-9E3F-B505-5FED-B075D56D6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1F0915C8-D6CC-70FA-0135-3440CA7BE7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AAEFB3A9-CC1D-B8C5-62BF-D15981AC76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199EC323-E514-98DE-3E4B-502DF9B2DE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8EC7E1BD-11F5-7128-0541-031B3E82C8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55D21711-2841-F0C6-1AB3-00862E70D1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E5B6F951-28C2-00B9-D6A4-5591A8B9BB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344194C-1978-F01B-1BFD-5B9BF00B3A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7B0B0365-41F0-81F4-20A4-C5B9B30FE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0509B5-8620-08E9-8D57-98046DBDE5F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7</a:t>
            </a:fld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DAB4867F-493B-4655-861E-BF19FC1A0028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106716F-1C65-6E2E-191D-8E89ADC06596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31E88F52-0978-8BC5-9569-B69CD1F78D2B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CFF4ACAD-704E-A0BC-4230-A903386B782A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58810A1-9C58-DACA-A632-911B16BF40A3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07BF2AB2-05E6-16E9-5FF6-68C46699A3BB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47F1CE11-6985-5A45-D760-60A4FB52BDF7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8B874A1-4178-5A29-4EE3-56FC6EDF73FA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AAFD5000-0018-8BF7-B9C9-C4278B157A15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B57DEC62-DA07-B47E-5EFF-B0F91B0596F6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E84AFA1E-0D22-661C-461A-2131553D23EC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Infraestrutura</a:t>
            </a: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lixo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tempo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deslocamento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9BDF7909-44A8-1752-0378-D56E5F36F308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B1DA7CD0-9715-0903-5155-3AE45BF59F98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Mortalidade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infantil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3EC1A809-3DE5-FD76-BC04-BD1E8EB787B7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5F0EDE8B-1C1C-32FF-858C-7EFDBF96DDD3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Pobreza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A501CE63-12AC-7143-DF22-6E7CF2EAB88A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79EE7FA9-0E37-766E-D57A-C3C45CC36E1E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F93625BB-A98A-D3E5-5FD1-A65C574C464A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A43328BF-E75C-0408-6EBF-4EFB92C48C56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8B61684E-BD6D-5733-A7EB-7A5882A28302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4B3BD69E-D57D-3011-D90C-E84DEB290AE2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458D9F23-E08F-C4A9-01E7-200FB69F6763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4491207D-8CA6-F20B-52D6-36E742040CD8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BF3E5D2B-4301-990D-C30F-199DB56F738F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20A8A4AB-61B6-875C-1E56-BE353589E618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657E12B6-0912-3FF9-0164-AAE424E51350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7BE0052-7C7D-1C1A-A220-6D902DBD519C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090042AF-34CB-11DD-FA38-7672EC82C168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F9545BE1-1BFC-E44F-73C9-3120C7650649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373B3A66-B82F-C1B6-AC01-8EE478F0AF6D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1B933D1B-DE51-EEFA-B9B9-4AB877748672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AE574631-7F71-BB79-6645-4C6EB0F4BEB8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7A444C75-3CA7-3172-CB9B-6A76408ACEB5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DB24316A-DC21-EB98-7865-D90AC185DB45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09382580-8835-CF76-43BD-4370D2939D9A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71E9F75A-AB41-1688-31E7-EE8D7F3E56A8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08913574-1643-FA70-125F-4DE85B612F60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B5D9A0E0-7B1F-AC8E-CF79-38697503A349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9F53BFC6-8ADE-73B1-86B2-0B178A6834B5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87A9797D-A36C-4FCF-2532-241A007822E9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724198-AB4E-3C47-5449-9FBF8AA1EAC2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8" name="III - Nota 1 (instrumento da política)">
            <a:extLst>
              <a:ext uri="{FF2B5EF4-FFF2-40B4-BE49-F238E27FC236}">
                <a16:creationId xmlns:a16="http://schemas.microsoft.com/office/drawing/2014/main" id="{7C9FF692-E62D-0573-53F7-3435556E347B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</p:spTree>
    <p:extLst>
      <p:ext uri="{BB962C8B-B14F-4D97-AF65-F5344CB8AC3E}">
        <p14:creationId xmlns:p14="http://schemas.microsoft.com/office/powerpoint/2010/main" val="368819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26E08ED-45E8-EF91-DC8A-D664E405F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91A83713-1435-73DA-C348-FC280E7BB767}"/>
              </a:ext>
            </a:extLst>
          </p:cNvPr>
          <p:cNvGrpSpPr>
            <a:grpSpLocks/>
          </p:cNvGrpSpPr>
          <p:nvPr/>
        </p:nvGrpSpPr>
        <p:grpSpPr bwMode="auto">
          <a:xfrm>
            <a:off x="7265837" y="1679748"/>
            <a:ext cx="5508000" cy="4896000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87E9A766-1BFB-2667-ADD1-7687B83C10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49685E4E-31C3-B095-33A5-C9F8480804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BCF4F08F-B8A1-0811-4338-AA86D4927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6F1073F7-CE91-6D56-4599-17ADE2C8FA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F4BA627C-5BD7-E62C-69FB-5561D66BDE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094F33D6-D8B3-D207-8D47-D87E7A8ACD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5148F2BA-2D1F-E005-0521-BFA1AA75DD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24E8DCCF-D750-E9D1-C531-DFBDB9C340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49CD96F0-B399-4B38-C535-2513EB1039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E5F200DF-5604-C5DB-9E96-4B0B99EA23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70EFEAFC-70DB-8779-E0BB-5F89384C66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6B9C3165-4F98-E9DA-E244-A14A8C5A4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FCA6142C-1410-692B-74FF-226BC7C697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AD36048C-FF2B-8CB8-2A48-1DE36A54E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83A727C8-C5CA-10A9-86A8-2B23745A0B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902FA39C-154A-1DB3-4802-F7B1882031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C1D8960E-BB9B-4983-5F32-7278F941A8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373CCC58-B31A-36AA-E217-C69AE56998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76127AEC-31E0-C178-5C59-C15FFF8F75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DE3B72C-9B9A-6F40-A50C-08F8316E67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D5BAD5F6-0FDE-23CC-1A33-0BED14A52B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5170B677-EEE6-C625-F079-3C8B3CE919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ADB5E2D6-8A39-08F0-EB2A-87F3E5C182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F0548D33-228F-BA98-ECDA-8815578808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73886DFD-66E3-423F-CD69-321CC5D753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A44E7CA4-C3EF-D5E7-C70F-A4ACEEE4C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7F195660-5752-EFAC-34CB-3F8B1A7501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74BC10C0-21C7-B658-533E-4FDBAE4D6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E6722D01-29BE-24D6-D246-D4FE690A551E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O IVS resume a vulnerabilidade social em três dimensões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B7CC7D2E-031B-599B-BA8C-90017474CBE0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Índice de Vulnerabilidade Social (0 a 1), Por UF – Ipea, 2010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FC69101-08D8-EB8C-3A56-E12E4CFC6D9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8</a:t>
            </a:fld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AB2EB80F-9425-BDB6-3F8F-EE3E137F5CA7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316EEEC-9B73-02B0-68D8-D5A585E025F4}"/>
              </a:ext>
            </a:extLst>
          </p:cNvPr>
          <p:cNvGrpSpPr/>
          <p:nvPr/>
        </p:nvGrpSpPr>
        <p:grpSpPr>
          <a:xfrm>
            <a:off x="8114607" y="1298448"/>
            <a:ext cx="3291840" cy="384048"/>
            <a:chOff x="8099298" y="1298448"/>
            <a:chExt cx="3291840" cy="384048"/>
          </a:xfrm>
        </p:grpSpPr>
        <p:sp>
          <p:nvSpPr>
            <p:cNvPr id="7" name="Shape 40">
              <a:extLst>
                <a:ext uri="{FF2B5EF4-FFF2-40B4-BE49-F238E27FC236}">
                  <a16:creationId xmlns:a16="http://schemas.microsoft.com/office/drawing/2014/main" id="{53CE68C9-428E-A08D-2708-883B94962341}"/>
                </a:ext>
              </a:extLst>
            </p:cNvPr>
            <p:cNvSpPr/>
            <p:nvPr/>
          </p:nvSpPr>
          <p:spPr>
            <a:xfrm>
              <a:off x="8099298" y="1298448"/>
              <a:ext cx="658368" cy="155448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Shape 41">
              <a:extLst>
                <a:ext uri="{FF2B5EF4-FFF2-40B4-BE49-F238E27FC236}">
                  <a16:creationId xmlns:a16="http://schemas.microsoft.com/office/drawing/2014/main" id="{A334188C-8577-DAC5-E014-8A4B73E29D60}"/>
                </a:ext>
              </a:extLst>
            </p:cNvPr>
            <p:cNvSpPr/>
            <p:nvPr/>
          </p:nvSpPr>
          <p:spPr>
            <a:xfrm>
              <a:off x="8757666" y="1298448"/>
              <a:ext cx="658368" cy="155448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Shape 42">
              <a:extLst>
                <a:ext uri="{FF2B5EF4-FFF2-40B4-BE49-F238E27FC236}">
                  <a16:creationId xmlns:a16="http://schemas.microsoft.com/office/drawing/2014/main" id="{FC9FBC31-80F3-48BE-0C5E-1771E421CC03}"/>
                </a:ext>
              </a:extLst>
            </p:cNvPr>
            <p:cNvSpPr/>
            <p:nvPr/>
          </p:nvSpPr>
          <p:spPr>
            <a:xfrm>
              <a:off x="9416034" y="1298448"/>
              <a:ext cx="658368" cy="155448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Shape 43">
              <a:extLst>
                <a:ext uri="{FF2B5EF4-FFF2-40B4-BE49-F238E27FC236}">
                  <a16:creationId xmlns:a16="http://schemas.microsoft.com/office/drawing/2014/main" id="{FD961047-20F7-6893-0DB8-4E46016259B8}"/>
                </a:ext>
              </a:extLst>
            </p:cNvPr>
            <p:cNvSpPr/>
            <p:nvPr/>
          </p:nvSpPr>
          <p:spPr>
            <a:xfrm>
              <a:off x="10074402" y="1298448"/>
              <a:ext cx="658368" cy="155448"/>
            </a:xfrm>
            <a:prstGeom prst="rect">
              <a:avLst/>
            </a:prstGeom>
            <a:solidFill>
              <a:srgbClr val="396445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Shape 44">
              <a:extLst>
                <a:ext uri="{FF2B5EF4-FFF2-40B4-BE49-F238E27FC236}">
                  <a16:creationId xmlns:a16="http://schemas.microsoft.com/office/drawing/2014/main" id="{09473091-F407-6B6E-6C39-2FD58DA6E570}"/>
                </a:ext>
              </a:extLst>
            </p:cNvPr>
            <p:cNvSpPr/>
            <p:nvPr/>
          </p:nvSpPr>
          <p:spPr>
            <a:xfrm>
              <a:off x="10732770" y="1298448"/>
              <a:ext cx="658368" cy="1554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Text 45">
              <a:extLst>
                <a:ext uri="{FF2B5EF4-FFF2-40B4-BE49-F238E27FC236}">
                  <a16:creationId xmlns:a16="http://schemas.microsoft.com/office/drawing/2014/main" id="{270E6B8F-21F4-C342-5720-5BB16C756EB7}"/>
                </a:ext>
              </a:extLst>
            </p:cNvPr>
            <p:cNvSpPr txBox="1"/>
            <p:nvPr/>
          </p:nvSpPr>
          <p:spPr>
            <a:xfrm>
              <a:off x="809929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Menor vulnerabilidade</a:t>
              </a:r>
              <a:endParaRPr lang="en-US" sz="900"/>
            </a:p>
          </p:txBody>
        </p:sp>
        <p:sp>
          <p:nvSpPr>
            <p:cNvPr id="21" name="Text 46">
              <a:extLst>
                <a:ext uri="{FF2B5EF4-FFF2-40B4-BE49-F238E27FC236}">
                  <a16:creationId xmlns:a16="http://schemas.microsoft.com/office/drawing/2014/main" id="{F3A01C30-AD15-3388-B545-F0979CD0BF5A}"/>
                </a:ext>
              </a:extLst>
            </p:cNvPr>
            <p:cNvSpPr txBox="1"/>
            <p:nvPr/>
          </p:nvSpPr>
          <p:spPr>
            <a:xfrm>
              <a:off x="974521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Maior vulnerabilidade</a:t>
              </a:r>
              <a:endParaRPr lang="en-US" sz="900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FF05F86-0419-9605-4413-25493CB4A025}"/>
              </a:ext>
            </a:extLst>
          </p:cNvPr>
          <p:cNvGrpSpPr/>
          <p:nvPr/>
        </p:nvGrpSpPr>
        <p:grpSpPr>
          <a:xfrm>
            <a:off x="192024" y="1216152"/>
            <a:ext cx="6711696" cy="1051560"/>
            <a:chOff x="192024" y="1234440"/>
            <a:chExt cx="6711696" cy="1051560"/>
          </a:xfrm>
        </p:grpSpPr>
        <p:sp>
          <p:nvSpPr>
            <p:cNvPr id="28" name="Shape 3">
              <a:extLst>
                <a:ext uri="{FF2B5EF4-FFF2-40B4-BE49-F238E27FC236}">
                  <a16:creationId xmlns:a16="http://schemas.microsoft.com/office/drawing/2014/main" id="{B084DE32-CC87-AE5F-5E95-FE4EA05415CF}"/>
                </a:ext>
              </a:extLst>
            </p:cNvPr>
            <p:cNvSpPr/>
            <p:nvPr/>
          </p:nvSpPr>
          <p:spPr>
            <a:xfrm>
              <a:off x="192024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0" name="Text 4">
              <a:extLst>
                <a:ext uri="{FF2B5EF4-FFF2-40B4-BE49-F238E27FC236}">
                  <a16:creationId xmlns:a16="http://schemas.microsoft.com/office/drawing/2014/main" id="{6974CDD4-4221-0EB6-2307-C6D34C9A886B}"/>
                </a:ext>
              </a:extLst>
            </p:cNvPr>
            <p:cNvSpPr txBox="1"/>
            <p:nvPr/>
          </p:nvSpPr>
          <p:spPr>
            <a:xfrm>
              <a:off x="192024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Infraestrutura urbana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3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Saneamento, coleta de lixo e tempo de deslocamento ao trabalho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  <p:sp>
          <p:nvSpPr>
            <p:cNvPr id="32" name="Text 5">
              <a:extLst>
                <a:ext uri="{FF2B5EF4-FFF2-40B4-BE49-F238E27FC236}">
                  <a16:creationId xmlns:a16="http://schemas.microsoft.com/office/drawing/2014/main" id="{3C95404F-4A85-ABF4-466A-42860FF0E908}"/>
                </a:ext>
              </a:extLst>
            </p:cNvPr>
            <p:cNvSpPr txBox="1"/>
            <p:nvPr/>
          </p:nvSpPr>
          <p:spPr>
            <a:xfrm>
              <a:off x="2246376" y="1234440"/>
              <a:ext cx="2743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1600"/>
            </a:p>
          </p:txBody>
        </p:sp>
        <p:sp>
          <p:nvSpPr>
            <p:cNvPr id="34" name="Shape 6">
              <a:extLst>
                <a:ext uri="{FF2B5EF4-FFF2-40B4-BE49-F238E27FC236}">
                  <a16:creationId xmlns:a16="http://schemas.microsoft.com/office/drawing/2014/main" id="{69A267AC-377A-CE4D-490F-6F62E3A6F24B}"/>
                </a:ext>
              </a:extLst>
            </p:cNvPr>
            <p:cNvSpPr/>
            <p:nvPr/>
          </p:nvSpPr>
          <p:spPr>
            <a:xfrm>
              <a:off x="2520696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6" name="Text 7">
              <a:extLst>
                <a:ext uri="{FF2B5EF4-FFF2-40B4-BE49-F238E27FC236}">
                  <a16:creationId xmlns:a16="http://schemas.microsoft.com/office/drawing/2014/main" id="{00AB9EFB-E309-BDA2-2DEE-BEB0C3CC1914}"/>
                </a:ext>
              </a:extLst>
            </p:cNvPr>
            <p:cNvSpPr txBox="1"/>
            <p:nvPr/>
          </p:nvSpPr>
          <p:spPr>
            <a:xfrm>
              <a:off x="2520696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Capital humano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8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Mortalidade infantil, analfabetismo e mães adolescentes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  <p:sp>
          <p:nvSpPr>
            <p:cNvPr id="38" name="Text 8">
              <a:extLst>
                <a:ext uri="{FF2B5EF4-FFF2-40B4-BE49-F238E27FC236}">
                  <a16:creationId xmlns:a16="http://schemas.microsoft.com/office/drawing/2014/main" id="{969CC158-00CC-9B33-8FC8-D2708D43377F}"/>
                </a:ext>
              </a:extLst>
            </p:cNvPr>
            <p:cNvSpPr txBox="1"/>
            <p:nvPr/>
          </p:nvSpPr>
          <p:spPr>
            <a:xfrm>
              <a:off x="4575048" y="1234440"/>
              <a:ext cx="2743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1600"/>
            </a:p>
          </p:txBody>
        </p:sp>
        <p:sp>
          <p:nvSpPr>
            <p:cNvPr id="40" name="Shape 9">
              <a:extLst>
                <a:ext uri="{FF2B5EF4-FFF2-40B4-BE49-F238E27FC236}">
                  <a16:creationId xmlns:a16="http://schemas.microsoft.com/office/drawing/2014/main" id="{B5132298-27FE-773C-3EDF-F7E406A254FB}"/>
                </a:ext>
              </a:extLst>
            </p:cNvPr>
            <p:cNvSpPr/>
            <p:nvPr/>
          </p:nvSpPr>
          <p:spPr>
            <a:xfrm>
              <a:off x="4849368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2" name="Text 10">
              <a:extLst>
                <a:ext uri="{FF2B5EF4-FFF2-40B4-BE49-F238E27FC236}">
                  <a16:creationId xmlns:a16="http://schemas.microsoft.com/office/drawing/2014/main" id="{2E006F63-C7D6-3769-CDE0-9E4C25B4BF4A}"/>
                </a:ext>
              </a:extLst>
            </p:cNvPr>
            <p:cNvSpPr txBox="1"/>
            <p:nvPr/>
          </p:nvSpPr>
          <p:spPr>
            <a:xfrm>
              <a:off x="4849368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Renda e trabalho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5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Pobreza, desocupação e informalidade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ABC25E7-539C-2D82-0550-28386C72E658}"/>
              </a:ext>
            </a:extLst>
          </p:cNvPr>
          <p:cNvGrpSpPr/>
          <p:nvPr/>
        </p:nvGrpSpPr>
        <p:grpSpPr>
          <a:xfrm>
            <a:off x="192024" y="2406541"/>
            <a:ext cx="6711696" cy="384048"/>
            <a:chOff x="192024" y="2441448"/>
            <a:chExt cx="6711696" cy="384048"/>
          </a:xfrm>
        </p:grpSpPr>
        <p:sp>
          <p:nvSpPr>
            <p:cNvPr id="48" name="Shape 11">
              <a:extLst>
                <a:ext uri="{FF2B5EF4-FFF2-40B4-BE49-F238E27FC236}">
                  <a16:creationId xmlns:a16="http://schemas.microsoft.com/office/drawing/2014/main" id="{BD9FF05D-A2E4-EBC6-3C2F-5B289232BE51}"/>
                </a:ext>
              </a:extLst>
            </p:cNvPr>
            <p:cNvSpPr/>
            <p:nvPr/>
          </p:nvSpPr>
          <p:spPr>
            <a:xfrm>
              <a:off x="192024" y="2441448"/>
              <a:ext cx="6711696" cy="3840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0" name="Text 12">
              <a:extLst>
                <a:ext uri="{FF2B5EF4-FFF2-40B4-BE49-F238E27FC236}">
                  <a16:creationId xmlns:a16="http://schemas.microsoft.com/office/drawing/2014/main" id="{36BD3126-672B-84B5-68FA-9908F3E2E43C}"/>
                </a:ext>
              </a:extLst>
            </p:cNvPr>
            <p:cNvSpPr txBox="1"/>
            <p:nvPr/>
          </p:nvSpPr>
          <p:spPr>
            <a:xfrm>
              <a:off x="192024" y="2441448"/>
              <a:ext cx="6711696" cy="384048"/>
            </a:xfrm>
            <a:prstGeom prst="rect">
              <a:avLst/>
            </a:prstGeom>
            <a:noFill/>
            <a:ln/>
          </p:spPr>
          <p:txBody>
            <a:bodyPr wrap="square" lIns="152400" tIns="0" rIns="152400" bIns="0" rtlCol="0" anchor="ctr"/>
            <a:lstStyle/>
            <a:p>
              <a:pPr marL="0" indent="0">
                <a:buNone/>
              </a:pPr>
              <a:r>
                <a:rPr lang="en-US" sz="11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IVS</a:t>
              </a:r>
              <a:r>
                <a:rPr lang="en-US" sz="110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= média simples das três dimensões, com o mesmo peso (1/3 cada)</a:t>
              </a:r>
              <a:endParaRPr lang="en-US" sz="1100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FD9535B-A431-642E-C93C-72B94A3EF49C}"/>
              </a:ext>
            </a:extLst>
          </p:cNvPr>
          <p:cNvGrpSpPr/>
          <p:nvPr/>
        </p:nvGrpSpPr>
        <p:grpSpPr>
          <a:xfrm>
            <a:off x="192024" y="2929418"/>
            <a:ext cx="6711696" cy="585216"/>
            <a:chOff x="192024" y="3191256"/>
            <a:chExt cx="6711696" cy="585216"/>
          </a:xfrm>
        </p:grpSpPr>
        <p:sp>
          <p:nvSpPr>
            <p:cNvPr id="54" name="Shape 14">
              <a:extLst>
                <a:ext uri="{FF2B5EF4-FFF2-40B4-BE49-F238E27FC236}">
                  <a16:creationId xmlns:a16="http://schemas.microsoft.com/office/drawing/2014/main" id="{70CE62AE-F2EF-0D90-19F4-F13329335C06}"/>
                </a:ext>
              </a:extLst>
            </p:cNvPr>
            <p:cNvSpPr/>
            <p:nvPr/>
          </p:nvSpPr>
          <p:spPr>
            <a:xfrm>
              <a:off x="192024" y="3191256"/>
              <a:ext cx="1313078" cy="182880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Text 15">
              <a:extLst>
                <a:ext uri="{FF2B5EF4-FFF2-40B4-BE49-F238E27FC236}">
                  <a16:creationId xmlns:a16="http://schemas.microsoft.com/office/drawing/2014/main" id="{91D82D5B-E1BB-BCBE-6656-15529760AA00}"/>
                </a:ext>
              </a:extLst>
            </p:cNvPr>
            <p:cNvSpPr txBox="1"/>
            <p:nvPr/>
          </p:nvSpPr>
          <p:spPr>
            <a:xfrm>
              <a:off x="192024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baixa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até 0,200</a:t>
              </a:r>
              <a:endParaRPr lang="en-US" sz="900"/>
            </a:p>
          </p:txBody>
        </p:sp>
        <p:sp>
          <p:nvSpPr>
            <p:cNvPr id="58" name="Shape 16">
              <a:extLst>
                <a:ext uri="{FF2B5EF4-FFF2-40B4-BE49-F238E27FC236}">
                  <a16:creationId xmlns:a16="http://schemas.microsoft.com/office/drawing/2014/main" id="{799D8B85-5BC5-0716-FEDF-4961514362F5}"/>
                </a:ext>
              </a:extLst>
            </p:cNvPr>
            <p:cNvSpPr/>
            <p:nvPr/>
          </p:nvSpPr>
          <p:spPr>
            <a:xfrm>
              <a:off x="1541678" y="3191256"/>
              <a:ext cx="1313078" cy="182880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0" name="Text 17">
              <a:extLst>
                <a:ext uri="{FF2B5EF4-FFF2-40B4-BE49-F238E27FC236}">
                  <a16:creationId xmlns:a16="http://schemas.microsoft.com/office/drawing/2014/main" id="{41E9D5BB-3D04-28E5-5676-9CFBFD9CE783}"/>
                </a:ext>
              </a:extLst>
            </p:cNvPr>
            <p:cNvSpPr txBox="1"/>
            <p:nvPr/>
          </p:nvSpPr>
          <p:spPr>
            <a:xfrm>
              <a:off x="1541678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Baixa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0,201 a 0,300</a:t>
              </a:r>
              <a:endParaRPr lang="en-US" sz="900"/>
            </a:p>
          </p:txBody>
        </p:sp>
        <p:sp>
          <p:nvSpPr>
            <p:cNvPr id="62" name="Shape 18">
              <a:extLst>
                <a:ext uri="{FF2B5EF4-FFF2-40B4-BE49-F238E27FC236}">
                  <a16:creationId xmlns:a16="http://schemas.microsoft.com/office/drawing/2014/main" id="{D26CCBDE-5F2B-EC4B-8D4F-4D8AF1A48335}"/>
                </a:ext>
              </a:extLst>
            </p:cNvPr>
            <p:cNvSpPr/>
            <p:nvPr/>
          </p:nvSpPr>
          <p:spPr>
            <a:xfrm>
              <a:off x="2891333" y="3191256"/>
              <a:ext cx="1313078" cy="182880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4" name="Text 19">
              <a:extLst>
                <a:ext uri="{FF2B5EF4-FFF2-40B4-BE49-F238E27FC236}">
                  <a16:creationId xmlns:a16="http://schemas.microsoft.com/office/drawing/2014/main" id="{CE67C7BF-2FE3-5BD7-A116-719648C578D6}"/>
                </a:ext>
              </a:extLst>
            </p:cNvPr>
            <p:cNvSpPr txBox="1"/>
            <p:nvPr/>
          </p:nvSpPr>
          <p:spPr>
            <a:xfrm>
              <a:off x="2891333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Média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0,301 a 0,400</a:t>
              </a:r>
              <a:endParaRPr lang="en-US" sz="900"/>
            </a:p>
          </p:txBody>
        </p:sp>
        <p:sp>
          <p:nvSpPr>
            <p:cNvPr id="66" name="Shape 20">
              <a:extLst>
                <a:ext uri="{FF2B5EF4-FFF2-40B4-BE49-F238E27FC236}">
                  <a16:creationId xmlns:a16="http://schemas.microsoft.com/office/drawing/2014/main" id="{F4050FD5-0825-6D53-6757-EC88B82615B1}"/>
                </a:ext>
              </a:extLst>
            </p:cNvPr>
            <p:cNvSpPr/>
            <p:nvPr/>
          </p:nvSpPr>
          <p:spPr>
            <a:xfrm>
              <a:off x="4240987" y="3191256"/>
              <a:ext cx="1313078" cy="182880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8" name="Text 21">
              <a:extLst>
                <a:ext uri="{FF2B5EF4-FFF2-40B4-BE49-F238E27FC236}">
                  <a16:creationId xmlns:a16="http://schemas.microsoft.com/office/drawing/2014/main" id="{405E3A64-DFB5-C9C2-CDBC-276FAD8E53F7}"/>
                </a:ext>
              </a:extLst>
            </p:cNvPr>
            <p:cNvSpPr txBox="1"/>
            <p:nvPr/>
          </p:nvSpPr>
          <p:spPr>
            <a:xfrm>
              <a:off x="4240987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Alta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0,401 a 0,500</a:t>
              </a:r>
              <a:endParaRPr lang="en-US" sz="900"/>
            </a:p>
          </p:txBody>
        </p:sp>
        <p:sp>
          <p:nvSpPr>
            <p:cNvPr id="70" name="Shape 22">
              <a:extLst>
                <a:ext uri="{FF2B5EF4-FFF2-40B4-BE49-F238E27FC236}">
                  <a16:creationId xmlns:a16="http://schemas.microsoft.com/office/drawing/2014/main" id="{E0727719-828F-7F65-9AD0-23483FBB3D84}"/>
                </a:ext>
              </a:extLst>
            </p:cNvPr>
            <p:cNvSpPr/>
            <p:nvPr/>
          </p:nvSpPr>
          <p:spPr>
            <a:xfrm>
              <a:off x="5590642" y="3191256"/>
              <a:ext cx="1313078" cy="182880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2" name="Text 23">
              <a:extLst>
                <a:ext uri="{FF2B5EF4-FFF2-40B4-BE49-F238E27FC236}">
                  <a16:creationId xmlns:a16="http://schemas.microsoft.com/office/drawing/2014/main" id="{49917BAE-049D-D5D7-6AF3-768C8B4858CF}"/>
                </a:ext>
              </a:extLst>
            </p:cNvPr>
            <p:cNvSpPr txBox="1"/>
            <p:nvPr/>
          </p:nvSpPr>
          <p:spPr>
            <a:xfrm>
              <a:off x="5590642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alta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acima de 0,500</a:t>
              </a:r>
              <a:endParaRPr lang="en-US" sz="900"/>
            </a:p>
          </p:txBody>
        </p:sp>
      </p:grpSp>
      <p:sp>
        <p:nvSpPr>
          <p:cNvPr id="77" name="Text Placeholder 5">
            <a:extLst>
              <a:ext uri="{FF2B5EF4-FFF2-40B4-BE49-F238E27FC236}">
                <a16:creationId xmlns:a16="http://schemas.microsoft.com/office/drawing/2014/main" id="{610CB241-C8C2-DC08-E29C-C362BAC89FED}"/>
              </a:ext>
            </a:extLst>
          </p:cNvPr>
          <p:cNvSpPr txBox="1">
            <a:spLocks/>
          </p:cNvSpPr>
          <p:nvPr/>
        </p:nvSpPr>
        <p:spPr>
          <a:xfrm>
            <a:off x="96400" y="3633311"/>
            <a:ext cx="6405635" cy="285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/>
              <a:t>II. O IVS define a bolsa por regra; contínuo, ele controla o custo do lugar</a:t>
            </a:r>
          </a:p>
          <a:p>
            <a:endParaRPr lang="pt-BR"/>
          </a:p>
        </p:txBody>
      </p:sp>
      <p:sp>
        <p:nvSpPr>
          <p:cNvPr id="79" name="Text Placeholder 6">
            <a:extLst>
              <a:ext uri="{FF2B5EF4-FFF2-40B4-BE49-F238E27FC236}">
                <a16:creationId xmlns:a16="http://schemas.microsoft.com/office/drawing/2014/main" id="{BA2A81D5-E316-3677-A656-C53A167759BF}"/>
              </a:ext>
            </a:extLst>
          </p:cNvPr>
          <p:cNvSpPr txBox="1">
            <a:spLocks/>
          </p:cNvSpPr>
          <p:nvPr/>
        </p:nvSpPr>
        <p:spPr>
          <a:xfrm>
            <a:off x="96401" y="3918605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0" lang="pt-BR"/>
              <a:t>Bolsa-formação mensal pelo IVS 2010 oficial</a:t>
            </a: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8FCFAFBE-5EE3-F46D-498A-8CFA7C125DE6}"/>
              </a:ext>
            </a:extLst>
          </p:cNvPr>
          <p:cNvGrpSpPr/>
          <p:nvPr/>
        </p:nvGrpSpPr>
        <p:grpSpPr>
          <a:xfrm>
            <a:off x="192024" y="4143097"/>
            <a:ext cx="3063240" cy="2216048"/>
            <a:chOff x="192024" y="4681728"/>
            <a:chExt cx="3063240" cy="1188720"/>
          </a:xfrm>
        </p:grpSpPr>
        <p:sp>
          <p:nvSpPr>
            <p:cNvPr id="81" name="Shape 26">
              <a:extLst>
                <a:ext uri="{FF2B5EF4-FFF2-40B4-BE49-F238E27FC236}">
                  <a16:creationId xmlns:a16="http://schemas.microsoft.com/office/drawing/2014/main" id="{052C4491-95B5-1AAC-B409-376FF554470D}"/>
                </a:ext>
              </a:extLst>
            </p:cNvPr>
            <p:cNvSpPr/>
            <p:nvPr/>
          </p:nvSpPr>
          <p:spPr>
            <a:xfrm>
              <a:off x="192024" y="4681728"/>
              <a:ext cx="1234440" cy="347472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3" name="Text 27">
              <a:extLst>
                <a:ext uri="{FF2B5EF4-FFF2-40B4-BE49-F238E27FC236}">
                  <a16:creationId xmlns:a16="http://schemas.microsoft.com/office/drawing/2014/main" id="{DD335D2B-3EA1-359F-11AD-EE128C7D96CF}"/>
                </a:ext>
              </a:extLst>
            </p:cNvPr>
            <p:cNvSpPr txBox="1"/>
            <p:nvPr/>
          </p:nvSpPr>
          <p:spPr>
            <a:xfrm>
              <a:off x="192024" y="4681728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R$ 20 mil</a:t>
              </a:r>
              <a:endParaRPr lang="en-US" sz="1300"/>
            </a:p>
          </p:txBody>
        </p:sp>
        <p:sp>
          <p:nvSpPr>
            <p:cNvPr id="85" name="Shape 28">
              <a:extLst>
                <a:ext uri="{FF2B5EF4-FFF2-40B4-BE49-F238E27FC236}">
                  <a16:creationId xmlns:a16="http://schemas.microsoft.com/office/drawing/2014/main" id="{0766FA89-5E0D-575C-69E1-373178222740}"/>
                </a:ext>
              </a:extLst>
            </p:cNvPr>
            <p:cNvSpPr/>
            <p:nvPr/>
          </p:nvSpPr>
          <p:spPr>
            <a:xfrm>
              <a:off x="1426464" y="4681728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7" name="Text 29">
              <a:extLst>
                <a:ext uri="{FF2B5EF4-FFF2-40B4-BE49-F238E27FC236}">
                  <a16:creationId xmlns:a16="http://schemas.microsoft.com/office/drawing/2014/main" id="{550CCDC8-4BC0-48C8-AC06-6EC29D54C08E}"/>
                </a:ext>
              </a:extLst>
            </p:cNvPr>
            <p:cNvSpPr txBox="1"/>
            <p:nvPr/>
          </p:nvSpPr>
          <p:spPr>
            <a:xfrm>
              <a:off x="1426464" y="4681728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pPr marL="0" indent="0">
                <a:buNone/>
              </a:pPr>
              <a:r>
                <a:rPr b="1" lang="en-US" sz="1100" err="1">
                  <a:solidFill>
                    <a:srgbClr val="1F1F1F"/>
                  </a:solidFill>
                  <a:latin typeface="Montserrat"/>
                  <a:ea typeface="Montserrat" pitchFamily="34" charset="-122"/>
                  <a:cs typeface="Montserrat" pitchFamily="34" charset="-120"/>
                </a:rPr>
                <a:t>acima de 0,400</a:t>
              </a:r>
            </a:p>
          </p:txBody>
        </p:sp>
        <p:sp>
          <p:nvSpPr>
            <p:cNvPr id="89" name="Shape 30">
              <a:extLst>
                <a:ext uri="{FF2B5EF4-FFF2-40B4-BE49-F238E27FC236}">
                  <a16:creationId xmlns:a16="http://schemas.microsoft.com/office/drawing/2014/main" id="{004150E3-586F-A68B-AFFD-341D8E819555}"/>
                </a:ext>
              </a:extLst>
            </p:cNvPr>
            <p:cNvSpPr/>
            <p:nvPr/>
          </p:nvSpPr>
          <p:spPr>
            <a:xfrm>
              <a:off x="192024" y="5102352"/>
              <a:ext cx="1234440" cy="347472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1" name="Text 31">
              <a:extLst>
                <a:ext uri="{FF2B5EF4-FFF2-40B4-BE49-F238E27FC236}">
                  <a16:creationId xmlns:a16="http://schemas.microsoft.com/office/drawing/2014/main" id="{28C29738-ECDF-24AC-2247-6C9D9375EBCC}"/>
                </a:ext>
              </a:extLst>
            </p:cNvPr>
            <p:cNvSpPr txBox="1"/>
            <p:nvPr/>
          </p:nvSpPr>
          <p:spPr>
            <a:xfrm>
              <a:off x="192024" y="5102352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R$ 15 mil</a:t>
              </a:r>
              <a:endParaRPr lang="en-US" sz="1300"/>
            </a:p>
          </p:txBody>
        </p:sp>
        <p:sp>
          <p:nvSpPr>
            <p:cNvPr id="93" name="Shape 32">
              <a:extLst>
                <a:ext uri="{FF2B5EF4-FFF2-40B4-BE49-F238E27FC236}">
                  <a16:creationId xmlns:a16="http://schemas.microsoft.com/office/drawing/2014/main" id="{18BBA831-553F-12DB-7A9A-2C7F40E58489}"/>
                </a:ext>
              </a:extLst>
            </p:cNvPr>
            <p:cNvSpPr/>
            <p:nvPr/>
          </p:nvSpPr>
          <p:spPr>
            <a:xfrm>
              <a:off x="1426464" y="5102352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5" name="Text 33">
              <a:extLst>
                <a:ext uri="{FF2B5EF4-FFF2-40B4-BE49-F238E27FC236}">
                  <a16:creationId xmlns:a16="http://schemas.microsoft.com/office/drawing/2014/main" id="{246B9A82-E3B2-C2C4-02E1-5E4EF5F93875}"/>
                </a:ext>
              </a:extLst>
            </p:cNvPr>
            <p:cNvSpPr txBox="1"/>
            <p:nvPr/>
          </p:nvSpPr>
          <p:spPr>
            <a:xfrm>
              <a:off x="1426464" y="5102352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pPr marL="0" indent="0">
                <a:buNone/>
              </a:pPr>
              <a:r>
                <a:rPr b="1" lang="en-US" sz="1100">
                  <a:solidFill>
                    <a:srgbClr val="1F1F1F"/>
                  </a:solidFill>
                  <a:latin typeface="Montserrat"/>
                </a:rPr>
                <a:t>0,301 a 0,400</a:t>
              </a:r>
            </a:p>
          </p:txBody>
        </p:sp>
        <p:sp>
          <p:nvSpPr>
            <p:cNvPr id="98" name="Shape 34">
              <a:extLst>
                <a:ext uri="{FF2B5EF4-FFF2-40B4-BE49-F238E27FC236}">
                  <a16:creationId xmlns:a16="http://schemas.microsoft.com/office/drawing/2014/main" id="{4828B658-71BB-143F-A924-3CA3E11675FE}"/>
                </a:ext>
              </a:extLst>
            </p:cNvPr>
            <p:cNvSpPr/>
            <p:nvPr/>
          </p:nvSpPr>
          <p:spPr>
            <a:xfrm>
              <a:off x="192024" y="5522976"/>
              <a:ext cx="1234440" cy="347472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0" name="Text 35">
              <a:extLst>
                <a:ext uri="{FF2B5EF4-FFF2-40B4-BE49-F238E27FC236}">
                  <a16:creationId xmlns:a16="http://schemas.microsoft.com/office/drawing/2014/main" id="{FC246144-2137-0640-F510-CC17F7C911BF}"/>
                </a:ext>
              </a:extLst>
            </p:cNvPr>
            <p:cNvSpPr txBox="1"/>
            <p:nvPr/>
          </p:nvSpPr>
          <p:spPr>
            <a:xfrm>
              <a:off x="192024" y="5522976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R$ 10 mil</a:t>
              </a:r>
              <a:endParaRPr lang="en-US" sz="1300"/>
            </a:p>
          </p:txBody>
        </p:sp>
        <p:sp>
          <p:nvSpPr>
            <p:cNvPr id="102" name="Shape 36">
              <a:extLst>
                <a:ext uri="{FF2B5EF4-FFF2-40B4-BE49-F238E27FC236}">
                  <a16:creationId xmlns:a16="http://schemas.microsoft.com/office/drawing/2014/main" id="{76AF643F-5D58-0951-CEA3-C7C8E2ED288E}"/>
                </a:ext>
              </a:extLst>
            </p:cNvPr>
            <p:cNvSpPr/>
            <p:nvPr/>
          </p:nvSpPr>
          <p:spPr>
            <a:xfrm>
              <a:off x="1426464" y="5522976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4" name="Text 37">
              <a:extLst>
                <a:ext uri="{FF2B5EF4-FFF2-40B4-BE49-F238E27FC236}">
                  <a16:creationId xmlns:a16="http://schemas.microsoft.com/office/drawing/2014/main" id="{35D66D9B-6034-ED41-3F77-E2071B2233AB}"/>
                </a:ext>
              </a:extLst>
            </p:cNvPr>
            <p:cNvSpPr txBox="1"/>
            <p:nvPr/>
          </p:nvSpPr>
          <p:spPr>
            <a:xfrm>
              <a:off x="1426464" y="5522976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r>
                <a:rPr b="1" lang="en-US" sz="1100" err="1">
                  <a:solidFill>
                    <a:srgbClr val="1F1F1F"/>
                  </a:solidFill>
                  <a:latin typeface="Montserrat"/>
                </a:rPr>
                <a:t>até 0,300</a:t>
              </a:r>
            </a:p>
          </p:txBody>
        </p:sp>
      </p:grpSp>
      <p:sp>
        <p:nvSpPr>
          <p:cNvPr id="2002" name="Card BG 1"/>
          <p:cNvSpPr/>
          <p:nvPr/>
        </p:nvSpPr>
        <p:spPr>
          <a:xfrm>
            <a:off x="3479800" y="4140200"/>
            <a:ext cx="3632200" cy="1028700"/>
          </a:xfrm>
          <a:prstGeom prst="rect">
            <a:avLst/>
          </a:prstGeom>
          <a:solidFill>
            <a:srgbClr val="EEF3E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2004" name="Card BG 2"/>
          <p:cNvSpPr/>
          <p:nvPr/>
        </p:nvSpPr>
        <p:spPr>
          <a:xfrm>
            <a:off x="3479800" y="5321300"/>
            <a:ext cx="3632200" cy="1028700"/>
          </a:xfrm>
          <a:prstGeom prst="rect">
            <a:avLst/>
          </a:prstGeom>
          <a:solidFill>
            <a:srgbClr val="EEF3E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2CCB2AE-2ECC-4F30-AEDE-AA738D73A694}"/>
              </a:ext>
            </a:extLst>
          </p:cNvPr>
          <p:cNvGrpSpPr/>
          <p:nvPr/>
        </p:nvGrpSpPr>
        <p:grpSpPr>
          <a:xfrm>
            <a:off x="3429000" y="4146220"/>
            <a:ext cx="3683000" cy="2209800"/>
            <a:chOff x="3429000" y="4140200"/>
            <a:chExt cx="3683000" cy="22098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20B9960-49DB-722B-27EB-90124AAD7B26}"/>
                </a:ext>
              </a:extLst>
            </p:cNvPr>
            <p:cNvGrpSpPr/>
            <p:nvPr/>
          </p:nvGrpSpPr>
          <p:grpSpPr>
            <a:xfrm>
              <a:off x="3429000" y="4140200"/>
              <a:ext cx="3683000" cy="1028700"/>
              <a:chOff x="3429000" y="4140200"/>
              <a:chExt cx="3683000" cy="1028700"/>
            </a:xfrm>
          </p:grpSpPr>
          <p:sp>
            <p:nvSpPr>
              <p:cNvPr id="2001" name="Accent Card 1"/>
              <p:cNvSpPr/>
              <p:nvPr/>
            </p:nvSpPr>
            <p:spPr>
              <a:xfrm>
                <a:off x="3429000" y="4140200"/>
                <a:ext cx="50800" cy="1028700"/>
              </a:xfrm>
              <a:prstGeom prst="rect">
                <a:avLst/>
              </a:prstGeom>
              <a:solidFill>
                <a:srgbClr val="1B3A20"/>
              </a:solidFill>
              <a:ln>
                <a:noFill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8" name="Text 39">
                <a:extLst>
                  <a:ext uri="{FF2B5EF4-FFF2-40B4-BE49-F238E27FC236}">
                    <a16:creationId xmlns:a16="http://schemas.microsoft.com/office/drawing/2014/main" id="{4D864113-EC30-7360-4FB0-2B483495B833}"/>
                  </a:ext>
                </a:extLst>
              </p:cNvPr>
              <p:cNvSpPr txBox="1"/>
              <p:nvPr/>
            </p:nvSpPr>
            <p:spPr>
              <a:xfrm>
                <a:off x="3479800" y="4140200"/>
                <a:ext cx="3632200" cy="1028700"/>
              </a:xfrm>
              <a:prstGeom prst="rect">
                <a:avLst/>
              </a:prstGeom>
              <a:noFill/>
              <a:ln/>
            </p:spPr>
            <p:txBody>
              <a:bodyPr wrap="square" lIns="152400" tIns="101600" rIns="152400" bIns="101600" anchor="ctr"/>
              <a:lstStyle/>
              <a:p>
                <a:pPr marL="0" indent="0" algn="just">
                  <a:buNone/>
                </a:pPr>
                <a:r>
                  <a:rPr b="0" lang="en-US" sz="950" err="1">
                    <a:solidFill>
                      <a:srgbClr val="1B3A20"/>
                    </a:solidFill>
                    <a:latin typeface="Montserrat"/>
                    <a:ea typeface="Montserrat" pitchFamily="34" charset="-122"/>
                    <a:cs typeface="Montserrat" pitchFamily="34" charset="-120"/>
                  </a:rPr>
                  <a:t>Instrumento da política: a bolsa de R$ 10, 15 ou 20 mil é fixada por regra sobre o IVS 2010 oficial.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323385A-CCE3-2E85-00C6-B2ED40ED0AEB}"/>
                </a:ext>
              </a:extLst>
            </p:cNvPr>
            <p:cNvGrpSpPr/>
            <p:nvPr/>
          </p:nvGrpSpPr>
          <p:grpSpPr>
            <a:xfrm>
              <a:off x="3429000" y="5321300"/>
              <a:ext cx="3683000" cy="1028700"/>
              <a:chOff x="3429000" y="5321300"/>
              <a:chExt cx="3683000" cy="1028700"/>
            </a:xfrm>
          </p:grpSpPr>
          <p:sp>
            <p:nvSpPr>
              <p:cNvPr id="2003" name="Accent Card 2"/>
              <p:cNvSpPr/>
              <p:nvPr/>
            </p:nvSpPr>
            <p:spPr>
              <a:xfrm>
                <a:off x="3429000" y="5321300"/>
                <a:ext cx="50800" cy="1028700"/>
              </a:xfrm>
              <a:prstGeom prst="rect">
                <a:avLst/>
              </a:prstGeom>
              <a:solidFill>
                <a:srgbClr val="1B3A20"/>
              </a:solidFill>
              <a:ln>
                <a:noFill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80" name="Text Card 2">
                <a:extLst>
                  <a:ext uri="{FF2B5EF4-FFF2-40B4-BE49-F238E27FC236}">
                    <a16:creationId xmlns:a16="http://schemas.microsoft.com/office/drawing/2014/main" id="{4D864113-EC30-7360-4FB0-2B483495B833}"/>
                  </a:ext>
                </a:extLst>
              </p:cNvPr>
              <p:cNvSpPr txBox="1"/>
              <p:nvPr/>
            </p:nvSpPr>
            <p:spPr>
              <a:xfrm>
                <a:off x="3479800" y="5321300"/>
                <a:ext cx="3632200" cy="1028700"/>
              </a:xfrm>
              <a:prstGeom prst="rect">
                <a:avLst/>
              </a:prstGeom>
              <a:noFill/>
              <a:ln/>
            </p:spPr>
            <p:txBody>
              <a:bodyPr wrap="square" lIns="152400" tIns="101600" rIns="152400" bIns="101600" anchor="ctr"/>
              <a:lstStyle/>
              <a:p>
                <a:pPr algn="just">
                  <a:buNone/>
                </a:pPr>
                <a:r>
                  <a:rPr b="0" lang="en-US" sz="1000">
                    <a:solidFill>
                      <a:srgbClr val="1B3A20"/>
                    </a:solidFill>
                    <a:latin typeface="Montserrat"/>
                    <a:ea typeface="Montserrat" pitchFamily="34" charset="-122"/>
                    <a:cs typeface="Montserrat" pitchFamily="34" charset="-120"/>
                  </a:rPr>
                  <a:t>Regra aplicada: até 0,300 → R$ 10 mil; 0,301 a 0,400 → R$ 15 mil; acima de 0,400 → R$ 20 mil. Reproduz a faixa publicada em 368 de 368 municípios do ciclo 1; a grade do FAQ não é a aplicada.</a:t>
                </a:r>
              </a:p>
            </p:txBody>
          </p:sp>
        </p:grpSp>
      </p:grpSp>
      <p:sp>
        <p:nvSpPr>
          <p:cNvPr id="110" name="Text 47">
            <a:extLst>
              <a:ext uri="{FF2B5EF4-FFF2-40B4-BE49-F238E27FC236}">
                <a16:creationId xmlns:a16="http://schemas.microsoft.com/office/drawing/2014/main" id="{89C5137A-70D5-499E-E0A0-6E37BDF244DE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Ipea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Atlas da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Vulnerabilidade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Social;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Edital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SGTES/MS nº 3/2025 (item 11.1.4);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ciclo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 do PMM-E.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4207788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97EF3-549D-2722-040F-87A5C0484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5C1E1D76-FA27-063B-2CB9-A5616C6B656D}"/>
              </a:ext>
            </a:extLst>
          </p:cNvPr>
          <p:cNvGrpSpPr/>
          <p:nvPr/>
        </p:nvGrpSpPr>
        <p:grpSpPr>
          <a:xfrm>
            <a:off x="9155887" y="914400"/>
            <a:ext cx="2715768" cy="2377440"/>
            <a:chOff x="9155887" y="914400"/>
            <a:chExt cx="2715768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ED020EEF-219F-38FF-8942-EAB77F723231}"/>
                </a:ext>
              </a:extLst>
            </p:cNvPr>
            <p:cNvSpPr/>
            <p:nvPr/>
          </p:nvSpPr>
          <p:spPr>
            <a:xfrm>
              <a:off x="9155887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41778"/>
                  </a:lnTo>
                  <a:lnTo>
                    <a:pt x="2697480" y="2354489"/>
                  </a:lnTo>
                  <a:lnTo>
                    <a:pt x="2633015" y="2355129"/>
                  </a:lnTo>
                  <a:lnTo>
                    <a:pt x="2602657" y="2361621"/>
                  </a:lnTo>
                  <a:lnTo>
                    <a:pt x="2562057" y="2350191"/>
                  </a:lnTo>
                  <a:lnTo>
                    <a:pt x="2500244" y="2358695"/>
                  </a:lnTo>
                  <a:lnTo>
                    <a:pt x="2435779" y="2374697"/>
                  </a:lnTo>
                  <a:lnTo>
                    <a:pt x="2377074" y="2361529"/>
                  </a:lnTo>
                  <a:lnTo>
                    <a:pt x="2309500" y="2363267"/>
                  </a:lnTo>
                  <a:lnTo>
                    <a:pt x="2265700" y="2361347"/>
                  </a:lnTo>
                  <a:lnTo>
                    <a:pt x="2201875" y="2348911"/>
                  </a:lnTo>
                  <a:lnTo>
                    <a:pt x="2144817" y="2351288"/>
                  </a:lnTo>
                  <a:lnTo>
                    <a:pt x="2090958" y="2345985"/>
                  </a:lnTo>
                  <a:lnTo>
                    <a:pt x="2063709" y="2344339"/>
                  </a:lnTo>
                  <a:lnTo>
                    <a:pt x="2028139" y="2369850"/>
                  </a:lnTo>
                  <a:lnTo>
                    <a:pt x="1965777" y="2352111"/>
                  </a:lnTo>
                  <a:lnTo>
                    <a:pt x="1940174" y="2371222"/>
                  </a:lnTo>
                  <a:lnTo>
                    <a:pt x="1877263" y="2369119"/>
                  </a:lnTo>
                  <a:lnTo>
                    <a:pt x="1827246" y="2367930"/>
                  </a:lnTo>
                  <a:lnTo>
                    <a:pt x="1765066" y="2367473"/>
                  </a:lnTo>
                  <a:lnTo>
                    <a:pt x="1716237" y="2351928"/>
                  </a:lnTo>
                  <a:lnTo>
                    <a:pt x="1679936" y="2363907"/>
                  </a:lnTo>
                  <a:lnTo>
                    <a:pt x="1631015" y="2362627"/>
                  </a:lnTo>
                  <a:lnTo>
                    <a:pt x="1567739" y="2367107"/>
                  </a:lnTo>
                  <a:lnTo>
                    <a:pt x="1524579" y="2368296"/>
                  </a:lnTo>
                  <a:lnTo>
                    <a:pt x="1468526" y="2353483"/>
                  </a:lnTo>
                  <a:lnTo>
                    <a:pt x="1432956" y="2346625"/>
                  </a:lnTo>
                  <a:lnTo>
                    <a:pt x="1376081" y="2354214"/>
                  </a:lnTo>
                  <a:lnTo>
                    <a:pt x="1341973" y="2361347"/>
                  </a:lnTo>
                  <a:lnTo>
                    <a:pt x="1298905" y="2375154"/>
                  </a:lnTo>
                  <a:lnTo>
                    <a:pt x="1270559" y="2365187"/>
                  </a:lnTo>
                  <a:lnTo>
                    <a:pt x="1222004" y="2353208"/>
                  </a:lnTo>
                  <a:lnTo>
                    <a:pt x="1182136" y="2352568"/>
                  </a:lnTo>
                  <a:lnTo>
                    <a:pt x="1135502" y="2357415"/>
                  </a:lnTo>
                  <a:lnTo>
                    <a:pt x="1084936" y="2361529"/>
                  </a:lnTo>
                  <a:lnTo>
                    <a:pt x="1049091" y="2369759"/>
                  </a:lnTo>
                  <a:lnTo>
                    <a:pt x="1025500" y="2377440"/>
                  </a:lnTo>
                  <a:lnTo>
                    <a:pt x="991118" y="2371131"/>
                  </a:lnTo>
                  <a:lnTo>
                    <a:pt x="956828" y="2374148"/>
                  </a:lnTo>
                  <a:lnTo>
                    <a:pt x="920069" y="2360981"/>
                  </a:lnTo>
                  <a:lnTo>
                    <a:pt x="872795" y="2353666"/>
                  </a:lnTo>
                  <a:lnTo>
                    <a:pt x="846277" y="2359518"/>
                  </a:lnTo>
                  <a:lnTo>
                    <a:pt x="817016" y="2346808"/>
                  </a:lnTo>
                  <a:lnTo>
                    <a:pt x="751728" y="2336475"/>
                  </a:lnTo>
                  <a:lnTo>
                    <a:pt x="691012" y="2330440"/>
                  </a:lnTo>
                  <a:lnTo>
                    <a:pt x="660654" y="2351471"/>
                  </a:lnTo>
                  <a:lnTo>
                    <a:pt x="628650" y="2336841"/>
                  </a:lnTo>
                  <a:lnTo>
                    <a:pt x="576529" y="2348362"/>
                  </a:lnTo>
                  <a:lnTo>
                    <a:pt x="547543" y="2345345"/>
                  </a:lnTo>
                  <a:lnTo>
                    <a:pt x="488107" y="2375977"/>
                  </a:lnTo>
                  <a:lnTo>
                    <a:pt x="435072" y="2364638"/>
                  </a:lnTo>
                  <a:lnTo>
                    <a:pt x="385602" y="2356775"/>
                  </a:lnTo>
                  <a:lnTo>
                    <a:pt x="344272" y="2363450"/>
                  </a:lnTo>
                  <a:lnTo>
                    <a:pt x="301386" y="2357140"/>
                  </a:lnTo>
                  <a:lnTo>
                    <a:pt x="241127" y="2367930"/>
                  </a:lnTo>
                  <a:lnTo>
                    <a:pt x="201991" y="2352843"/>
                  </a:lnTo>
                  <a:lnTo>
                    <a:pt x="169530" y="2352660"/>
                  </a:lnTo>
                  <a:lnTo>
                    <a:pt x="137709" y="2351837"/>
                  </a:lnTo>
                  <a:lnTo>
                    <a:pt x="73884" y="2339950"/>
                  </a:lnTo>
                  <a:lnTo>
                    <a:pt x="47457" y="2335103"/>
                  </a:lnTo>
                  <a:lnTo>
                    <a:pt x="0" y="2340041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1C000DFB-2924-9C28-105B-B40D9F9113A2}"/>
                </a:ext>
              </a:extLst>
            </p:cNvPr>
            <p:cNvSpPr txBox="1"/>
            <p:nvPr/>
          </p:nvSpPr>
          <p:spPr>
            <a:xfrm>
              <a:off x="9357055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58539B82-C3E2-7EA8-B9DE-139417DD9A06}"/>
                </a:ext>
              </a:extLst>
            </p:cNvPr>
            <p:cNvSpPr/>
            <p:nvPr/>
          </p:nvSpPr>
          <p:spPr>
            <a:xfrm>
              <a:off x="9357055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0F541EC9-F957-5ADA-0949-914C6AC78F08}"/>
                </a:ext>
              </a:extLst>
            </p:cNvPr>
            <p:cNvSpPr txBox="1"/>
            <p:nvPr/>
          </p:nvSpPr>
          <p:spPr>
            <a:xfrm>
              <a:off x="9357055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Ministério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Saúde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prorroga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permanência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medicos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até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fevereiro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2027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país</a:t>
              </a: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r>
                <a:rPr lang="en-US" sz="1000" b="1">
                  <a:solidFill>
                    <a:srgbClr val="1A1A1A"/>
                  </a:solidFill>
                  <a:latin typeface="Montserrat" panose="00000500000000000000" pitchFamily="2" charset="0"/>
                </a:rPr>
                <a:t>1.480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especialistas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do PMM-E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em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atividade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hoje</a:t>
              </a:r>
              <a:endParaRPr lang="en-US" sz="1000">
                <a:latin typeface="Montserrat" panose="00000500000000000000" pitchFamily="2" charset="0"/>
              </a:endParaRP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D82E7446-9BE1-4F2C-266E-1566EA602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94A8B5A7-FA62-E2B7-E019-ECF3C30DB17B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5AF0E8B-2C35-A310-48D4-8ED5207C111F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9025ACB8-234B-4A3C-375A-CB2C2C29CEFF}"/>
              </a:ext>
            </a:extLst>
          </p:cNvPr>
          <p:cNvGraphicFramePr>
            <a:graphicFrameLocks/>
          </p:cNvGraphicFramePr>
          <p:nvPr/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B5F4279C-7334-6009-05C9-F5DDA2821D8F}"/>
              </a:ext>
            </a:extLst>
          </p:cNvPr>
          <p:cNvSpPr txBox="1">
            <a:spLocks/>
          </p:cNvSpPr>
          <p:nvPr/>
        </p:nvSpPr>
        <p:spPr>
          <a:xfrm>
            <a:off x="11607384" y="6477362"/>
            <a:ext cx="50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9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D46847C4-4EBA-B9D1-035F-E401E49C07C3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</a:t>
            </a:r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CNES/DATASUS, Censo 2022 (IBGE/SIDRA 4709) e IVS 2010/IPEA. </a:t>
            </a:r>
            <a:endParaRPr lang="en-US" sz="800">
              <a:latin typeface="Montserrat"/>
            </a:endParaRPr>
          </a:p>
          <a:p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  <p:grpSp>
        <p:nvGrpSpPr>
          <p:cNvPr id="36" name="Cartão: Nome da fonte">
            <a:extLst>
              <a:ext uri="{FF2B5EF4-FFF2-40B4-BE49-F238E27FC236}">
                <a16:creationId xmlns:a16="http://schemas.microsoft.com/office/drawing/2014/main" id="{1E42B31A-1CB2-8104-E619-F733C3814546}"/>
              </a:ext>
            </a:extLst>
          </p:cNvPr>
          <p:cNvGrpSpPr/>
          <p:nvPr/>
        </p:nvGrpSpPr>
        <p:grpSpPr>
          <a:xfrm>
            <a:off x="3265322" y="914400"/>
            <a:ext cx="2715768" cy="2377440"/>
            <a:chOff x="3265322" y="914400"/>
            <a:chExt cx="2715768" cy="2377440"/>
          </a:xfrm>
        </p:grpSpPr>
        <p:sp>
          <p:nvSpPr>
            <p:cNvPr id="37" name="Papel">
              <a:extLst>
                <a:ext uri="{FF2B5EF4-FFF2-40B4-BE49-F238E27FC236}">
                  <a16:creationId xmlns:a16="http://schemas.microsoft.com/office/drawing/2014/main" id="{1A861AC1-0372-3FFC-0016-5E6E99CCAF89}"/>
                </a:ext>
              </a:extLst>
            </p:cNvPr>
            <p:cNvSpPr/>
            <p:nvPr/>
          </p:nvSpPr>
          <p:spPr>
            <a:xfrm>
              <a:off x="3265322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57232"/>
                  </a:lnTo>
                  <a:lnTo>
                    <a:pt x="2701595" y="2352568"/>
                  </a:lnTo>
                  <a:lnTo>
                    <a:pt x="2671420" y="2352568"/>
                  </a:lnTo>
                  <a:lnTo>
                    <a:pt x="2640147" y="2375703"/>
                  </a:lnTo>
                  <a:lnTo>
                    <a:pt x="2580528" y="2358695"/>
                  </a:lnTo>
                  <a:lnTo>
                    <a:pt x="2551267" y="2360249"/>
                  </a:lnTo>
                  <a:lnTo>
                    <a:pt x="2497775" y="2363907"/>
                  </a:lnTo>
                  <a:lnTo>
                    <a:pt x="2440899" y="2362627"/>
                  </a:lnTo>
                  <a:lnTo>
                    <a:pt x="2405329" y="2377440"/>
                  </a:lnTo>
                  <a:lnTo>
                    <a:pt x="2346350" y="2348636"/>
                  </a:lnTo>
                  <a:lnTo>
                    <a:pt x="2281337" y="2348362"/>
                  </a:lnTo>
                  <a:lnTo>
                    <a:pt x="2254819" y="2348088"/>
                  </a:lnTo>
                  <a:lnTo>
                    <a:pt x="2218060" y="2342418"/>
                  </a:lnTo>
                  <a:lnTo>
                    <a:pt x="2159538" y="2357140"/>
                  </a:lnTo>
                  <a:lnTo>
                    <a:pt x="2101657" y="2350191"/>
                  </a:lnTo>
                  <a:lnTo>
                    <a:pt x="2068739" y="2341413"/>
                  </a:lnTo>
                  <a:lnTo>
                    <a:pt x="2022196" y="2352843"/>
                  </a:lnTo>
                  <a:lnTo>
                    <a:pt x="1983516" y="2358055"/>
                  </a:lnTo>
                  <a:lnTo>
                    <a:pt x="1931030" y="2343882"/>
                  </a:lnTo>
                  <a:lnTo>
                    <a:pt x="1894820" y="2346899"/>
                  </a:lnTo>
                  <a:lnTo>
                    <a:pt x="1841784" y="2367839"/>
                  </a:lnTo>
                  <a:lnTo>
                    <a:pt x="1777319" y="2344247"/>
                  </a:lnTo>
                  <a:lnTo>
                    <a:pt x="1749339" y="2355769"/>
                  </a:lnTo>
                  <a:lnTo>
                    <a:pt x="1711574" y="2335469"/>
                  </a:lnTo>
                  <a:lnTo>
                    <a:pt x="1661465" y="2337938"/>
                  </a:lnTo>
                  <a:lnTo>
                    <a:pt x="1593525" y="2347082"/>
                  </a:lnTo>
                  <a:lnTo>
                    <a:pt x="1535095" y="2329708"/>
                  </a:lnTo>
                  <a:lnTo>
                    <a:pt x="1506291" y="2332817"/>
                  </a:lnTo>
                  <a:lnTo>
                    <a:pt x="1448318" y="2335835"/>
                  </a:lnTo>
                  <a:lnTo>
                    <a:pt x="1409639" y="2345710"/>
                  </a:lnTo>
                  <a:lnTo>
                    <a:pt x="1346911" y="2328885"/>
                  </a:lnTo>
                  <a:lnTo>
                    <a:pt x="1308598" y="2335652"/>
                  </a:lnTo>
                  <a:lnTo>
                    <a:pt x="1269553" y="2335103"/>
                  </a:lnTo>
                  <a:lnTo>
                    <a:pt x="1203442" y="2346808"/>
                  </a:lnTo>
                  <a:lnTo>
                    <a:pt x="1164763" y="2348362"/>
                  </a:lnTo>
                  <a:lnTo>
                    <a:pt x="1102309" y="2342236"/>
                  </a:lnTo>
                  <a:lnTo>
                    <a:pt x="1055858" y="2334738"/>
                  </a:lnTo>
                  <a:lnTo>
                    <a:pt x="988466" y="2323856"/>
                  </a:lnTo>
                  <a:lnTo>
                    <a:pt x="930402" y="2335926"/>
                  </a:lnTo>
                  <a:lnTo>
                    <a:pt x="891631" y="2338944"/>
                  </a:lnTo>
                  <a:lnTo>
                    <a:pt x="823509" y="2333366"/>
                  </a:lnTo>
                  <a:lnTo>
                    <a:pt x="790042" y="2326325"/>
                  </a:lnTo>
                  <a:lnTo>
                    <a:pt x="750997" y="2328245"/>
                  </a:lnTo>
                  <a:lnTo>
                    <a:pt x="707106" y="2327514"/>
                  </a:lnTo>
                  <a:lnTo>
                    <a:pt x="646115" y="2328794"/>
                  </a:lnTo>
                  <a:lnTo>
                    <a:pt x="579272" y="2323856"/>
                  </a:lnTo>
                  <a:lnTo>
                    <a:pt x="538764" y="2328428"/>
                  </a:lnTo>
                  <a:lnTo>
                    <a:pt x="488381" y="2355677"/>
                  </a:lnTo>
                  <a:lnTo>
                    <a:pt x="419984" y="2339218"/>
                  </a:lnTo>
                  <a:lnTo>
                    <a:pt x="390906" y="2329251"/>
                  </a:lnTo>
                  <a:lnTo>
                    <a:pt x="359908" y="2334189"/>
                  </a:lnTo>
                  <a:lnTo>
                    <a:pt x="331379" y="2332634"/>
                  </a:lnTo>
                  <a:lnTo>
                    <a:pt x="297454" y="2345893"/>
                  </a:lnTo>
                  <a:lnTo>
                    <a:pt x="237378" y="2355860"/>
                  </a:lnTo>
                  <a:lnTo>
                    <a:pt x="176662" y="2343333"/>
                  </a:lnTo>
                  <a:lnTo>
                    <a:pt x="108905" y="2350008"/>
                  </a:lnTo>
                  <a:lnTo>
                    <a:pt x="65654" y="2345985"/>
                  </a:lnTo>
                  <a:lnTo>
                    <a:pt x="41971" y="2341321"/>
                  </a:lnTo>
                  <a:lnTo>
                    <a:pt x="0" y="2357506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120D053F-C9F2-A7F0-39BD-A71839651A75}"/>
                </a:ext>
              </a:extLst>
            </p:cNvPr>
            <p:cNvSpPr txBox="1"/>
            <p:nvPr/>
          </p:nvSpPr>
          <p:spPr>
            <a:xfrm>
              <a:off x="3466490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40" name="Fio">
              <a:extLst>
                <a:ext uri="{FF2B5EF4-FFF2-40B4-BE49-F238E27FC236}">
                  <a16:creationId xmlns:a16="http://schemas.microsoft.com/office/drawing/2014/main" id="{3B308198-98F5-F360-1EC5-01593B130850}"/>
                </a:ext>
              </a:extLst>
            </p:cNvPr>
            <p:cNvSpPr/>
            <p:nvPr/>
          </p:nvSpPr>
          <p:spPr>
            <a:xfrm>
              <a:off x="3466490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1" name="Manchete">
              <a:extLst>
                <a:ext uri="{FF2B5EF4-FFF2-40B4-BE49-F238E27FC236}">
                  <a16:creationId xmlns:a16="http://schemas.microsoft.com/office/drawing/2014/main" id="{E02B77DF-E205-0D9C-9B31-C92BC05A63AC}"/>
                </a:ext>
              </a:extLst>
            </p:cNvPr>
            <p:cNvSpPr txBox="1"/>
            <p:nvPr/>
          </p:nvSpPr>
          <p:spPr>
            <a:xfrm>
              <a:off x="3466490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Paraíba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70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28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42" name="Cartão: Nome da fonte">
            <a:extLst>
              <a:ext uri="{FF2B5EF4-FFF2-40B4-BE49-F238E27FC236}">
                <a16:creationId xmlns:a16="http://schemas.microsoft.com/office/drawing/2014/main" id="{6530104B-91B2-AC23-6FBF-0A5E01DED837}"/>
              </a:ext>
            </a:extLst>
          </p:cNvPr>
          <p:cNvGrpSpPr/>
          <p:nvPr/>
        </p:nvGrpSpPr>
        <p:grpSpPr>
          <a:xfrm>
            <a:off x="6210605" y="914400"/>
            <a:ext cx="2715768" cy="2377440"/>
            <a:chOff x="6210605" y="914400"/>
            <a:chExt cx="2715768" cy="2377440"/>
          </a:xfrm>
        </p:grpSpPr>
        <p:sp>
          <p:nvSpPr>
            <p:cNvPr id="43" name="Papel">
              <a:extLst>
                <a:ext uri="{FF2B5EF4-FFF2-40B4-BE49-F238E27FC236}">
                  <a16:creationId xmlns:a16="http://schemas.microsoft.com/office/drawing/2014/main" id="{72EF90A0-DB26-3C8F-FC54-F93044004EC5}"/>
                </a:ext>
              </a:extLst>
            </p:cNvPr>
            <p:cNvSpPr/>
            <p:nvPr/>
          </p:nvSpPr>
          <p:spPr>
            <a:xfrm>
              <a:off x="6210605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77440"/>
                  </a:lnTo>
                  <a:lnTo>
                    <a:pt x="2700680" y="2376434"/>
                  </a:lnTo>
                  <a:lnTo>
                    <a:pt x="2640604" y="2373600"/>
                  </a:lnTo>
                  <a:lnTo>
                    <a:pt x="2611984" y="2366559"/>
                  </a:lnTo>
                  <a:lnTo>
                    <a:pt x="2565989" y="2360615"/>
                  </a:lnTo>
                  <a:lnTo>
                    <a:pt x="2535174" y="2353483"/>
                  </a:lnTo>
                  <a:lnTo>
                    <a:pt x="2478573" y="2367564"/>
                  </a:lnTo>
                  <a:lnTo>
                    <a:pt x="2419411" y="2367199"/>
                  </a:lnTo>
                  <a:lnTo>
                    <a:pt x="2392893" y="2361895"/>
                  </a:lnTo>
                  <a:lnTo>
                    <a:pt x="2360249" y="2367016"/>
                  </a:lnTo>
                  <a:lnTo>
                    <a:pt x="2335286" y="2367016"/>
                  </a:lnTo>
                  <a:lnTo>
                    <a:pt x="2304928" y="2367107"/>
                  </a:lnTo>
                  <a:lnTo>
                    <a:pt x="2251161" y="2359884"/>
                  </a:lnTo>
                  <a:lnTo>
                    <a:pt x="2208550" y="2360249"/>
                  </a:lnTo>
                  <a:lnTo>
                    <a:pt x="2163745" y="2359335"/>
                  </a:lnTo>
                  <a:lnTo>
                    <a:pt x="2102754" y="2368662"/>
                  </a:lnTo>
                  <a:lnTo>
                    <a:pt x="2065904" y="2349917"/>
                  </a:lnTo>
                  <a:lnTo>
                    <a:pt x="2000159" y="2353391"/>
                  </a:lnTo>
                  <a:lnTo>
                    <a:pt x="1957090" y="2354397"/>
                  </a:lnTo>
                  <a:lnTo>
                    <a:pt x="1895003" y="2362992"/>
                  </a:lnTo>
                  <a:lnTo>
                    <a:pt x="1865376" y="2344522"/>
                  </a:lnTo>
                  <a:lnTo>
                    <a:pt x="1807769" y="2334372"/>
                  </a:lnTo>
                  <a:lnTo>
                    <a:pt x="1769730" y="2334920"/>
                  </a:lnTo>
                  <a:lnTo>
                    <a:pt x="1702247" y="2342418"/>
                  </a:lnTo>
                  <a:lnTo>
                    <a:pt x="1672255" y="2347631"/>
                  </a:lnTo>
                  <a:lnTo>
                    <a:pt x="1613550" y="2340773"/>
                  </a:lnTo>
                  <a:lnTo>
                    <a:pt x="1554571" y="2337664"/>
                  </a:lnTo>
                  <a:lnTo>
                    <a:pt x="1508394" y="2339310"/>
                  </a:lnTo>
                  <a:lnTo>
                    <a:pt x="1482608" y="2343516"/>
                  </a:lnTo>
                  <a:lnTo>
                    <a:pt x="1436888" y="2340864"/>
                  </a:lnTo>
                  <a:lnTo>
                    <a:pt x="1391717" y="2335103"/>
                  </a:lnTo>
                  <a:lnTo>
                    <a:pt x="1359164" y="2341230"/>
                  </a:lnTo>
                  <a:lnTo>
                    <a:pt x="1306495" y="2348362"/>
                  </a:lnTo>
                  <a:lnTo>
                    <a:pt x="1262604" y="2333457"/>
                  </a:lnTo>
                  <a:lnTo>
                    <a:pt x="1231331" y="2350191"/>
                  </a:lnTo>
                  <a:lnTo>
                    <a:pt x="1187074" y="2353940"/>
                  </a:lnTo>
                  <a:lnTo>
                    <a:pt x="1119043" y="2354489"/>
                  </a:lnTo>
                  <a:lnTo>
                    <a:pt x="1066190" y="2371405"/>
                  </a:lnTo>
                  <a:lnTo>
                    <a:pt x="1028151" y="2371862"/>
                  </a:lnTo>
                  <a:lnTo>
                    <a:pt x="993496" y="2359609"/>
                  </a:lnTo>
                  <a:lnTo>
                    <a:pt x="940643" y="2367016"/>
                  </a:lnTo>
                  <a:lnTo>
                    <a:pt x="909371" y="2349368"/>
                  </a:lnTo>
                  <a:lnTo>
                    <a:pt x="880567" y="2354489"/>
                  </a:lnTo>
                  <a:lnTo>
                    <a:pt x="819760" y="2364547"/>
                  </a:lnTo>
                  <a:lnTo>
                    <a:pt x="755752" y="2342693"/>
                  </a:lnTo>
                  <a:lnTo>
                    <a:pt x="725211" y="2353391"/>
                  </a:lnTo>
                  <a:lnTo>
                    <a:pt x="664952" y="2347265"/>
                  </a:lnTo>
                  <a:lnTo>
                    <a:pt x="618592" y="2344887"/>
                  </a:lnTo>
                  <a:lnTo>
                    <a:pt x="593628" y="2346259"/>
                  </a:lnTo>
                  <a:lnTo>
                    <a:pt x="559887" y="2341961"/>
                  </a:lnTo>
                  <a:lnTo>
                    <a:pt x="499902" y="2342510"/>
                  </a:lnTo>
                  <a:lnTo>
                    <a:pt x="472745" y="2323033"/>
                  </a:lnTo>
                  <a:lnTo>
                    <a:pt x="437083" y="2322942"/>
                  </a:lnTo>
                  <a:lnTo>
                    <a:pt x="405079" y="2317913"/>
                  </a:lnTo>
                  <a:lnTo>
                    <a:pt x="350947" y="2320290"/>
                  </a:lnTo>
                  <a:lnTo>
                    <a:pt x="290413" y="2313706"/>
                  </a:lnTo>
                  <a:lnTo>
                    <a:pt x="250180" y="2315444"/>
                  </a:lnTo>
                  <a:lnTo>
                    <a:pt x="190378" y="2322942"/>
                  </a:lnTo>
                  <a:lnTo>
                    <a:pt x="147676" y="2331263"/>
                  </a:lnTo>
                  <a:lnTo>
                    <a:pt x="85405" y="2331171"/>
                  </a:lnTo>
                  <a:lnTo>
                    <a:pt x="61813" y="2339492"/>
                  </a:lnTo>
                  <a:lnTo>
                    <a:pt x="0" y="233290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45" name="Data">
              <a:extLst>
                <a:ext uri="{FF2B5EF4-FFF2-40B4-BE49-F238E27FC236}">
                  <a16:creationId xmlns:a16="http://schemas.microsoft.com/office/drawing/2014/main" id="{02E7AA20-76EA-CC81-07C7-E99A2944511A}"/>
                </a:ext>
              </a:extLst>
            </p:cNvPr>
            <p:cNvSpPr txBox="1"/>
            <p:nvPr/>
          </p:nvSpPr>
          <p:spPr>
            <a:xfrm>
              <a:off x="6411773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10/09/2025</a:t>
              </a:r>
              <a:endParaRPr lang="en-US" sz="1000"/>
            </a:p>
          </p:txBody>
        </p:sp>
        <p:sp>
          <p:nvSpPr>
            <p:cNvPr id="46" name="Fio">
              <a:extLst>
                <a:ext uri="{FF2B5EF4-FFF2-40B4-BE49-F238E27FC236}">
                  <a16:creationId xmlns:a16="http://schemas.microsoft.com/office/drawing/2014/main" id="{9C8077D1-DC4D-1B02-5751-ED96DAB73534}"/>
                </a:ext>
              </a:extLst>
            </p:cNvPr>
            <p:cNvSpPr/>
            <p:nvPr/>
          </p:nvSpPr>
          <p:spPr>
            <a:xfrm>
              <a:off x="6411773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7" name="Manchete">
              <a:extLst>
                <a:ext uri="{FF2B5EF4-FFF2-40B4-BE49-F238E27FC236}">
                  <a16:creationId xmlns:a16="http://schemas.microsoft.com/office/drawing/2014/main" id="{2468BC41-578E-C058-7725-01EACCC8FCD0}"/>
                </a:ext>
              </a:extLst>
            </p:cNvPr>
            <p:cNvSpPr txBox="1"/>
            <p:nvPr/>
          </p:nvSpPr>
          <p:spPr>
            <a:xfrm>
              <a:off x="6411773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Mais de 320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R$ 2,5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bilhões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vão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fortalecer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SUS</a:t>
              </a:r>
            </a:p>
            <a:p>
              <a:pPr marL="0" indent="0">
                <a:buNone/>
              </a:pPr>
              <a:endParaRPr lang="en-US" sz="1000">
                <a:solidFill>
                  <a:srgbClr val="1A1A1A"/>
                </a:solidFill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Do total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profissionais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, 72%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serão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destinados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a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áreas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ou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muito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vulnerabilidade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0" indent="0">
                <a:buNone/>
              </a:pPr>
              <a:endParaRPr lang="en-US" sz="1400"/>
            </a:p>
          </p:txBody>
        </p:sp>
      </p:grpSp>
      <p:grpSp>
        <p:nvGrpSpPr>
          <p:cNvPr id="30" name="Cartão: Nome da fonte">
            <a:extLst>
              <a:ext uri="{FF2B5EF4-FFF2-40B4-BE49-F238E27FC236}">
                <a16:creationId xmlns:a16="http://schemas.microsoft.com/office/drawing/2014/main" id="{6D200474-0667-12C3-8B57-7645580AE3A9}"/>
              </a:ext>
            </a:extLst>
          </p:cNvPr>
          <p:cNvGrpSpPr/>
          <p:nvPr/>
        </p:nvGrpSpPr>
        <p:grpSpPr>
          <a:xfrm>
            <a:off x="320040" y="914400"/>
            <a:ext cx="2715768" cy="2377440"/>
            <a:chOff x="320040" y="914400"/>
            <a:chExt cx="2715768" cy="2377440"/>
          </a:xfrm>
        </p:grpSpPr>
        <p:sp>
          <p:nvSpPr>
            <p:cNvPr id="31" name="Papel">
              <a:extLst>
                <a:ext uri="{FF2B5EF4-FFF2-40B4-BE49-F238E27FC236}">
                  <a16:creationId xmlns:a16="http://schemas.microsoft.com/office/drawing/2014/main" id="{985CF943-DFC0-7BAB-8954-CC9CCC2BD32E}"/>
                </a:ext>
              </a:extLst>
            </p:cNvPr>
            <p:cNvSpPr/>
            <p:nvPr/>
          </p:nvSpPr>
          <p:spPr>
            <a:xfrm>
              <a:off x="320040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28611"/>
                  </a:lnTo>
                  <a:lnTo>
                    <a:pt x="2684861" y="2331903"/>
                  </a:lnTo>
                  <a:lnTo>
                    <a:pt x="2649657" y="2331629"/>
                  </a:lnTo>
                  <a:lnTo>
                    <a:pt x="2615916" y="2339950"/>
                  </a:lnTo>
                  <a:lnTo>
                    <a:pt x="2556754" y="2326874"/>
                  </a:lnTo>
                  <a:lnTo>
                    <a:pt x="2494392" y="2330348"/>
                  </a:lnTo>
                  <a:lnTo>
                    <a:pt x="2448397" y="2330166"/>
                  </a:lnTo>
                  <a:lnTo>
                    <a:pt x="2411913" y="2324496"/>
                  </a:lnTo>
                  <a:lnTo>
                    <a:pt x="2350282" y="2324862"/>
                  </a:lnTo>
                  <a:lnTo>
                    <a:pt x="2306940" y="2328245"/>
                  </a:lnTo>
                  <a:lnTo>
                    <a:pt x="2242932" y="2313341"/>
                  </a:lnTo>
                  <a:lnTo>
                    <a:pt x="2218060" y="2315352"/>
                  </a:lnTo>
                  <a:lnTo>
                    <a:pt x="2178924" y="2317730"/>
                  </a:lnTo>
                  <a:lnTo>
                    <a:pt x="2130735" y="2326874"/>
                  </a:lnTo>
                  <a:lnTo>
                    <a:pt x="2078980" y="2324862"/>
                  </a:lnTo>
                  <a:lnTo>
                    <a:pt x="2012320" y="2341504"/>
                  </a:lnTo>
                  <a:lnTo>
                    <a:pt x="1956907" y="2343607"/>
                  </a:lnTo>
                  <a:lnTo>
                    <a:pt x="1891985" y="2338944"/>
                  </a:lnTo>
                  <a:lnTo>
                    <a:pt x="1829074" y="2318187"/>
                  </a:lnTo>
                  <a:lnTo>
                    <a:pt x="1803745" y="2336292"/>
                  </a:lnTo>
                  <a:lnTo>
                    <a:pt x="1739463" y="2313889"/>
                  </a:lnTo>
                  <a:lnTo>
                    <a:pt x="1704990" y="2311146"/>
                  </a:lnTo>
                  <a:lnTo>
                    <a:pt x="1677741" y="2324313"/>
                  </a:lnTo>
                  <a:lnTo>
                    <a:pt x="1635679" y="2314438"/>
                  </a:lnTo>
                  <a:lnTo>
                    <a:pt x="1601023" y="2326234"/>
                  </a:lnTo>
                  <a:lnTo>
                    <a:pt x="1541038" y="2320199"/>
                  </a:lnTo>
                  <a:lnTo>
                    <a:pt x="1473647" y="2314072"/>
                  </a:lnTo>
                  <a:lnTo>
                    <a:pt x="1417046" y="2293772"/>
                  </a:lnTo>
                  <a:lnTo>
                    <a:pt x="1352946" y="2307580"/>
                  </a:lnTo>
                  <a:lnTo>
                    <a:pt x="1320576" y="2318644"/>
                  </a:lnTo>
                  <a:lnTo>
                    <a:pt x="1295065" y="2319467"/>
                  </a:lnTo>
                  <a:lnTo>
                    <a:pt x="1258214" y="2302642"/>
                  </a:lnTo>
                  <a:lnTo>
                    <a:pt x="1189726" y="2309043"/>
                  </a:lnTo>
                  <a:lnTo>
                    <a:pt x="1134405" y="2310049"/>
                  </a:lnTo>
                  <a:lnTo>
                    <a:pt x="1067379" y="2307123"/>
                  </a:lnTo>
                  <a:lnTo>
                    <a:pt x="1028243" y="2305660"/>
                  </a:lnTo>
                  <a:lnTo>
                    <a:pt x="970636" y="2294595"/>
                  </a:lnTo>
                  <a:lnTo>
                    <a:pt x="947410" y="2307580"/>
                  </a:lnTo>
                  <a:lnTo>
                    <a:pt x="888888" y="2310232"/>
                  </a:lnTo>
                  <a:lnTo>
                    <a:pt x="840425" y="2335195"/>
                  </a:lnTo>
                  <a:lnTo>
                    <a:pt x="803666" y="2341870"/>
                  </a:lnTo>
                  <a:lnTo>
                    <a:pt x="749076" y="2334738"/>
                  </a:lnTo>
                  <a:lnTo>
                    <a:pt x="714878" y="2345436"/>
                  </a:lnTo>
                  <a:lnTo>
                    <a:pt x="652607" y="2354763"/>
                  </a:lnTo>
                  <a:lnTo>
                    <a:pt x="599846" y="2343150"/>
                  </a:lnTo>
                  <a:lnTo>
                    <a:pt x="542331" y="2332909"/>
                  </a:lnTo>
                  <a:lnTo>
                    <a:pt x="504474" y="2327331"/>
                  </a:lnTo>
                  <a:lnTo>
                    <a:pt x="439369" y="2341870"/>
                  </a:lnTo>
                  <a:lnTo>
                    <a:pt x="405902" y="2331629"/>
                  </a:lnTo>
                  <a:lnTo>
                    <a:pt x="374355" y="2333092"/>
                  </a:lnTo>
                  <a:lnTo>
                    <a:pt x="315834" y="2324130"/>
                  </a:lnTo>
                  <a:lnTo>
                    <a:pt x="259690" y="2335743"/>
                  </a:lnTo>
                  <a:lnTo>
                    <a:pt x="214518" y="2349276"/>
                  </a:lnTo>
                  <a:lnTo>
                    <a:pt x="165049" y="2354489"/>
                  </a:lnTo>
                  <a:lnTo>
                    <a:pt x="99212" y="2369028"/>
                  </a:lnTo>
                  <a:lnTo>
                    <a:pt x="74249" y="2356226"/>
                  </a:lnTo>
                  <a:lnTo>
                    <a:pt x="31547" y="2377440"/>
                  </a:lnTo>
                  <a:lnTo>
                    <a:pt x="0" y="236911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Data">
              <a:extLst>
                <a:ext uri="{FF2B5EF4-FFF2-40B4-BE49-F238E27FC236}">
                  <a16:creationId xmlns:a16="http://schemas.microsoft.com/office/drawing/2014/main" id="{31547EE4-F9D8-1677-8BE1-FC9FDADDE688}"/>
                </a:ext>
              </a:extLst>
            </p:cNvPr>
            <p:cNvSpPr txBox="1"/>
            <p:nvPr/>
          </p:nvSpPr>
          <p:spPr>
            <a:xfrm>
              <a:off x="521208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34" name="Fio">
              <a:extLst>
                <a:ext uri="{FF2B5EF4-FFF2-40B4-BE49-F238E27FC236}">
                  <a16:creationId xmlns:a16="http://schemas.microsoft.com/office/drawing/2014/main" id="{28AE31BF-BBEE-06D3-1F12-971564BADC6B}"/>
                </a:ext>
              </a:extLst>
            </p:cNvPr>
            <p:cNvSpPr/>
            <p:nvPr/>
          </p:nvSpPr>
          <p:spPr>
            <a:xfrm>
              <a:off x="521208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Manchete">
              <a:extLst>
                <a:ext uri="{FF2B5EF4-FFF2-40B4-BE49-F238E27FC236}">
                  <a16:creationId xmlns:a16="http://schemas.microsoft.com/office/drawing/2014/main" id="{988A1C0C-12E9-96DE-E922-2E5CAE0BE8F6}"/>
                </a:ext>
              </a:extLst>
            </p:cNvPr>
            <p:cNvSpPr txBox="1"/>
            <p:nvPr/>
          </p:nvSpPr>
          <p:spPr>
            <a:xfrm>
              <a:off x="521208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Pernambuco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40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86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71E14D00-8ED0-D172-3B92-78CAA061A3C8}"/>
              </a:ext>
            </a:extLst>
          </p:cNvPr>
          <p:cNvGrpSpPr/>
          <p:nvPr/>
        </p:nvGrpSpPr>
        <p:grpSpPr>
          <a:xfrm>
            <a:off x="521208" y="2645693"/>
            <a:ext cx="2324583" cy="457200"/>
            <a:chOff x="4468216" y="2542032"/>
            <a:chExt cx="2324583" cy="457200"/>
          </a:xfrm>
        </p:grpSpPr>
        <p:sp>
          <p:nvSpPr>
            <p:cNvPr id="55" name="Caixa do destaque">
              <a:extLst>
                <a:ext uri="{FF2B5EF4-FFF2-40B4-BE49-F238E27FC236}">
                  <a16:creationId xmlns:a16="http://schemas.microsoft.com/office/drawing/2014/main" id="{04008C4B-587C-788F-1A36-C3CD3B1425E2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Número">
              <a:extLst>
                <a:ext uri="{FF2B5EF4-FFF2-40B4-BE49-F238E27FC236}">
                  <a16:creationId xmlns:a16="http://schemas.microsoft.com/office/drawing/2014/main" id="{0E215C58-77FC-3417-E8AC-82563D5281AA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+86</a:t>
              </a:r>
              <a:endParaRPr lang="en-US" sz="2000"/>
            </a:p>
          </p:txBody>
        </p:sp>
        <p:sp>
          <p:nvSpPr>
            <p:cNvPr id="57" name="Legenda">
              <a:extLst>
                <a:ext uri="{FF2B5EF4-FFF2-40B4-BE49-F238E27FC236}">
                  <a16:creationId xmlns:a16="http://schemas.microsoft.com/office/drawing/2014/main" id="{7BDB467E-0B8A-DDDB-64A9-7767E0B921DD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novos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especialistas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do PMM-E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chegando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a Pernambuco</a:t>
              </a:r>
              <a:endParaRPr lang="en-US" sz="1000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647FC88E-EE3A-C38A-B641-DE1DC5AECB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199" y="1058697"/>
            <a:ext cx="1728000" cy="21022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3122722E-8251-84B3-4C56-5DFE6B832A81}"/>
              </a:ext>
            </a:extLst>
          </p:cNvPr>
          <p:cNvGrpSpPr/>
          <p:nvPr/>
        </p:nvGrpSpPr>
        <p:grpSpPr>
          <a:xfrm>
            <a:off x="3460915" y="2645693"/>
            <a:ext cx="2324583" cy="457200"/>
            <a:chOff x="4468216" y="2542032"/>
            <a:chExt cx="2324583" cy="457200"/>
          </a:xfrm>
        </p:grpSpPr>
        <p:sp>
          <p:nvSpPr>
            <p:cNvPr id="18" name="Caixa do destaque">
              <a:extLst>
                <a:ext uri="{FF2B5EF4-FFF2-40B4-BE49-F238E27FC236}">
                  <a16:creationId xmlns:a16="http://schemas.microsoft.com/office/drawing/2014/main" id="{DB06A845-9420-CA66-2C02-95E37D18CB50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Número">
              <a:extLst>
                <a:ext uri="{FF2B5EF4-FFF2-40B4-BE49-F238E27FC236}">
                  <a16:creationId xmlns:a16="http://schemas.microsoft.com/office/drawing/2014/main" id="{7A6F10EF-777F-7CC1-1B3D-E10988795506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6</a:t>
              </a:r>
              <a:endParaRPr lang="en-US" sz="2000"/>
            </a:p>
          </p:txBody>
        </p:sp>
        <p:sp>
          <p:nvSpPr>
            <p:cNvPr id="20" name="Legenda">
              <a:extLst>
                <a:ext uri="{FF2B5EF4-FFF2-40B4-BE49-F238E27FC236}">
                  <a16:creationId xmlns:a16="http://schemas.microsoft.com/office/drawing/2014/main" id="{CE7A6EBF-3213-F893-E5E0-90FB9099C0CD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Municípios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paraibanos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reforçados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pelo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PMM-E</a:t>
              </a:r>
              <a:endParaRPr lang="en-US" sz="10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A8A3F9C9-F4CF-B9A4-47A6-17155851D8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5089" y="1027348"/>
            <a:ext cx="963692" cy="2880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54EDDD35-4446-ADD7-134F-36A8A55DE5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0249" y="1022120"/>
            <a:ext cx="1646630" cy="2880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D4167E72-05CA-E765-2E27-36BCF6C023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0635" y="979301"/>
            <a:ext cx="701524" cy="324000"/>
          </a:xfrm>
          <a:prstGeom prst="rect">
            <a:avLst/>
          </a:prstGeom>
        </p:spPr>
      </p:pic>
      <p:sp>
        <p:nvSpPr>
          <p:cNvPr id="7" name="CaixaDeTexto 4">
            <a:extLst>
              <a:ext uri="{FF2B5EF4-FFF2-40B4-BE49-F238E27FC236}">
                <a16:creationId xmlns:a16="http://schemas.microsoft.com/office/drawing/2014/main" id="{B764BE39-0A5F-859D-5625-3B8D56E3A58F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4900" name="Nota da correção"/>
          <p:cNvSpPr/>
          <p:nvPr/>
        </p:nvSpPr>
        <p:spPr>
          <a:xfrm>
            <a:off x="6227064" y="3657600"/>
            <a:ext cx="5596128" cy="205740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II. Crescimento por faixa: gráfico retirado desta versão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40748893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06D55F-4FEC-FF81-6278-6A72EC2AE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40858FDC-1996-FAB9-71DD-3E2D9B4818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6062635"/>
              </p:ext>
            </p:extLst>
          </p:nvPr>
        </p:nvGraphicFramePr>
        <p:xfrm>
          <a:off x="6566213" y="4151995"/>
          <a:ext cx="5476588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CaixaDeTexto 4">
            <a:extLst>
              <a:ext uri="{FF2B5EF4-FFF2-40B4-BE49-F238E27FC236}">
                <a16:creationId xmlns:a16="http://schemas.microsoft.com/office/drawing/2014/main" id="{7F7E5E38-489A-3C3F-19E4-F30775E077E0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3FB15EE-A3C3-C7F5-678C-F87839B9A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B6829F3D-BB77-6410-A97B-86766EB9AD43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3E8F9CB5-1F1D-8B17-21BB-CD3E679F020B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C7374A64-1024-2AB1-887E-61A9A7A660E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94022831"/>
              </p:ext>
            </p:extLst>
          </p:nvPr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0" name="Imagem 9">
            <a:extLst>
              <a:ext uri="{FF2B5EF4-FFF2-40B4-BE49-F238E27FC236}">
                <a16:creationId xmlns:a16="http://schemas.microsoft.com/office/drawing/2014/main" id="{FD084145-B155-5489-A4DF-AB7B03F21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00" y="1032918"/>
            <a:ext cx="5864541" cy="2249759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5341127-E4C4-42FC-2A9B-BE2373E146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9956" y="960790"/>
            <a:ext cx="5616154" cy="2406923"/>
          </a:xfrm>
          <a:prstGeom prst="rect">
            <a:avLst/>
          </a:prstGeom>
        </p:spPr>
      </p:pic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94DEB549-9409-52FA-7D37-FC6267DDFDE1}"/>
              </a:ext>
            </a:extLst>
          </p:cNvPr>
          <p:cNvSpPr txBox="1">
            <a:spLocks/>
          </p:cNvSpPr>
          <p:nvPr/>
        </p:nvSpPr>
        <p:spPr>
          <a:xfrm>
            <a:off x="11607384" y="6477362"/>
            <a:ext cx="50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10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EE425FF-7D03-0326-8480-EECD72F3C583}"/>
              </a:ext>
            </a:extLst>
          </p:cNvPr>
          <p:cNvSpPr txBox="1">
            <a:spLocks/>
          </p:cNvSpPr>
          <p:nvPr/>
        </p:nvSpPr>
        <p:spPr>
          <a:xfrm>
            <a:off x="6566213" y="3633311"/>
            <a:ext cx="6405635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II. Mecanismo de atração: incentivos baseado no IVS</a:t>
            </a:r>
            <a:endParaRPr lang="pt-BR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DA84177C-F6D5-5A32-1872-F4096FA10CFF}"/>
              </a:ext>
            </a:extLst>
          </p:cNvPr>
          <p:cNvSpPr txBox="1">
            <a:spLocks/>
          </p:cNvSpPr>
          <p:nvPr/>
        </p:nvSpPr>
        <p:spPr>
          <a:xfrm>
            <a:off x="6566213" y="3918604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Valor mensal da bolsa-formação por faixa de atração/vulnerabilidade</a:t>
            </a: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731D98BD-375F-A40E-CCC8-BFD0A8B29398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Edital SGTES/MS nº 3/2025, itens 11.1.3 e 11.1.4;.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2488869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3F0DF1-831B-C8EE-9529-7A1584C93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b="1" lang="pt-BR">
                <a:solidFill>
                  <a:srgbClr val="FFFFFF"/>
                </a:solidFill>
                <a:latin typeface="Montserrat"/>
              </a:rPr>
              <a:t>Descritivo: antes × depois por faixa, sem comparação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CA30358-BB27-4E8D-0F68-70016BFACC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83" b="48196"/>
          <a:stretch/>
        </p:blipFill>
        <p:spPr>
          <a:xfrm>
            <a:off x="7564713" y="4447408"/>
            <a:ext cx="4454503" cy="1924919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BDAF4802-C5E5-54A9-BE62-F9F025B707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468"/>
          <a:stretch/>
        </p:blipFill>
        <p:spPr>
          <a:xfrm>
            <a:off x="7787562" y="1344528"/>
            <a:ext cx="4008803" cy="3166281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732AE37C-2EEA-B1C7-D0D5-8524C136F308}"/>
              </a:ext>
            </a:extLst>
          </p:cNvPr>
          <p:cNvSpPr txBox="1">
            <a:spLocks/>
          </p:cNvSpPr>
          <p:nvPr/>
        </p:nvSpPr>
        <p:spPr>
          <a:xfrm>
            <a:off x="157360" y="749288"/>
            <a:ext cx="9088240" cy="2608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>
                <a:latin typeface="Montserrat"/>
              </a:rPr>
              <a:t>I. Gráfico retirado: faixa pela grade do FAQ e sem proveniência em output/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6F88A37-4E8E-7151-BF2C-4146665C6757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>
                <a:latin typeface="Montserrat"/>
              </a:rPr>
              <a:t>Comparação entre período 9 meses antes 9 meses após</a:t>
            </a:r>
            <a:endParaRPr lang="pt-BR" sz="100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E77606-26DA-0203-CF64-39E63932F07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11</a:t>
            </a:fld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04741E8A-407A-1CBD-17DF-4C49C0C46DFC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11" name="Text 47">
            <a:extLst>
              <a:ext uri="{FF2B5EF4-FFF2-40B4-BE49-F238E27FC236}">
                <a16:creationId xmlns:a16="http://schemas.microsoft.com/office/drawing/2014/main" id="{6DC6E710-8D0C-AF3E-B8D1-1B55D5636C6C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Fontes:  CNES/DATASUS, Censo 2022 (IBGE/SIDRA 4709) e IVS 2010/IPEA. </a:t>
            </a:r>
            <a:endParaRPr lang="en-US" sz="800">
              <a:latin typeface="Montserrat"/>
            </a:endParaRPr>
          </a:p>
        </p:txBody>
      </p:sp>
      <p:sp>
        <p:nvSpPr>
          <p:cNvPr id="4900" name="Nota da correção"/>
          <p:cNvSpPr/>
          <p:nvPr/>
        </p:nvSpPr>
        <p:spPr>
          <a:xfrm>
            <a:off x="274320" y="1325880"/>
            <a:ext cx="6400800" cy="146304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Por que saiu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desta página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8011497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4D012-7659-7489-DA9F-110DCE272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FEFCB6-3BDB-3F3A-52F6-E0BE862DA24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15832B-0B98-376F-92C6-911D1B1FC77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EC8E5-698A-D29E-5B5E-DCB48F64125A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6972B72-FAEA-EC83-278E-B521D1D93BE6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12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F4D109-C341-8D84-1052-34636E890D0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012AA0F-CDBE-05B5-D27E-86EA62F1577E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AB1BDE-128E-E7A6-7A2F-E9C426F2BEB4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8A477-810A-6E19-A78E-7FCE24CFCD73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0B9C2E-BCC4-C53F-64AC-BFB8299BF8D9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534CC1E3-7213-3CAF-725E-F67493D47A1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3259AC9-DF63-F9CE-833D-C67998CCB97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AE3F1DC-162A-948B-A11C-B57494E060A3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25A36EC0-7B60-F0D3-F2A5-DCD419C6139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D77BF4-3D41-FF76-7772-68D4B9E73726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C63B55D-601E-0AAB-2B9C-D0D638E3B559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FD64143-6721-F86C-8367-8CD7F6F5F792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40F3AAC-A866-E009-577C-C6D6B645E055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2DD48424-FD93-0C35-3B11-B40188C21E2B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B3AD498-A5C4-0B39-B77A-61201091D7A0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0AFA9A5F-ECD7-4382-EE14-BE7D44199CEE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81481193-925B-3C0D-5DC0-D9B0085D54EF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8C1FF3D2-42EE-DF21-134B-4E298B3F91BC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07B615D8-9E01-B849-1A77-F31525F5FC6A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2A155470-B86E-F79D-ACA2-F876BBDC992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E4159FB-F468-72BE-53DF-6C9F15E1825F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01974F6E-1127-5D6F-25E0-39FF0EDED227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DC9D9E49-6145-A679-23BA-89026397284B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07045515-6DDA-6D95-C05D-E9CED9A96118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437B365A-9846-D811-4ABE-C2A90E77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FEEF3A02-DEB6-F67B-480B-1D9B849DD91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2AB4EA-B3A6-011E-F415-E20E943C356C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1894F860-BB03-5EF1-41BF-825DC712D955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2ADA838-91B0-DC76-8FD4-72DB99C8AD78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045C443F-5D4A-9337-6DB3-6BE1EEDC282E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EB840ED2-D5CD-381A-7CA9-88EABECD721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E3912378-413D-036C-4158-023681AB226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AEFC624-EEA7-1F9A-4453-17E446F7A3B0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63C955EF-0B10-3974-CEB6-D73B6551266C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E9C4F819-9213-E27E-CF9A-68CC2AB07F0B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BACEF252-8203-3E44-874D-F0C81D325393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833446F6-24F2-23C0-ED94-AC57940F0EE7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8C3E7394-2AC2-B1AD-4E26-E74283A5E7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386FA0A-2109-18DF-4447-919924510D1C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C62BDFCF-1DDB-88BA-C67F-A2CFFD71DA1B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8746E9FA-1098-56CE-EA60-EF4F97815E77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50EB4880-439C-E8D3-50FD-6D62E32D46F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6362B5E2-E7E2-8E44-D1D5-505CB0D63CC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4D204551-4652-F673-5D64-ABCB2F3D76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0375C55-2323-269B-20D8-1569A779AD97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E58979B0-FD5D-7BF5-78E5-D298982763A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5E05B450-85D4-D01B-7FEB-FAA934F42F2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D4A67EFD-F511-577D-89B3-88D897375C5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8074DD82-E32F-659E-58F2-F396DF2E8A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E4444255-FC8B-3FD5-033D-7A60AF60D1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40C0CD87-9BFF-E37A-6A48-CB0D8BC0EECF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43415081-C5D6-573F-29D6-F2637F531D5B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53DE992B-F85E-9D34-80E1-E4B6127D537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FC67404B-8B5E-BB27-C4B1-B57E0601F33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DE144670-B458-F0DB-355D-58CB2473AA0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EA270494-5E89-115A-A3D1-8CD7F41C591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08915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2CDDC-A69C-6B70-4573-BB42415DE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4">
            <a:extLst>
              <a:ext uri="{FF2B5EF4-FFF2-40B4-BE49-F238E27FC236}">
                <a16:creationId xmlns:a16="http://schemas.microsoft.com/office/drawing/2014/main" id="{5E459B01-149D-D571-304F-7CDC7FAA0BD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Pergunta</a:t>
            </a:r>
            <a:r>
              <a:rPr lang="pt-BR" sz="1000">
                <a:latin typeface="Montserrat" panose="00000500000000000000" pitchFamily="2" charset="0"/>
              </a:rPr>
              <a:t>  |  Literatura  |  Hipótese  |  Base de Dados  |  Metodologia  |  Resultados</a:t>
            </a:r>
          </a:p>
        </p:txBody>
      </p:sp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9E57620A-7C6C-44A4-218C-E4999A027A98}"/>
              </a:ext>
            </a:extLst>
          </p:cNvPr>
          <p:cNvGrpSpPr/>
          <p:nvPr/>
        </p:nvGrpSpPr>
        <p:grpSpPr>
          <a:xfrm>
            <a:off x="9155887" y="914400"/>
            <a:ext cx="2715768" cy="2377440"/>
            <a:chOff x="9155887" y="914400"/>
            <a:chExt cx="2715768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7D5C4137-2CB6-FE22-0383-59D39A9871A9}"/>
                </a:ext>
              </a:extLst>
            </p:cNvPr>
            <p:cNvSpPr/>
            <p:nvPr/>
          </p:nvSpPr>
          <p:spPr>
            <a:xfrm>
              <a:off x="9155887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41778"/>
                  </a:lnTo>
                  <a:lnTo>
                    <a:pt x="2697480" y="2354489"/>
                  </a:lnTo>
                  <a:lnTo>
                    <a:pt x="2633015" y="2355129"/>
                  </a:lnTo>
                  <a:lnTo>
                    <a:pt x="2602657" y="2361621"/>
                  </a:lnTo>
                  <a:lnTo>
                    <a:pt x="2562057" y="2350191"/>
                  </a:lnTo>
                  <a:lnTo>
                    <a:pt x="2500244" y="2358695"/>
                  </a:lnTo>
                  <a:lnTo>
                    <a:pt x="2435779" y="2374697"/>
                  </a:lnTo>
                  <a:lnTo>
                    <a:pt x="2377074" y="2361529"/>
                  </a:lnTo>
                  <a:lnTo>
                    <a:pt x="2309500" y="2363267"/>
                  </a:lnTo>
                  <a:lnTo>
                    <a:pt x="2265700" y="2361347"/>
                  </a:lnTo>
                  <a:lnTo>
                    <a:pt x="2201875" y="2348911"/>
                  </a:lnTo>
                  <a:lnTo>
                    <a:pt x="2144817" y="2351288"/>
                  </a:lnTo>
                  <a:lnTo>
                    <a:pt x="2090958" y="2345985"/>
                  </a:lnTo>
                  <a:lnTo>
                    <a:pt x="2063709" y="2344339"/>
                  </a:lnTo>
                  <a:lnTo>
                    <a:pt x="2028139" y="2369850"/>
                  </a:lnTo>
                  <a:lnTo>
                    <a:pt x="1965777" y="2352111"/>
                  </a:lnTo>
                  <a:lnTo>
                    <a:pt x="1940174" y="2371222"/>
                  </a:lnTo>
                  <a:lnTo>
                    <a:pt x="1877263" y="2369119"/>
                  </a:lnTo>
                  <a:lnTo>
                    <a:pt x="1827246" y="2367930"/>
                  </a:lnTo>
                  <a:lnTo>
                    <a:pt x="1765066" y="2367473"/>
                  </a:lnTo>
                  <a:lnTo>
                    <a:pt x="1716237" y="2351928"/>
                  </a:lnTo>
                  <a:lnTo>
                    <a:pt x="1679936" y="2363907"/>
                  </a:lnTo>
                  <a:lnTo>
                    <a:pt x="1631015" y="2362627"/>
                  </a:lnTo>
                  <a:lnTo>
                    <a:pt x="1567739" y="2367107"/>
                  </a:lnTo>
                  <a:lnTo>
                    <a:pt x="1524579" y="2368296"/>
                  </a:lnTo>
                  <a:lnTo>
                    <a:pt x="1468526" y="2353483"/>
                  </a:lnTo>
                  <a:lnTo>
                    <a:pt x="1432956" y="2346625"/>
                  </a:lnTo>
                  <a:lnTo>
                    <a:pt x="1376081" y="2354214"/>
                  </a:lnTo>
                  <a:lnTo>
                    <a:pt x="1341973" y="2361347"/>
                  </a:lnTo>
                  <a:lnTo>
                    <a:pt x="1298905" y="2375154"/>
                  </a:lnTo>
                  <a:lnTo>
                    <a:pt x="1270559" y="2365187"/>
                  </a:lnTo>
                  <a:lnTo>
                    <a:pt x="1222004" y="2353208"/>
                  </a:lnTo>
                  <a:lnTo>
                    <a:pt x="1182136" y="2352568"/>
                  </a:lnTo>
                  <a:lnTo>
                    <a:pt x="1135502" y="2357415"/>
                  </a:lnTo>
                  <a:lnTo>
                    <a:pt x="1084936" y="2361529"/>
                  </a:lnTo>
                  <a:lnTo>
                    <a:pt x="1049091" y="2369759"/>
                  </a:lnTo>
                  <a:lnTo>
                    <a:pt x="1025500" y="2377440"/>
                  </a:lnTo>
                  <a:lnTo>
                    <a:pt x="991118" y="2371131"/>
                  </a:lnTo>
                  <a:lnTo>
                    <a:pt x="956828" y="2374148"/>
                  </a:lnTo>
                  <a:lnTo>
                    <a:pt x="920069" y="2360981"/>
                  </a:lnTo>
                  <a:lnTo>
                    <a:pt x="872795" y="2353666"/>
                  </a:lnTo>
                  <a:lnTo>
                    <a:pt x="846277" y="2359518"/>
                  </a:lnTo>
                  <a:lnTo>
                    <a:pt x="817016" y="2346808"/>
                  </a:lnTo>
                  <a:lnTo>
                    <a:pt x="751728" y="2336475"/>
                  </a:lnTo>
                  <a:lnTo>
                    <a:pt x="691012" y="2330440"/>
                  </a:lnTo>
                  <a:lnTo>
                    <a:pt x="660654" y="2351471"/>
                  </a:lnTo>
                  <a:lnTo>
                    <a:pt x="628650" y="2336841"/>
                  </a:lnTo>
                  <a:lnTo>
                    <a:pt x="576529" y="2348362"/>
                  </a:lnTo>
                  <a:lnTo>
                    <a:pt x="547543" y="2345345"/>
                  </a:lnTo>
                  <a:lnTo>
                    <a:pt x="488107" y="2375977"/>
                  </a:lnTo>
                  <a:lnTo>
                    <a:pt x="435072" y="2364638"/>
                  </a:lnTo>
                  <a:lnTo>
                    <a:pt x="385602" y="2356775"/>
                  </a:lnTo>
                  <a:lnTo>
                    <a:pt x="344272" y="2363450"/>
                  </a:lnTo>
                  <a:lnTo>
                    <a:pt x="301386" y="2357140"/>
                  </a:lnTo>
                  <a:lnTo>
                    <a:pt x="241127" y="2367930"/>
                  </a:lnTo>
                  <a:lnTo>
                    <a:pt x="201991" y="2352843"/>
                  </a:lnTo>
                  <a:lnTo>
                    <a:pt x="169530" y="2352660"/>
                  </a:lnTo>
                  <a:lnTo>
                    <a:pt x="137709" y="2351837"/>
                  </a:lnTo>
                  <a:lnTo>
                    <a:pt x="73884" y="2339950"/>
                  </a:lnTo>
                  <a:lnTo>
                    <a:pt x="47457" y="2335103"/>
                  </a:lnTo>
                  <a:lnTo>
                    <a:pt x="0" y="2340041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EBDCD75F-7D90-FF38-657D-51C7C473F08E}"/>
                </a:ext>
              </a:extLst>
            </p:cNvPr>
            <p:cNvSpPr txBox="1"/>
            <p:nvPr/>
          </p:nvSpPr>
          <p:spPr>
            <a:xfrm>
              <a:off x="9357055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7871C6F5-D299-933D-4775-F2D676A3304C}"/>
                </a:ext>
              </a:extLst>
            </p:cNvPr>
            <p:cNvSpPr/>
            <p:nvPr/>
          </p:nvSpPr>
          <p:spPr>
            <a:xfrm>
              <a:off x="9357055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68D9B2C5-1B65-C31B-6AAC-9C5088C40A49}"/>
                </a:ext>
              </a:extLst>
            </p:cNvPr>
            <p:cNvSpPr txBox="1"/>
            <p:nvPr/>
          </p:nvSpPr>
          <p:spPr>
            <a:xfrm>
              <a:off x="9357055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Ministério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Saúde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prorroga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permanência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medicos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até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fevereiro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2027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país</a:t>
              </a: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r>
                <a:rPr lang="en-US" sz="1000" b="1">
                  <a:solidFill>
                    <a:srgbClr val="1A1A1A"/>
                  </a:solidFill>
                  <a:latin typeface="Montserrat" panose="00000500000000000000" pitchFamily="2" charset="0"/>
                </a:rPr>
                <a:t>1.480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especialistas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do PMM-E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em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atividade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hoje</a:t>
              </a:r>
              <a:endParaRPr lang="en-US" sz="1000">
                <a:latin typeface="Montserrat" panose="00000500000000000000" pitchFamily="2" charset="0"/>
              </a:endParaRP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68E6FDD3-2334-484C-F613-8A87DD317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88A6940-7BD6-0378-5B68-477B2F4BA0D0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D8B59D32-96A4-3629-7224-E05723B3E792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4AC7658E-CAA9-67FD-38A4-489D0B3EB8ED}"/>
              </a:ext>
            </a:extLst>
          </p:cNvPr>
          <p:cNvGraphicFramePr>
            <a:graphicFrameLocks/>
          </p:cNvGraphicFramePr>
          <p:nvPr/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3B798B2E-50F2-9608-01C4-8E0F89749738}"/>
              </a:ext>
            </a:extLst>
          </p:cNvPr>
          <p:cNvSpPr txBox="1">
            <a:spLocks/>
          </p:cNvSpPr>
          <p:nvPr/>
        </p:nvSpPr>
        <p:spPr>
          <a:xfrm>
            <a:off x="11607384" y="6477362"/>
            <a:ext cx="50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13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FE164FBB-95B1-C368-6A21-C335A5E5A7C2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</a:t>
            </a:r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CNES/DATASUS, Censo 2022 (IBGE/SIDRA 4709) e IVS 2010/IPEA. </a:t>
            </a:r>
            <a:endParaRPr lang="en-US" sz="800">
              <a:latin typeface="Montserrat"/>
            </a:endParaRPr>
          </a:p>
          <a:p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  <p:grpSp>
        <p:nvGrpSpPr>
          <p:cNvPr id="36" name="Cartão: Nome da fonte">
            <a:extLst>
              <a:ext uri="{FF2B5EF4-FFF2-40B4-BE49-F238E27FC236}">
                <a16:creationId xmlns:a16="http://schemas.microsoft.com/office/drawing/2014/main" id="{842686E5-29EC-D349-FA84-AED73E27154E}"/>
              </a:ext>
            </a:extLst>
          </p:cNvPr>
          <p:cNvGrpSpPr/>
          <p:nvPr/>
        </p:nvGrpSpPr>
        <p:grpSpPr>
          <a:xfrm>
            <a:off x="3265322" y="914400"/>
            <a:ext cx="2715768" cy="2377440"/>
            <a:chOff x="3265322" y="914400"/>
            <a:chExt cx="2715768" cy="2377440"/>
          </a:xfrm>
        </p:grpSpPr>
        <p:sp>
          <p:nvSpPr>
            <p:cNvPr id="37" name="Papel">
              <a:extLst>
                <a:ext uri="{FF2B5EF4-FFF2-40B4-BE49-F238E27FC236}">
                  <a16:creationId xmlns:a16="http://schemas.microsoft.com/office/drawing/2014/main" id="{D39465C0-E39A-AC7D-8B07-9589446400F7}"/>
                </a:ext>
              </a:extLst>
            </p:cNvPr>
            <p:cNvSpPr/>
            <p:nvPr/>
          </p:nvSpPr>
          <p:spPr>
            <a:xfrm>
              <a:off x="3265322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57232"/>
                  </a:lnTo>
                  <a:lnTo>
                    <a:pt x="2701595" y="2352568"/>
                  </a:lnTo>
                  <a:lnTo>
                    <a:pt x="2671420" y="2352568"/>
                  </a:lnTo>
                  <a:lnTo>
                    <a:pt x="2640147" y="2375703"/>
                  </a:lnTo>
                  <a:lnTo>
                    <a:pt x="2580528" y="2358695"/>
                  </a:lnTo>
                  <a:lnTo>
                    <a:pt x="2551267" y="2360249"/>
                  </a:lnTo>
                  <a:lnTo>
                    <a:pt x="2497775" y="2363907"/>
                  </a:lnTo>
                  <a:lnTo>
                    <a:pt x="2440899" y="2362627"/>
                  </a:lnTo>
                  <a:lnTo>
                    <a:pt x="2405329" y="2377440"/>
                  </a:lnTo>
                  <a:lnTo>
                    <a:pt x="2346350" y="2348636"/>
                  </a:lnTo>
                  <a:lnTo>
                    <a:pt x="2281337" y="2348362"/>
                  </a:lnTo>
                  <a:lnTo>
                    <a:pt x="2254819" y="2348088"/>
                  </a:lnTo>
                  <a:lnTo>
                    <a:pt x="2218060" y="2342418"/>
                  </a:lnTo>
                  <a:lnTo>
                    <a:pt x="2159538" y="2357140"/>
                  </a:lnTo>
                  <a:lnTo>
                    <a:pt x="2101657" y="2350191"/>
                  </a:lnTo>
                  <a:lnTo>
                    <a:pt x="2068739" y="2341413"/>
                  </a:lnTo>
                  <a:lnTo>
                    <a:pt x="2022196" y="2352843"/>
                  </a:lnTo>
                  <a:lnTo>
                    <a:pt x="1983516" y="2358055"/>
                  </a:lnTo>
                  <a:lnTo>
                    <a:pt x="1931030" y="2343882"/>
                  </a:lnTo>
                  <a:lnTo>
                    <a:pt x="1894820" y="2346899"/>
                  </a:lnTo>
                  <a:lnTo>
                    <a:pt x="1841784" y="2367839"/>
                  </a:lnTo>
                  <a:lnTo>
                    <a:pt x="1777319" y="2344247"/>
                  </a:lnTo>
                  <a:lnTo>
                    <a:pt x="1749339" y="2355769"/>
                  </a:lnTo>
                  <a:lnTo>
                    <a:pt x="1711574" y="2335469"/>
                  </a:lnTo>
                  <a:lnTo>
                    <a:pt x="1661465" y="2337938"/>
                  </a:lnTo>
                  <a:lnTo>
                    <a:pt x="1593525" y="2347082"/>
                  </a:lnTo>
                  <a:lnTo>
                    <a:pt x="1535095" y="2329708"/>
                  </a:lnTo>
                  <a:lnTo>
                    <a:pt x="1506291" y="2332817"/>
                  </a:lnTo>
                  <a:lnTo>
                    <a:pt x="1448318" y="2335835"/>
                  </a:lnTo>
                  <a:lnTo>
                    <a:pt x="1409639" y="2345710"/>
                  </a:lnTo>
                  <a:lnTo>
                    <a:pt x="1346911" y="2328885"/>
                  </a:lnTo>
                  <a:lnTo>
                    <a:pt x="1308598" y="2335652"/>
                  </a:lnTo>
                  <a:lnTo>
                    <a:pt x="1269553" y="2335103"/>
                  </a:lnTo>
                  <a:lnTo>
                    <a:pt x="1203442" y="2346808"/>
                  </a:lnTo>
                  <a:lnTo>
                    <a:pt x="1164763" y="2348362"/>
                  </a:lnTo>
                  <a:lnTo>
                    <a:pt x="1102309" y="2342236"/>
                  </a:lnTo>
                  <a:lnTo>
                    <a:pt x="1055858" y="2334738"/>
                  </a:lnTo>
                  <a:lnTo>
                    <a:pt x="988466" y="2323856"/>
                  </a:lnTo>
                  <a:lnTo>
                    <a:pt x="930402" y="2335926"/>
                  </a:lnTo>
                  <a:lnTo>
                    <a:pt x="891631" y="2338944"/>
                  </a:lnTo>
                  <a:lnTo>
                    <a:pt x="823509" y="2333366"/>
                  </a:lnTo>
                  <a:lnTo>
                    <a:pt x="790042" y="2326325"/>
                  </a:lnTo>
                  <a:lnTo>
                    <a:pt x="750997" y="2328245"/>
                  </a:lnTo>
                  <a:lnTo>
                    <a:pt x="707106" y="2327514"/>
                  </a:lnTo>
                  <a:lnTo>
                    <a:pt x="646115" y="2328794"/>
                  </a:lnTo>
                  <a:lnTo>
                    <a:pt x="579272" y="2323856"/>
                  </a:lnTo>
                  <a:lnTo>
                    <a:pt x="538764" y="2328428"/>
                  </a:lnTo>
                  <a:lnTo>
                    <a:pt x="488381" y="2355677"/>
                  </a:lnTo>
                  <a:lnTo>
                    <a:pt x="419984" y="2339218"/>
                  </a:lnTo>
                  <a:lnTo>
                    <a:pt x="390906" y="2329251"/>
                  </a:lnTo>
                  <a:lnTo>
                    <a:pt x="359908" y="2334189"/>
                  </a:lnTo>
                  <a:lnTo>
                    <a:pt x="331379" y="2332634"/>
                  </a:lnTo>
                  <a:lnTo>
                    <a:pt x="297454" y="2345893"/>
                  </a:lnTo>
                  <a:lnTo>
                    <a:pt x="237378" y="2355860"/>
                  </a:lnTo>
                  <a:lnTo>
                    <a:pt x="176662" y="2343333"/>
                  </a:lnTo>
                  <a:lnTo>
                    <a:pt x="108905" y="2350008"/>
                  </a:lnTo>
                  <a:lnTo>
                    <a:pt x="65654" y="2345985"/>
                  </a:lnTo>
                  <a:lnTo>
                    <a:pt x="41971" y="2341321"/>
                  </a:lnTo>
                  <a:lnTo>
                    <a:pt x="0" y="2357506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9C9E79A5-1135-CFA2-9071-54A128104EC8}"/>
                </a:ext>
              </a:extLst>
            </p:cNvPr>
            <p:cNvSpPr txBox="1"/>
            <p:nvPr/>
          </p:nvSpPr>
          <p:spPr>
            <a:xfrm>
              <a:off x="3466490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40" name="Fio">
              <a:extLst>
                <a:ext uri="{FF2B5EF4-FFF2-40B4-BE49-F238E27FC236}">
                  <a16:creationId xmlns:a16="http://schemas.microsoft.com/office/drawing/2014/main" id="{48E47E6C-B958-2162-FF9C-EF03FAE616BA}"/>
                </a:ext>
              </a:extLst>
            </p:cNvPr>
            <p:cNvSpPr/>
            <p:nvPr/>
          </p:nvSpPr>
          <p:spPr>
            <a:xfrm>
              <a:off x="3466490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1" name="Manchete">
              <a:extLst>
                <a:ext uri="{FF2B5EF4-FFF2-40B4-BE49-F238E27FC236}">
                  <a16:creationId xmlns:a16="http://schemas.microsoft.com/office/drawing/2014/main" id="{E92FE66C-1B9C-89C2-25A6-BB9BFB126350}"/>
                </a:ext>
              </a:extLst>
            </p:cNvPr>
            <p:cNvSpPr txBox="1"/>
            <p:nvPr/>
          </p:nvSpPr>
          <p:spPr>
            <a:xfrm>
              <a:off x="3466490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Paraíba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70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28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42" name="Cartão: Nome da fonte">
            <a:extLst>
              <a:ext uri="{FF2B5EF4-FFF2-40B4-BE49-F238E27FC236}">
                <a16:creationId xmlns:a16="http://schemas.microsoft.com/office/drawing/2014/main" id="{FF51D5C3-0FB6-3D2D-40E0-09658E456126}"/>
              </a:ext>
            </a:extLst>
          </p:cNvPr>
          <p:cNvGrpSpPr/>
          <p:nvPr/>
        </p:nvGrpSpPr>
        <p:grpSpPr>
          <a:xfrm>
            <a:off x="6210605" y="914400"/>
            <a:ext cx="2715768" cy="2377440"/>
            <a:chOff x="6210605" y="914400"/>
            <a:chExt cx="2715768" cy="2377440"/>
          </a:xfrm>
        </p:grpSpPr>
        <p:sp>
          <p:nvSpPr>
            <p:cNvPr id="43" name="Papel">
              <a:extLst>
                <a:ext uri="{FF2B5EF4-FFF2-40B4-BE49-F238E27FC236}">
                  <a16:creationId xmlns:a16="http://schemas.microsoft.com/office/drawing/2014/main" id="{54100B1C-C75D-9480-569B-FF4F20AF6645}"/>
                </a:ext>
              </a:extLst>
            </p:cNvPr>
            <p:cNvSpPr/>
            <p:nvPr/>
          </p:nvSpPr>
          <p:spPr>
            <a:xfrm>
              <a:off x="6210605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77440"/>
                  </a:lnTo>
                  <a:lnTo>
                    <a:pt x="2700680" y="2376434"/>
                  </a:lnTo>
                  <a:lnTo>
                    <a:pt x="2640604" y="2373600"/>
                  </a:lnTo>
                  <a:lnTo>
                    <a:pt x="2611984" y="2366559"/>
                  </a:lnTo>
                  <a:lnTo>
                    <a:pt x="2565989" y="2360615"/>
                  </a:lnTo>
                  <a:lnTo>
                    <a:pt x="2535174" y="2353483"/>
                  </a:lnTo>
                  <a:lnTo>
                    <a:pt x="2478573" y="2367564"/>
                  </a:lnTo>
                  <a:lnTo>
                    <a:pt x="2419411" y="2367199"/>
                  </a:lnTo>
                  <a:lnTo>
                    <a:pt x="2392893" y="2361895"/>
                  </a:lnTo>
                  <a:lnTo>
                    <a:pt x="2360249" y="2367016"/>
                  </a:lnTo>
                  <a:lnTo>
                    <a:pt x="2335286" y="2367016"/>
                  </a:lnTo>
                  <a:lnTo>
                    <a:pt x="2304928" y="2367107"/>
                  </a:lnTo>
                  <a:lnTo>
                    <a:pt x="2251161" y="2359884"/>
                  </a:lnTo>
                  <a:lnTo>
                    <a:pt x="2208550" y="2360249"/>
                  </a:lnTo>
                  <a:lnTo>
                    <a:pt x="2163745" y="2359335"/>
                  </a:lnTo>
                  <a:lnTo>
                    <a:pt x="2102754" y="2368662"/>
                  </a:lnTo>
                  <a:lnTo>
                    <a:pt x="2065904" y="2349917"/>
                  </a:lnTo>
                  <a:lnTo>
                    <a:pt x="2000159" y="2353391"/>
                  </a:lnTo>
                  <a:lnTo>
                    <a:pt x="1957090" y="2354397"/>
                  </a:lnTo>
                  <a:lnTo>
                    <a:pt x="1895003" y="2362992"/>
                  </a:lnTo>
                  <a:lnTo>
                    <a:pt x="1865376" y="2344522"/>
                  </a:lnTo>
                  <a:lnTo>
                    <a:pt x="1807769" y="2334372"/>
                  </a:lnTo>
                  <a:lnTo>
                    <a:pt x="1769730" y="2334920"/>
                  </a:lnTo>
                  <a:lnTo>
                    <a:pt x="1702247" y="2342418"/>
                  </a:lnTo>
                  <a:lnTo>
                    <a:pt x="1672255" y="2347631"/>
                  </a:lnTo>
                  <a:lnTo>
                    <a:pt x="1613550" y="2340773"/>
                  </a:lnTo>
                  <a:lnTo>
                    <a:pt x="1554571" y="2337664"/>
                  </a:lnTo>
                  <a:lnTo>
                    <a:pt x="1508394" y="2339310"/>
                  </a:lnTo>
                  <a:lnTo>
                    <a:pt x="1482608" y="2343516"/>
                  </a:lnTo>
                  <a:lnTo>
                    <a:pt x="1436888" y="2340864"/>
                  </a:lnTo>
                  <a:lnTo>
                    <a:pt x="1391717" y="2335103"/>
                  </a:lnTo>
                  <a:lnTo>
                    <a:pt x="1359164" y="2341230"/>
                  </a:lnTo>
                  <a:lnTo>
                    <a:pt x="1306495" y="2348362"/>
                  </a:lnTo>
                  <a:lnTo>
                    <a:pt x="1262604" y="2333457"/>
                  </a:lnTo>
                  <a:lnTo>
                    <a:pt x="1231331" y="2350191"/>
                  </a:lnTo>
                  <a:lnTo>
                    <a:pt x="1187074" y="2353940"/>
                  </a:lnTo>
                  <a:lnTo>
                    <a:pt x="1119043" y="2354489"/>
                  </a:lnTo>
                  <a:lnTo>
                    <a:pt x="1066190" y="2371405"/>
                  </a:lnTo>
                  <a:lnTo>
                    <a:pt x="1028151" y="2371862"/>
                  </a:lnTo>
                  <a:lnTo>
                    <a:pt x="993496" y="2359609"/>
                  </a:lnTo>
                  <a:lnTo>
                    <a:pt x="940643" y="2367016"/>
                  </a:lnTo>
                  <a:lnTo>
                    <a:pt x="909371" y="2349368"/>
                  </a:lnTo>
                  <a:lnTo>
                    <a:pt x="880567" y="2354489"/>
                  </a:lnTo>
                  <a:lnTo>
                    <a:pt x="819760" y="2364547"/>
                  </a:lnTo>
                  <a:lnTo>
                    <a:pt x="755752" y="2342693"/>
                  </a:lnTo>
                  <a:lnTo>
                    <a:pt x="725211" y="2353391"/>
                  </a:lnTo>
                  <a:lnTo>
                    <a:pt x="664952" y="2347265"/>
                  </a:lnTo>
                  <a:lnTo>
                    <a:pt x="618592" y="2344887"/>
                  </a:lnTo>
                  <a:lnTo>
                    <a:pt x="593628" y="2346259"/>
                  </a:lnTo>
                  <a:lnTo>
                    <a:pt x="559887" y="2341961"/>
                  </a:lnTo>
                  <a:lnTo>
                    <a:pt x="499902" y="2342510"/>
                  </a:lnTo>
                  <a:lnTo>
                    <a:pt x="472745" y="2323033"/>
                  </a:lnTo>
                  <a:lnTo>
                    <a:pt x="437083" y="2322942"/>
                  </a:lnTo>
                  <a:lnTo>
                    <a:pt x="405079" y="2317913"/>
                  </a:lnTo>
                  <a:lnTo>
                    <a:pt x="350947" y="2320290"/>
                  </a:lnTo>
                  <a:lnTo>
                    <a:pt x="290413" y="2313706"/>
                  </a:lnTo>
                  <a:lnTo>
                    <a:pt x="250180" y="2315444"/>
                  </a:lnTo>
                  <a:lnTo>
                    <a:pt x="190378" y="2322942"/>
                  </a:lnTo>
                  <a:lnTo>
                    <a:pt x="147676" y="2331263"/>
                  </a:lnTo>
                  <a:lnTo>
                    <a:pt x="85405" y="2331171"/>
                  </a:lnTo>
                  <a:lnTo>
                    <a:pt x="61813" y="2339492"/>
                  </a:lnTo>
                  <a:lnTo>
                    <a:pt x="0" y="233290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45" name="Data">
              <a:extLst>
                <a:ext uri="{FF2B5EF4-FFF2-40B4-BE49-F238E27FC236}">
                  <a16:creationId xmlns:a16="http://schemas.microsoft.com/office/drawing/2014/main" id="{28A35123-FD2E-7B38-3540-86720DB52AE0}"/>
                </a:ext>
              </a:extLst>
            </p:cNvPr>
            <p:cNvSpPr txBox="1"/>
            <p:nvPr/>
          </p:nvSpPr>
          <p:spPr>
            <a:xfrm>
              <a:off x="6411773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10/09/2025</a:t>
              </a:r>
              <a:endParaRPr lang="en-US" sz="1000"/>
            </a:p>
          </p:txBody>
        </p:sp>
        <p:sp>
          <p:nvSpPr>
            <p:cNvPr id="46" name="Fio">
              <a:extLst>
                <a:ext uri="{FF2B5EF4-FFF2-40B4-BE49-F238E27FC236}">
                  <a16:creationId xmlns:a16="http://schemas.microsoft.com/office/drawing/2014/main" id="{C430977A-3897-697E-C3C6-F822539F23AE}"/>
                </a:ext>
              </a:extLst>
            </p:cNvPr>
            <p:cNvSpPr/>
            <p:nvPr/>
          </p:nvSpPr>
          <p:spPr>
            <a:xfrm>
              <a:off x="6411773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7" name="Manchete">
              <a:extLst>
                <a:ext uri="{FF2B5EF4-FFF2-40B4-BE49-F238E27FC236}">
                  <a16:creationId xmlns:a16="http://schemas.microsoft.com/office/drawing/2014/main" id="{A00060B0-AD6E-3D49-6F43-607FB6339106}"/>
                </a:ext>
              </a:extLst>
            </p:cNvPr>
            <p:cNvSpPr txBox="1"/>
            <p:nvPr/>
          </p:nvSpPr>
          <p:spPr>
            <a:xfrm>
              <a:off x="6411773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Mais de 320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R$ 2,5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bilhões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vão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fortalecer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SUS</a:t>
              </a:r>
            </a:p>
            <a:p>
              <a:pPr marL="0" indent="0">
                <a:buNone/>
              </a:pPr>
              <a:endParaRPr lang="en-US" sz="1000">
                <a:solidFill>
                  <a:srgbClr val="1A1A1A"/>
                </a:solidFill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Do total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profissionais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, 72%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serão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destinados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a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áreas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ou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muito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vulnerabilidade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0" indent="0">
                <a:buNone/>
              </a:pPr>
              <a:endParaRPr lang="en-US" sz="1400"/>
            </a:p>
          </p:txBody>
        </p:sp>
      </p:grpSp>
      <p:grpSp>
        <p:nvGrpSpPr>
          <p:cNvPr id="30" name="Cartão: Nome da fonte">
            <a:extLst>
              <a:ext uri="{FF2B5EF4-FFF2-40B4-BE49-F238E27FC236}">
                <a16:creationId xmlns:a16="http://schemas.microsoft.com/office/drawing/2014/main" id="{7055B3E4-3B12-638C-1699-99AE19B397CC}"/>
              </a:ext>
            </a:extLst>
          </p:cNvPr>
          <p:cNvGrpSpPr/>
          <p:nvPr/>
        </p:nvGrpSpPr>
        <p:grpSpPr>
          <a:xfrm>
            <a:off x="320040" y="914400"/>
            <a:ext cx="2715768" cy="2377440"/>
            <a:chOff x="320040" y="914400"/>
            <a:chExt cx="2715768" cy="2377440"/>
          </a:xfrm>
        </p:grpSpPr>
        <p:sp>
          <p:nvSpPr>
            <p:cNvPr id="31" name="Papel">
              <a:extLst>
                <a:ext uri="{FF2B5EF4-FFF2-40B4-BE49-F238E27FC236}">
                  <a16:creationId xmlns:a16="http://schemas.microsoft.com/office/drawing/2014/main" id="{F5700FAE-6BC4-5831-4847-8ECBEDE9D1FE}"/>
                </a:ext>
              </a:extLst>
            </p:cNvPr>
            <p:cNvSpPr/>
            <p:nvPr/>
          </p:nvSpPr>
          <p:spPr>
            <a:xfrm>
              <a:off x="320040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28611"/>
                  </a:lnTo>
                  <a:lnTo>
                    <a:pt x="2684861" y="2331903"/>
                  </a:lnTo>
                  <a:lnTo>
                    <a:pt x="2649657" y="2331629"/>
                  </a:lnTo>
                  <a:lnTo>
                    <a:pt x="2615916" y="2339950"/>
                  </a:lnTo>
                  <a:lnTo>
                    <a:pt x="2556754" y="2326874"/>
                  </a:lnTo>
                  <a:lnTo>
                    <a:pt x="2494392" y="2330348"/>
                  </a:lnTo>
                  <a:lnTo>
                    <a:pt x="2448397" y="2330166"/>
                  </a:lnTo>
                  <a:lnTo>
                    <a:pt x="2411913" y="2324496"/>
                  </a:lnTo>
                  <a:lnTo>
                    <a:pt x="2350282" y="2324862"/>
                  </a:lnTo>
                  <a:lnTo>
                    <a:pt x="2306940" y="2328245"/>
                  </a:lnTo>
                  <a:lnTo>
                    <a:pt x="2242932" y="2313341"/>
                  </a:lnTo>
                  <a:lnTo>
                    <a:pt x="2218060" y="2315352"/>
                  </a:lnTo>
                  <a:lnTo>
                    <a:pt x="2178924" y="2317730"/>
                  </a:lnTo>
                  <a:lnTo>
                    <a:pt x="2130735" y="2326874"/>
                  </a:lnTo>
                  <a:lnTo>
                    <a:pt x="2078980" y="2324862"/>
                  </a:lnTo>
                  <a:lnTo>
                    <a:pt x="2012320" y="2341504"/>
                  </a:lnTo>
                  <a:lnTo>
                    <a:pt x="1956907" y="2343607"/>
                  </a:lnTo>
                  <a:lnTo>
                    <a:pt x="1891985" y="2338944"/>
                  </a:lnTo>
                  <a:lnTo>
                    <a:pt x="1829074" y="2318187"/>
                  </a:lnTo>
                  <a:lnTo>
                    <a:pt x="1803745" y="2336292"/>
                  </a:lnTo>
                  <a:lnTo>
                    <a:pt x="1739463" y="2313889"/>
                  </a:lnTo>
                  <a:lnTo>
                    <a:pt x="1704990" y="2311146"/>
                  </a:lnTo>
                  <a:lnTo>
                    <a:pt x="1677741" y="2324313"/>
                  </a:lnTo>
                  <a:lnTo>
                    <a:pt x="1635679" y="2314438"/>
                  </a:lnTo>
                  <a:lnTo>
                    <a:pt x="1601023" y="2326234"/>
                  </a:lnTo>
                  <a:lnTo>
                    <a:pt x="1541038" y="2320199"/>
                  </a:lnTo>
                  <a:lnTo>
                    <a:pt x="1473647" y="2314072"/>
                  </a:lnTo>
                  <a:lnTo>
                    <a:pt x="1417046" y="2293772"/>
                  </a:lnTo>
                  <a:lnTo>
                    <a:pt x="1352946" y="2307580"/>
                  </a:lnTo>
                  <a:lnTo>
                    <a:pt x="1320576" y="2318644"/>
                  </a:lnTo>
                  <a:lnTo>
                    <a:pt x="1295065" y="2319467"/>
                  </a:lnTo>
                  <a:lnTo>
                    <a:pt x="1258214" y="2302642"/>
                  </a:lnTo>
                  <a:lnTo>
                    <a:pt x="1189726" y="2309043"/>
                  </a:lnTo>
                  <a:lnTo>
                    <a:pt x="1134405" y="2310049"/>
                  </a:lnTo>
                  <a:lnTo>
                    <a:pt x="1067379" y="2307123"/>
                  </a:lnTo>
                  <a:lnTo>
                    <a:pt x="1028243" y="2305660"/>
                  </a:lnTo>
                  <a:lnTo>
                    <a:pt x="970636" y="2294595"/>
                  </a:lnTo>
                  <a:lnTo>
                    <a:pt x="947410" y="2307580"/>
                  </a:lnTo>
                  <a:lnTo>
                    <a:pt x="888888" y="2310232"/>
                  </a:lnTo>
                  <a:lnTo>
                    <a:pt x="840425" y="2335195"/>
                  </a:lnTo>
                  <a:lnTo>
                    <a:pt x="803666" y="2341870"/>
                  </a:lnTo>
                  <a:lnTo>
                    <a:pt x="749076" y="2334738"/>
                  </a:lnTo>
                  <a:lnTo>
                    <a:pt x="714878" y="2345436"/>
                  </a:lnTo>
                  <a:lnTo>
                    <a:pt x="652607" y="2354763"/>
                  </a:lnTo>
                  <a:lnTo>
                    <a:pt x="599846" y="2343150"/>
                  </a:lnTo>
                  <a:lnTo>
                    <a:pt x="542331" y="2332909"/>
                  </a:lnTo>
                  <a:lnTo>
                    <a:pt x="504474" y="2327331"/>
                  </a:lnTo>
                  <a:lnTo>
                    <a:pt x="439369" y="2341870"/>
                  </a:lnTo>
                  <a:lnTo>
                    <a:pt x="405902" y="2331629"/>
                  </a:lnTo>
                  <a:lnTo>
                    <a:pt x="374355" y="2333092"/>
                  </a:lnTo>
                  <a:lnTo>
                    <a:pt x="315834" y="2324130"/>
                  </a:lnTo>
                  <a:lnTo>
                    <a:pt x="259690" y="2335743"/>
                  </a:lnTo>
                  <a:lnTo>
                    <a:pt x="214518" y="2349276"/>
                  </a:lnTo>
                  <a:lnTo>
                    <a:pt x="165049" y="2354489"/>
                  </a:lnTo>
                  <a:lnTo>
                    <a:pt x="99212" y="2369028"/>
                  </a:lnTo>
                  <a:lnTo>
                    <a:pt x="74249" y="2356226"/>
                  </a:lnTo>
                  <a:lnTo>
                    <a:pt x="31547" y="2377440"/>
                  </a:lnTo>
                  <a:lnTo>
                    <a:pt x="0" y="236911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Data">
              <a:extLst>
                <a:ext uri="{FF2B5EF4-FFF2-40B4-BE49-F238E27FC236}">
                  <a16:creationId xmlns:a16="http://schemas.microsoft.com/office/drawing/2014/main" id="{5A291331-95D0-E459-7EBF-76191FEFDA8C}"/>
                </a:ext>
              </a:extLst>
            </p:cNvPr>
            <p:cNvSpPr txBox="1"/>
            <p:nvPr/>
          </p:nvSpPr>
          <p:spPr>
            <a:xfrm>
              <a:off x="521208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34" name="Fio">
              <a:extLst>
                <a:ext uri="{FF2B5EF4-FFF2-40B4-BE49-F238E27FC236}">
                  <a16:creationId xmlns:a16="http://schemas.microsoft.com/office/drawing/2014/main" id="{2CB16284-25FA-7A6B-7C28-108489526226}"/>
                </a:ext>
              </a:extLst>
            </p:cNvPr>
            <p:cNvSpPr/>
            <p:nvPr/>
          </p:nvSpPr>
          <p:spPr>
            <a:xfrm>
              <a:off x="521208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Manchete">
              <a:extLst>
                <a:ext uri="{FF2B5EF4-FFF2-40B4-BE49-F238E27FC236}">
                  <a16:creationId xmlns:a16="http://schemas.microsoft.com/office/drawing/2014/main" id="{4004A65F-6362-8B01-9E6F-0ACFBDF4B16C}"/>
                </a:ext>
              </a:extLst>
            </p:cNvPr>
            <p:cNvSpPr txBox="1"/>
            <p:nvPr/>
          </p:nvSpPr>
          <p:spPr>
            <a:xfrm>
              <a:off x="521208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Pernambuco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40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86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1161746-3E8C-EA73-25A8-B42F30B5D6CA}"/>
              </a:ext>
            </a:extLst>
          </p:cNvPr>
          <p:cNvGrpSpPr/>
          <p:nvPr/>
        </p:nvGrpSpPr>
        <p:grpSpPr>
          <a:xfrm>
            <a:off x="521208" y="2645693"/>
            <a:ext cx="2324583" cy="457200"/>
            <a:chOff x="4468216" y="2542032"/>
            <a:chExt cx="2324583" cy="457200"/>
          </a:xfrm>
        </p:grpSpPr>
        <p:sp>
          <p:nvSpPr>
            <p:cNvPr id="55" name="Caixa do destaque">
              <a:extLst>
                <a:ext uri="{FF2B5EF4-FFF2-40B4-BE49-F238E27FC236}">
                  <a16:creationId xmlns:a16="http://schemas.microsoft.com/office/drawing/2014/main" id="{79BF29DD-4FDC-CFAC-482A-2AF3CCCF2A25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Número">
              <a:extLst>
                <a:ext uri="{FF2B5EF4-FFF2-40B4-BE49-F238E27FC236}">
                  <a16:creationId xmlns:a16="http://schemas.microsoft.com/office/drawing/2014/main" id="{F3CC516B-8C4E-0B28-BCE8-3BCEAAD5CF5D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+86</a:t>
              </a:r>
              <a:endParaRPr lang="en-US" sz="2000"/>
            </a:p>
          </p:txBody>
        </p:sp>
        <p:sp>
          <p:nvSpPr>
            <p:cNvPr id="57" name="Legenda">
              <a:extLst>
                <a:ext uri="{FF2B5EF4-FFF2-40B4-BE49-F238E27FC236}">
                  <a16:creationId xmlns:a16="http://schemas.microsoft.com/office/drawing/2014/main" id="{340BC08B-C9BF-4709-79B4-E0317F4A36CE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novos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especialistas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do PMM-E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chegando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a Pernambuco</a:t>
              </a:r>
              <a:endParaRPr lang="en-US" sz="1000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90550B-19E4-05C6-E35E-F52C141D25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199" y="1058697"/>
            <a:ext cx="1728000" cy="21022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9D73F13-7997-A5C0-DC3A-0DD95DAF67D6}"/>
              </a:ext>
            </a:extLst>
          </p:cNvPr>
          <p:cNvGrpSpPr/>
          <p:nvPr/>
        </p:nvGrpSpPr>
        <p:grpSpPr>
          <a:xfrm>
            <a:off x="3460915" y="2645693"/>
            <a:ext cx="2324583" cy="457200"/>
            <a:chOff x="4468216" y="2542032"/>
            <a:chExt cx="2324583" cy="457200"/>
          </a:xfrm>
        </p:grpSpPr>
        <p:sp>
          <p:nvSpPr>
            <p:cNvPr id="18" name="Caixa do destaque">
              <a:extLst>
                <a:ext uri="{FF2B5EF4-FFF2-40B4-BE49-F238E27FC236}">
                  <a16:creationId xmlns:a16="http://schemas.microsoft.com/office/drawing/2014/main" id="{0B281694-A3EB-58BB-662E-81BA7132EDF1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Número">
              <a:extLst>
                <a:ext uri="{FF2B5EF4-FFF2-40B4-BE49-F238E27FC236}">
                  <a16:creationId xmlns:a16="http://schemas.microsoft.com/office/drawing/2014/main" id="{130CE180-4897-EF97-CF05-7BAC78152EB1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6</a:t>
              </a:r>
              <a:endParaRPr lang="en-US" sz="2000"/>
            </a:p>
          </p:txBody>
        </p:sp>
        <p:sp>
          <p:nvSpPr>
            <p:cNvPr id="20" name="Legenda">
              <a:extLst>
                <a:ext uri="{FF2B5EF4-FFF2-40B4-BE49-F238E27FC236}">
                  <a16:creationId xmlns:a16="http://schemas.microsoft.com/office/drawing/2014/main" id="{5DEB83A9-C357-9D30-1701-1689297BEC70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Municípios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paraibanos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reforçados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pelo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PMM-E</a:t>
              </a:r>
              <a:endParaRPr lang="en-US" sz="10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7B67B9D9-6E69-9A74-B201-8C47FC028B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5089" y="1027348"/>
            <a:ext cx="963692" cy="2880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70F8639E-7E0D-A415-198A-5E87A704ED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0249" y="1022120"/>
            <a:ext cx="1646630" cy="2880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BA522B0D-B371-B664-7415-03571307A1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0635" y="979301"/>
            <a:ext cx="701524" cy="324000"/>
          </a:xfrm>
          <a:prstGeom prst="rect">
            <a:avLst/>
          </a:prstGeom>
        </p:spPr>
      </p:pic>
      <p:sp>
        <p:nvSpPr>
          <p:cNvPr id="4900" name="Nota da correção"/>
          <p:cNvSpPr/>
          <p:nvPr/>
        </p:nvSpPr>
        <p:spPr>
          <a:xfrm>
            <a:off x="6227064" y="3657600"/>
            <a:ext cx="5596128" cy="205740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II. Crescimento por faixa: gráfico retirado desta versão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não sai de output/ por script e agrupava os municípios pela grade do FAQ, não pela aplicada. Antes × depois sem comparação não é efeito: o teste com comparação está em Resultados.</a:t>
            </a:r>
          </a:p>
        </p:txBody>
      </p:sp>
      <p:sp>
        <p:nvSpPr>
          <p:cNvPr id="11" name="Retângulo 4">
            <a:extLst>
              <a:ext uri="{FF2B5EF4-FFF2-40B4-BE49-F238E27FC236}">
                <a16:creationId xmlns:a16="http://schemas.microsoft.com/office/drawing/2014/main" id="{E546553C-22E6-F98D-0723-2AB1C6B95F42}"/>
              </a:ext>
            </a:extLst>
          </p:cNvPr>
          <p:cNvSpPr/>
          <p:nvPr/>
        </p:nvSpPr>
        <p:spPr>
          <a:xfrm>
            <a:off x="-868503" y="-614780"/>
            <a:ext cx="15621000" cy="807720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solidFill>
              <a:srgbClr val="8E91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8D30E0-B356-1B9A-1E66-BBC3A583529B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20FBB79-E161-99B4-EFB1-AD6642D9BBF0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6" name="CaixaDeTexto 3">
              <a:extLst>
                <a:ext uri="{FF2B5EF4-FFF2-40B4-BE49-F238E27FC236}">
                  <a16:creationId xmlns:a16="http://schemas.microsoft.com/office/drawing/2014/main" id="{7FDD9FD3-835E-0F45-D14A-CBF76BB9DB59}"/>
                </a:ext>
              </a:extLst>
            </p:cNvPr>
            <p:cNvSpPr txBox="1"/>
            <p:nvPr/>
          </p:nvSpPr>
          <p:spPr>
            <a:xfrm>
              <a:off x="180517" y="2785947"/>
              <a:ext cx="11830965" cy="156966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3200" b="1">
                  <a:solidFill>
                    <a:schemeClr val="bg1"/>
                  </a:solidFill>
                  <a:latin typeface="Montserrat"/>
                  <a:ea typeface="+mn-lt"/>
                  <a:cs typeface="+mn-lt"/>
                </a:rPr>
                <a:t>Um aumento na remuneração do PMM-E eleva a probabilidade de preenchimento das vagas em municípios mais vulneráveis?</a:t>
              </a:r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0619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E5572F-22D6-EB26-66FC-FBFC4A57F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4">
            <a:extLst>
              <a:ext uri="{FF2B5EF4-FFF2-40B4-BE49-F238E27FC236}">
                <a16:creationId xmlns:a16="http://schemas.microsoft.com/office/drawing/2014/main" id="{AF645E05-D65E-B634-936D-F75D572B2D2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Pergunta</a:t>
            </a:r>
            <a:r>
              <a:rPr lang="pt-BR" sz="1100">
                <a:latin typeface="Montserrat" panose="00000500000000000000" pitchFamily="2" charset="0"/>
              </a:rPr>
              <a:t>  I  Literatura  I  Hipótese  I  Viabilidade Empírica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CB6BD-75A6-FD30-07E1-5B7D0A548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/>
              <a:t>Descritivo: antes × depois por faixa, sem comparação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4C3E9D8-1A5D-6BBD-E0CE-87E7843A0D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83" b="48196"/>
          <a:stretch/>
        </p:blipFill>
        <p:spPr>
          <a:xfrm>
            <a:off x="7610497" y="4177984"/>
            <a:ext cx="4454503" cy="1924919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1CC2B73-F223-26E3-85F8-315056C853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468"/>
          <a:stretch/>
        </p:blipFill>
        <p:spPr>
          <a:xfrm>
            <a:off x="7787564" y="1011703"/>
            <a:ext cx="4008803" cy="3166281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60F5D9C-E159-3B00-C342-7900676EDB8B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/>
              <a:t>I. Gráfico retirado: faixa pela grade do FAQ e sem proveniência em output/</a:t>
            </a:r>
          </a:p>
          <a:p>
            <a:endParaRPr lang="pt-BR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61566020-1372-2363-D3C6-7D1B5EF309F3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Médicos especialistas por 100 mil habitantes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EBFC3A54-1B27-3877-1563-920803B00F3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14</a:t>
            </a:fld>
          </a:p>
        </p:txBody>
      </p:sp>
      <p:sp>
        <p:nvSpPr>
          <p:cNvPr id="2" name="Retângulo 4">
            <a:extLst>
              <a:ext uri="{FF2B5EF4-FFF2-40B4-BE49-F238E27FC236}">
                <a16:creationId xmlns:a16="http://schemas.microsoft.com/office/drawing/2014/main" id="{E5BC7041-CE8D-FBE5-1ED1-CE11E4A9002A}"/>
              </a:ext>
            </a:extLst>
          </p:cNvPr>
          <p:cNvSpPr/>
          <p:nvPr/>
        </p:nvSpPr>
        <p:spPr>
          <a:xfrm>
            <a:off x="-1389203" y="-830680"/>
            <a:ext cx="15621000" cy="807720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solidFill>
              <a:srgbClr val="8E91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4F8D85C-4ABF-07A0-CC40-4C86EE90412C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EB0C8EE-DCD3-2AC5-172B-7615E0E701B6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5" name="CaixaDeTexto 3">
              <a:extLst>
                <a:ext uri="{FF2B5EF4-FFF2-40B4-BE49-F238E27FC236}">
                  <a16:creationId xmlns:a16="http://schemas.microsoft.com/office/drawing/2014/main" id="{908210CC-0924-5683-044C-54B2CD7F9A12}"/>
                </a:ext>
              </a:extLst>
            </p:cNvPr>
            <p:cNvSpPr txBox="1"/>
            <p:nvPr/>
          </p:nvSpPr>
          <p:spPr>
            <a:xfrm>
              <a:off x="180517" y="3032168"/>
              <a:ext cx="11830965" cy="107721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3200" b="1">
                  <a:solidFill>
                    <a:schemeClr val="bg1"/>
                  </a:solidFill>
                  <a:latin typeface="Montserrat"/>
                  <a:ea typeface="+mn-lt"/>
                  <a:cs typeface="+mn-lt"/>
                </a:rPr>
                <a:t>Um aumento na remuneração do PMM-E consegue atrair especialistas para municípios mais vulneráveis?</a:t>
              </a:r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4900" name="Nota da correção"/>
          <p:cNvSpPr/>
          <p:nvPr/>
        </p:nvSpPr>
        <p:spPr>
          <a:xfrm>
            <a:off x="274320" y="1325880"/>
            <a:ext cx="6400800" cy="146304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Por que saiu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desta página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4177298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5B936-AF16-EAC1-51D0-1C8E6D737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28F58F-DF85-08D8-49EA-7C32160F382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A1789D-04F4-6F42-C48F-FA8F43E2C580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54A7D-70C6-7011-2AEB-F3E5A876E95E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63D9056-93A9-D7BA-AEBF-35072C6FD72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15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B33F75-AF61-4B02-5F43-F817EA2FA086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0DCD72D9-DF90-EBFB-9670-0139DB7EE046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ADCF89-137A-FD2F-17D0-994FF21272EC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958F2B-247C-D850-4346-4C39619E2B9A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A987E2-1D47-BFB7-D2A1-06FFC42F778E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646F341-CF80-E4B7-A56F-F6DF35AC380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B511765-B309-28D2-DE49-E412BFB2AF6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0EF8B385-9BB9-CC46-3844-123D6646F34C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AA16FDDA-0EF7-AB07-6F7C-2219FEA4C8E2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23DE6A8-4D7F-C5B9-ADDC-47A4C9769E90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96893F-4D02-28A2-74CF-00B7E0EC0069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BA13197-3DEB-45BB-2F34-F5AE05D80F7D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5855F78-F169-B29E-A77D-BD9E1F1917C3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D51CC1CC-1488-07E9-1948-794921929848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9C5EF71-683A-724B-E6CA-AE7EB020DD09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14176C5D-35A8-77F6-2819-82EB1739D89E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90EBF11D-4C46-A5CF-1AE3-A5561127D9E4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5F236D6C-1A78-3B7B-D702-0164B5572956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06B1C7F2-02F8-3461-115F-32874CEDFDC2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72CE66B5-8294-DC96-EF9A-F13B64F58C4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DD65F3A-71DF-5DE6-702A-A359997EB6DE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E6A064C1-B952-84B6-B06D-4F29FCDA654F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F046C6B8-0B95-67AA-6F37-982F0B36BE2F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313C65CA-B6CE-6BF3-ED01-68B104A24AED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B75671B4-5E84-3E94-688D-E3DBCE051F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2EA9AF87-9C69-BB0C-F642-8BF5C97E618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0D626EC-59D7-A2D4-D4EA-BC97E247F1F9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C4A858C-97B1-BCDC-387F-E8E576D6ED20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8B4B986-BF1A-65F0-F416-D3C3565988C9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CAEF94EF-1844-AC1F-C8CD-E6C92684A9D7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B336B59E-8FE3-3F58-D498-165655D3B72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B3BCA9B2-2F07-9838-4DF2-5CD0A622ED0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6B6C859-B674-79AE-78AE-26F4AE7AFB58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9764CBE0-FAD0-D823-140E-D87E4F051C68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9E3FBC4D-458D-C735-40D8-F2C5F09084AC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EEF3ED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1386DFB2-403B-C13E-EA5F-E49CAA5747DB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D0359B70-E154-3270-3FC6-632674B84528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79F0F218-A3F9-5C37-647A-F7D603C1A35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4734BE0-3C9B-01C2-6698-848877F7AAB3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C1F9FBFF-D3E4-5D5D-FE5E-22DA6A30949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AC5E9704-EA04-CF52-C3FA-D6A54F6C1DD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A372BE38-CEDC-28C6-A20F-5200766F24D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689AABA0-117F-618A-2578-4E35C25447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3C230997-127E-C03C-9E36-CA17D35E60F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09CFBE9-200B-60AB-20E5-52B73783B822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9BC08A2D-91A8-CC4D-858E-554E90851A18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A61EFDEC-ECD4-D719-99DB-1D5F4474A9D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F298281A-00BB-67E3-35D2-8A02B43F973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A4912696-5A27-E753-E5F1-2C8E35309EC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7822B869-2B25-A22A-468E-FA1E93EFE69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047F5D3-688F-461F-421F-02384D411ED6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39F8E5D2-6557-F46A-C730-4F0462D3E7A2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73E81514-65B7-C86C-CF3E-8E2B1971158A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1A94E99A-9F0E-A2B0-BB3D-AFC7E5E98774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92678D13-3DD2-1C10-34FE-022BD7D790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870951D3-2A84-1200-8306-7F5D06A700F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134598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83488-3F78-B6AC-AEA4-1B4C1663A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xt202">
            <a:extLst>
              <a:ext uri="{FF2B5EF4-FFF2-40B4-BE49-F238E27FC236}">
                <a16:creationId xmlns:a16="http://schemas.microsoft.com/office/drawing/2014/main" id="{1F49769F-0CAA-EDF0-F6B0-D2E574D7340F}"/>
              </a:ext>
            </a:extLst>
          </p:cNvPr>
          <p:cNvSpPr txBox="1"/>
          <p:nvPr/>
        </p:nvSpPr>
        <p:spPr>
          <a:xfrm>
            <a:off x="1202064" y="956022"/>
            <a:ext cx="29210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TRABALHO</a:t>
            </a:r>
          </a:p>
        </p:txBody>
      </p:sp>
      <p:sp>
        <p:nvSpPr>
          <p:cNvPr id="203" name="txt203">
            <a:extLst>
              <a:ext uri="{FF2B5EF4-FFF2-40B4-BE49-F238E27FC236}">
                <a16:creationId xmlns:a16="http://schemas.microsoft.com/office/drawing/2014/main" id="{98486FDE-B2DC-E786-85CA-360D8BC9A86E}"/>
              </a:ext>
            </a:extLst>
          </p:cNvPr>
          <p:cNvSpPr txBox="1"/>
          <p:nvPr/>
        </p:nvSpPr>
        <p:spPr>
          <a:xfrm>
            <a:off x="4808373" y="976665"/>
            <a:ext cx="40640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ENTRA NO MODELO COMO </a:t>
            </a:r>
          </a:p>
        </p:txBody>
      </p:sp>
      <p:sp>
        <p:nvSpPr>
          <p:cNvPr id="204" name="txt204">
            <a:extLst>
              <a:ext uri="{FF2B5EF4-FFF2-40B4-BE49-F238E27FC236}">
                <a16:creationId xmlns:a16="http://schemas.microsoft.com/office/drawing/2014/main" id="{9DA9C8DC-B4D9-7D00-C1CD-1794968EFD08}"/>
              </a:ext>
            </a:extLst>
          </p:cNvPr>
          <p:cNvSpPr txBox="1"/>
          <p:nvPr/>
        </p:nvSpPr>
        <p:spPr>
          <a:xfrm>
            <a:off x="9067800" y="945876"/>
            <a:ext cx="28194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PRIMITIVA QUE FORNECE</a:t>
            </a:r>
          </a:p>
        </p:txBody>
      </p:sp>
      <p:sp>
        <p:nvSpPr>
          <p:cNvPr id="205" name="lit205">
            <a:extLst>
              <a:ext uri="{FF2B5EF4-FFF2-40B4-BE49-F238E27FC236}">
                <a16:creationId xmlns:a16="http://schemas.microsoft.com/office/drawing/2014/main" id="{4895A0D4-DBC9-0A18-2A90-DFB5AA2E4915}"/>
              </a:ext>
            </a:extLst>
          </p:cNvPr>
          <p:cNvSpPr/>
          <p:nvPr/>
        </p:nvSpPr>
        <p:spPr>
          <a:xfrm>
            <a:off x="508000" y="1237976"/>
            <a:ext cx="11176000" cy="2032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 lang="en-US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1BCE6C0E-0C9E-339B-49D9-AD9539CB9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>
                <a:latin typeface="Montserrat" pitchFamily="2" charset="77"/>
              </a:rPr>
              <a:t>O modelo combina três elementos da teoria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C2C1C03-E5EE-EE82-9C76-2E762DF3BFB8}"/>
              </a:ext>
            </a:extLst>
          </p:cNvPr>
          <p:cNvGrpSpPr/>
          <p:nvPr/>
        </p:nvGrpSpPr>
        <p:grpSpPr>
          <a:xfrm>
            <a:off x="159530" y="3156694"/>
            <a:ext cx="11847151" cy="1622398"/>
            <a:chOff x="159530" y="3059832"/>
            <a:chExt cx="11847151" cy="1622398"/>
          </a:xfrm>
        </p:grpSpPr>
        <p:sp>
          <p:nvSpPr>
            <p:cNvPr id="4" name="lit206">
              <a:extLst>
                <a:ext uri="{FF2B5EF4-FFF2-40B4-BE49-F238E27FC236}">
                  <a16:creationId xmlns:a16="http://schemas.microsoft.com/office/drawing/2014/main" id="{2FC193A2-259B-EBC2-8D9B-B7DAC46E467D}"/>
                </a:ext>
              </a:extLst>
            </p:cNvPr>
            <p:cNvSpPr/>
            <p:nvPr/>
          </p:nvSpPr>
          <p:spPr>
            <a:xfrm>
              <a:off x="159530" y="3059832"/>
              <a:ext cx="11847151" cy="1473200"/>
            </a:xfrm>
            <a:prstGeom prst="roundRect">
              <a:avLst/>
            </a:prstGeom>
            <a:solidFill>
              <a:srgbClr val="F7FAF8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5" name="lit207">
              <a:extLst>
                <a:ext uri="{FF2B5EF4-FFF2-40B4-BE49-F238E27FC236}">
                  <a16:creationId xmlns:a16="http://schemas.microsoft.com/office/drawing/2014/main" id="{4AD03C44-1E36-FC3E-DACD-56D3F1BABA3F}"/>
                </a:ext>
              </a:extLst>
            </p:cNvPr>
            <p:cNvSpPr/>
            <p:nvPr/>
          </p:nvSpPr>
          <p:spPr>
            <a:xfrm>
              <a:off x="191667" y="3161432"/>
              <a:ext cx="63500" cy="12700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6" name="lit210">
              <a:extLst>
                <a:ext uri="{FF2B5EF4-FFF2-40B4-BE49-F238E27FC236}">
                  <a16:creationId xmlns:a16="http://schemas.microsoft.com/office/drawing/2014/main" id="{86C78AB3-8CA5-4AD0-615F-2DED2C9C07AF}"/>
                </a:ext>
              </a:extLst>
            </p:cNvPr>
            <p:cNvSpPr/>
            <p:nvPr/>
          </p:nvSpPr>
          <p:spPr>
            <a:xfrm>
              <a:off x="3894158" y="3371037"/>
              <a:ext cx="9525" cy="863600"/>
            </a:xfrm>
            <a:prstGeom prst="rect">
              <a:avLst/>
            </a:prstGeom>
            <a:solidFill>
              <a:srgbClr val="BFD5C6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7" name="lit212">
              <a:extLst>
                <a:ext uri="{FF2B5EF4-FFF2-40B4-BE49-F238E27FC236}">
                  <a16:creationId xmlns:a16="http://schemas.microsoft.com/office/drawing/2014/main" id="{EE8A050D-D8C0-ACB4-FBE0-DE2AD5B981D0}"/>
                </a:ext>
              </a:extLst>
            </p:cNvPr>
            <p:cNvSpPr/>
            <p:nvPr/>
          </p:nvSpPr>
          <p:spPr>
            <a:xfrm>
              <a:off x="8373401" y="3713937"/>
              <a:ext cx="157927" cy="177800"/>
            </a:xfrm>
            <a:prstGeom prst="rightArrow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8" name="foto401">
              <a:extLst>
                <a:ext uri="{FF2B5EF4-FFF2-40B4-BE49-F238E27FC236}">
                  <a16:creationId xmlns:a16="http://schemas.microsoft.com/office/drawing/2014/main" id="{3457BE71-BFC5-920F-064D-1E33BCA25DA0}"/>
                </a:ext>
              </a:extLst>
            </p:cNvPr>
            <p:cNvSpPr/>
            <p:nvPr/>
          </p:nvSpPr>
          <p:spPr>
            <a:xfrm>
              <a:off x="403295" y="3103369"/>
              <a:ext cx="684000" cy="684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9" name="foto402">
              <a:extLst>
                <a:ext uri="{FF2B5EF4-FFF2-40B4-BE49-F238E27FC236}">
                  <a16:creationId xmlns:a16="http://schemas.microsoft.com/office/drawing/2014/main" id="{57EFEC3A-A6A0-3E4B-C2EA-0B79CC7E6F66}"/>
                </a:ext>
              </a:extLst>
            </p:cNvPr>
            <p:cNvSpPr/>
            <p:nvPr/>
          </p:nvSpPr>
          <p:spPr>
            <a:xfrm>
              <a:off x="1134684" y="3103369"/>
              <a:ext cx="684000" cy="684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10" name="txt217">
              <a:extLst>
                <a:ext uri="{FF2B5EF4-FFF2-40B4-BE49-F238E27FC236}">
                  <a16:creationId xmlns:a16="http://schemas.microsoft.com/office/drawing/2014/main" id="{A36FEEF8-9FBC-1A65-A14B-698DF8CD4BDC}"/>
                </a:ext>
              </a:extLst>
            </p:cNvPr>
            <p:cNvSpPr txBox="1"/>
            <p:nvPr/>
          </p:nvSpPr>
          <p:spPr>
            <a:xfrm>
              <a:off x="2093604" y="3209030"/>
              <a:ext cx="1800554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Choné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Ma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(2011);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Reinhardt (1975);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Redding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Rossi-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Hansberg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(2017)</a:t>
              </a:r>
            </a:p>
            <a:p>
              <a:pPr algn="l">
                <a:lnSpc>
                  <a:spcPct val="112000"/>
                </a:lnSpc>
              </a:pPr>
              <a:endParaRPr lang="pt-BR" sz="1400" b="1">
                <a:solidFill>
                  <a:srgbClr val="114719"/>
                </a:solidFill>
                <a:latin typeface="Montserrat" pitchFamily="2" charset="77"/>
              </a:endParaRPr>
            </a:p>
          </p:txBody>
        </p:sp>
        <p:sp>
          <p:nvSpPr>
            <p:cNvPr id="31" name="txt219">
              <a:extLst>
                <a:ext uri="{FF2B5EF4-FFF2-40B4-BE49-F238E27FC236}">
                  <a16:creationId xmlns:a16="http://schemas.microsoft.com/office/drawing/2014/main" id="{9A3C1FB9-EF03-8156-3CA8-3AD211DC54DF}"/>
                </a:ext>
              </a:extLst>
            </p:cNvPr>
            <p:cNvSpPr txBox="1"/>
            <p:nvPr/>
          </p:nvSpPr>
          <p:spPr>
            <a:xfrm>
              <a:off x="4087568" y="3119782"/>
              <a:ext cx="4064000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just"/>
              <a:r>
                <a:rPr lang="pt-BR" sz="1400" b="1">
                  <a:solidFill>
                    <a:srgbClr val="1B3A20"/>
                  </a:solidFill>
                  <a:latin typeface="Montserrat" panose="00000500000000000000" pitchFamily="2" charset="0"/>
                </a:rPr>
                <a:t>Custo não pecuniário:</a:t>
              </a:r>
              <a:r>
                <a:rPr lang="pt-BR" sz="1400">
                  <a:solidFill>
                    <a:srgbClr val="1B3A20"/>
                  </a:solidFill>
                  <a:latin typeface="Montserrat" panose="00000500000000000000" pitchFamily="2" charset="0"/>
                </a:rPr>
                <a:t> </a:t>
              </a:r>
              <a:r>
                <a:rPr lang="pt-BR" sz="1300">
                  <a:latin typeface="Montserrat" panose="00000500000000000000" pitchFamily="2" charset="0"/>
                </a:rPr>
                <a:t>composto pela desutilidade do atendimento (equipe e do capital instalado) e pela desutilidade da vida no local (amenidades, segurança e distância da família)</a:t>
              </a:r>
            </a:p>
          </p:txBody>
        </p:sp>
        <p:sp>
          <p:nvSpPr>
            <p:cNvPr id="37" name="lit221">
              <a:extLst>
                <a:ext uri="{FF2B5EF4-FFF2-40B4-BE49-F238E27FC236}">
                  <a16:creationId xmlns:a16="http://schemas.microsoft.com/office/drawing/2014/main" id="{A624A51B-1F6F-9EA0-D1CD-DC9A17C5D3F4}"/>
                </a:ext>
              </a:extLst>
            </p:cNvPr>
            <p:cNvSpPr/>
            <p:nvPr/>
          </p:nvSpPr>
          <p:spPr>
            <a:xfrm>
              <a:off x="8739576" y="3186832"/>
              <a:ext cx="3153981" cy="1219200"/>
            </a:xfrm>
            <a:prstGeom prst="roundRect">
              <a:avLst/>
            </a:prstGeom>
            <a:solidFill>
              <a:srgbClr val="E7F1EA"/>
            </a:solidFill>
            <a:ln>
              <a:noFill/>
            </a:ln>
          </p:spPr>
          <p:txBody>
            <a:bodyPr wrap="square" lIns="177800" tIns="0" rIns="177800" bIns="0" anchor="ctr"/>
            <a:lstStyle/>
            <a:p>
              <a:pPr algn="ctr">
                <a:lnSpc>
                  <a:spcPct val="112000"/>
                </a:lnSpc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Custo laboral líquido</a:t>
              </a:r>
              <a:b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(de trabalhar ali) </a:t>
              </a:r>
              <a:b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e </a:t>
              </a: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Custo geográfico</a:t>
              </a:r>
              <a:b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 </a:t>
              </a: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(de viver ali)</a:t>
              </a:r>
              <a:endParaRPr lang="pt-BR" sz="1300" i="1">
                <a:solidFill>
                  <a:srgbClr val="114719"/>
                </a:solidFill>
                <a:latin typeface="Montserrat" pitchFamily="2" charset="77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3B5C50A-EE00-5FDC-19D4-CF4B77CE8B2A}"/>
              </a:ext>
            </a:extLst>
          </p:cNvPr>
          <p:cNvGrpSpPr/>
          <p:nvPr/>
        </p:nvGrpSpPr>
        <p:grpSpPr>
          <a:xfrm>
            <a:off x="159530" y="1418978"/>
            <a:ext cx="11847151" cy="1476403"/>
            <a:chOff x="159530" y="1418978"/>
            <a:chExt cx="11847151" cy="1476403"/>
          </a:xfrm>
        </p:grpSpPr>
        <p:sp>
          <p:nvSpPr>
            <p:cNvPr id="206" name="lit206">
              <a:extLst>
                <a:ext uri="{FF2B5EF4-FFF2-40B4-BE49-F238E27FC236}">
                  <a16:creationId xmlns:a16="http://schemas.microsoft.com/office/drawing/2014/main" id="{F517E0CB-9C9C-6825-8A04-8525281840B2}"/>
                </a:ext>
              </a:extLst>
            </p:cNvPr>
            <p:cNvSpPr/>
            <p:nvPr/>
          </p:nvSpPr>
          <p:spPr>
            <a:xfrm>
              <a:off x="159530" y="1418978"/>
              <a:ext cx="11847151" cy="1473200"/>
            </a:xfrm>
            <a:prstGeom prst="roundRect">
              <a:avLst/>
            </a:prstGeom>
            <a:solidFill>
              <a:srgbClr val="F7FAF8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07" name="lit207">
              <a:extLst>
                <a:ext uri="{FF2B5EF4-FFF2-40B4-BE49-F238E27FC236}">
                  <a16:creationId xmlns:a16="http://schemas.microsoft.com/office/drawing/2014/main" id="{ECA58BA9-8DFF-2C5A-6290-5528E86AC9D3}"/>
                </a:ext>
              </a:extLst>
            </p:cNvPr>
            <p:cNvSpPr/>
            <p:nvPr/>
          </p:nvSpPr>
          <p:spPr>
            <a:xfrm>
              <a:off x="191667" y="1520578"/>
              <a:ext cx="63500" cy="12700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10" name="lit210">
              <a:extLst>
                <a:ext uri="{FF2B5EF4-FFF2-40B4-BE49-F238E27FC236}">
                  <a16:creationId xmlns:a16="http://schemas.microsoft.com/office/drawing/2014/main" id="{AEB89FC8-1381-F391-0B24-9EF86C8E4942}"/>
                </a:ext>
              </a:extLst>
            </p:cNvPr>
            <p:cNvSpPr/>
            <p:nvPr/>
          </p:nvSpPr>
          <p:spPr>
            <a:xfrm>
              <a:off x="3894158" y="1730183"/>
              <a:ext cx="9525" cy="863600"/>
            </a:xfrm>
            <a:prstGeom prst="rect">
              <a:avLst/>
            </a:prstGeom>
            <a:solidFill>
              <a:srgbClr val="BFD5C6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12" name="lit212">
              <a:extLst>
                <a:ext uri="{FF2B5EF4-FFF2-40B4-BE49-F238E27FC236}">
                  <a16:creationId xmlns:a16="http://schemas.microsoft.com/office/drawing/2014/main" id="{1E4449C2-0CCB-24F3-815F-7B8DE36C3987}"/>
                </a:ext>
              </a:extLst>
            </p:cNvPr>
            <p:cNvSpPr/>
            <p:nvPr/>
          </p:nvSpPr>
          <p:spPr>
            <a:xfrm>
              <a:off x="8373401" y="2073083"/>
              <a:ext cx="157927" cy="177800"/>
            </a:xfrm>
            <a:prstGeom prst="rightArrow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1" name="foto401">
              <a:extLst>
                <a:ext uri="{FF2B5EF4-FFF2-40B4-BE49-F238E27FC236}">
                  <a16:creationId xmlns:a16="http://schemas.microsoft.com/office/drawing/2014/main" id="{EE48E669-7994-D0B3-6C53-37E67031FF27}"/>
                </a:ext>
              </a:extLst>
            </p:cNvPr>
            <p:cNvSpPr/>
            <p:nvPr/>
          </p:nvSpPr>
          <p:spPr>
            <a:xfrm>
              <a:off x="403295" y="1462515"/>
              <a:ext cx="684000" cy="684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2" name="foto402">
              <a:extLst>
                <a:ext uri="{FF2B5EF4-FFF2-40B4-BE49-F238E27FC236}">
                  <a16:creationId xmlns:a16="http://schemas.microsoft.com/office/drawing/2014/main" id="{E6498997-698E-0FD6-B2F7-6B991C7DE473}"/>
                </a:ext>
              </a:extLst>
            </p:cNvPr>
            <p:cNvSpPr/>
            <p:nvPr/>
          </p:nvSpPr>
          <p:spPr>
            <a:xfrm>
              <a:off x="1134684" y="1462515"/>
              <a:ext cx="684000" cy="684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3" name="foto403">
              <a:extLst>
                <a:ext uri="{FF2B5EF4-FFF2-40B4-BE49-F238E27FC236}">
                  <a16:creationId xmlns:a16="http://schemas.microsoft.com/office/drawing/2014/main" id="{96A8ED97-9A58-9413-DDDC-95AC4831A06D}"/>
                </a:ext>
              </a:extLst>
            </p:cNvPr>
            <p:cNvSpPr/>
            <p:nvPr/>
          </p:nvSpPr>
          <p:spPr>
            <a:xfrm>
              <a:off x="403295" y="2167008"/>
              <a:ext cx="684000" cy="684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4" name="foto404">
              <a:extLst>
                <a:ext uri="{FF2B5EF4-FFF2-40B4-BE49-F238E27FC236}">
                  <a16:creationId xmlns:a16="http://schemas.microsoft.com/office/drawing/2014/main" id="{4AE88EFE-B484-70DF-C55D-7CC5736C574C}"/>
                </a:ext>
              </a:extLst>
            </p:cNvPr>
            <p:cNvSpPr/>
            <p:nvPr/>
          </p:nvSpPr>
          <p:spPr>
            <a:xfrm>
              <a:off x="1134684" y="2167008"/>
              <a:ext cx="684000" cy="684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3" name="txt209">
              <a:extLst>
                <a:ext uri="{FF2B5EF4-FFF2-40B4-BE49-F238E27FC236}">
                  <a16:creationId xmlns:a16="http://schemas.microsoft.com/office/drawing/2014/main" id="{6082F17A-5AD1-3FD3-DA0A-419F8FF9FB79}"/>
                </a:ext>
              </a:extLst>
            </p:cNvPr>
            <p:cNvSpPr txBox="1"/>
            <p:nvPr/>
          </p:nvSpPr>
          <p:spPr>
            <a:xfrm>
              <a:off x="2093605" y="1418978"/>
              <a:ext cx="1533652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Moehling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,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Niemesh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,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Thomasson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Treber</a:t>
              </a:r>
              <a:endParaRPr lang="pt-BR" sz="1400" b="1">
                <a:solidFill>
                  <a:srgbClr val="114719"/>
                </a:solidFill>
                <a:latin typeface="Montserrat" pitchFamily="2" charset="77"/>
              </a:endParaRP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(2020)</a:t>
              </a:r>
            </a:p>
          </p:txBody>
        </p:sp>
        <p:sp>
          <p:nvSpPr>
            <p:cNvPr id="29" name="txt211">
              <a:extLst>
                <a:ext uri="{FF2B5EF4-FFF2-40B4-BE49-F238E27FC236}">
                  <a16:creationId xmlns:a16="http://schemas.microsoft.com/office/drawing/2014/main" id="{83C33592-ACE8-F0DA-616D-FA66348FEDAC}"/>
                </a:ext>
              </a:extLst>
            </p:cNvPr>
            <p:cNvSpPr txBox="1"/>
            <p:nvPr/>
          </p:nvSpPr>
          <p:spPr>
            <a:xfrm>
              <a:off x="4088799" y="1422181"/>
              <a:ext cx="4064000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just">
                <a:lnSpc>
                  <a:spcPct val="112000"/>
                </a:lnSpc>
              </a:pPr>
              <a:r>
                <a:rPr lang="pt-BR" sz="1400" b="1">
                  <a:solidFill>
                    <a:srgbClr val="1B3A20"/>
                  </a:solidFill>
                  <a:latin typeface="Montserrat" pitchFamily="2" charset="77"/>
                </a:rPr>
                <a:t>Escolha locacional intertemporal: </a:t>
              </a:r>
              <a:r>
                <a:rPr lang="pt-BR" sz="1400">
                  <a:solidFill>
                    <a:srgbClr val="3A3A3A"/>
                  </a:solidFill>
                  <a:latin typeface="Montserrat" pitchFamily="2" charset="77"/>
                </a:rPr>
                <a:t>o médico maximiza o valor presente do rendimento real menos um custo locacional não pecuniário</a:t>
              </a:r>
            </a:p>
          </p:txBody>
        </p:sp>
        <p:sp>
          <p:nvSpPr>
            <p:cNvPr id="35" name="lit213">
              <a:extLst>
                <a:ext uri="{FF2B5EF4-FFF2-40B4-BE49-F238E27FC236}">
                  <a16:creationId xmlns:a16="http://schemas.microsoft.com/office/drawing/2014/main" id="{7B731846-CEF9-5650-39A6-B2C0A98D9FDD}"/>
                </a:ext>
              </a:extLst>
            </p:cNvPr>
            <p:cNvSpPr/>
            <p:nvPr/>
          </p:nvSpPr>
          <p:spPr>
            <a:xfrm>
              <a:off x="8739576" y="1545978"/>
              <a:ext cx="3153981" cy="1219200"/>
            </a:xfrm>
            <a:prstGeom prst="roundRect">
              <a:avLst/>
            </a:prstGeom>
            <a:solidFill>
              <a:srgbClr val="E7F1EA"/>
            </a:solidFill>
            <a:ln>
              <a:noFill/>
            </a:ln>
          </p:spPr>
          <p:txBody>
            <a:bodyPr wrap="square" lIns="177800" tIns="0" rIns="177800" bIns="0" anchor="ctr"/>
            <a:lstStyle/>
            <a:p>
              <a:pPr algn="ctr">
                <a:lnSpc>
                  <a:spcPct val="112000"/>
                </a:lnSpc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Equação de escolha</a:t>
              </a: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 e o horizonte </a:t>
              </a:r>
              <a:r>
                <a:rPr lang="pt-BR" sz="1300" i="1" err="1">
                  <a:solidFill>
                    <a:srgbClr val="114719"/>
                  </a:solidFill>
                  <a:latin typeface="Montserrat" pitchFamily="2" charset="77"/>
                </a:rPr>
                <a:t>Σ</a:t>
              </a:r>
              <a:r>
                <a:rPr lang="pt-BR" sz="1300" i="1" baseline="-25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300" i="1">
                  <a:solidFill>
                    <a:srgbClr val="114719"/>
                  </a:solidFill>
                  <a:latin typeface="Montserrat" pitchFamily="2" charset="77"/>
                </a:rPr>
                <a:t> </a:t>
              </a:r>
              <a:r>
                <a:rPr lang="pt-BR" sz="1300" i="1" err="1">
                  <a:solidFill>
                    <a:srgbClr val="114719"/>
                  </a:solidFill>
                  <a:latin typeface="Montserrat" pitchFamily="2" charset="77"/>
                </a:rPr>
                <a:t>δ</a:t>
              </a:r>
              <a:r>
                <a:rPr lang="pt-BR" sz="1300" i="1" baseline="30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endParaRPr lang="pt-BR" sz="1300" i="1" baseline="30000">
                <a:solidFill>
                  <a:srgbClr val="114719"/>
                </a:solidFill>
                <a:latin typeface="Montserrat" pitchFamily="2" charset="77"/>
              </a:endParaRPr>
            </a:p>
          </p:txBody>
        </p:sp>
      </p:grpSp>
      <p:sp>
        <p:nvSpPr>
          <p:cNvPr id="13" name="lit206">
            <a:extLst>
              <a:ext uri="{FF2B5EF4-FFF2-40B4-BE49-F238E27FC236}">
                <a16:creationId xmlns:a16="http://schemas.microsoft.com/office/drawing/2014/main" id="{7C825678-67A3-A9A0-33DA-B2ADE645F599}"/>
              </a:ext>
            </a:extLst>
          </p:cNvPr>
          <p:cNvSpPr/>
          <p:nvPr/>
        </p:nvSpPr>
        <p:spPr>
          <a:xfrm>
            <a:off x="159530" y="4884263"/>
            <a:ext cx="11847151" cy="1473200"/>
          </a:xfrm>
          <a:prstGeom prst="roundRect">
            <a:avLst/>
          </a:prstGeom>
          <a:solidFill>
            <a:srgbClr val="F7FAF8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4" name="lit207">
            <a:extLst>
              <a:ext uri="{FF2B5EF4-FFF2-40B4-BE49-F238E27FC236}">
                <a16:creationId xmlns:a16="http://schemas.microsoft.com/office/drawing/2014/main" id="{9BF0AB2A-E89D-9B79-6400-8494EA21916F}"/>
              </a:ext>
            </a:extLst>
          </p:cNvPr>
          <p:cNvSpPr/>
          <p:nvPr/>
        </p:nvSpPr>
        <p:spPr>
          <a:xfrm>
            <a:off x="191667" y="4985863"/>
            <a:ext cx="63500" cy="1270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6" name="lit210">
            <a:extLst>
              <a:ext uri="{FF2B5EF4-FFF2-40B4-BE49-F238E27FC236}">
                <a16:creationId xmlns:a16="http://schemas.microsoft.com/office/drawing/2014/main" id="{FFE47A81-988D-4579-349C-AE3ECDA85037}"/>
              </a:ext>
            </a:extLst>
          </p:cNvPr>
          <p:cNvSpPr/>
          <p:nvPr/>
        </p:nvSpPr>
        <p:spPr>
          <a:xfrm>
            <a:off x="3894158" y="5195468"/>
            <a:ext cx="9525" cy="863600"/>
          </a:xfrm>
          <a:prstGeom prst="rect">
            <a:avLst/>
          </a:prstGeom>
          <a:solidFill>
            <a:srgbClr val="BFD5C6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7" name="lit212">
            <a:extLst>
              <a:ext uri="{FF2B5EF4-FFF2-40B4-BE49-F238E27FC236}">
                <a16:creationId xmlns:a16="http://schemas.microsoft.com/office/drawing/2014/main" id="{2B2D5480-16CF-B1E8-62B9-359A9609B689}"/>
              </a:ext>
            </a:extLst>
          </p:cNvPr>
          <p:cNvSpPr/>
          <p:nvPr/>
        </p:nvSpPr>
        <p:spPr>
          <a:xfrm>
            <a:off x="8373401" y="5538368"/>
            <a:ext cx="157927" cy="177800"/>
          </a:xfrm>
          <a:prstGeom prst="rightArrow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EB15500-A377-0E38-415F-0001B63F76C5}"/>
              </a:ext>
            </a:extLst>
          </p:cNvPr>
          <p:cNvGrpSpPr/>
          <p:nvPr/>
        </p:nvGrpSpPr>
        <p:grpSpPr>
          <a:xfrm>
            <a:off x="403295" y="4914143"/>
            <a:ext cx="1415389" cy="684000"/>
            <a:chOff x="403295" y="4914143"/>
            <a:chExt cx="1415389" cy="684000"/>
          </a:xfrm>
        </p:grpSpPr>
        <p:sp>
          <p:nvSpPr>
            <p:cNvPr id="18" name="foto401">
              <a:extLst>
                <a:ext uri="{FF2B5EF4-FFF2-40B4-BE49-F238E27FC236}">
                  <a16:creationId xmlns:a16="http://schemas.microsoft.com/office/drawing/2014/main" id="{32B4C71B-800A-2A13-15EE-42EB0354CFB2}"/>
                </a:ext>
              </a:extLst>
            </p:cNvPr>
            <p:cNvSpPr/>
            <p:nvPr/>
          </p:nvSpPr>
          <p:spPr>
            <a:xfrm>
              <a:off x="403295" y="4914143"/>
              <a:ext cx="684000" cy="684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19" name="foto402">
              <a:extLst>
                <a:ext uri="{FF2B5EF4-FFF2-40B4-BE49-F238E27FC236}">
                  <a16:creationId xmlns:a16="http://schemas.microsoft.com/office/drawing/2014/main" id="{B40038E8-D01C-DABB-3A71-28A05FD66C56}"/>
                </a:ext>
              </a:extLst>
            </p:cNvPr>
            <p:cNvSpPr/>
            <p:nvPr/>
          </p:nvSpPr>
          <p:spPr>
            <a:xfrm>
              <a:off x="1134684" y="4914143"/>
              <a:ext cx="684000" cy="684000"/>
            </a:xfrm>
            <a:prstGeom prst="ellipse">
              <a:avLst/>
            </a:prstGeom>
            <a:blipFill dpi="0"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</p:grpSp>
      <p:sp>
        <p:nvSpPr>
          <p:cNvPr id="27" name="txt225">
            <a:extLst>
              <a:ext uri="{FF2B5EF4-FFF2-40B4-BE49-F238E27FC236}">
                <a16:creationId xmlns:a16="http://schemas.microsoft.com/office/drawing/2014/main" id="{218C7C74-E83A-F4E0-4177-356EC2DF102D}"/>
              </a:ext>
            </a:extLst>
          </p:cNvPr>
          <p:cNvSpPr txBox="1"/>
          <p:nvPr/>
        </p:nvSpPr>
        <p:spPr>
          <a:xfrm>
            <a:off x="2093604" y="4898345"/>
            <a:ext cx="1765068" cy="147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GB" sz="1400" b="1">
                <a:solidFill>
                  <a:srgbClr val="1B3A20"/>
                </a:solidFill>
                <a:latin typeface="Montserrat" panose="00000500000000000000" pitchFamily="2" charset="0"/>
              </a:rPr>
              <a:t>Burdett, Shi e Wright (2001)</a:t>
            </a:r>
            <a:endParaRPr lang="pt-BR" sz="1400" b="1">
              <a:solidFill>
                <a:srgbClr val="1B3A20"/>
              </a:solidFill>
              <a:latin typeface="Montserrat" panose="00000500000000000000" pitchFamily="2" charset="0"/>
            </a:endParaRPr>
          </a:p>
        </p:txBody>
      </p:sp>
      <p:sp>
        <p:nvSpPr>
          <p:cNvPr id="33" name="txt227">
            <a:extLst>
              <a:ext uri="{FF2B5EF4-FFF2-40B4-BE49-F238E27FC236}">
                <a16:creationId xmlns:a16="http://schemas.microsoft.com/office/drawing/2014/main" id="{69298370-0554-BCED-4107-E00D640B8A3D}"/>
              </a:ext>
            </a:extLst>
          </p:cNvPr>
          <p:cNvSpPr txBox="1"/>
          <p:nvPr/>
        </p:nvSpPr>
        <p:spPr>
          <a:xfrm>
            <a:off x="4088799" y="4884263"/>
            <a:ext cx="4064000" cy="147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just">
              <a:lnSpc>
                <a:spcPct val="112000"/>
              </a:lnSpc>
            </a:pPr>
            <a:r>
              <a:rPr lang="pt-BR" sz="1400" b="1">
                <a:solidFill>
                  <a:srgbClr val="1B3A20"/>
                </a:solidFill>
                <a:latin typeface="Montserrat" panose="00000500000000000000" pitchFamily="2" charset="0"/>
              </a:rPr>
              <a:t>Resolve o problema de agregação: </a:t>
            </a:r>
            <a:r>
              <a:rPr lang="pt-BR" sz="1400">
                <a:latin typeface="Montserrat" panose="00000500000000000000" pitchFamily="2" charset="0"/>
              </a:rPr>
              <a:t>conecta a escolha individual do médico, definida por </a:t>
            </a:r>
            <a:r>
              <a:rPr lang="pt-BR" sz="1400" err="1">
                <a:latin typeface="Montserrat" panose="00000500000000000000" pitchFamily="2" charset="0"/>
              </a:rPr>
              <a:t>Moehling</a:t>
            </a:r>
            <a:r>
              <a:rPr lang="pt-BR" sz="1400">
                <a:latin typeface="Montserrat" panose="00000500000000000000" pitchFamily="2" charset="0"/>
              </a:rPr>
              <a:t>, ao preenchimento observado</a:t>
            </a:r>
            <a:endParaRPr lang="pt-BR" sz="1400">
              <a:solidFill>
                <a:srgbClr val="3A3A3A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lit229">
            <a:extLst>
              <a:ext uri="{FF2B5EF4-FFF2-40B4-BE49-F238E27FC236}">
                <a16:creationId xmlns:a16="http://schemas.microsoft.com/office/drawing/2014/main" id="{AE9B93B8-0E29-8838-E977-6FD99BAD27E0}"/>
              </a:ext>
            </a:extLst>
          </p:cNvPr>
          <p:cNvSpPr/>
          <p:nvPr/>
        </p:nvSpPr>
        <p:spPr>
          <a:xfrm>
            <a:off x="8739576" y="5011263"/>
            <a:ext cx="3153981" cy="1219200"/>
          </a:xfrm>
          <a:prstGeom prst="roundRect">
            <a:avLst/>
          </a:prstGeom>
          <a:solidFill>
            <a:srgbClr val="E7F1EA"/>
          </a:solidFill>
          <a:ln>
            <a:noFill/>
          </a:ln>
        </p:spPr>
        <p:txBody>
          <a:bodyPr wrap="square" lIns="177800" tIns="0" rIns="177800" bIns="0" anchor="ctr"/>
          <a:lstStyle/>
          <a:p>
            <a:pPr algn="ctr">
              <a:lnSpc>
                <a:spcPct val="112000"/>
              </a:lnSpc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Probabilidade do preenchimento:</a:t>
            </a:r>
          </a:p>
          <a:p>
            <a:pPr algn="ctr">
              <a:lnSpc>
                <a:spcPct val="112000"/>
              </a:lnSpc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 </a:t>
            </a:r>
            <a:endParaRPr lang="pt-BR" sz="1300" i="1" baseline="-25000">
              <a:solidFill>
                <a:srgbClr val="114719"/>
              </a:solidFill>
              <a:latin typeface="Montserrat" pitchFamily="2" charset="77"/>
            </a:endParaRPr>
          </a:p>
        </p:txBody>
      </p:sp>
      <p:sp>
        <p:nvSpPr>
          <p:cNvPr id="40" name="Text Placeholder 1">
            <a:extLst>
              <a:ext uri="{FF2B5EF4-FFF2-40B4-BE49-F238E27FC236}">
                <a16:creationId xmlns:a16="http://schemas.microsoft.com/office/drawing/2014/main" id="{03DAEF48-553D-8ADE-F5B7-3A469646B4C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 fontScale="85000" lnSpcReduction="10000"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16</a:t>
            </a:fld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C901EA-882B-3D2D-09C3-FA69B71CFE96}"/>
                  </a:ext>
                </a:extLst>
              </p:cNvPr>
              <p:cNvSpPr txBox="1"/>
              <p:nvPr/>
            </p:nvSpPr>
            <p:spPr>
              <a:xfrm>
                <a:off x="9290759" y="5766075"/>
                <a:ext cx="2110899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sz="13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300" i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ctrlPr>
                                <a:rPr lang="pt-BR" sz="13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pt-BR" sz="13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</m:e>
                      </m:func>
                      <m:r>
                        <a:rPr lang="pt-BR" sz="13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3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3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3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30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C901EA-882B-3D2D-09C3-FA69B71CF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0759" y="5766075"/>
                <a:ext cx="2110899" cy="200055"/>
              </a:xfrm>
              <a:prstGeom prst="rect">
                <a:avLst/>
              </a:prstGeom>
              <a:blipFill>
                <a:blip r:embed="rId11"/>
                <a:stretch>
                  <a:fillRect l="-1156" t="-3030" r="-289"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oto401">
            <a:extLst>
              <a:ext uri="{FF2B5EF4-FFF2-40B4-BE49-F238E27FC236}">
                <a16:creationId xmlns:a16="http://schemas.microsoft.com/office/drawing/2014/main" id="{B290C74C-7BF3-D6E0-CF8D-F896C008BB0F}"/>
              </a:ext>
            </a:extLst>
          </p:cNvPr>
          <p:cNvSpPr/>
          <p:nvPr/>
        </p:nvSpPr>
        <p:spPr>
          <a:xfrm>
            <a:off x="399579" y="3906813"/>
            <a:ext cx="684000" cy="684000"/>
          </a:xfrm>
          <a:prstGeom prst="ellipse">
            <a:avLst/>
          </a:prstGeom>
          <a:blipFill dpi="0"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21" name="foto402">
            <a:extLst>
              <a:ext uri="{FF2B5EF4-FFF2-40B4-BE49-F238E27FC236}">
                <a16:creationId xmlns:a16="http://schemas.microsoft.com/office/drawing/2014/main" id="{C7D5890E-C958-FDE3-A43E-3971AF6AFA01}"/>
              </a:ext>
            </a:extLst>
          </p:cNvPr>
          <p:cNvSpPr/>
          <p:nvPr/>
        </p:nvSpPr>
        <p:spPr>
          <a:xfrm>
            <a:off x="1130968" y="3906813"/>
            <a:ext cx="684000" cy="684000"/>
          </a:xfrm>
          <a:prstGeom prst="ellipse">
            <a:avLst/>
          </a:prstGeom>
          <a:blipFill dpi="0"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24" name="foto402">
            <a:extLst>
              <a:ext uri="{FF2B5EF4-FFF2-40B4-BE49-F238E27FC236}">
                <a16:creationId xmlns:a16="http://schemas.microsoft.com/office/drawing/2014/main" id="{DE41B9E2-414D-A7D1-7BCF-7F24B0B6C855}"/>
              </a:ext>
            </a:extLst>
          </p:cNvPr>
          <p:cNvSpPr/>
          <p:nvPr/>
        </p:nvSpPr>
        <p:spPr>
          <a:xfrm>
            <a:off x="768989" y="5631596"/>
            <a:ext cx="684000" cy="684000"/>
          </a:xfrm>
          <a:prstGeom prst="ellipse">
            <a:avLst/>
          </a:prstGeom>
          <a:blipFill dpi="0"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38" name="CaixaDeTexto 4">
            <a:extLst>
              <a:ext uri="{FF2B5EF4-FFF2-40B4-BE49-F238E27FC236}">
                <a16:creationId xmlns:a16="http://schemas.microsoft.com/office/drawing/2014/main" id="{61D52229-697D-22DD-04DE-8FF4BBA6D6C0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16537370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3B219-2251-BA55-0D45-A7E3B9267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094E1B5B-F37A-10AA-A2EB-06EDE9D7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A escolha locacional maximiza a utilidade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CA186D-EC52-86D3-BA6A-7BD5A19621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98824" y="6457042"/>
            <a:ext cx="500000" cy="40064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17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5022" name="hB"/>
          <p:cNvSpPr/>
          <p:nvPr/>
        </p:nvSpPr>
        <p:spPr>
          <a:xfrm>
            <a:off x="159530" y="2730202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400" b="1" spc="80">
                <a:solidFill>
                  <a:srgbClr val="056429"/>
                </a:solidFill>
                <a:latin typeface="Montserrat" pitchFamily="2" charset="77"/>
              </a:rPr>
              <a:t>DE ONDE VEM CADA TERMO:</a:t>
            </a:r>
          </a:p>
        </p:txBody>
      </p:sp>
      <p:sp>
        <p:nvSpPr>
          <p:cNvPr id="5023" name="ruleB"/>
          <p:cNvSpPr/>
          <p:nvPr/>
        </p:nvSpPr>
        <p:spPr>
          <a:xfrm>
            <a:off x="159530" y="3009602"/>
            <a:ext cx="11844000" cy="254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F487CFD-7778-037B-0187-FDF49CBF16AE}"/>
              </a:ext>
            </a:extLst>
          </p:cNvPr>
          <p:cNvGrpSpPr/>
          <p:nvPr/>
        </p:nvGrpSpPr>
        <p:grpSpPr>
          <a:xfrm>
            <a:off x="159530" y="883097"/>
            <a:ext cx="11847150" cy="1600200"/>
            <a:chOff x="159530" y="787400"/>
            <a:chExt cx="11847150" cy="1600200"/>
          </a:xfrm>
        </p:grpSpPr>
        <p:sp>
          <p:nvSpPr>
            <p:cNvPr id="5015" name="eqcard"/>
            <p:cNvSpPr/>
            <p:nvPr/>
          </p:nvSpPr>
          <p:spPr>
            <a:xfrm>
              <a:off x="159530" y="787400"/>
              <a:ext cx="7460470" cy="16002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12700">
              <a:solidFill>
                <a:srgbClr val="C9DED1"/>
              </a:solidFill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7" name="arrow2"/>
            <p:cNvSpPr/>
            <p:nvPr/>
          </p:nvSpPr>
          <p:spPr>
            <a:xfrm>
              <a:off x="7747000" y="1485900"/>
              <a:ext cx="381000" cy="304800"/>
            </a:xfrm>
            <a:prstGeom prst="rightArrow">
              <a:avLst/>
            </a:prstGeom>
            <a:solidFill>
              <a:srgbClr val="C9DED1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8" name="outcard"/>
            <p:cNvSpPr/>
            <p:nvPr/>
          </p:nvSpPr>
          <p:spPr>
            <a:xfrm>
              <a:off x="8255000" y="787400"/>
              <a:ext cx="3751680" cy="1600200"/>
            </a:xfrm>
            <a:prstGeom prst="roundRect">
              <a:avLst>
                <a:gd name="adj" fmla="val 5000"/>
              </a:avLst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9" name="outlab"/>
            <p:cNvSpPr/>
            <p:nvPr/>
          </p:nvSpPr>
          <p:spPr>
            <a:xfrm>
              <a:off x="8483600" y="990600"/>
              <a:ext cx="2971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950" b="1" spc="80">
                  <a:solidFill>
                    <a:srgbClr val="FFFFFF"/>
                  </a:solidFill>
                  <a:latin typeface="Montserrat" pitchFamily="2" charset="77"/>
                </a:rPr>
                <a:t>OUTPUT DO MODELO</a:t>
              </a:r>
            </a:p>
          </p:txBody>
        </p:sp>
        <p:sp>
          <p:nvSpPr>
            <p:cNvPr id="5020" name="outbig"/>
            <p:cNvSpPr/>
            <p:nvPr/>
          </p:nvSpPr>
          <p:spPr>
            <a:xfrm>
              <a:off x="8483600" y="1270000"/>
              <a:ext cx="297180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400" b="1">
                  <a:solidFill>
                    <a:srgbClr val="FFFFFF"/>
                  </a:solidFill>
                  <a:latin typeface="Montserrat" pitchFamily="2" charset="77"/>
                </a:rPr>
                <a:t>A localidade de maior valor é a escolhida</a:t>
              </a:r>
            </a:p>
          </p:txBody>
        </p:sp>
        <p:sp>
          <p:nvSpPr>
            <p:cNvPr id="5021" name="outsub"/>
            <p:cNvSpPr/>
            <p:nvPr/>
          </p:nvSpPr>
          <p:spPr>
            <a:xfrm>
              <a:off x="8483600" y="2032000"/>
              <a:ext cx="29718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>
                  <a:solidFill>
                    <a:srgbClr val="E7F1EA"/>
                  </a:solidFill>
                  <a:latin typeface="Montserrat" pitchFamily="2" charset="77"/>
                </a:rPr>
                <a:t>*Modelo individual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F2CE470-BA60-F6F9-CCF3-3C0AA9FAE566}"/>
                    </a:ext>
                  </a:extLst>
                </p:cNvPr>
                <p:cNvSpPr txBox="1"/>
                <p:nvPr/>
              </p:nvSpPr>
              <p:spPr>
                <a:xfrm>
                  <a:off x="1051315" y="1151467"/>
                  <a:ext cx="5676900" cy="86575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00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pt-BR" sz="20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lim>
                                </m:limLow>
                              </m:fName>
                              <m:e>
                                <m:nary>
                                  <m:naryPr>
                                    <m:chr m:val="∑"/>
                                    <m:ctrl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𝛿</m:t>
                                        </m:r>
                                      </m:e>
                                      <m:sup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p>
                                    </m:sSup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𝐸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𝑤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𝑚𝑡</m:t>
                                                    </m:r>
                                                    <m:d>
                                                      <m:dPr>
                                                        <m:ctrlPr>
                                                          <a:rPr lang="pt-BR" sz="20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𝑠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𝑟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d>
                                                  </m:sub>
                                                </m:sSub>
                                              </m:e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𝐵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𝑚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  <m:t>𝑝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  <m:t>𝑚𝑡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𝑟𝑚𝑡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𝑠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𝑟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sub>
                                        </m:sSub>
                                      </m:e>
                                    </m:d>
                                  </m:e>
                                </m:nary>
                              </m:e>
                            </m:func>
                          </m:e>
                        </m:func>
                      </m:oMath>
                    </m:oMathPara>
                  </a14:m>
                  <a:endParaRPr lang="pt-BR" sz="2000" b="1" i="1">
                    <a:latin typeface="Montserrat" pitchFamily="2" charset="77"/>
                  </a:endParaRP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F2CE470-BA60-F6F9-CCF3-3C0AA9FAE5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1315" y="1151467"/>
                  <a:ext cx="5676900" cy="86575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01" name="eqlab"/>
            <p:cNvSpPr/>
            <p:nvPr/>
          </p:nvSpPr>
          <p:spPr>
            <a:xfrm>
              <a:off x="254000" y="863600"/>
              <a:ext cx="67056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 b="1" spc="80">
                  <a:solidFill>
                    <a:srgbClr val="056429"/>
                  </a:solidFill>
                  <a:latin typeface="Montserrat" pitchFamily="2" charset="77"/>
                </a:rPr>
                <a:t>MOEHLING et al. (2020), EQ. 1, P. 184</a:t>
              </a:r>
            </a:p>
          </p:txBody>
        </p:sp>
        <p:sp>
          <p:nvSpPr>
            <p:cNvPr id="7002" name="eqleg"/>
            <p:cNvSpPr/>
            <p:nvPr/>
          </p:nvSpPr>
          <p:spPr>
            <a:xfrm>
              <a:off x="409965" y="2146300"/>
              <a:ext cx="69596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ctr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m</a:t>
              </a:r>
              <a:r>
                <a:rPr lang="pt-BR" sz="1000" b="1" i="1" baseline="30000">
                  <a:solidFill>
                    <a:srgbClr val="114719"/>
                  </a:solidFill>
                  <a:latin typeface="Montserrat" pitchFamily="2" charset="77"/>
                </a:rPr>
                <a:t>*</a:t>
              </a:r>
              <a:r>
                <a:rPr lang="pt-BR" sz="1000" b="1" i="1" baseline="-25000">
                  <a:solidFill>
                    <a:srgbClr val="114719"/>
                  </a:solidFill>
                  <a:latin typeface="Montserrat" pitchFamily="2" charset="77"/>
                </a:rPr>
                <a:t>r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Local escolhido por r  ·  </a:t>
              </a: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I</a:t>
              </a:r>
              <a:r>
                <a:rPr lang="pt-BR" sz="1000" b="1" i="1" baseline="-25000">
                  <a:solidFill>
                    <a:srgbClr val="114719"/>
                  </a:solidFill>
                  <a:latin typeface="Montserrat" pitchFamily="2" charset="77"/>
                </a:rPr>
                <a:t>r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ofertas disponíveis a r  ·  </a:t>
              </a:r>
              <a:r>
                <a:rPr lang="pt-BR" sz="1000" b="1" i="1" err="1">
                  <a:solidFill>
                    <a:srgbClr val="114719"/>
                  </a:solidFill>
                  <a:latin typeface="Montserrat" pitchFamily="2" charset="77"/>
                </a:rPr>
                <a:t>δ</a:t>
              </a:r>
              <a:r>
                <a:rPr lang="pt-BR" sz="1000" b="1" i="1" baseline="30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desconto do ano t  ·  </a:t>
              </a: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fim da carreira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1386C36-6728-C9F2-EDD9-E644D6AB1972}"/>
              </a:ext>
            </a:extLst>
          </p:cNvPr>
          <p:cNvGrpSpPr/>
          <p:nvPr/>
        </p:nvGrpSpPr>
        <p:grpSpPr>
          <a:xfrm>
            <a:off x="159530" y="3220536"/>
            <a:ext cx="3780000" cy="2022814"/>
            <a:chOff x="426230" y="3200400"/>
            <a:chExt cx="3780000" cy="2022814"/>
          </a:xfrm>
        </p:grpSpPr>
        <p:sp>
          <p:nvSpPr>
            <p:cNvPr id="5024" name="dc0"/>
            <p:cNvSpPr/>
            <p:nvPr/>
          </p:nvSpPr>
          <p:spPr>
            <a:xfrm>
              <a:off x="426230" y="3200400"/>
              <a:ext cx="3780000" cy="2022814"/>
            </a:xfrm>
            <a:prstGeom prst="roundRect">
              <a:avLst>
                <a:gd name="adj" fmla="val 8000"/>
              </a:avLst>
            </a:prstGeom>
            <a:solidFill>
              <a:srgbClr val="F3F7F3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25" name="dtag0"/>
            <p:cNvSpPr/>
            <p:nvPr/>
          </p:nvSpPr>
          <p:spPr>
            <a:xfrm>
              <a:off x="3289300" y="3327400"/>
              <a:ext cx="787400" cy="228600"/>
            </a:xfrm>
            <a:prstGeom prst="roundRect">
              <a:avLst>
                <a:gd name="adj" fmla="val 26000"/>
              </a:avLst>
            </a:prstGeom>
            <a:solidFill>
              <a:srgbClr val="A4F09A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056429"/>
                  </a:solidFill>
                  <a:latin typeface="Montserrat" pitchFamily="2" charset="77"/>
                </a:rPr>
                <a:t>ELEVA</a:t>
              </a:r>
            </a:p>
          </p:txBody>
        </p:sp>
        <p:sp>
          <p:nvSpPr>
            <p:cNvPr id="5027" name="dtxt0"/>
            <p:cNvSpPr/>
            <p:nvPr/>
          </p:nvSpPr>
          <p:spPr>
            <a:xfrm>
              <a:off x="703330" y="4737100"/>
              <a:ext cx="3225800" cy="431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100">
                  <a:solidFill>
                    <a:srgbClr val="3A3A3A"/>
                  </a:solidFill>
                  <a:latin typeface="Montserrat" pitchFamily="2" charset="77"/>
                </a:rPr>
                <a:t>Bolsa maior aumenta o valor da vaga, e rende mais onde os preços são baixos.</a:t>
              </a:r>
            </a:p>
          </p:txBody>
        </p:sp>
        <p:sp>
          <p:nvSpPr>
            <p:cNvPr id="6001" name="dvar0"/>
            <p:cNvSpPr/>
            <p:nvPr/>
          </p:nvSpPr>
          <p:spPr>
            <a:xfrm>
              <a:off x="596900" y="3327400"/>
              <a:ext cx="1152000" cy="22860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50" b="1" i="1">
                  <a:solidFill>
                    <a:srgbClr val="114719"/>
                  </a:solidFill>
                  <a:latin typeface="Montserrat" pitchFamily="2" charset="77"/>
                </a:rPr>
                <a:t>Salário : E(</a:t>
              </a:r>
              <a:r>
                <a:rPr lang="pt-BR" sz="1050" b="1" i="1" err="1">
                  <a:solidFill>
                    <a:srgbClr val="114719"/>
                  </a:solidFill>
                  <a:latin typeface="Montserrat" pitchFamily="2" charset="77"/>
                </a:rPr>
                <a:t>w</a:t>
              </a:r>
              <a:r>
                <a:rPr lang="pt-BR" sz="1050" b="1" i="1" baseline="-25000" err="1">
                  <a:solidFill>
                    <a:srgbClr val="114719"/>
                  </a:solidFill>
                  <a:latin typeface="Montserrat" pitchFamily="2" charset="77"/>
                </a:rPr>
                <a:t>mt</a:t>
              </a:r>
              <a:r>
                <a:rPr lang="pt-BR" sz="1050" b="1" i="1">
                  <a:solidFill>
                    <a:srgbClr val="114719"/>
                  </a:solidFill>
                  <a:latin typeface="Montserrat" pitchFamily="2" charset="77"/>
                </a:rPr>
                <a:t>)</a:t>
              </a:r>
            </a:p>
          </p:txBody>
        </p:sp>
        <p:sp>
          <p:nvSpPr>
            <p:cNvPr id="7010" name="dsrc0"/>
            <p:cNvSpPr/>
            <p:nvPr/>
          </p:nvSpPr>
          <p:spPr>
            <a:xfrm>
              <a:off x="609600" y="3657600"/>
              <a:ext cx="3225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900" b="1" spc="60">
                  <a:solidFill>
                    <a:srgbClr val="056429"/>
                  </a:solidFill>
                  <a:latin typeface="Montserrat" pitchFamily="2" charset="77"/>
                </a:rPr>
                <a:t>MOEHLING et al. (2020)</a:t>
              </a:r>
            </a:p>
          </p:txBody>
        </p:sp>
        <p:sp>
          <p:nvSpPr>
            <p:cNvPr id="7020" name="deqbox0"/>
            <p:cNvSpPr/>
            <p:nvPr/>
          </p:nvSpPr>
          <p:spPr>
            <a:xfrm>
              <a:off x="703330" y="3898900"/>
              <a:ext cx="3225800" cy="7112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>
              <a:noFill/>
            </a:ln>
          </p:spPr>
          <p:txBody>
            <a:bodyPr wrap="square" lIns="127000" tIns="0" rIns="127000" bIns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Bolsa do programa (B)</a:t>
              </a:r>
            </a:p>
            <a:p>
              <a:pPr marL="0" indent="0" algn="ctr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050">
                  <a:solidFill>
                    <a:srgbClr val="6B6B6B"/>
                  </a:solidFill>
                  <a:latin typeface="Montserrat" pitchFamily="2" charset="77"/>
                </a:rPr>
                <a:t>+ remuneração esperada na especialidade</a:t>
              </a:r>
            </a:p>
          </p:txBody>
        </p:sp>
      </p:grpSp>
      <p:sp>
        <p:nvSpPr>
          <p:cNvPr id="8" name="CaixaDeTexto 4">
            <a:extLst>
              <a:ext uri="{FF2B5EF4-FFF2-40B4-BE49-F238E27FC236}">
                <a16:creationId xmlns:a16="http://schemas.microsoft.com/office/drawing/2014/main" id="{4ED7D5E3-3F74-3D24-DA4B-105C05C4254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  <p:sp>
        <p:nvSpPr>
          <p:cNvPr id="12" name="cBox">
            <a:extLst>
              <a:ext uri="{FF2B5EF4-FFF2-40B4-BE49-F238E27FC236}">
                <a16:creationId xmlns:a16="http://schemas.microsoft.com/office/drawing/2014/main" id="{77C4FC2B-B569-D04E-0597-318B6125D96E}"/>
              </a:ext>
            </a:extLst>
          </p:cNvPr>
          <p:cNvSpPr/>
          <p:nvPr/>
        </p:nvSpPr>
        <p:spPr>
          <a:xfrm>
            <a:off x="159531" y="5473700"/>
            <a:ext cx="1184715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4" name="cText">
            <a:extLst>
              <a:ext uri="{FF2B5EF4-FFF2-40B4-BE49-F238E27FC236}">
                <a16:creationId xmlns:a16="http://schemas.microsoft.com/office/drawing/2014/main" id="{A2857889-E60E-682B-C005-EB6698412C4A}"/>
              </a:ext>
            </a:extLst>
          </p:cNvPr>
          <p:cNvSpPr txBox="1"/>
          <p:nvPr/>
        </p:nvSpPr>
        <p:spPr>
          <a:xfrm>
            <a:off x="457200" y="5613400"/>
            <a:ext cx="112776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A política mexe em apenas uma variável:  </a:t>
            </a:r>
            <a:r>
              <a:rPr lang="pt-BR" sz="1500" b="1">
                <a:latin typeface="Montserrat" pitchFamily="2" charset="77"/>
              </a:rPr>
              <a:t>eleva E(</a:t>
            </a:r>
            <a:r>
              <a:rPr lang="pt-BR" sz="1500" b="1" err="1">
                <a:latin typeface="Montserrat" pitchFamily="2" charset="77"/>
              </a:rPr>
              <a:t>w|B</a:t>
            </a:r>
            <a:r>
              <a:rPr lang="pt-BR" sz="1500" b="1">
                <a:latin typeface="Montserrat" pitchFamily="2" charset="77"/>
              </a:rPr>
              <a:t>) por (B)</a:t>
            </a:r>
            <a:r>
              <a:rPr lang="pt-BR" sz="1500">
                <a:latin typeface="Montserrat" pitchFamily="2" charset="77"/>
              </a:rPr>
              <a:t>. Preços e custo do local continuam contra e é a soma das três variáveis que determina se a vaga é preenchida.</a:t>
            </a:r>
            <a:endParaRPr lang="pt-BR" sz="1500">
              <a:solidFill>
                <a:srgbClr val="3A3A3A"/>
              </a:solidFill>
              <a:latin typeface="Montserrat" pitchFamily="2" charset="77"/>
            </a:endParaRPr>
          </a:p>
        </p:txBody>
      </p:sp>
      <p:sp>
        <p:nvSpPr>
          <p:cNvPr id="17" name="cBar">
            <a:extLst>
              <a:ext uri="{FF2B5EF4-FFF2-40B4-BE49-F238E27FC236}">
                <a16:creationId xmlns:a16="http://schemas.microsoft.com/office/drawing/2014/main" id="{CCA83683-5054-1963-ED4D-F30F2D83ABF4}"/>
              </a:ext>
            </a:extLst>
          </p:cNvPr>
          <p:cNvSpPr/>
          <p:nvPr/>
        </p:nvSpPr>
        <p:spPr>
          <a:xfrm>
            <a:off x="1778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07F5604-F7BA-871E-238E-4A2850FBE5A4}"/>
              </a:ext>
            </a:extLst>
          </p:cNvPr>
          <p:cNvGrpSpPr/>
          <p:nvPr/>
        </p:nvGrpSpPr>
        <p:grpSpPr>
          <a:xfrm>
            <a:off x="8226680" y="3220536"/>
            <a:ext cx="3780000" cy="2022814"/>
            <a:chOff x="8226680" y="3220536"/>
            <a:chExt cx="3780000" cy="2022814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FC0B1137-60C1-AF85-7A67-EC8E72FDD3A6}"/>
                </a:ext>
              </a:extLst>
            </p:cNvPr>
            <p:cNvGrpSpPr/>
            <p:nvPr/>
          </p:nvGrpSpPr>
          <p:grpSpPr>
            <a:xfrm>
              <a:off x="8226680" y="3220536"/>
              <a:ext cx="3780000" cy="2022814"/>
              <a:chOff x="426230" y="3200400"/>
              <a:chExt cx="3780000" cy="2022814"/>
            </a:xfrm>
          </p:grpSpPr>
          <p:sp>
            <p:nvSpPr>
              <p:cNvPr id="28" name="dc0">
                <a:extLst>
                  <a:ext uri="{FF2B5EF4-FFF2-40B4-BE49-F238E27FC236}">
                    <a16:creationId xmlns:a16="http://schemas.microsoft.com/office/drawing/2014/main" id="{9EAB2D78-14F6-8CD0-EC43-03F431E97CE7}"/>
                  </a:ext>
                </a:extLst>
              </p:cNvPr>
              <p:cNvSpPr/>
              <p:nvPr/>
            </p:nvSpPr>
            <p:spPr>
              <a:xfrm>
                <a:off x="426230" y="3200400"/>
                <a:ext cx="3780000" cy="2022814"/>
              </a:xfrm>
              <a:prstGeom prst="roundRect">
                <a:avLst>
                  <a:gd name="adj" fmla="val 8000"/>
                </a:avLst>
              </a:prstGeom>
              <a:solidFill>
                <a:srgbClr val="F3F7F3"/>
              </a:solidFill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buNone/>
                </a:pPr>
                <a:endParaRPr/>
              </a:p>
            </p:txBody>
          </p:sp>
          <p:sp>
            <p:nvSpPr>
              <p:cNvPr id="29" name="dtag0">
                <a:extLst>
                  <a:ext uri="{FF2B5EF4-FFF2-40B4-BE49-F238E27FC236}">
                    <a16:creationId xmlns:a16="http://schemas.microsoft.com/office/drawing/2014/main" id="{A15F6ADD-AB16-119F-534B-A19AFB6E5D33}"/>
                  </a:ext>
                </a:extLst>
              </p:cNvPr>
              <p:cNvSpPr/>
              <p:nvPr/>
            </p:nvSpPr>
            <p:spPr>
              <a:xfrm>
                <a:off x="3289300" y="3327400"/>
                <a:ext cx="787400" cy="228600"/>
              </a:xfrm>
              <a:prstGeom prst="roundRect">
                <a:avLst>
                  <a:gd name="adj" fmla="val 26000"/>
                </a:avLst>
              </a:prstGeom>
              <a:solidFill>
                <a:srgbClr val="A4F09A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endParaRPr lang="pt-BR" sz="1000" b="1" spc="60">
                  <a:solidFill>
                    <a:srgbClr val="05642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0" name="dtxt0">
                <a:extLst>
                  <a:ext uri="{FF2B5EF4-FFF2-40B4-BE49-F238E27FC236}">
                    <a16:creationId xmlns:a16="http://schemas.microsoft.com/office/drawing/2014/main" id="{DDC9C0FD-6435-DAA1-EF56-065F442D40B5}"/>
                  </a:ext>
                </a:extLst>
              </p:cNvPr>
              <p:cNvSpPr/>
              <p:nvPr/>
            </p:nvSpPr>
            <p:spPr>
              <a:xfrm>
                <a:off x="703330" y="4737100"/>
                <a:ext cx="32258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r>
                  <a:rPr lang="pt-BR" sz="1100">
                    <a:solidFill>
                      <a:srgbClr val="3A3A3A"/>
                    </a:solidFill>
                    <a:latin typeface="Montserrat" pitchFamily="2" charset="77"/>
                  </a:rPr>
                  <a:t>Custo não monetário de exercer ali; o altruísmo do médico (α) compensa em parte.</a:t>
                </a:r>
              </a:p>
            </p:txBody>
          </p:sp>
          <p:sp>
            <p:nvSpPr>
              <p:cNvPr id="31" name="dvar0">
                <a:extLst>
                  <a:ext uri="{FF2B5EF4-FFF2-40B4-BE49-F238E27FC236}">
                    <a16:creationId xmlns:a16="http://schemas.microsoft.com/office/drawing/2014/main" id="{34186870-6228-808B-03D0-88668B8D42D0}"/>
                  </a:ext>
                </a:extLst>
              </p:cNvPr>
              <p:cNvSpPr/>
              <p:nvPr/>
            </p:nvSpPr>
            <p:spPr>
              <a:xfrm>
                <a:off x="596900" y="3358348"/>
                <a:ext cx="1571430" cy="230400"/>
              </a:xfrm>
              <a:prstGeom prst="roundRect">
                <a:avLst>
                  <a:gd name="adj" fmla="val 26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>
                  <a:lnSpc>
                    <a:spcPct val="104000"/>
                  </a:lnSpc>
                </a:pPr>
                <a:r>
                  <a:rPr lang="pt-BR" sz="1050" b="1" i="1">
                    <a:solidFill>
                      <a:srgbClr val="114719"/>
                    </a:solidFill>
                    <a:latin typeface="Montserrat" pitchFamily="2" charset="77"/>
                  </a:rPr>
                  <a:t>Custo laboral : </a:t>
                </a:r>
                <a:r>
                  <a:rPr lang="pt-BR" sz="1050" b="1" i="1" err="1">
                    <a:solidFill>
                      <a:srgbClr val="114719"/>
                    </a:solidFill>
                    <a:latin typeface="Montserrat" pitchFamily="2" charset="77"/>
                  </a:rPr>
                  <a:t>c</a:t>
                </a:r>
                <a:r>
                  <a:rPr lang="pt-BR" sz="1050" b="1" i="1" baseline="-25000" err="1">
                    <a:solidFill>
                      <a:srgbClr val="114719"/>
                    </a:solidFill>
                    <a:latin typeface="Montserrat" pitchFamily="2" charset="77"/>
                  </a:rPr>
                  <a:t>rmt</a:t>
                </a:r>
                <a:r>
                  <a:rPr lang="pt-BR" sz="1050" b="1" i="1" baseline="-25000">
                    <a:solidFill>
                      <a:srgbClr val="114719"/>
                    </a:solidFill>
                    <a:latin typeface="Montserrat" pitchFamily="2" charset="77"/>
                  </a:rPr>
                  <a:t>(s)</a:t>
                </a:r>
                <a:endParaRPr lang="pt-BR" sz="1050" b="1" i="1">
                  <a:solidFill>
                    <a:srgbClr val="11471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2" name="dsrc0">
                <a:extLst>
                  <a:ext uri="{FF2B5EF4-FFF2-40B4-BE49-F238E27FC236}">
                    <a16:creationId xmlns:a16="http://schemas.microsoft.com/office/drawing/2014/main" id="{ED44702B-9863-81AB-93C2-FAF24B217CC1}"/>
                  </a:ext>
                </a:extLst>
              </p:cNvPr>
              <p:cNvSpPr/>
              <p:nvPr/>
            </p:nvSpPr>
            <p:spPr>
              <a:xfrm>
                <a:off x="609600" y="3657600"/>
                <a:ext cx="32258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marL="0" indent="0" algn="l">
                  <a:lnSpc>
                    <a:spcPct val="104000"/>
                  </a:lnSpc>
                  <a:spcAft>
                    <a:spcPts val="0"/>
                  </a:spcAft>
                  <a:buNone/>
                </a:pPr>
                <a:r>
                  <a:rPr lang="pt-BR" sz="900" b="1" spc="60">
                    <a:solidFill>
                      <a:srgbClr val="056429"/>
                    </a:solidFill>
                    <a:latin typeface="Montserrat" pitchFamily="2" charset="77"/>
                  </a:rPr>
                  <a:t>CHONÉ &amp; MA (2011)</a:t>
                </a:r>
              </a:p>
            </p:txBody>
          </p:sp>
          <p:sp>
            <p:nvSpPr>
              <p:cNvPr id="33" name="deqbox0">
                <a:extLst>
                  <a:ext uri="{FF2B5EF4-FFF2-40B4-BE49-F238E27FC236}">
                    <a16:creationId xmlns:a16="http://schemas.microsoft.com/office/drawing/2014/main" id="{A30A6E9C-34B8-86F0-153F-D5DDC40B9248}"/>
                  </a:ext>
                </a:extLst>
              </p:cNvPr>
              <p:cNvSpPr/>
              <p:nvPr/>
            </p:nvSpPr>
            <p:spPr>
              <a:xfrm>
                <a:off x="703330" y="3898900"/>
                <a:ext cx="3225800" cy="7112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 lIns="127000" tIns="0" rIns="127000" bIns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300" b="1">
                    <a:solidFill>
                      <a:srgbClr val="114719"/>
                    </a:solidFill>
                    <a:latin typeface="Montserrat" pitchFamily="2" charset="77"/>
                  </a:rPr>
                  <a:t>Esforço para atender</a:t>
                </a:r>
              </a:p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050">
                    <a:solidFill>
                      <a:srgbClr val="6B6B6B"/>
                    </a:solidFill>
                    <a:latin typeface="Montserrat" pitchFamily="2" charset="77"/>
                  </a:rPr>
                  <a:t>Aumenta com equipe e equipamentos ruins</a:t>
                </a:r>
              </a:p>
            </p:txBody>
          </p:sp>
        </p:grpSp>
        <p:sp>
          <p:nvSpPr>
            <p:cNvPr id="35" name="dtag1">
              <a:extLst>
                <a:ext uri="{FF2B5EF4-FFF2-40B4-BE49-F238E27FC236}">
                  <a16:creationId xmlns:a16="http://schemas.microsoft.com/office/drawing/2014/main" id="{F93A6B1A-AF39-F751-A85B-E35D0BCE739F}"/>
                </a:ext>
              </a:extLst>
            </p:cNvPr>
            <p:cNvSpPr/>
            <p:nvPr/>
          </p:nvSpPr>
          <p:spPr>
            <a:xfrm>
              <a:off x="11080563" y="3346315"/>
              <a:ext cx="792000" cy="228600"/>
            </a:xfrm>
            <a:prstGeom prst="roundRect">
              <a:avLst>
                <a:gd name="adj" fmla="val 26000"/>
              </a:avLst>
            </a:prstGeom>
            <a:solidFill>
              <a:srgbClr val="FE8884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3A3A3A"/>
                  </a:solidFill>
                  <a:latin typeface="Montserrat" pitchFamily="2" charset="77"/>
                </a:rPr>
                <a:t>REDUZ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6F0CDB1-E695-AA5B-A9B2-A7EC6FF1D8ED}"/>
              </a:ext>
            </a:extLst>
          </p:cNvPr>
          <p:cNvGrpSpPr/>
          <p:nvPr/>
        </p:nvGrpSpPr>
        <p:grpSpPr>
          <a:xfrm>
            <a:off x="4193105" y="3220536"/>
            <a:ext cx="3780000" cy="2022814"/>
            <a:chOff x="4193105" y="3220536"/>
            <a:chExt cx="3780000" cy="2022814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BDD04F1-9736-FB3B-9AC3-1AFDD3EB15C6}"/>
                </a:ext>
              </a:extLst>
            </p:cNvPr>
            <p:cNvGrpSpPr/>
            <p:nvPr/>
          </p:nvGrpSpPr>
          <p:grpSpPr>
            <a:xfrm>
              <a:off x="4193105" y="3220536"/>
              <a:ext cx="3780000" cy="2022814"/>
              <a:chOff x="426230" y="3200400"/>
              <a:chExt cx="3780000" cy="2022814"/>
            </a:xfrm>
          </p:grpSpPr>
          <p:sp>
            <p:nvSpPr>
              <p:cNvPr id="37" name="dc0">
                <a:extLst>
                  <a:ext uri="{FF2B5EF4-FFF2-40B4-BE49-F238E27FC236}">
                    <a16:creationId xmlns:a16="http://schemas.microsoft.com/office/drawing/2014/main" id="{E75E5A14-51C9-1E7A-EAC5-C1F0D93CF11E}"/>
                  </a:ext>
                </a:extLst>
              </p:cNvPr>
              <p:cNvSpPr/>
              <p:nvPr/>
            </p:nvSpPr>
            <p:spPr>
              <a:xfrm>
                <a:off x="426230" y="3200400"/>
                <a:ext cx="3780000" cy="2022814"/>
              </a:xfrm>
              <a:prstGeom prst="roundRect">
                <a:avLst>
                  <a:gd name="adj" fmla="val 8000"/>
                </a:avLst>
              </a:prstGeom>
              <a:solidFill>
                <a:srgbClr val="F3F7F3"/>
              </a:solidFill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buNone/>
                </a:pPr>
                <a:endParaRPr/>
              </a:p>
            </p:txBody>
          </p:sp>
          <p:sp>
            <p:nvSpPr>
              <p:cNvPr id="38" name="dtag0">
                <a:extLst>
                  <a:ext uri="{FF2B5EF4-FFF2-40B4-BE49-F238E27FC236}">
                    <a16:creationId xmlns:a16="http://schemas.microsoft.com/office/drawing/2014/main" id="{416C9A75-1B52-51C6-EEEB-AEC371D1DD0B}"/>
                  </a:ext>
                </a:extLst>
              </p:cNvPr>
              <p:cNvSpPr/>
              <p:nvPr/>
            </p:nvSpPr>
            <p:spPr>
              <a:xfrm>
                <a:off x="3289300" y="3327400"/>
                <a:ext cx="787400" cy="228600"/>
              </a:xfrm>
              <a:prstGeom prst="roundRect">
                <a:avLst>
                  <a:gd name="adj" fmla="val 26000"/>
                </a:avLst>
              </a:prstGeom>
              <a:solidFill>
                <a:srgbClr val="A4F09A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endParaRPr lang="pt-BR" sz="1000" b="1" spc="60">
                  <a:solidFill>
                    <a:srgbClr val="05642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9" name="dtxt0">
                <a:extLst>
                  <a:ext uri="{FF2B5EF4-FFF2-40B4-BE49-F238E27FC236}">
                    <a16:creationId xmlns:a16="http://schemas.microsoft.com/office/drawing/2014/main" id="{E826853A-DFB7-6285-C527-6938364948AC}"/>
                  </a:ext>
                </a:extLst>
              </p:cNvPr>
              <p:cNvSpPr/>
              <p:nvPr/>
            </p:nvSpPr>
            <p:spPr>
              <a:xfrm>
                <a:off x="703330" y="4737100"/>
                <a:ext cx="32258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r>
                  <a:rPr lang="pt-BR" sz="1100">
                    <a:solidFill>
                      <a:srgbClr val="3A3A3A"/>
                    </a:solidFill>
                    <a:latin typeface="Montserrat" pitchFamily="2" charset="77"/>
                  </a:rPr>
                  <a:t>Entram como deflator: o mesmo salário vale menos onde morar é mais caro.</a:t>
                </a:r>
              </a:p>
            </p:txBody>
          </p:sp>
          <p:sp>
            <p:nvSpPr>
              <p:cNvPr id="40" name="dvar0">
                <a:extLst>
                  <a:ext uri="{FF2B5EF4-FFF2-40B4-BE49-F238E27FC236}">
                    <a16:creationId xmlns:a16="http://schemas.microsoft.com/office/drawing/2014/main" id="{E6AA1FB3-98A7-DCD6-5ED5-E497F43F3649}"/>
                  </a:ext>
                </a:extLst>
              </p:cNvPr>
              <p:cNvSpPr/>
              <p:nvPr/>
            </p:nvSpPr>
            <p:spPr>
              <a:xfrm>
                <a:off x="596900" y="3358348"/>
                <a:ext cx="1332000" cy="230400"/>
              </a:xfrm>
              <a:prstGeom prst="roundRect">
                <a:avLst>
                  <a:gd name="adj" fmla="val 26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>
                  <a:lnSpc>
                    <a:spcPct val="104000"/>
                  </a:lnSpc>
                </a:pPr>
                <a:r>
                  <a:rPr lang="pt-BR" sz="1050" b="1" i="1">
                    <a:solidFill>
                      <a:srgbClr val="114719"/>
                    </a:solidFill>
                    <a:latin typeface="Montserrat" pitchFamily="2" charset="77"/>
                  </a:rPr>
                  <a:t>Custo local : </a:t>
                </a:r>
                <a:r>
                  <a:rPr lang="pt-BR" sz="1050" b="1" i="1" err="1">
                    <a:solidFill>
                      <a:srgbClr val="114719"/>
                    </a:solidFill>
                    <a:latin typeface="Montserrat" pitchFamily="2" charset="77"/>
                  </a:rPr>
                  <a:t>p</a:t>
                </a:r>
                <a:r>
                  <a:rPr lang="pt-BR" sz="1050" b="1" i="1" baseline="-25000" err="1">
                    <a:solidFill>
                      <a:srgbClr val="114719"/>
                    </a:solidFill>
                    <a:latin typeface="Montserrat" pitchFamily="2" charset="77"/>
                  </a:rPr>
                  <a:t>mt</a:t>
                </a:r>
                <a:endParaRPr lang="pt-BR" sz="1050" b="1" i="1">
                  <a:solidFill>
                    <a:srgbClr val="11471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41" name="dsrc0">
                <a:extLst>
                  <a:ext uri="{FF2B5EF4-FFF2-40B4-BE49-F238E27FC236}">
                    <a16:creationId xmlns:a16="http://schemas.microsoft.com/office/drawing/2014/main" id="{7A4D2D0B-7148-87E4-9650-84932D2F315A}"/>
                  </a:ext>
                </a:extLst>
              </p:cNvPr>
              <p:cNvSpPr/>
              <p:nvPr/>
            </p:nvSpPr>
            <p:spPr>
              <a:xfrm>
                <a:off x="609600" y="3657600"/>
                <a:ext cx="32258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marL="0" indent="0" algn="l">
                  <a:lnSpc>
                    <a:spcPct val="104000"/>
                  </a:lnSpc>
                  <a:spcAft>
                    <a:spcPts val="0"/>
                  </a:spcAft>
                  <a:buNone/>
                </a:pPr>
                <a:r>
                  <a:rPr lang="pt-BR" sz="900" b="1" spc="60">
                    <a:solidFill>
                      <a:srgbClr val="056429"/>
                    </a:solidFill>
                    <a:latin typeface="Montserrat" pitchFamily="2" charset="77"/>
                  </a:rPr>
                  <a:t>REDDING &amp; ROSSI-HANSBERG (2017)</a:t>
                </a:r>
              </a:p>
            </p:txBody>
          </p:sp>
          <p:sp>
            <p:nvSpPr>
              <p:cNvPr id="42" name="deqbox0">
                <a:extLst>
                  <a:ext uri="{FF2B5EF4-FFF2-40B4-BE49-F238E27FC236}">
                    <a16:creationId xmlns:a16="http://schemas.microsoft.com/office/drawing/2014/main" id="{AC7E6CDA-5CC9-D108-4390-98EDAC5831C1}"/>
                  </a:ext>
                </a:extLst>
              </p:cNvPr>
              <p:cNvSpPr/>
              <p:nvPr/>
            </p:nvSpPr>
            <p:spPr>
              <a:xfrm>
                <a:off x="703330" y="3898900"/>
                <a:ext cx="3225800" cy="7112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 lIns="127000" tIns="0" rIns="127000" bIns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300" b="1">
                    <a:solidFill>
                      <a:srgbClr val="114719"/>
                    </a:solidFill>
                    <a:latin typeface="Montserrat" pitchFamily="2" charset="77"/>
                  </a:rPr>
                  <a:t>Segurança, deslocamento </a:t>
                </a:r>
                <a:r>
                  <a:rPr lang="pt-BR" sz="1300" b="1" err="1">
                    <a:solidFill>
                      <a:srgbClr val="114719"/>
                    </a:solidFill>
                    <a:latin typeface="Montserrat" pitchFamily="2" charset="77"/>
                  </a:rPr>
                  <a:t>etc</a:t>
                </a:r>
                <a:endParaRPr lang="pt-BR" sz="1300" b="1">
                  <a:solidFill>
                    <a:srgbClr val="114719"/>
                  </a:solidFill>
                  <a:latin typeface="Montserrat" pitchFamily="2" charset="77"/>
                </a:endParaRPr>
              </a:p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050">
                    <a:solidFill>
                      <a:srgbClr val="6B6B6B"/>
                    </a:solidFill>
                    <a:latin typeface="Montserrat" pitchFamily="2" charset="77"/>
                  </a:rPr>
                  <a:t>Nível de amenidades da cidade</a:t>
                </a:r>
              </a:p>
            </p:txBody>
          </p:sp>
        </p:grpSp>
        <p:sp>
          <p:nvSpPr>
            <p:cNvPr id="44" name="dtag1">
              <a:extLst>
                <a:ext uri="{FF2B5EF4-FFF2-40B4-BE49-F238E27FC236}">
                  <a16:creationId xmlns:a16="http://schemas.microsoft.com/office/drawing/2014/main" id="{57FB25C5-8DA7-A315-AA4A-070CA5084803}"/>
                </a:ext>
              </a:extLst>
            </p:cNvPr>
            <p:cNvSpPr/>
            <p:nvPr/>
          </p:nvSpPr>
          <p:spPr>
            <a:xfrm>
              <a:off x="7054729" y="3340419"/>
              <a:ext cx="787400" cy="234000"/>
            </a:xfrm>
            <a:prstGeom prst="roundRect">
              <a:avLst>
                <a:gd name="adj" fmla="val 26000"/>
              </a:avLst>
            </a:prstGeom>
            <a:solidFill>
              <a:srgbClr val="FE8884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3A3A3A"/>
                  </a:solidFill>
                  <a:latin typeface="Montserrat" pitchFamily="2" charset="77"/>
                </a:rPr>
                <a:t>REDUZ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03129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botbox">
            <a:extLst>
              <a:ext uri="{FF2B5EF4-FFF2-40B4-BE49-F238E27FC236}">
                <a16:creationId xmlns:a16="http://schemas.microsoft.com/office/drawing/2014/main" id="{AF8D5A6F-298C-2004-656E-B3B43A86845B}"/>
              </a:ext>
            </a:extLst>
          </p:cNvPr>
          <p:cNvSpPr/>
          <p:nvPr/>
        </p:nvSpPr>
        <p:spPr>
          <a:xfrm>
            <a:off x="386080" y="5062046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9" name="botbar">
            <a:extLst>
              <a:ext uri="{FF2B5EF4-FFF2-40B4-BE49-F238E27FC236}">
                <a16:creationId xmlns:a16="http://schemas.microsoft.com/office/drawing/2014/main" id="{67234D4C-720E-66BD-C94F-63FC619BBCAB}"/>
              </a:ext>
            </a:extLst>
          </p:cNvPr>
          <p:cNvSpPr/>
          <p:nvPr/>
        </p:nvSpPr>
        <p:spPr>
          <a:xfrm>
            <a:off x="386080" y="5150199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F10025A-02C8-A636-807B-8FEEE2545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Da escolha individual ao preenchimento agregado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3FF70F-8BE4-5713-ABB4-C799A1D73E1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Intuição econômica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2219B5-E25A-9B03-3AFF-A115A8A07FA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Como escolhas individuais se transformam em preenchimento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19CD4EA-475D-309C-0FC8-E9EFB5BA118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II. Formalização da agregação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4B2A119-65A1-1C9A-0672-DBBDF0002A4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Da escolha ótima do médico à probabilidade de preenchimento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8B4E9A4-E1C1-67A3-6CDD-E50BC84EDA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18</a:t>
            </a:fld>
            <a:endParaRPr lang="en-US"/>
          </a:p>
        </p:txBody>
      </p:sp>
      <p:sp>
        <p:nvSpPr>
          <p:cNvPr id="15" name="connector">
            <a:extLst>
              <a:ext uri="{FF2B5EF4-FFF2-40B4-BE49-F238E27FC236}">
                <a16:creationId xmlns:a16="http://schemas.microsoft.com/office/drawing/2014/main" id="{6F13FE3F-34E6-E99B-6E4F-C2058D96F243}"/>
              </a:ext>
            </a:extLst>
          </p:cNvPr>
          <p:cNvSpPr/>
          <p:nvPr/>
        </p:nvSpPr>
        <p:spPr>
          <a:xfrm>
            <a:off x="444199" y="1803694"/>
            <a:ext cx="25400" cy="23876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6" name="num0">
            <a:extLst>
              <a:ext uri="{FF2B5EF4-FFF2-40B4-BE49-F238E27FC236}">
                <a16:creationId xmlns:a16="http://schemas.microsoft.com/office/drawing/2014/main" id="{EBA2EBAB-23E0-CE9C-4EBC-4CF32E8933DD}"/>
              </a:ext>
            </a:extLst>
          </p:cNvPr>
          <p:cNvSpPr/>
          <p:nvPr/>
        </p:nvSpPr>
        <p:spPr>
          <a:xfrm>
            <a:off x="228299" y="15750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17" name="rt0">
            <a:extLst>
              <a:ext uri="{FF2B5EF4-FFF2-40B4-BE49-F238E27FC236}">
                <a16:creationId xmlns:a16="http://schemas.microsoft.com/office/drawing/2014/main" id="{D9DD11E8-3A69-89FC-87DA-BBC6693D7C3D}"/>
              </a:ext>
            </a:extLst>
          </p:cNvPr>
          <p:cNvSpPr/>
          <p:nvPr/>
        </p:nvSpPr>
        <p:spPr>
          <a:xfrm>
            <a:off x="888699" y="16042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Cada médico prefere uma oferta</a:t>
            </a:r>
          </a:p>
        </p:txBody>
      </p:sp>
      <p:sp>
        <p:nvSpPr>
          <p:cNvPr id="18" name="rd0">
            <a:extLst>
              <a:ext uri="{FF2B5EF4-FFF2-40B4-BE49-F238E27FC236}">
                <a16:creationId xmlns:a16="http://schemas.microsoft.com/office/drawing/2014/main" id="{19BCA68D-BE35-DD0B-5D95-58381103E27E}"/>
              </a:ext>
            </a:extLst>
          </p:cNvPr>
          <p:cNvSpPr/>
          <p:nvPr/>
        </p:nvSpPr>
        <p:spPr>
          <a:xfrm>
            <a:off x="888699" y="18174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Entre as ofertas disponíveis para ele (I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), fica com a de maior valor </a:t>
            </a:r>
            <a:r>
              <a:rPr lang="pt-BR" sz="1100" err="1">
                <a:solidFill>
                  <a:srgbClr val="3A3A3A"/>
                </a:solidFill>
                <a:latin typeface="Montserrat" pitchFamily="2" charset="77"/>
              </a:rPr>
              <a:t>V</a:t>
            </a:r>
            <a:r>
              <a:rPr lang="pt-BR" sz="1100" baseline="-25000" err="1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19" name="num1">
            <a:extLst>
              <a:ext uri="{FF2B5EF4-FFF2-40B4-BE49-F238E27FC236}">
                <a16:creationId xmlns:a16="http://schemas.microsoft.com/office/drawing/2014/main" id="{D7785EC7-A021-096B-77CA-F06B0642E0FF}"/>
              </a:ext>
            </a:extLst>
          </p:cNvPr>
          <p:cNvSpPr/>
          <p:nvPr/>
        </p:nvSpPr>
        <p:spPr>
          <a:xfrm>
            <a:off x="228299" y="27688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0" name="rt1">
            <a:extLst>
              <a:ext uri="{FF2B5EF4-FFF2-40B4-BE49-F238E27FC236}">
                <a16:creationId xmlns:a16="http://schemas.microsoft.com/office/drawing/2014/main" id="{B5BF498B-2250-935F-760C-91C26ECA3B89}"/>
              </a:ext>
            </a:extLst>
          </p:cNvPr>
          <p:cNvSpPr/>
          <p:nvPr/>
        </p:nvSpPr>
        <p:spPr>
          <a:xfrm>
            <a:off x="888699" y="27980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Médicos diferem entre si</a:t>
            </a:r>
          </a:p>
        </p:txBody>
      </p:sp>
      <p:sp>
        <p:nvSpPr>
          <p:cNvPr id="21" name="rd1">
            <a:extLst>
              <a:ext uri="{FF2B5EF4-FFF2-40B4-BE49-F238E27FC236}">
                <a16:creationId xmlns:a16="http://schemas.microsoft.com/office/drawing/2014/main" id="{C8000939-E5FC-1776-E966-2CFE42669B3A}"/>
              </a:ext>
            </a:extLst>
          </p:cNvPr>
          <p:cNvSpPr/>
          <p:nvPr/>
        </p:nvSpPr>
        <p:spPr>
          <a:xfrm>
            <a:off x="888699" y="30112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Especialidade, vínculos e preferências variam: 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é a parcela de médicos que prefere m.</a:t>
            </a:r>
          </a:p>
        </p:txBody>
      </p:sp>
      <p:sp>
        <p:nvSpPr>
          <p:cNvPr id="22" name="num2">
            <a:extLst>
              <a:ext uri="{FF2B5EF4-FFF2-40B4-BE49-F238E27FC236}">
                <a16:creationId xmlns:a16="http://schemas.microsoft.com/office/drawing/2014/main" id="{B412C146-BC06-335B-656C-C901EC544905}"/>
              </a:ext>
            </a:extLst>
          </p:cNvPr>
          <p:cNvSpPr/>
          <p:nvPr/>
        </p:nvSpPr>
        <p:spPr>
          <a:xfrm>
            <a:off x="228299" y="39626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3" name="rt2">
            <a:extLst>
              <a:ext uri="{FF2B5EF4-FFF2-40B4-BE49-F238E27FC236}">
                <a16:creationId xmlns:a16="http://schemas.microsoft.com/office/drawing/2014/main" id="{68C48127-3B37-4719-0910-0605E3579C3A}"/>
              </a:ext>
            </a:extLst>
          </p:cNvPr>
          <p:cNvSpPr/>
          <p:nvPr/>
        </p:nvSpPr>
        <p:spPr>
          <a:xfrm>
            <a:off x="888699" y="39918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Basta um médico para preencher</a:t>
            </a:r>
          </a:p>
        </p:txBody>
      </p:sp>
      <p:sp>
        <p:nvSpPr>
          <p:cNvPr id="24" name="rd2">
            <a:extLst>
              <a:ext uri="{FF2B5EF4-FFF2-40B4-BE49-F238E27FC236}">
                <a16:creationId xmlns:a16="http://schemas.microsoft.com/office/drawing/2014/main" id="{99F257EF-B9EC-E22E-EAC3-28350E7F055C}"/>
              </a:ext>
            </a:extLst>
          </p:cNvPr>
          <p:cNvSpPr/>
          <p:nvPr/>
        </p:nvSpPr>
        <p:spPr>
          <a:xfrm>
            <a:off x="888699" y="42050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Com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 N médicos, a chance de nenhum escolher m é (1 − π</a:t>
            </a:r>
            <a:r>
              <a:rPr lang="pt-BR" sz="115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)</a:t>
            </a:r>
            <a:r>
              <a:rPr lang="pt-BR" sz="1150" baseline="30000">
                <a:solidFill>
                  <a:srgbClr val="3A3A3A"/>
                </a:solidFill>
                <a:latin typeface="Montserrat" pitchFamily="2" charset="77"/>
              </a:rPr>
              <a:t>N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E2195A2-9214-C620-7ECE-59BEE312155A}"/>
              </a:ext>
            </a:extLst>
          </p:cNvPr>
          <p:cNvGrpSpPr/>
          <p:nvPr/>
        </p:nvGrpSpPr>
        <p:grpSpPr>
          <a:xfrm>
            <a:off x="6096000" y="1492277"/>
            <a:ext cx="4455160" cy="3287545"/>
            <a:chOff x="6096000" y="1492277"/>
            <a:chExt cx="4208714" cy="3287545"/>
          </a:xfrm>
        </p:grpSpPr>
        <p:sp>
          <p:nvSpPr>
            <p:cNvPr id="13" name="botbox">
              <a:extLst>
                <a:ext uri="{FF2B5EF4-FFF2-40B4-BE49-F238E27FC236}">
                  <a16:creationId xmlns:a16="http://schemas.microsoft.com/office/drawing/2014/main" id="{053EC8D3-29FB-3FC6-8C2B-AC8420846187}"/>
                </a:ext>
              </a:extLst>
            </p:cNvPr>
            <p:cNvSpPr/>
            <p:nvPr/>
          </p:nvSpPr>
          <p:spPr>
            <a:xfrm>
              <a:off x="6111622" y="1492277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14" name="botbar">
              <a:extLst>
                <a:ext uri="{FF2B5EF4-FFF2-40B4-BE49-F238E27FC236}">
                  <a16:creationId xmlns:a16="http://schemas.microsoft.com/office/drawing/2014/main" id="{FAADA3A9-76A4-F401-BD12-BBAB61653BEE}"/>
                </a:ext>
              </a:extLst>
            </p:cNvPr>
            <p:cNvSpPr/>
            <p:nvPr/>
          </p:nvSpPr>
          <p:spPr>
            <a:xfrm>
              <a:off x="6111622" y="1545265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5" name="botbox">
              <a:extLst>
                <a:ext uri="{FF2B5EF4-FFF2-40B4-BE49-F238E27FC236}">
                  <a16:creationId xmlns:a16="http://schemas.microsoft.com/office/drawing/2014/main" id="{DC2B860C-5A79-1E7B-897D-04961B183508}"/>
                </a:ext>
              </a:extLst>
            </p:cNvPr>
            <p:cNvSpPr/>
            <p:nvPr/>
          </p:nvSpPr>
          <p:spPr>
            <a:xfrm>
              <a:off x="6096000" y="2681042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6" name="botbar">
              <a:extLst>
                <a:ext uri="{FF2B5EF4-FFF2-40B4-BE49-F238E27FC236}">
                  <a16:creationId xmlns:a16="http://schemas.microsoft.com/office/drawing/2014/main" id="{BC22BA68-B9A2-4AB7-5979-BCFA50929489}"/>
                </a:ext>
              </a:extLst>
            </p:cNvPr>
            <p:cNvSpPr/>
            <p:nvPr/>
          </p:nvSpPr>
          <p:spPr>
            <a:xfrm>
              <a:off x="6096000" y="2744788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7" name="botbox">
              <a:extLst>
                <a:ext uri="{FF2B5EF4-FFF2-40B4-BE49-F238E27FC236}">
                  <a16:creationId xmlns:a16="http://schemas.microsoft.com/office/drawing/2014/main" id="{496518F5-5DE3-FB77-6956-26838A027A87}"/>
                </a:ext>
              </a:extLst>
            </p:cNvPr>
            <p:cNvSpPr/>
            <p:nvPr/>
          </p:nvSpPr>
          <p:spPr>
            <a:xfrm>
              <a:off x="6096000" y="3869807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8" name="botbar">
              <a:extLst>
                <a:ext uri="{FF2B5EF4-FFF2-40B4-BE49-F238E27FC236}">
                  <a16:creationId xmlns:a16="http://schemas.microsoft.com/office/drawing/2014/main" id="{740A2AEE-D50D-2B67-7F65-C002673A2E9C}"/>
                </a:ext>
              </a:extLst>
            </p:cNvPr>
            <p:cNvSpPr/>
            <p:nvPr/>
          </p:nvSpPr>
          <p:spPr>
            <a:xfrm>
              <a:off x="6096000" y="3912037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</p:grp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A3B2E965-ABA9-8D3E-8B60-9589B9614E87}"/>
              </a:ext>
            </a:extLst>
          </p:cNvPr>
          <p:cNvSpPr txBox="1">
            <a:spLocks/>
          </p:cNvSpPr>
          <p:nvPr/>
        </p:nvSpPr>
        <p:spPr>
          <a:xfrm>
            <a:off x="6180889" y="1679892"/>
            <a:ext cx="2643076" cy="6377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Escolha Individual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MOEHLING et al. (2020)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39277A1-A7D4-97FC-E69D-34AF91FE1B6E}"/>
                  </a:ext>
                </a:extLst>
              </p:cNvPr>
              <p:cNvSpPr txBox="1"/>
              <p:nvPr/>
            </p:nvSpPr>
            <p:spPr>
              <a:xfrm>
                <a:off x="8291558" y="1571656"/>
                <a:ext cx="1717645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pt-BR" sz="16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lim>
                      </m:limLow>
                      <m:r>
                        <a:rPr lang="pt-BR" sz="1600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𝑟𝑚</m:t>
                          </m:r>
                        </m:sub>
                      </m:sSub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39277A1-A7D4-97FC-E69D-34AF91FE1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1558" y="1571656"/>
                <a:ext cx="1717645" cy="76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FA958704-BFB8-B746-B1DF-AA5869F8F08A}"/>
              </a:ext>
            </a:extLst>
          </p:cNvPr>
          <p:cNvSpPr txBox="1">
            <a:spLocks/>
          </p:cNvSpPr>
          <p:nvPr/>
        </p:nvSpPr>
        <p:spPr>
          <a:xfrm>
            <a:off x="6180889" y="2840672"/>
            <a:ext cx="1830272" cy="63778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Agregação 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BURDETT, SHI &amp; WRIGHT (2001)</a:t>
            </a:r>
            <a:endParaRPr lang="pt-BR" sz="90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55F7A3F9-B31A-7BB1-E971-08C7B3C1CB54}"/>
              </a:ext>
            </a:extLst>
          </p:cNvPr>
          <p:cNvSpPr txBox="1">
            <a:spLocks/>
          </p:cNvSpPr>
          <p:nvPr/>
        </p:nvSpPr>
        <p:spPr>
          <a:xfrm>
            <a:off x="6180889" y="4003992"/>
            <a:ext cx="1906471" cy="6377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III. Preenchimento</a:t>
            </a:r>
          </a:p>
          <a:p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Simplificação teórica (Binomial)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48F6EBD8-318A-960F-C056-E1E3813BC104}"/>
                  </a:ext>
                </a:extLst>
              </p:cNvPr>
              <p:cNvSpPr txBox="1"/>
              <p:nvPr/>
            </p:nvSpPr>
            <p:spPr>
              <a:xfrm>
                <a:off x="7874000" y="3962694"/>
                <a:ext cx="2555540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16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pt-BR" sz="16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48F6EBD8-318A-960F-C056-E1E3813BC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4000" y="3962694"/>
                <a:ext cx="2555540" cy="762000"/>
              </a:xfrm>
              <a:prstGeom prst="rect">
                <a:avLst/>
              </a:prstGeom>
              <a:blipFill>
                <a:blip r:embed="rId3"/>
                <a:stretch>
                  <a:fillRect l="-2387" r="-7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C1B0550-DA23-8F28-155B-3CB9A63726B0}"/>
                  </a:ext>
                </a:extLst>
              </p:cNvPr>
              <p:cNvSpPr txBox="1"/>
              <p:nvPr/>
            </p:nvSpPr>
            <p:spPr>
              <a:xfrm>
                <a:off x="8283764" y="2778749"/>
                <a:ext cx="1736012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Pr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C1B0550-DA23-8F28-155B-3CB9A6372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3764" y="2778749"/>
                <a:ext cx="1736012" cy="762000"/>
              </a:xfrm>
              <a:prstGeom prst="rect">
                <a:avLst/>
              </a:prstGeom>
              <a:blipFill>
                <a:blip r:embed="rId4"/>
                <a:stretch>
                  <a:fillRect l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hyplab">
            <a:extLst>
              <a:ext uri="{FF2B5EF4-FFF2-40B4-BE49-F238E27FC236}">
                <a16:creationId xmlns:a16="http://schemas.microsoft.com/office/drawing/2014/main" id="{62F370E9-D0FE-8861-B757-02BD341178CA}"/>
              </a:ext>
            </a:extLst>
          </p:cNvPr>
          <p:cNvSpPr/>
          <p:nvPr/>
        </p:nvSpPr>
        <p:spPr>
          <a:xfrm>
            <a:off x="584200" y="4998720"/>
            <a:ext cx="1397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spc="80">
                <a:latin typeface="Montserrat" pitchFamily="2" charset="77"/>
              </a:rPr>
              <a:t>HIPÓTESE</a:t>
            </a:r>
          </a:p>
        </p:txBody>
      </p:sp>
      <p:sp>
        <p:nvSpPr>
          <p:cNvPr id="50" name="seg0">
            <a:extLst>
              <a:ext uri="{FF2B5EF4-FFF2-40B4-BE49-F238E27FC236}">
                <a16:creationId xmlns:a16="http://schemas.microsoft.com/office/drawing/2014/main" id="{F154111D-C2B6-9B5E-1765-81B61675827B}"/>
              </a:ext>
            </a:extLst>
          </p:cNvPr>
          <p:cNvSpPr/>
          <p:nvPr/>
        </p:nvSpPr>
        <p:spPr>
          <a:xfrm>
            <a:off x="20066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B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bolsa maior</a:t>
            </a:r>
          </a:p>
        </p:txBody>
      </p:sp>
      <p:sp>
        <p:nvSpPr>
          <p:cNvPr id="51" name="segar0">
            <a:extLst>
              <a:ext uri="{FF2B5EF4-FFF2-40B4-BE49-F238E27FC236}">
                <a16:creationId xmlns:a16="http://schemas.microsoft.com/office/drawing/2014/main" id="{D8584BB8-B9D7-900A-5841-BFB9948760B3}"/>
              </a:ext>
            </a:extLst>
          </p:cNvPr>
          <p:cNvSpPr/>
          <p:nvPr/>
        </p:nvSpPr>
        <p:spPr>
          <a:xfrm>
            <a:off x="40386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2" name="seg1">
            <a:extLst>
              <a:ext uri="{FF2B5EF4-FFF2-40B4-BE49-F238E27FC236}">
                <a16:creationId xmlns:a16="http://schemas.microsoft.com/office/drawing/2014/main" id="{1682408D-4142-9320-A6ED-A3C7F8200EFE}"/>
              </a:ext>
            </a:extLst>
          </p:cNvPr>
          <p:cNvSpPr/>
          <p:nvPr/>
        </p:nvSpPr>
        <p:spPr>
          <a:xfrm>
            <a:off x="44323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V</a:t>
            </a:r>
            <a:r>
              <a:rPr lang="pt-BR" sz="1500" b="1" i="1" baseline="-25000">
                <a:latin typeface="Montserrat" pitchFamily="2" charset="77"/>
              </a:rPr>
              <a:t>rm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a oferta vale mais</a:t>
            </a:r>
          </a:p>
        </p:txBody>
      </p:sp>
      <p:sp>
        <p:nvSpPr>
          <p:cNvPr id="53" name="segar1">
            <a:extLst>
              <a:ext uri="{FF2B5EF4-FFF2-40B4-BE49-F238E27FC236}">
                <a16:creationId xmlns:a16="http://schemas.microsoft.com/office/drawing/2014/main" id="{75614522-8D76-7987-87B9-9FDF3FE81DC5}"/>
              </a:ext>
            </a:extLst>
          </p:cNvPr>
          <p:cNvSpPr/>
          <p:nvPr/>
        </p:nvSpPr>
        <p:spPr>
          <a:xfrm>
            <a:off x="64643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4" name="seg2">
            <a:extLst>
              <a:ext uri="{FF2B5EF4-FFF2-40B4-BE49-F238E27FC236}">
                <a16:creationId xmlns:a16="http://schemas.microsoft.com/office/drawing/2014/main" id="{A4BD4C23-801E-51D6-B556-7356710DFA41}"/>
              </a:ext>
            </a:extLst>
          </p:cNvPr>
          <p:cNvSpPr/>
          <p:nvPr/>
        </p:nvSpPr>
        <p:spPr>
          <a:xfrm>
            <a:off x="68580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π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médicos a preferem</a:t>
            </a:r>
          </a:p>
        </p:txBody>
      </p:sp>
      <p:sp>
        <p:nvSpPr>
          <p:cNvPr id="55" name="segar2">
            <a:extLst>
              <a:ext uri="{FF2B5EF4-FFF2-40B4-BE49-F238E27FC236}">
                <a16:creationId xmlns:a16="http://schemas.microsoft.com/office/drawing/2014/main" id="{2AB1CB87-0686-5DB4-DECB-50A9EB0358D5}"/>
              </a:ext>
            </a:extLst>
          </p:cNvPr>
          <p:cNvSpPr/>
          <p:nvPr/>
        </p:nvSpPr>
        <p:spPr>
          <a:xfrm>
            <a:off x="88900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6" name="seg3">
            <a:extLst>
              <a:ext uri="{FF2B5EF4-FFF2-40B4-BE49-F238E27FC236}">
                <a16:creationId xmlns:a16="http://schemas.microsoft.com/office/drawing/2014/main" id="{03A4ED0C-6445-616C-285B-65DFDA270F80}"/>
              </a:ext>
            </a:extLst>
          </p:cNvPr>
          <p:cNvSpPr/>
          <p:nvPr/>
        </p:nvSpPr>
        <p:spPr>
          <a:xfrm>
            <a:off x="92837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>
                <a:latin typeface="Montserrat" pitchFamily="2" charset="77"/>
              </a:rPr>
              <a:t>Pr(Y</a:t>
            </a:r>
            <a:r>
              <a:rPr lang="pt-BR" sz="1500" b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= 1)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chance de preencher</a:t>
            </a:r>
          </a:p>
        </p:txBody>
      </p:sp>
      <p:sp>
        <p:nvSpPr>
          <p:cNvPr id="57" name="note">
            <a:extLst>
              <a:ext uri="{FF2B5EF4-FFF2-40B4-BE49-F238E27FC236}">
                <a16:creationId xmlns:a16="http://schemas.microsoft.com/office/drawing/2014/main" id="{E70E5ABE-46F1-B3CB-53BE-B9A634714D2D}"/>
              </a:ext>
            </a:extLst>
          </p:cNvPr>
          <p:cNvSpPr/>
          <p:nvPr/>
        </p:nvSpPr>
        <p:spPr>
          <a:xfrm>
            <a:off x="355600" y="5948082"/>
            <a:ext cx="1117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err="1">
                <a:solidFill>
                  <a:srgbClr val="114719"/>
                </a:solidFill>
                <a:latin typeface="Montserrat" pitchFamily="2" charset="77"/>
              </a:rPr>
              <a:t>Y</a:t>
            </a:r>
            <a:r>
              <a:rPr lang="pt-BR" sz="1100" b="1" baseline="-25000" err="1">
                <a:solidFill>
                  <a:srgbClr val="114719"/>
                </a:solidFill>
                <a:latin typeface="Montserrat" pitchFamily="2" charset="77"/>
              </a:rPr>
              <a:t>m</a:t>
            </a: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 = 1: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a oferta (estabelecimento × curso) recebe ao menos uma confirmação ou homologação; não é taxa de ocupação de vagas.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Binomial: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supõe escolhas independentes e π</a:t>
            </a:r>
            <a:r>
              <a:rPr lang="pt-BR" sz="1100" baseline="-25000">
                <a:solidFill>
                  <a:srgbClr val="6B6B6B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 comum entre médicos; é simplificação teórica, não equação estimada.</a:t>
            </a:r>
          </a:p>
        </p:txBody>
      </p:sp>
      <p:sp>
        <p:nvSpPr>
          <p:cNvPr id="8" name="CaixaDeTexto 4">
            <a:extLst>
              <a:ext uri="{FF2B5EF4-FFF2-40B4-BE49-F238E27FC236}">
                <a16:creationId xmlns:a16="http://schemas.microsoft.com/office/drawing/2014/main" id="{141F0957-BBE8-6E43-8F34-BF80D9E55FBA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38684620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CA4E2B-3EBE-268E-56FF-F6B00CCEB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card0">
            <a:extLst>
              <a:ext uri="{FF2B5EF4-FFF2-40B4-BE49-F238E27FC236}">
                <a16:creationId xmlns:a16="http://schemas.microsoft.com/office/drawing/2014/main" id="{9A22FFB6-E418-9D99-E132-E947623978DA}"/>
              </a:ext>
            </a:extLst>
          </p:cNvPr>
          <p:cNvSpPr/>
          <p:nvPr/>
        </p:nvSpPr>
        <p:spPr>
          <a:xfrm>
            <a:off x="6191738" y="2654320"/>
            <a:ext cx="5729177" cy="2400002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2" name="card0">
            <a:extLst>
              <a:ext uri="{FF2B5EF4-FFF2-40B4-BE49-F238E27FC236}">
                <a16:creationId xmlns:a16="http://schemas.microsoft.com/office/drawing/2014/main" id="{87A56089-0B9D-65A7-A3D7-FC2028E5CC07}"/>
              </a:ext>
            </a:extLst>
          </p:cNvPr>
          <p:cNvSpPr/>
          <p:nvPr/>
        </p:nvSpPr>
        <p:spPr>
          <a:xfrm>
            <a:off x="313592" y="2654320"/>
            <a:ext cx="5729177" cy="2400002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2" name="eqBox">
            <a:extLst>
              <a:ext uri="{FF2B5EF4-FFF2-40B4-BE49-F238E27FC236}">
                <a16:creationId xmlns:a16="http://schemas.microsoft.com/office/drawing/2014/main" id="{ABB2ECBD-8045-8145-6A9F-036270303CF6}"/>
              </a:ext>
            </a:extLst>
          </p:cNvPr>
          <p:cNvSpPr/>
          <p:nvPr/>
        </p:nvSpPr>
        <p:spPr>
          <a:xfrm>
            <a:off x="444500" y="704967"/>
            <a:ext cx="11176000" cy="1746776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46" name="cBox">
            <a:extLst>
              <a:ext uri="{FF2B5EF4-FFF2-40B4-BE49-F238E27FC236}">
                <a16:creationId xmlns:a16="http://schemas.microsoft.com/office/drawing/2014/main" id="{FE59C988-2EC3-88C3-FB1F-50C7AA57FDE6}"/>
              </a:ext>
            </a:extLst>
          </p:cNvPr>
          <p:cNvSpPr/>
          <p:nvPr/>
        </p:nvSpPr>
        <p:spPr>
          <a:xfrm>
            <a:off x="508000" y="5473700"/>
            <a:ext cx="1117600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6AC0ABA-CB79-3303-A457-237097068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A escolha locacional maximiza a renda real líquida</a:t>
            </a:r>
          </a:p>
        </p:txBody>
      </p:sp>
      <p:sp>
        <p:nvSpPr>
          <p:cNvPr id="45" name="col2">
            <a:extLst>
              <a:ext uri="{FF2B5EF4-FFF2-40B4-BE49-F238E27FC236}">
                <a16:creationId xmlns:a16="http://schemas.microsoft.com/office/drawing/2014/main" id="{7F92D6E5-C30E-E9AF-8CAE-AB5AFC65C162}"/>
              </a:ext>
            </a:extLst>
          </p:cNvPr>
          <p:cNvSpPr txBox="1"/>
          <p:nvPr/>
        </p:nvSpPr>
        <p:spPr>
          <a:xfrm>
            <a:off x="6405186" y="2812821"/>
            <a:ext cx="5270500" cy="138499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lang="pt-BR" sz="1200" b="1">
                <a:solidFill>
                  <a:srgbClr val="114719"/>
                </a:solidFill>
                <a:latin typeface="Montserrat" panose="00000500000000000000" pitchFamily="2" charset="0"/>
              </a:rPr>
              <a:t>O médico ganha com o salário esperado na localidade, ajustado pelo custo de vida. Perde com o custo não pecuniário de exercer a profissão naquele local</a:t>
            </a:r>
            <a:r>
              <a:rPr lang="pt-BR" sz="1200" b="1">
                <a:latin typeface="Montserrat" panose="00000500000000000000" pitchFamily="2" charset="0"/>
              </a:rPr>
              <a:t>.</a:t>
            </a:r>
            <a:r>
              <a:rPr lang="pt-BR" sz="1200">
                <a:latin typeface="Montserrat" panose="00000500000000000000" pitchFamily="2" charset="0"/>
              </a:rPr>
              <a:t> O modelo atribui um peso menor aos anos mais distantes, soma os resultados ao longo da carreira e compara as localidades disponíveis. </a:t>
            </a:r>
            <a:r>
              <a:rPr lang="pt-BR" sz="1200" b="1">
                <a:solidFill>
                  <a:srgbClr val="114719"/>
                </a:solidFill>
                <a:latin typeface="Montserrat" panose="00000500000000000000" pitchFamily="2" charset="0"/>
              </a:rPr>
              <a:t>A escolha recai sobre aquela que oferece o maior valor presente da renda real líquida</a:t>
            </a:r>
            <a:endParaRPr lang="pt-BR" sz="1200">
              <a:solidFill>
                <a:srgbClr val="114719"/>
              </a:solidFill>
              <a:latin typeface="Montserrat" panose="00000500000000000000" pitchFamily="2" charset="0"/>
            </a:endParaRPr>
          </a:p>
        </p:txBody>
      </p:sp>
      <p:sp>
        <p:nvSpPr>
          <p:cNvPr id="48" name="cText">
            <a:extLst>
              <a:ext uri="{FF2B5EF4-FFF2-40B4-BE49-F238E27FC236}">
                <a16:creationId xmlns:a16="http://schemas.microsoft.com/office/drawing/2014/main" id="{750FA38B-ADA8-F0E8-4690-1535CA28B2EA}"/>
              </a:ext>
            </a:extLst>
          </p:cNvPr>
          <p:cNvSpPr txBox="1"/>
          <p:nvPr/>
        </p:nvSpPr>
        <p:spPr>
          <a:xfrm>
            <a:off x="787400" y="5613400"/>
            <a:ext cx="106680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Onde chegamos:  </a:t>
            </a:r>
            <a:r>
              <a:rPr lang="pt-BR" sz="1500">
                <a:solidFill>
                  <a:srgbClr val="3A3A3A"/>
                </a:solidFill>
                <a:latin typeface="Montserrat" pitchFamily="2" charset="77"/>
              </a:rPr>
              <a:t>a localidade escolhida é a de maior renda real líquida descontada, onde salário nominal alto não compensa preços e custos locais altos.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DBB2CDD-ED78-7E60-297C-92162D2F94DC}"/>
              </a:ext>
            </a:extLst>
          </p:cNvPr>
          <p:cNvSpPr/>
          <p:nvPr/>
        </p:nvSpPr>
        <p:spPr>
          <a:xfrm>
            <a:off x="3657600" y="1246681"/>
            <a:ext cx="5207000" cy="110203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C656F3-474D-0997-B33B-0ED535538484}"/>
                  </a:ext>
                </a:extLst>
              </p:cNvPr>
              <p:cNvSpPr txBox="1"/>
              <p:nvPr/>
            </p:nvSpPr>
            <p:spPr>
              <a:xfrm>
                <a:off x="3556000" y="1387301"/>
                <a:ext cx="5207000" cy="8732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200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200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GB" sz="2200" b="1" i="0">
                                  <a:latin typeface="Cambria Math" panose="02040503050406030204" pitchFamily="18" charset="0"/>
                                </a:rPr>
                                <m:t>𝐦𝐚𝐱</m:t>
                              </m:r>
                            </m:e>
                            <m:lim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GB" sz="22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𝜹</m:t>
                                  </m:r>
                                </m:e>
                                <m:sup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𝔼</m:t>
                                      </m:r>
                                      <m:d>
                                        <m:d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  <m:t>𝒘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  <m:t>𝒊𝒕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2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2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𝒔</m:t>
                                                  </m:r>
                                                </m:e>
                                              </m:d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𝒑</m:t>
                                          </m:r>
                                        </m:e>
                                        <m:sub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𝒊𝒕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− </m:t>
                                  </m:r>
                                  <m:sSub>
                                    <m:sSubPr>
                                      <m:ctrlP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  <m:sub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𝒊𝒕</m:t>
                                      </m:r>
                                      <m:d>
                                        <m:d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𝒔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pt-BR" sz="2200" b="1">
                  <a:latin typeface="Montserrat" pitchFamily="2" charset="77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C656F3-474D-0997-B33B-0ED5355384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000" y="1387301"/>
                <a:ext cx="5207000" cy="8732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Bar">
            <a:extLst>
              <a:ext uri="{FF2B5EF4-FFF2-40B4-BE49-F238E27FC236}">
                <a16:creationId xmlns:a16="http://schemas.microsoft.com/office/drawing/2014/main" id="{4F608D45-6542-4D94-F64E-CA90F1733EEC}"/>
              </a:ext>
            </a:extLst>
          </p:cNvPr>
          <p:cNvSpPr/>
          <p:nvPr/>
        </p:nvSpPr>
        <p:spPr>
          <a:xfrm>
            <a:off x="5080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8" name="chip0_0">
            <a:extLst>
              <a:ext uri="{FF2B5EF4-FFF2-40B4-BE49-F238E27FC236}">
                <a16:creationId xmlns:a16="http://schemas.microsoft.com/office/drawing/2014/main" id="{FE2D118D-48D1-D885-691B-05A0BF4976AF}"/>
              </a:ext>
            </a:extLst>
          </p:cNvPr>
          <p:cNvSpPr/>
          <p:nvPr/>
        </p:nvSpPr>
        <p:spPr>
          <a:xfrm>
            <a:off x="444500" y="279120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i</a:t>
            </a:r>
            <a:r>
              <a:rPr lang="pt-BR" sz="1200" b="1" i="1">
                <a:solidFill>
                  <a:srgbClr val="3A3A3A"/>
                </a:solidFill>
                <a:latin typeface="Montserrat" pitchFamily="2" charset="77"/>
              </a:rPr>
              <a:t>: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localidades candidatas</a:t>
            </a:r>
          </a:p>
        </p:txBody>
      </p:sp>
      <p:sp>
        <p:nvSpPr>
          <p:cNvPr id="16" name="CaixaDeTexto 4">
            <a:extLst>
              <a:ext uri="{FF2B5EF4-FFF2-40B4-BE49-F238E27FC236}">
                <a16:creationId xmlns:a16="http://schemas.microsoft.com/office/drawing/2014/main" id="{839B6F86-2A7B-85DC-66E9-3BC82749B43A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100">
                <a:latin typeface="Montserrat" panose="00000500000000000000" pitchFamily="2" charset="0"/>
              </a:rPr>
              <a:t>  I  Hipótese  I  Viabilidade Empírica</a:t>
            </a:r>
          </a:p>
        </p:txBody>
      </p:sp>
      <p:sp>
        <p:nvSpPr>
          <p:cNvPr id="30" name="chip0_0">
            <a:extLst>
              <a:ext uri="{FF2B5EF4-FFF2-40B4-BE49-F238E27FC236}">
                <a16:creationId xmlns:a16="http://schemas.microsoft.com/office/drawing/2014/main" id="{0EBE970E-4FFE-7283-B8F5-D6D9955E2F0D}"/>
              </a:ext>
            </a:extLst>
          </p:cNvPr>
          <p:cNvSpPr/>
          <p:nvPr/>
        </p:nvSpPr>
        <p:spPr>
          <a:xfrm>
            <a:off x="3175000" y="279120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𝔼 (</a:t>
            </a: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w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(s)</a:t>
            </a: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):</a:t>
            </a:r>
            <a:r>
              <a:rPr lang="pt-BR" sz="1200" b="1" i="1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salário esperado em i, no ano t, na especialidade s</a:t>
            </a:r>
          </a:p>
        </p:txBody>
      </p:sp>
      <p:sp>
        <p:nvSpPr>
          <p:cNvPr id="32" name="chip0_0">
            <a:extLst>
              <a:ext uri="{FF2B5EF4-FFF2-40B4-BE49-F238E27FC236}">
                <a16:creationId xmlns:a16="http://schemas.microsoft.com/office/drawing/2014/main" id="{07966DEF-921E-0CEC-D1E8-95F1051E359A}"/>
              </a:ext>
            </a:extLst>
          </p:cNvPr>
          <p:cNvSpPr/>
          <p:nvPr/>
        </p:nvSpPr>
        <p:spPr>
          <a:xfrm>
            <a:off x="454768" y="3551273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P</a:t>
            </a:r>
            <a:r>
              <a:rPr lang="pt-BR" sz="1200" b="1" i="1" baseline="-25000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nível de preços da localidade (deflator)</a:t>
            </a:r>
          </a:p>
        </p:txBody>
      </p:sp>
      <p:sp>
        <p:nvSpPr>
          <p:cNvPr id="34" name="chip0_0">
            <a:extLst>
              <a:ext uri="{FF2B5EF4-FFF2-40B4-BE49-F238E27FC236}">
                <a16:creationId xmlns:a16="http://schemas.microsoft.com/office/drawing/2014/main" id="{3BF8369B-B6AA-8F07-570E-5096E6519522}"/>
              </a:ext>
            </a:extLst>
          </p:cNvPr>
          <p:cNvSpPr/>
          <p:nvPr/>
        </p:nvSpPr>
        <p:spPr>
          <a:xfrm>
            <a:off x="3185268" y="3551273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c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(s)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custo não pecuniário de viver ali</a:t>
            </a:r>
          </a:p>
        </p:txBody>
      </p:sp>
      <p:sp>
        <p:nvSpPr>
          <p:cNvPr id="36" name="chip0_0">
            <a:extLst>
              <a:ext uri="{FF2B5EF4-FFF2-40B4-BE49-F238E27FC236}">
                <a16:creationId xmlns:a16="http://schemas.microsoft.com/office/drawing/2014/main" id="{BCA11A5F-37D5-46E7-7FF3-F512655D2DD6}"/>
              </a:ext>
            </a:extLst>
          </p:cNvPr>
          <p:cNvSpPr/>
          <p:nvPr/>
        </p:nvSpPr>
        <p:spPr>
          <a:xfrm>
            <a:off x="444500" y="431133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δ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t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desconto do ano t (0 &lt; δ &lt; 1)</a:t>
            </a:r>
          </a:p>
        </p:txBody>
      </p:sp>
      <p:sp>
        <p:nvSpPr>
          <p:cNvPr id="38" name="chip0_0">
            <a:extLst>
              <a:ext uri="{FF2B5EF4-FFF2-40B4-BE49-F238E27FC236}">
                <a16:creationId xmlns:a16="http://schemas.microsoft.com/office/drawing/2014/main" id="{5BDC9D76-52F9-4542-A070-72E62126F9D9}"/>
              </a:ext>
            </a:extLst>
          </p:cNvPr>
          <p:cNvSpPr/>
          <p:nvPr/>
        </p:nvSpPr>
        <p:spPr>
          <a:xfrm>
            <a:off x="3175000" y="431133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Σ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t</a:t>
            </a:r>
            <a:r>
              <a:rPr lang="pt-BR" sz="1200" b="1" i="1" baseline="-25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-25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soma ao longo do horizonte de carreira</a:t>
            </a:r>
          </a:p>
        </p:txBody>
      </p:sp>
      <p:sp>
        <p:nvSpPr>
          <p:cNvPr id="31" name="Text Placeholder 1">
            <a:extLst>
              <a:ext uri="{FF2B5EF4-FFF2-40B4-BE49-F238E27FC236}">
                <a16:creationId xmlns:a16="http://schemas.microsoft.com/office/drawing/2014/main" id="{12E6B28E-684A-A5F9-35DC-69E3CE2CABBD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19</a:t>
            </a:fld>
            <a:endParaRPr lang="pt-BR" sz="1400" b="1">
              <a:solidFill>
                <a:srgbClr val="BFBFBF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Retângulo: Cantos Arredondados 38">
                <a:extLst>
                  <a:ext uri="{FF2B5EF4-FFF2-40B4-BE49-F238E27FC236}">
                    <a16:creationId xmlns:a16="http://schemas.microsoft.com/office/drawing/2014/main" id="{B990DFE0-EC3E-0564-65B6-8C3261AED1B7}"/>
                  </a:ext>
                </a:extLst>
              </p:cNvPr>
              <p:cNvSpPr/>
              <p:nvPr/>
            </p:nvSpPr>
            <p:spPr>
              <a:xfrm>
                <a:off x="6405186" y="4336220"/>
                <a:ext cx="5278814" cy="617708"/>
              </a:xfrm>
              <a:prstGeom prst="roundRect">
                <a:avLst/>
              </a:prstGeom>
              <a:solidFill>
                <a:srgbClr val="05642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200" b="1">
                    <a:latin typeface="Montserrat" panose="00000500000000000000" pitchFamily="2" charset="0"/>
                  </a:rPr>
                  <a:t>Gera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2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200" b="1" i="1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p>
                        <m:r>
                          <a:rPr lang="pt-BR" sz="1200" b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pt-BR" sz="1200" b="1">
                    <a:latin typeface="Montserrat" panose="00000500000000000000" pitchFamily="2" charset="0"/>
                  </a:rPr>
                  <a:t>:  </a:t>
                </a:r>
                <a:r>
                  <a:rPr lang="pt-BR" sz="1200">
                    <a:latin typeface="Montserrat" panose="00000500000000000000" pitchFamily="2" charset="0"/>
                  </a:rPr>
                  <a:t>a localidade que maximiza a renda real líquida esperada ao longo da carreira</a:t>
                </a:r>
              </a:p>
            </p:txBody>
          </p:sp>
        </mc:Choice>
        <mc:Fallback>
          <p:sp>
            <p:nvSpPr>
              <p:cNvPr id="39" name="Retângulo: Cantos Arredondados 38">
                <a:extLst>
                  <a:ext uri="{FF2B5EF4-FFF2-40B4-BE49-F238E27FC236}">
                    <a16:creationId xmlns:a16="http://schemas.microsoft.com/office/drawing/2014/main" id="{B990DFE0-EC3E-0564-65B6-8C3261AED1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186" y="4336220"/>
                <a:ext cx="5278814" cy="617708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pill0">
            <a:extLst>
              <a:ext uri="{FF2B5EF4-FFF2-40B4-BE49-F238E27FC236}">
                <a16:creationId xmlns:a16="http://schemas.microsoft.com/office/drawing/2014/main" id="{E382F2B1-F6B2-8CD1-A31B-176AEE85DC81}"/>
              </a:ext>
            </a:extLst>
          </p:cNvPr>
          <p:cNvSpPr/>
          <p:nvPr/>
        </p:nvSpPr>
        <p:spPr>
          <a:xfrm>
            <a:off x="571500" y="790589"/>
            <a:ext cx="6492491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100">
                <a:solidFill>
                  <a:srgbClr val="056429"/>
                </a:solidFill>
                <a:latin typeface="Montserrat"/>
              </a:rPr>
              <a:t>MOEHLING et al. (2020), EQ. 1, P. 184</a:t>
            </a:r>
          </a:p>
        </p:txBody>
      </p:sp>
    </p:spTree>
    <p:extLst>
      <p:ext uri="{BB962C8B-B14F-4D97-AF65-F5344CB8AC3E}">
        <p14:creationId xmlns:p14="http://schemas.microsoft.com/office/powerpoint/2010/main" val="38162602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377E13-47EA-8ACF-4B90-5E3CA79EF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Box">
            <a:extLst>
              <a:ext uri="{FF2B5EF4-FFF2-40B4-BE49-F238E27FC236}">
                <a16:creationId xmlns:a16="http://schemas.microsoft.com/office/drawing/2014/main" id="{EB87D3B8-A656-6C24-AF80-A29F7778D758}"/>
              </a:ext>
            </a:extLst>
          </p:cNvPr>
          <p:cNvSpPr/>
          <p:nvPr/>
        </p:nvSpPr>
        <p:spPr>
          <a:xfrm>
            <a:off x="508000" y="5482904"/>
            <a:ext cx="1117600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799EF2C-F951-6031-6A7E-04B3984DF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pt-BR">
                <a:solidFill>
                  <a:srgbClr val="FFFFFF"/>
                </a:solidFill>
                <a:latin typeface="Montserrat"/>
              </a:rPr>
              <a:t>Literatura divide o custo em dois tipos: geográfico e laboral</a:t>
            </a:r>
            <a:endParaRPr lang="pt-BR" sz="24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47" name="cBar">
            <a:extLst>
              <a:ext uri="{FF2B5EF4-FFF2-40B4-BE49-F238E27FC236}">
                <a16:creationId xmlns:a16="http://schemas.microsoft.com/office/drawing/2014/main" id="{AD2AA97B-7422-0129-A313-0B898FCE4194}"/>
              </a:ext>
            </a:extLst>
          </p:cNvPr>
          <p:cNvSpPr/>
          <p:nvPr/>
        </p:nvSpPr>
        <p:spPr>
          <a:xfrm>
            <a:off x="5080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48" name="cText">
            <a:extLst>
              <a:ext uri="{FF2B5EF4-FFF2-40B4-BE49-F238E27FC236}">
                <a16:creationId xmlns:a16="http://schemas.microsoft.com/office/drawing/2014/main" id="{F8C9E032-0506-97A5-C2D8-65AB85133693}"/>
              </a:ext>
            </a:extLst>
          </p:cNvPr>
          <p:cNvSpPr txBox="1"/>
          <p:nvPr/>
        </p:nvSpPr>
        <p:spPr>
          <a:xfrm>
            <a:off x="787400" y="5622604"/>
            <a:ext cx="106680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Adições ao modelo do slide 19:  </a:t>
            </a:r>
            <a:r>
              <a:rPr lang="pt-BR" sz="1500">
                <a:solidFill>
                  <a:srgbClr val="3A3A3A"/>
                </a:solidFill>
                <a:latin typeface="Montserrat" pitchFamily="2" charset="77"/>
              </a:rPr>
              <a:t>lá o deflator de preços e o custo não pecuniário entravam como valores externos; estas duas equações passam a calculá-los.</a:t>
            </a:r>
          </a:p>
        </p:txBody>
      </p:sp>
      <p:sp>
        <p:nvSpPr>
          <p:cNvPr id="2001" name="card0"/>
          <p:cNvSpPr/>
          <p:nvPr/>
        </p:nvSpPr>
        <p:spPr>
          <a:xfrm>
            <a:off x="508000" y="734917"/>
            <a:ext cx="5461000" cy="4624613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02" name="pill0"/>
          <p:cNvSpPr/>
          <p:nvPr/>
        </p:nvSpPr>
        <p:spPr>
          <a:xfrm>
            <a:off x="711200" y="887318"/>
            <a:ext cx="5054600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80">
                <a:solidFill>
                  <a:srgbClr val="056429"/>
                </a:solidFill>
                <a:latin typeface="Montserrat"/>
              </a:rPr>
              <a:t>CUSTO GEOGRÁFICO (</a:t>
            </a:r>
            <a:r>
              <a:rPr lang="pt-BR" sz="1200" b="1" spc="80">
                <a:solidFill>
                  <a:srgbClr val="056429"/>
                </a:solidFill>
                <a:latin typeface="Montserrat"/>
              </a:rPr>
              <a:t>REDDING &amp; ROSSI, 2017)</a:t>
            </a:r>
            <a:endParaRPr lang="pt-BR" sz="1150" b="1" spc="80">
              <a:solidFill>
                <a:srgbClr val="056429"/>
              </a:solidFill>
              <a:latin typeface="Montserrat"/>
            </a:endParaRPr>
          </a:p>
        </p:txBody>
      </p:sp>
      <p:sp>
        <p:nvSpPr>
          <p:cNvPr id="2003" name="eqcard0"/>
          <p:cNvSpPr/>
          <p:nvPr/>
        </p:nvSpPr>
        <p:spPr>
          <a:xfrm>
            <a:off x="711200" y="1319118"/>
            <a:ext cx="5054600" cy="111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04" name="frase0"/>
          <p:cNvSpPr/>
          <p:nvPr/>
        </p:nvSpPr>
        <p:spPr>
          <a:xfrm>
            <a:off x="711200" y="2473005"/>
            <a:ext cx="5257800" cy="1117600"/>
          </a:xfrm>
          <a:prstGeom prst="roundRect">
            <a:avLst/>
          </a:prstGeom>
          <a:noFill/>
          <a:ln>
            <a:noFill/>
          </a:ln>
        </p:spPr>
        <p:txBody>
          <a:bodyPr wrap="square" lIns="25400" tIns="38100" rIns="25400" bIns="38100" anchor="t">
            <a:noAutofit/>
          </a:bodyPr>
          <a:lstStyle/>
          <a:p>
            <a:pPr marL="0" indent="0" algn="just">
              <a:lnSpc>
                <a:spcPct val="104000"/>
              </a:lnSpc>
              <a:spcAft>
                <a:spcPts val="300"/>
              </a:spcAft>
              <a:buNone/>
            </a:pP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No numerador, o que atrai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: o salário do local de trabalho vezes as amenidades da cidade.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No denominador, o que repele: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deslocamento e o preço da moradia, elevado à parcela da renda gasta com habitação (1 − β).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O mesmo salário vale menos onde morar é caro ou a viagem é longa</a:t>
            </a: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2005" name="chip0_0"/>
          <p:cNvSpPr/>
          <p:nvPr/>
        </p:nvSpPr>
        <p:spPr>
          <a:xfrm>
            <a:off x="7112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B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</a:t>
            </a:r>
            <a:r>
              <a:rPr lang="pt-BR" sz="1200" b="1" i="1" baseline="-250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>
                <a:solidFill>
                  <a:srgbClr val="3A3A3A"/>
                </a:solidFill>
                <a:latin typeface="Montserrat"/>
              </a:rPr>
              <a:t>amenidades</a:t>
            </a:r>
          </a:p>
        </p:txBody>
      </p:sp>
      <p:sp>
        <p:nvSpPr>
          <p:cNvPr id="2006" name="chip0_1"/>
          <p:cNvSpPr/>
          <p:nvPr/>
        </p:nvSpPr>
        <p:spPr>
          <a:xfrm>
            <a:off x="32893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w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i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salário</a:t>
            </a:r>
          </a:p>
        </p:txBody>
      </p:sp>
      <p:sp>
        <p:nvSpPr>
          <p:cNvPr id="2007" name="chip0_2"/>
          <p:cNvSpPr/>
          <p:nvPr/>
        </p:nvSpPr>
        <p:spPr>
          <a:xfrm>
            <a:off x="7112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κ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ni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>
                <a:solidFill>
                  <a:srgbClr val="3A3A3A"/>
                </a:solidFill>
                <a:latin typeface="Montserrat"/>
              </a:rPr>
              <a:t>deslocamento</a:t>
            </a:r>
          </a:p>
        </p:txBody>
      </p:sp>
      <p:sp>
        <p:nvSpPr>
          <p:cNvPr id="2008" name="chip0_3"/>
          <p:cNvSpPr/>
          <p:nvPr/>
        </p:nvSpPr>
        <p:spPr>
          <a:xfrm>
            <a:off x="32893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Q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  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preço da moradia</a:t>
            </a:r>
          </a:p>
        </p:txBody>
      </p:sp>
      <p:sp>
        <p:nvSpPr>
          <p:cNvPr id="2009" name="impact0"/>
          <p:cNvSpPr/>
          <p:nvPr/>
        </p:nvSpPr>
        <p:spPr>
          <a:xfrm>
            <a:off x="711200" y="4697316"/>
            <a:ext cx="5054600" cy="558800"/>
          </a:xfrm>
          <a:prstGeom prst="roundRect">
            <a:avLst>
              <a:gd name="adj" fmla="val 14000"/>
            </a:avLst>
          </a:prstGeom>
          <a:solidFill>
            <a:srgbClr val="056429"/>
          </a:solidFill>
          <a:ln>
            <a:noFill/>
          </a:ln>
        </p:spPr>
        <p:txBody>
          <a:bodyPr wrap="square" lIns="177800" tIns="38100" rIns="1778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Gera  </a:t>
            </a:r>
            <a:r>
              <a:rPr lang="pt-BR" sz="1300" b="1" i="1">
                <a:solidFill>
                  <a:srgbClr val="FFFFFF"/>
                </a:solidFill>
                <a:latin typeface="Montserrat" pitchFamily="2" charset="77"/>
              </a:rPr>
              <a:t>p</a:t>
            </a:r>
            <a:r>
              <a:rPr lang="pt-BR" sz="1300" b="1" i="1" baseline="-25000">
                <a:solidFill>
                  <a:srgbClr val="FFFFFF"/>
                </a:solidFill>
                <a:latin typeface="Montserrat" pitchFamily="2" charset="77"/>
              </a:rPr>
              <a:t>it</a:t>
            </a: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:</a:t>
            </a:r>
            <a:r>
              <a:rPr lang="pt-BR" sz="1300">
                <a:solidFill>
                  <a:srgbClr val="FFFFFF"/>
                </a:solidFill>
                <a:latin typeface="Montserrat" pitchFamily="2" charset="77"/>
              </a:rPr>
              <a:t> o deflator da localidade</a:t>
            </a:r>
          </a:p>
        </p:txBody>
      </p:sp>
      <p:sp>
        <p:nvSpPr>
          <p:cNvPr id="2010" name="card1"/>
          <p:cNvSpPr/>
          <p:nvPr/>
        </p:nvSpPr>
        <p:spPr>
          <a:xfrm>
            <a:off x="6223000" y="734917"/>
            <a:ext cx="5461000" cy="4624613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11" name="pill1"/>
          <p:cNvSpPr/>
          <p:nvPr/>
        </p:nvSpPr>
        <p:spPr>
          <a:xfrm>
            <a:off x="6426200" y="887318"/>
            <a:ext cx="5054600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80">
                <a:solidFill>
                  <a:srgbClr val="056429"/>
                </a:solidFill>
                <a:latin typeface="Montserrat"/>
              </a:rPr>
              <a:t>CUSTO LABORAL (CHONÉ &amp; MA, 2011)</a:t>
            </a:r>
          </a:p>
        </p:txBody>
      </p:sp>
      <p:sp>
        <p:nvSpPr>
          <p:cNvPr id="2012" name="eqcard1"/>
          <p:cNvSpPr/>
          <p:nvPr/>
        </p:nvSpPr>
        <p:spPr>
          <a:xfrm>
            <a:off x="6426200" y="1319118"/>
            <a:ext cx="5054600" cy="111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13" name="frase1"/>
          <p:cNvSpPr/>
          <p:nvPr/>
        </p:nvSpPr>
        <p:spPr>
          <a:xfrm>
            <a:off x="6426200" y="2487520"/>
            <a:ext cx="5054600" cy="1117600"/>
          </a:xfrm>
          <a:prstGeom prst="roundRect">
            <a:avLst/>
          </a:prstGeom>
          <a:noFill/>
          <a:ln>
            <a:noFill/>
          </a:ln>
        </p:spPr>
        <p:txBody>
          <a:bodyPr wrap="square" lIns="25400" tIns="38100" rIns="25400" bIns="38100" anchor="t">
            <a:noAutofit/>
          </a:bodyPr>
          <a:lstStyle/>
          <a:p>
            <a:pPr marL="0" indent="0" algn="just">
              <a:lnSpc>
                <a:spcPct val="104000"/>
              </a:lnSpc>
              <a:spcAft>
                <a:spcPts val="300"/>
              </a:spcAft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médico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ganha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com a receita do atendimento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,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perde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com o esforço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de produzir o cuidado.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O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esforço cai quando há mais equipe (L) e capital (K),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e valoriza o benefício ao paciente na medida do seu altruísmo (α).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Salário igual em estruturas diferentes não é oferta igual.</a:t>
            </a:r>
          </a:p>
        </p:txBody>
      </p:sp>
      <p:sp>
        <p:nvSpPr>
          <p:cNvPr id="2014" name="chip1_0"/>
          <p:cNvSpPr/>
          <p:nvPr/>
        </p:nvSpPr>
        <p:spPr>
          <a:xfrm>
            <a:off x="64262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>
                <a:solidFill>
                  <a:srgbClr val="114719"/>
                </a:solidFill>
                <a:latin typeface="Montserrat"/>
              </a:rPr>
              <a:t>R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receita</a:t>
            </a:r>
          </a:p>
        </p:txBody>
      </p:sp>
      <p:sp>
        <p:nvSpPr>
          <p:cNvPr id="2015" name="chip1_1"/>
          <p:cNvSpPr/>
          <p:nvPr/>
        </p:nvSpPr>
        <p:spPr>
          <a:xfrm>
            <a:off x="90043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Q </a:t>
            </a:r>
            <a:r>
              <a:rPr lang="pt-BR" sz="1200" b="1" i="1">
                <a:latin typeface="Montserrat" pitchFamily="2" charset="77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 intensidade do cuidado</a:t>
            </a:r>
          </a:p>
        </p:txBody>
      </p:sp>
      <p:sp>
        <p:nvSpPr>
          <p:cNvPr id="2016" name="chip1_2"/>
          <p:cNvSpPr/>
          <p:nvPr/>
        </p:nvSpPr>
        <p:spPr>
          <a:xfrm>
            <a:off x="64262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>
                <a:solidFill>
                  <a:srgbClr val="114719"/>
                </a:solidFill>
                <a:latin typeface="Montserrat"/>
              </a:rPr>
              <a:t>C(q; L, K) </a:t>
            </a:r>
            <a:r>
              <a:rPr lang="pt-BR" sz="1200" b="1" i="1"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custo de esforço</a:t>
            </a:r>
          </a:p>
        </p:txBody>
      </p:sp>
      <p:sp>
        <p:nvSpPr>
          <p:cNvPr id="2017" name="chip1_3"/>
          <p:cNvSpPr/>
          <p:nvPr/>
        </p:nvSpPr>
        <p:spPr>
          <a:xfrm>
            <a:off x="90043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B(q) </a:t>
            </a:r>
            <a:r>
              <a:rPr lang="pt-BR" sz="1200" b="1" i="1">
                <a:latin typeface="Montserrat" pitchFamily="2" charset="77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 benefício ao paciente</a:t>
            </a:r>
          </a:p>
        </p:txBody>
      </p:sp>
      <p:sp>
        <p:nvSpPr>
          <p:cNvPr id="2018" name="impact1"/>
          <p:cNvSpPr/>
          <p:nvPr/>
        </p:nvSpPr>
        <p:spPr>
          <a:xfrm>
            <a:off x="6426200" y="4697316"/>
            <a:ext cx="5054600" cy="558800"/>
          </a:xfrm>
          <a:prstGeom prst="roundRect">
            <a:avLst>
              <a:gd name="adj" fmla="val 14000"/>
            </a:avLst>
          </a:prstGeom>
          <a:solidFill>
            <a:srgbClr val="056429"/>
          </a:solidFill>
          <a:ln>
            <a:noFill/>
          </a:ln>
        </p:spPr>
        <p:txBody>
          <a:bodyPr wrap="square" lIns="177800" tIns="38100" rIns="1778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Gera  </a:t>
            </a:r>
            <a:r>
              <a:rPr lang="pt-BR" sz="1300" b="1" i="1" err="1">
                <a:solidFill>
                  <a:srgbClr val="FFFFFF"/>
                </a:solidFill>
                <a:latin typeface="Montserrat" pitchFamily="2" charset="77"/>
              </a:rPr>
              <a:t>c</a:t>
            </a:r>
            <a:r>
              <a:rPr lang="pt-BR" sz="1300" b="1" i="1" baseline="-25000" err="1">
                <a:solidFill>
                  <a:srgbClr val="FFFFFF"/>
                </a:solidFill>
                <a:latin typeface="Montserrat" pitchFamily="2" charset="77"/>
              </a:rPr>
              <a:t>it</a:t>
            </a:r>
            <a:r>
              <a:rPr lang="pt-BR" sz="1300" b="1" i="1">
                <a:solidFill>
                  <a:srgbClr val="FFFFFF"/>
                </a:solidFill>
                <a:latin typeface="Montserrat" pitchFamily="2" charset="77"/>
              </a:rPr>
              <a:t>(s): </a:t>
            </a:r>
            <a:r>
              <a:rPr lang="pt-BR" sz="1300">
                <a:solidFill>
                  <a:srgbClr val="FFFFFF"/>
                </a:solidFill>
                <a:latin typeface="Montserrat" pitchFamily="2" charset="77"/>
              </a:rPr>
              <a:t>o custo não pecuniário de exercer ali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3A5703-850F-21BC-675E-E9F9C056F1B0}"/>
                  </a:ext>
                </a:extLst>
              </p:cNvPr>
              <p:cNvSpPr txBox="1"/>
              <p:nvPr/>
            </p:nvSpPr>
            <p:spPr>
              <a:xfrm>
                <a:off x="1845811" y="1380859"/>
                <a:ext cx="2785378" cy="994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𝒏𝒊𝒐</m:t>
                          </m:r>
                        </m:sub>
                      </m:sSub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𝒁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𝒏𝒊𝒐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𝒏𝒊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  <m:sup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sz="2800" b="1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3A5703-850F-21BC-675E-E9F9C056F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5811" y="1380859"/>
                <a:ext cx="2785378" cy="9941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7AEDC8D-5250-6AED-156D-B9884E7DF04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88664" y="6477362"/>
            <a:ext cx="500000" cy="38032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20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9" name="CaixaDeTexto 4">
            <a:extLst>
              <a:ext uri="{FF2B5EF4-FFF2-40B4-BE49-F238E27FC236}">
                <a16:creationId xmlns:a16="http://schemas.microsoft.com/office/drawing/2014/main" id="{9451A1DF-E6E4-63E6-7722-349E64C118BB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100">
                <a:latin typeface="Montserrat" panose="00000500000000000000" pitchFamily="2" charset="0"/>
              </a:rPr>
              <a:t>  I  Hipótese  I  Viabilidade Empírica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5A2CF0-8812-626E-0F76-2F3BDB1B08AA}"/>
                  </a:ext>
                </a:extLst>
              </p:cNvPr>
              <p:cNvSpPr txBox="1"/>
              <p:nvPr/>
            </p:nvSpPr>
            <p:spPr>
              <a:xfrm>
                <a:off x="6734880" y="1662475"/>
                <a:ext cx="443724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𝑪</m:t>
                      </m:r>
                      <m:d>
                        <m:d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𝒒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𝑲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𝒒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b="1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5A2CF0-8812-626E-0F76-2F3BDB1B0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4880" y="1662475"/>
                <a:ext cx="4437240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1254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288C312-EBA4-4539-D1AC-94E8227D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botbox">
            <a:extLst>
              <a:ext uri="{FF2B5EF4-FFF2-40B4-BE49-F238E27FC236}">
                <a16:creationId xmlns:a16="http://schemas.microsoft.com/office/drawing/2014/main" id="{0AB9D610-0D68-E3FC-3E65-2DAEEEB4BB71}"/>
              </a:ext>
            </a:extLst>
          </p:cNvPr>
          <p:cNvSpPr/>
          <p:nvPr/>
        </p:nvSpPr>
        <p:spPr>
          <a:xfrm>
            <a:off x="386080" y="5062046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9" name="botbar">
            <a:extLst>
              <a:ext uri="{FF2B5EF4-FFF2-40B4-BE49-F238E27FC236}">
                <a16:creationId xmlns:a16="http://schemas.microsoft.com/office/drawing/2014/main" id="{8D845FE5-A180-EF8B-D2D6-2A6644E8887E}"/>
              </a:ext>
            </a:extLst>
          </p:cNvPr>
          <p:cNvSpPr/>
          <p:nvPr/>
        </p:nvSpPr>
        <p:spPr>
          <a:xfrm>
            <a:off x="386080" y="5150199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B7CA4B-6E57-121A-5D0F-74AD60A88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Da escolha individual ao preenchimento agregado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D1FE7-1B60-BD8C-A1FD-804D2B64232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Intuição econômica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87049-E08D-B511-003E-DE818A221D1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Como escolhas individuais se transformam em preenchimento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A5AA601-FA16-5BB3-E259-E760B3225AF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II. Formalização da agregação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95D5FF7-3E0C-32D8-4A52-8C7B85EC2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Da escolha ótima do médico à probabilidade de preenchimento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51505F2-75A2-26CB-8216-EC26DA3C7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21</a:t>
            </a:fld>
            <a:endParaRPr lang="en-US"/>
          </a:p>
        </p:txBody>
      </p:sp>
      <p:sp>
        <p:nvSpPr>
          <p:cNvPr id="15" name="connector">
            <a:extLst>
              <a:ext uri="{FF2B5EF4-FFF2-40B4-BE49-F238E27FC236}">
                <a16:creationId xmlns:a16="http://schemas.microsoft.com/office/drawing/2014/main" id="{59DD7743-5628-1A14-62E5-DE0CBFD60777}"/>
              </a:ext>
            </a:extLst>
          </p:cNvPr>
          <p:cNvSpPr/>
          <p:nvPr/>
        </p:nvSpPr>
        <p:spPr>
          <a:xfrm>
            <a:off x="444199" y="1803694"/>
            <a:ext cx="25400" cy="23876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6" name="num0">
            <a:extLst>
              <a:ext uri="{FF2B5EF4-FFF2-40B4-BE49-F238E27FC236}">
                <a16:creationId xmlns:a16="http://schemas.microsoft.com/office/drawing/2014/main" id="{F14DAEE8-956E-5C93-01C4-9CE9BB9ED06E}"/>
              </a:ext>
            </a:extLst>
          </p:cNvPr>
          <p:cNvSpPr/>
          <p:nvPr/>
        </p:nvSpPr>
        <p:spPr>
          <a:xfrm>
            <a:off x="228299" y="15750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17" name="rt0">
            <a:extLst>
              <a:ext uri="{FF2B5EF4-FFF2-40B4-BE49-F238E27FC236}">
                <a16:creationId xmlns:a16="http://schemas.microsoft.com/office/drawing/2014/main" id="{FA6DF2D9-A29A-0E26-7A73-3E4EC4589C6E}"/>
              </a:ext>
            </a:extLst>
          </p:cNvPr>
          <p:cNvSpPr/>
          <p:nvPr/>
        </p:nvSpPr>
        <p:spPr>
          <a:xfrm>
            <a:off x="888699" y="16042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Cada médico prefere uma oferta</a:t>
            </a:r>
          </a:p>
        </p:txBody>
      </p:sp>
      <p:sp>
        <p:nvSpPr>
          <p:cNvPr id="18" name="rd0">
            <a:extLst>
              <a:ext uri="{FF2B5EF4-FFF2-40B4-BE49-F238E27FC236}">
                <a16:creationId xmlns:a16="http://schemas.microsoft.com/office/drawing/2014/main" id="{6176E59F-A967-9DB5-5FCD-B971D4EC2D0A}"/>
              </a:ext>
            </a:extLst>
          </p:cNvPr>
          <p:cNvSpPr/>
          <p:nvPr/>
        </p:nvSpPr>
        <p:spPr>
          <a:xfrm>
            <a:off x="888699" y="18174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Entre as ofertas disponíveis para ele (I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), fica com a de maior valor </a:t>
            </a:r>
            <a:r>
              <a:rPr lang="pt-BR" sz="1100" err="1">
                <a:solidFill>
                  <a:srgbClr val="3A3A3A"/>
                </a:solidFill>
                <a:latin typeface="Montserrat" pitchFamily="2" charset="77"/>
              </a:rPr>
              <a:t>V</a:t>
            </a:r>
            <a:r>
              <a:rPr lang="pt-BR" sz="1100" baseline="-25000" err="1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19" name="num1">
            <a:extLst>
              <a:ext uri="{FF2B5EF4-FFF2-40B4-BE49-F238E27FC236}">
                <a16:creationId xmlns:a16="http://schemas.microsoft.com/office/drawing/2014/main" id="{BDC12805-AB59-58F1-E700-725EEF340F1C}"/>
              </a:ext>
            </a:extLst>
          </p:cNvPr>
          <p:cNvSpPr/>
          <p:nvPr/>
        </p:nvSpPr>
        <p:spPr>
          <a:xfrm>
            <a:off x="228299" y="27688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0" name="rt1">
            <a:extLst>
              <a:ext uri="{FF2B5EF4-FFF2-40B4-BE49-F238E27FC236}">
                <a16:creationId xmlns:a16="http://schemas.microsoft.com/office/drawing/2014/main" id="{56B458EC-E6A9-ADC7-E124-21FD02F33B76}"/>
              </a:ext>
            </a:extLst>
          </p:cNvPr>
          <p:cNvSpPr/>
          <p:nvPr/>
        </p:nvSpPr>
        <p:spPr>
          <a:xfrm>
            <a:off x="888699" y="27980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Médicos diferem entre si</a:t>
            </a:r>
          </a:p>
        </p:txBody>
      </p:sp>
      <p:sp>
        <p:nvSpPr>
          <p:cNvPr id="21" name="rd1">
            <a:extLst>
              <a:ext uri="{FF2B5EF4-FFF2-40B4-BE49-F238E27FC236}">
                <a16:creationId xmlns:a16="http://schemas.microsoft.com/office/drawing/2014/main" id="{DD87E29D-4346-5A28-257D-3B2EFAD0C93A}"/>
              </a:ext>
            </a:extLst>
          </p:cNvPr>
          <p:cNvSpPr/>
          <p:nvPr/>
        </p:nvSpPr>
        <p:spPr>
          <a:xfrm>
            <a:off x="888699" y="30112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Especialidade, vínculos e preferências variam: 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é a parcela de médicos que prefere m.</a:t>
            </a:r>
          </a:p>
        </p:txBody>
      </p:sp>
      <p:sp>
        <p:nvSpPr>
          <p:cNvPr id="22" name="num2">
            <a:extLst>
              <a:ext uri="{FF2B5EF4-FFF2-40B4-BE49-F238E27FC236}">
                <a16:creationId xmlns:a16="http://schemas.microsoft.com/office/drawing/2014/main" id="{1CAAA19A-D020-02FE-D997-7F696C6C5431}"/>
              </a:ext>
            </a:extLst>
          </p:cNvPr>
          <p:cNvSpPr/>
          <p:nvPr/>
        </p:nvSpPr>
        <p:spPr>
          <a:xfrm>
            <a:off x="228299" y="39626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3" name="rt2">
            <a:extLst>
              <a:ext uri="{FF2B5EF4-FFF2-40B4-BE49-F238E27FC236}">
                <a16:creationId xmlns:a16="http://schemas.microsoft.com/office/drawing/2014/main" id="{09CF4275-ECB1-1C5E-6481-1C569A63FB77}"/>
              </a:ext>
            </a:extLst>
          </p:cNvPr>
          <p:cNvSpPr/>
          <p:nvPr/>
        </p:nvSpPr>
        <p:spPr>
          <a:xfrm>
            <a:off x="888699" y="39918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Basta um médico para preencher</a:t>
            </a:r>
          </a:p>
        </p:txBody>
      </p:sp>
      <p:sp>
        <p:nvSpPr>
          <p:cNvPr id="24" name="rd2">
            <a:extLst>
              <a:ext uri="{FF2B5EF4-FFF2-40B4-BE49-F238E27FC236}">
                <a16:creationId xmlns:a16="http://schemas.microsoft.com/office/drawing/2014/main" id="{50D6EA1F-D6BF-02A1-6912-D96D2B4D9D3A}"/>
              </a:ext>
            </a:extLst>
          </p:cNvPr>
          <p:cNvSpPr/>
          <p:nvPr/>
        </p:nvSpPr>
        <p:spPr>
          <a:xfrm>
            <a:off x="888699" y="42050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Com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 N médicos, a chance de nenhum escolher m é (1 − π</a:t>
            </a:r>
            <a:r>
              <a:rPr lang="pt-BR" sz="115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)</a:t>
            </a:r>
            <a:r>
              <a:rPr lang="pt-BR" sz="1150" baseline="30000">
                <a:solidFill>
                  <a:srgbClr val="3A3A3A"/>
                </a:solidFill>
                <a:latin typeface="Montserrat" pitchFamily="2" charset="77"/>
              </a:rPr>
              <a:t>N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F5F5137-02CD-0FCF-EB6D-2FCBDFC854B8}"/>
              </a:ext>
            </a:extLst>
          </p:cNvPr>
          <p:cNvGrpSpPr/>
          <p:nvPr/>
        </p:nvGrpSpPr>
        <p:grpSpPr>
          <a:xfrm>
            <a:off x="6096000" y="1473200"/>
            <a:ext cx="5461000" cy="3302000"/>
            <a:chOff x="6096000" y="1473200"/>
            <a:chExt cx="5461000" cy="3302000"/>
          </a:xfrm>
        </p:grpSpPr>
        <p:sp>
          <p:nvSpPr>
            <p:cNvPr id="13" name="botbox">
              <a:extLst>
                <a:ext uri="{FF2B5EF4-FFF2-40B4-BE49-F238E27FC236}">
                  <a16:creationId xmlns:a16="http://schemas.microsoft.com/office/drawing/2014/main" id="{ED2EED2D-3A29-3FBC-CAEB-25D16C9EFFF0}"/>
                </a:ext>
              </a:extLst>
            </p:cNvPr>
            <p:cNvSpPr/>
            <p:nvPr/>
          </p:nvSpPr>
          <p:spPr>
            <a:xfrm>
              <a:off x="6096000" y="1473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14" name="botbar">
              <a:extLst>
                <a:ext uri="{FF2B5EF4-FFF2-40B4-BE49-F238E27FC236}">
                  <a16:creationId xmlns:a16="http://schemas.microsoft.com/office/drawing/2014/main" id="{495DE417-1666-1D9E-8263-AA16116D3B5C}"/>
                </a:ext>
              </a:extLst>
            </p:cNvPr>
            <p:cNvSpPr/>
            <p:nvPr/>
          </p:nvSpPr>
          <p:spPr>
            <a:xfrm>
              <a:off x="6096000" y="1549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5" name="botbox">
              <a:extLst>
                <a:ext uri="{FF2B5EF4-FFF2-40B4-BE49-F238E27FC236}">
                  <a16:creationId xmlns:a16="http://schemas.microsoft.com/office/drawing/2014/main" id="{5E9351D1-2647-F57A-FB63-72AAAF01FB58}"/>
                </a:ext>
              </a:extLst>
            </p:cNvPr>
            <p:cNvSpPr/>
            <p:nvPr/>
          </p:nvSpPr>
          <p:spPr>
            <a:xfrm>
              <a:off x="6096000" y="2616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6" name="botbar">
              <a:extLst>
                <a:ext uri="{FF2B5EF4-FFF2-40B4-BE49-F238E27FC236}">
                  <a16:creationId xmlns:a16="http://schemas.microsoft.com/office/drawing/2014/main" id="{3163DEA3-6A82-045C-0FFE-934BECC47489}"/>
                </a:ext>
              </a:extLst>
            </p:cNvPr>
            <p:cNvSpPr/>
            <p:nvPr/>
          </p:nvSpPr>
          <p:spPr>
            <a:xfrm>
              <a:off x="6096000" y="2692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7" name="botbox">
              <a:extLst>
                <a:ext uri="{FF2B5EF4-FFF2-40B4-BE49-F238E27FC236}">
                  <a16:creationId xmlns:a16="http://schemas.microsoft.com/office/drawing/2014/main" id="{3CF86848-2416-1821-505C-DBEB8CC3938F}"/>
                </a:ext>
              </a:extLst>
            </p:cNvPr>
            <p:cNvSpPr/>
            <p:nvPr/>
          </p:nvSpPr>
          <p:spPr>
            <a:xfrm>
              <a:off x="6096000" y="3759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8" name="botbar">
              <a:extLst>
                <a:ext uri="{FF2B5EF4-FFF2-40B4-BE49-F238E27FC236}">
                  <a16:creationId xmlns:a16="http://schemas.microsoft.com/office/drawing/2014/main" id="{E3C2318A-F8A6-D1A9-0D2B-67AF0E5B4C9B}"/>
                </a:ext>
              </a:extLst>
            </p:cNvPr>
            <p:cNvSpPr/>
            <p:nvPr/>
          </p:nvSpPr>
          <p:spPr>
            <a:xfrm>
              <a:off x="6096000" y="3835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</p:grp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477B0F34-6C73-F705-9802-3A4C8D10EFF4}"/>
              </a:ext>
            </a:extLst>
          </p:cNvPr>
          <p:cNvSpPr txBox="1">
            <a:spLocks/>
          </p:cNvSpPr>
          <p:nvPr/>
        </p:nvSpPr>
        <p:spPr>
          <a:xfrm>
            <a:off x="6184900" y="1511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Escolha Individual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MOEHLING et al. (2020)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8FD796E-4A32-1456-029F-B792E86C4F4F}"/>
                  </a:ext>
                </a:extLst>
              </p:cNvPr>
              <p:cNvSpPr txBox="1"/>
              <p:nvPr/>
            </p:nvSpPr>
            <p:spPr>
              <a:xfrm>
                <a:off x="8890000" y="1498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pt-BR" sz="16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lim>
                      </m:limLow>
                      <m:r>
                        <a:rPr lang="pt-BR" sz="1600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𝑟𝑚</m:t>
                          </m:r>
                        </m:sub>
                      </m:sSub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8FD796E-4A32-1456-029F-B792E86C4F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1498600"/>
                <a:ext cx="2603500" cy="508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387B8A35-2E30-2C0B-2F59-D2EB044C9375}"/>
              </a:ext>
            </a:extLst>
          </p:cNvPr>
          <p:cNvSpPr txBox="1">
            <a:spLocks/>
          </p:cNvSpPr>
          <p:nvPr/>
        </p:nvSpPr>
        <p:spPr>
          <a:xfrm>
            <a:off x="6184900" y="2654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Agregação 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BURDETT, SHI &amp; WRIGHT (2001)</a:t>
            </a:r>
            <a:endParaRPr lang="pt-BR" sz="90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4E75275A-A9CB-3836-F26C-39FDEC898C55}"/>
              </a:ext>
            </a:extLst>
          </p:cNvPr>
          <p:cNvSpPr txBox="1">
            <a:spLocks/>
          </p:cNvSpPr>
          <p:nvPr/>
        </p:nvSpPr>
        <p:spPr>
          <a:xfrm>
            <a:off x="6184900" y="3797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III. Preenchimento</a:t>
            </a:r>
          </a:p>
          <a:p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Simplificação teórica (Binomial)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C1AAD57E-9BC3-F8F0-15B6-B8F0330B8EFD}"/>
                  </a:ext>
                </a:extLst>
              </p:cNvPr>
              <p:cNvSpPr txBox="1"/>
              <p:nvPr/>
            </p:nvSpPr>
            <p:spPr>
              <a:xfrm>
                <a:off x="8890000" y="3784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16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pt-BR" sz="16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C1AAD57E-9BC3-F8F0-15B6-B8F0330B8E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3784600"/>
                <a:ext cx="2603500" cy="508000"/>
              </a:xfrm>
              <a:prstGeom prst="rect">
                <a:avLst/>
              </a:prstGeom>
              <a:blipFill>
                <a:blip r:embed="rId3"/>
                <a:stretch>
                  <a:fillRect l="-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EEC69D1-3B4D-C46D-67E9-6C1567712956}"/>
                  </a:ext>
                </a:extLst>
              </p:cNvPr>
              <p:cNvSpPr txBox="1"/>
              <p:nvPr/>
            </p:nvSpPr>
            <p:spPr>
              <a:xfrm>
                <a:off x="8890000" y="2641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Pr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EEC69D1-3B4D-C46D-67E9-6C1567712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2641600"/>
                <a:ext cx="2603500" cy="50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hyplab">
            <a:extLst>
              <a:ext uri="{FF2B5EF4-FFF2-40B4-BE49-F238E27FC236}">
                <a16:creationId xmlns:a16="http://schemas.microsoft.com/office/drawing/2014/main" id="{6DBEAE95-560D-C565-5395-CF25A4E0AF2B}"/>
              </a:ext>
            </a:extLst>
          </p:cNvPr>
          <p:cNvSpPr/>
          <p:nvPr/>
        </p:nvSpPr>
        <p:spPr>
          <a:xfrm>
            <a:off x="584200" y="4998720"/>
            <a:ext cx="1397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spc="80">
                <a:latin typeface="Montserrat" pitchFamily="2" charset="77"/>
              </a:rPr>
              <a:t>HIPÓTESE</a:t>
            </a:r>
          </a:p>
        </p:txBody>
      </p:sp>
      <p:sp>
        <p:nvSpPr>
          <p:cNvPr id="50" name="seg0">
            <a:extLst>
              <a:ext uri="{FF2B5EF4-FFF2-40B4-BE49-F238E27FC236}">
                <a16:creationId xmlns:a16="http://schemas.microsoft.com/office/drawing/2014/main" id="{B4051F00-3D29-532E-F7B9-776756D4EB47}"/>
              </a:ext>
            </a:extLst>
          </p:cNvPr>
          <p:cNvSpPr/>
          <p:nvPr/>
        </p:nvSpPr>
        <p:spPr>
          <a:xfrm>
            <a:off x="20066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B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bolsa maior</a:t>
            </a:r>
          </a:p>
        </p:txBody>
      </p:sp>
      <p:sp>
        <p:nvSpPr>
          <p:cNvPr id="51" name="segar0">
            <a:extLst>
              <a:ext uri="{FF2B5EF4-FFF2-40B4-BE49-F238E27FC236}">
                <a16:creationId xmlns:a16="http://schemas.microsoft.com/office/drawing/2014/main" id="{7C27621D-E689-93F8-8413-28708EB3090B}"/>
              </a:ext>
            </a:extLst>
          </p:cNvPr>
          <p:cNvSpPr/>
          <p:nvPr/>
        </p:nvSpPr>
        <p:spPr>
          <a:xfrm>
            <a:off x="40386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2" name="seg1">
            <a:extLst>
              <a:ext uri="{FF2B5EF4-FFF2-40B4-BE49-F238E27FC236}">
                <a16:creationId xmlns:a16="http://schemas.microsoft.com/office/drawing/2014/main" id="{DB32F01E-F3B5-BC12-C9AD-11639376D3E3}"/>
              </a:ext>
            </a:extLst>
          </p:cNvPr>
          <p:cNvSpPr/>
          <p:nvPr/>
        </p:nvSpPr>
        <p:spPr>
          <a:xfrm>
            <a:off x="44323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V</a:t>
            </a:r>
            <a:r>
              <a:rPr lang="pt-BR" sz="1500" b="1" i="1" baseline="-25000">
                <a:latin typeface="Montserrat" pitchFamily="2" charset="77"/>
              </a:rPr>
              <a:t>rm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a oferta vale mais</a:t>
            </a:r>
          </a:p>
        </p:txBody>
      </p:sp>
      <p:sp>
        <p:nvSpPr>
          <p:cNvPr id="53" name="segar1">
            <a:extLst>
              <a:ext uri="{FF2B5EF4-FFF2-40B4-BE49-F238E27FC236}">
                <a16:creationId xmlns:a16="http://schemas.microsoft.com/office/drawing/2014/main" id="{634E064A-CA76-C99C-E363-7526070D224F}"/>
              </a:ext>
            </a:extLst>
          </p:cNvPr>
          <p:cNvSpPr/>
          <p:nvPr/>
        </p:nvSpPr>
        <p:spPr>
          <a:xfrm>
            <a:off x="64643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4" name="seg2">
            <a:extLst>
              <a:ext uri="{FF2B5EF4-FFF2-40B4-BE49-F238E27FC236}">
                <a16:creationId xmlns:a16="http://schemas.microsoft.com/office/drawing/2014/main" id="{622E767A-3EF2-8AD5-DB36-A4B872C5D9E3}"/>
              </a:ext>
            </a:extLst>
          </p:cNvPr>
          <p:cNvSpPr/>
          <p:nvPr/>
        </p:nvSpPr>
        <p:spPr>
          <a:xfrm>
            <a:off x="68580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π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médicos a preferem</a:t>
            </a:r>
          </a:p>
        </p:txBody>
      </p:sp>
      <p:sp>
        <p:nvSpPr>
          <p:cNvPr id="55" name="segar2">
            <a:extLst>
              <a:ext uri="{FF2B5EF4-FFF2-40B4-BE49-F238E27FC236}">
                <a16:creationId xmlns:a16="http://schemas.microsoft.com/office/drawing/2014/main" id="{B2DA3867-DA00-32CA-AA77-2EFA5D2B9550}"/>
              </a:ext>
            </a:extLst>
          </p:cNvPr>
          <p:cNvSpPr/>
          <p:nvPr/>
        </p:nvSpPr>
        <p:spPr>
          <a:xfrm>
            <a:off x="88900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6" name="seg3">
            <a:extLst>
              <a:ext uri="{FF2B5EF4-FFF2-40B4-BE49-F238E27FC236}">
                <a16:creationId xmlns:a16="http://schemas.microsoft.com/office/drawing/2014/main" id="{E541D18C-D4F8-3479-0F2D-20981360F0B8}"/>
              </a:ext>
            </a:extLst>
          </p:cNvPr>
          <p:cNvSpPr/>
          <p:nvPr/>
        </p:nvSpPr>
        <p:spPr>
          <a:xfrm>
            <a:off x="92837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>
                <a:latin typeface="Montserrat" pitchFamily="2" charset="77"/>
              </a:rPr>
              <a:t>Pr(Y</a:t>
            </a:r>
            <a:r>
              <a:rPr lang="pt-BR" sz="1500" b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= 1)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chance de preencher</a:t>
            </a:r>
          </a:p>
        </p:txBody>
      </p:sp>
      <p:sp>
        <p:nvSpPr>
          <p:cNvPr id="57" name="note">
            <a:extLst>
              <a:ext uri="{FF2B5EF4-FFF2-40B4-BE49-F238E27FC236}">
                <a16:creationId xmlns:a16="http://schemas.microsoft.com/office/drawing/2014/main" id="{B3564D0B-824A-83FC-92F5-1225110E3CBE}"/>
              </a:ext>
            </a:extLst>
          </p:cNvPr>
          <p:cNvSpPr/>
          <p:nvPr/>
        </p:nvSpPr>
        <p:spPr>
          <a:xfrm>
            <a:off x="355600" y="5948082"/>
            <a:ext cx="1117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err="1">
                <a:solidFill>
                  <a:srgbClr val="114719"/>
                </a:solidFill>
                <a:latin typeface="Montserrat" pitchFamily="2" charset="77"/>
              </a:rPr>
              <a:t>Y</a:t>
            </a:r>
            <a:r>
              <a:rPr lang="pt-BR" sz="1100" b="1" baseline="-25000" err="1">
                <a:solidFill>
                  <a:srgbClr val="114719"/>
                </a:solidFill>
                <a:latin typeface="Montserrat" pitchFamily="2" charset="77"/>
              </a:rPr>
              <a:t>m</a:t>
            </a: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 = 1: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a oferta (estabelecimento × curso) recebe ao menos uma confirmação ou homologação; não é taxa de ocupação de vagas.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Binomial: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supõe escolhas independentes e π</a:t>
            </a:r>
            <a:r>
              <a:rPr lang="pt-BR" sz="1100" baseline="-25000">
                <a:solidFill>
                  <a:srgbClr val="6B6B6B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 comum entre médicos; é simplificação teórica, não equação estimada.</a:t>
            </a:r>
          </a:p>
        </p:txBody>
      </p:sp>
      <p:sp>
        <p:nvSpPr>
          <p:cNvPr id="62" name="navFooter">
            <a:extLst>
              <a:ext uri="{FF2B5EF4-FFF2-40B4-BE49-F238E27FC236}">
                <a16:creationId xmlns:a16="http://schemas.microsoft.com/office/drawing/2014/main" id="{19B12236-F83E-D62A-5D61-C1974D2DD940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itchFamily="2" charset="0"/>
              </a:rPr>
              <a:t>Literatura</a:t>
            </a:r>
            <a:r>
              <a:rPr lang="pt-BR" sz="1100">
                <a:latin typeface="Montserrat" pitchFamily="2" charset="0"/>
              </a:rPr>
              <a:t>  I  Hipótese  I  Viabilidade Empírica</a:t>
            </a:r>
          </a:p>
        </p:txBody>
      </p:sp>
      <p:sp>
        <p:nvSpPr>
          <p:cNvPr id="70" name="stepdesc0"/>
          <p:cNvSpPr txBox="1"/>
          <p:nvPr/>
        </p:nvSpPr>
        <p:spPr>
          <a:xfrm>
            <a:off x="6184900" y="1993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cada médico r compara as ofertas de 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pelo valor V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m*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,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a oferta escolhida por cada médico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71" name="stepdesc1"/>
          <p:cNvSpPr txBox="1"/>
          <p:nvPr/>
        </p:nvSpPr>
        <p:spPr>
          <a:xfrm>
            <a:off x="6184900" y="3136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agrega as escolhas de todos os médicos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r.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, a parcela de médicos que escolhe a oferta m.</a:t>
            </a:r>
          </a:p>
        </p:txBody>
      </p:sp>
      <p:sp>
        <p:nvSpPr>
          <p:cNvPr id="72" name="stepdesc2"/>
          <p:cNvSpPr txBox="1"/>
          <p:nvPr/>
        </p:nvSpPr>
        <p:spPr>
          <a:xfrm>
            <a:off x="6184900" y="4279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calcula a chance de algum dos N médicos escolher m.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Pr(Y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= 1), a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probabilidade de a oferta m ser preenchida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144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83F72-5D1B-DC3B-0EE2-4EA11022C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16142A-8CCE-E276-9DE2-AA5271D7C4B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4B3E0F-17E3-DDD6-EFCC-115E31A4700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A16EC-6F47-5E33-1C0F-CDCCCED59DA0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4581344-EEDD-F722-6E55-22B223B1DFD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86B50A-9F88-2CFA-1B34-1BFC290017BC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08C70D0-D088-38FD-C129-7D6E2B238687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DBBFA8-70D0-6AD9-7219-700DD15B3A3E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AFE21F-186D-12CF-C692-5243ECD8A743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23BFDE-269A-54ED-9C10-0CF0AF1EDDF9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5427F8E-2F8F-7831-343B-2B7C46EE9F6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B58C052-542F-181B-76DB-0CE25F7CBE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C6FC4BAC-24DB-ADF7-CE73-684A366A814D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130F321E-C2BE-4615-CD81-E77AB90AA8F9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5A77450-3883-D956-F6FE-9CE871C5FA24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86D7EF7-032B-D7E6-3424-24B94A0D41A0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2207E42-E039-5790-2C36-B6493F03560E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A9CEB41-904A-2A3B-84D4-709BE154335F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60907C1B-01D0-7A8C-1A78-47BB86EA60BF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21780B2-C812-9D3C-67CE-3B406B117D66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DE487144-7A99-041A-682E-E8AA37C2680F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C5FC544E-892F-929A-3484-4BF3B131758A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DE802E92-42A0-2F91-60FD-30122534CA84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2B314E44-8B20-0033-8DBC-7E2C6F2140A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3A3B137D-FB33-F38B-3D21-8A18F9F8E2B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F32D607-B960-7AD1-E700-A25833C53FC3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890943D8-EAA9-924A-01C1-6F6E4EE97CC1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3513BAFA-151F-A6B8-C452-946784D62A45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EEF3ED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290C5A51-B78B-31FF-3E07-7E9E1C1ACC6B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6B0909BA-AAFA-45C5-23DC-B0AB747086B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02B868C8-7EE9-49E1-E7B0-99A24C2729D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0DF8DCD-82E8-1470-85C5-68749DF3906D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F411011-6E73-607C-6D69-0FFB8AA7C819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9CEA072F-362D-F30C-B0C2-D06FAA93EA2A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BCC9CB8-448C-72DE-74F6-ACF7609ED076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F8B66FC6-FAAC-32A5-8A50-D4A3AA3EA618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A23496FB-6904-5C3F-34B5-5E27C43D7F5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74E48EF-5351-5D82-AF16-51DB57AAD366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7A5639F8-3C93-44FB-4ECD-D7B9DCBD2D12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D5B74743-E78C-DFAE-A179-3DD768282A16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4A1CEE84-A30B-48DA-60AF-A81AE21D9421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E896CBEB-4028-C38A-ADAB-3AD9079230C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C23D4243-0F3B-9D4B-4C4F-63D9791BB70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81E018D-481D-7D4F-7831-1BBEEEA20840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1F79BD65-2821-B0A9-3141-BFCC373FE053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614B0D23-8C7B-A124-8D76-B754B56A9F2C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3521CFBE-C12B-4465-2048-148C165AE0C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BD6433E3-982F-34E4-5198-61807492457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D33820B9-2595-BC3B-3E3B-05162EEF6AC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9201BA9-77AF-6064-1506-348B8490EFA9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10ED6098-522A-A788-6604-6213DBD59D41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0FB7A66A-A9C7-B127-C42A-90D298CB46B6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44C54AB8-3E15-4BA0-D0AA-7F255DAAFD52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A07D9459-4CB9-C9DA-1AA0-75F52008937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9B21D121-601E-809D-C476-A85C7396028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1079CD5-0330-D294-CBED-C3B1A0279F67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7AA95EF3-8429-0487-29A7-EB0D27D76719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5043212F-1B4D-3630-5957-8682C1A0D158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97DE3F78-7843-2287-848B-144ED4FE3E4F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C94471AF-FD2D-0071-5FEA-8E0990F55F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1605E961-F5BF-A09A-853C-01F6360E5CB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89290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78B84-540A-3780-0C7C-AE1A1DF29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7B65B2D0-3C24-8F73-AE44-33AE3BB7F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4000"/>
              </a:lnSpc>
            </a:pPr>
            <a:r>
              <a:rPr lang="pt-BR">
                <a:solidFill>
                  <a:srgbClr val="F0F6FC"/>
                </a:solidFill>
                <a:latin typeface="Montserrat"/>
              </a:rPr>
              <a:t>Da condição de aceitação, sai nossa hipótese econômica</a:t>
            </a:r>
            <a:endParaRPr lang="pt-BR" sz="2400" b="1">
              <a:solidFill>
                <a:srgbClr val="FFFFFF"/>
              </a:solidFill>
              <a:latin typeface="Montserrat" pitchFamily="2" charset="77"/>
            </a:endParaRPr>
          </a:p>
        </p:txBody>
      </p:sp>
      <p:sp>
        <p:nvSpPr>
          <p:cNvPr id="5002" name="src0">
            <a:extLst>
              <a:ext uri="{FF2B5EF4-FFF2-40B4-BE49-F238E27FC236}">
                <a16:creationId xmlns:a16="http://schemas.microsoft.com/office/drawing/2014/main" id="{147583DB-9F25-A6DA-AB5C-A617E3DFF9BB}"/>
              </a:ext>
            </a:extLst>
          </p:cNvPr>
          <p:cNvSpPr/>
          <p:nvPr/>
        </p:nvSpPr>
        <p:spPr>
          <a:xfrm>
            <a:off x="508000" y="10160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3" name="srcbar0">
            <a:extLst>
              <a:ext uri="{FF2B5EF4-FFF2-40B4-BE49-F238E27FC236}">
                <a16:creationId xmlns:a16="http://schemas.microsoft.com/office/drawing/2014/main" id="{5F35A9F2-6CE1-8DF5-C55E-FEBF427369C7}"/>
              </a:ext>
            </a:extLst>
          </p:cNvPr>
          <p:cNvSpPr/>
          <p:nvPr/>
        </p:nvSpPr>
        <p:spPr>
          <a:xfrm>
            <a:off x="508000" y="10160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4" name="srct0">
            <a:extLst>
              <a:ext uri="{FF2B5EF4-FFF2-40B4-BE49-F238E27FC236}">
                <a16:creationId xmlns:a16="http://schemas.microsoft.com/office/drawing/2014/main" id="{8AC923A0-87ED-2791-F55A-04C49C5185AE}"/>
              </a:ext>
            </a:extLst>
          </p:cNvPr>
          <p:cNvSpPr/>
          <p:nvPr/>
        </p:nvSpPr>
        <p:spPr>
          <a:xfrm>
            <a:off x="685800" y="10545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 err="1">
                <a:solidFill>
                  <a:srgbClr val="114719"/>
                </a:solidFill>
                <a:latin typeface="Montserrat" pitchFamily="2" charset="77"/>
              </a:rPr>
              <a:t>Moehling</a:t>
            </a: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 et al. (2020)</a:t>
            </a:r>
          </a:p>
        </p:txBody>
      </p:sp>
      <p:sp>
        <p:nvSpPr>
          <p:cNvPr id="5005" name="srcs0">
            <a:extLst>
              <a:ext uri="{FF2B5EF4-FFF2-40B4-BE49-F238E27FC236}">
                <a16:creationId xmlns:a16="http://schemas.microsoft.com/office/drawing/2014/main" id="{61532B5E-B984-848B-EE6D-5BF58E092350}"/>
              </a:ext>
            </a:extLst>
          </p:cNvPr>
          <p:cNvSpPr/>
          <p:nvPr/>
        </p:nvSpPr>
        <p:spPr>
          <a:xfrm>
            <a:off x="685800" y="12450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A conta da escolha: salário real menos custo, descontado ao longo da carreira</a:t>
            </a:r>
          </a:p>
        </p:txBody>
      </p:sp>
      <p:sp>
        <p:nvSpPr>
          <p:cNvPr id="5006" name="src1">
            <a:extLst>
              <a:ext uri="{FF2B5EF4-FFF2-40B4-BE49-F238E27FC236}">
                <a16:creationId xmlns:a16="http://schemas.microsoft.com/office/drawing/2014/main" id="{5C1E82FC-8184-F0B3-CC4E-D4285A5F0BCB}"/>
              </a:ext>
            </a:extLst>
          </p:cNvPr>
          <p:cNvSpPr/>
          <p:nvPr/>
        </p:nvSpPr>
        <p:spPr>
          <a:xfrm>
            <a:off x="508000" y="16256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7" name="srcbar1">
            <a:extLst>
              <a:ext uri="{FF2B5EF4-FFF2-40B4-BE49-F238E27FC236}">
                <a16:creationId xmlns:a16="http://schemas.microsoft.com/office/drawing/2014/main" id="{804E0BFC-D2D7-D33A-9F80-BCB1092676D5}"/>
              </a:ext>
            </a:extLst>
          </p:cNvPr>
          <p:cNvSpPr/>
          <p:nvPr/>
        </p:nvSpPr>
        <p:spPr>
          <a:xfrm>
            <a:off x="508000" y="16256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8" name="srct1">
            <a:extLst>
              <a:ext uri="{FF2B5EF4-FFF2-40B4-BE49-F238E27FC236}">
                <a16:creationId xmlns:a16="http://schemas.microsoft.com/office/drawing/2014/main" id="{6AA16A3D-7342-C532-7ACC-AB62F14DE733}"/>
              </a:ext>
            </a:extLst>
          </p:cNvPr>
          <p:cNvSpPr/>
          <p:nvPr/>
        </p:nvSpPr>
        <p:spPr>
          <a:xfrm>
            <a:off x="685800" y="17145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Redding &amp; Rossi-Hansberg (2017)</a:t>
            </a:r>
          </a:p>
        </p:txBody>
      </p:sp>
      <p:sp>
        <p:nvSpPr>
          <p:cNvPr id="5009" name="srcs1">
            <a:extLst>
              <a:ext uri="{FF2B5EF4-FFF2-40B4-BE49-F238E27FC236}">
                <a16:creationId xmlns:a16="http://schemas.microsoft.com/office/drawing/2014/main" id="{5B4339D0-937C-1407-CFFB-E7BADED61188}"/>
              </a:ext>
            </a:extLst>
          </p:cNvPr>
          <p:cNvSpPr/>
          <p:nvPr/>
        </p:nvSpPr>
        <p:spPr>
          <a:xfrm>
            <a:off x="685800" y="19050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Entra em c: moradia e deslocamento</a:t>
            </a:r>
          </a:p>
        </p:txBody>
      </p:sp>
      <p:sp>
        <p:nvSpPr>
          <p:cNvPr id="5010" name="src2">
            <a:extLst>
              <a:ext uri="{FF2B5EF4-FFF2-40B4-BE49-F238E27FC236}">
                <a16:creationId xmlns:a16="http://schemas.microsoft.com/office/drawing/2014/main" id="{B49B55D1-A7BB-8B22-C5B7-D9D959D458B2}"/>
              </a:ext>
            </a:extLst>
          </p:cNvPr>
          <p:cNvSpPr/>
          <p:nvPr/>
        </p:nvSpPr>
        <p:spPr>
          <a:xfrm>
            <a:off x="508000" y="22352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1" name="srcbar2">
            <a:extLst>
              <a:ext uri="{FF2B5EF4-FFF2-40B4-BE49-F238E27FC236}">
                <a16:creationId xmlns:a16="http://schemas.microsoft.com/office/drawing/2014/main" id="{5CDED7C2-BF39-7FA2-013D-FF91987AE653}"/>
              </a:ext>
            </a:extLst>
          </p:cNvPr>
          <p:cNvSpPr/>
          <p:nvPr/>
        </p:nvSpPr>
        <p:spPr>
          <a:xfrm>
            <a:off x="508000" y="22352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2" name="srct2">
            <a:extLst>
              <a:ext uri="{FF2B5EF4-FFF2-40B4-BE49-F238E27FC236}">
                <a16:creationId xmlns:a16="http://schemas.microsoft.com/office/drawing/2014/main" id="{3DFE5DAA-208F-AB2F-F046-96A0D0117683}"/>
              </a:ext>
            </a:extLst>
          </p:cNvPr>
          <p:cNvSpPr/>
          <p:nvPr/>
        </p:nvSpPr>
        <p:spPr>
          <a:xfrm>
            <a:off x="685800" y="23241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Choné &amp; Ma (2011)</a:t>
            </a:r>
          </a:p>
        </p:txBody>
      </p:sp>
      <p:sp>
        <p:nvSpPr>
          <p:cNvPr id="5013" name="srcs2">
            <a:extLst>
              <a:ext uri="{FF2B5EF4-FFF2-40B4-BE49-F238E27FC236}">
                <a16:creationId xmlns:a16="http://schemas.microsoft.com/office/drawing/2014/main" id="{5F360FB8-00EC-7910-AE9A-949D3FE5B50D}"/>
              </a:ext>
            </a:extLst>
          </p:cNvPr>
          <p:cNvSpPr/>
          <p:nvPr/>
        </p:nvSpPr>
        <p:spPr>
          <a:xfrm>
            <a:off x="685800" y="25146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Entra em </a:t>
            </a:r>
            <a:r>
              <a:rPr lang="pt-BR" sz="1050" err="1">
                <a:solidFill>
                  <a:srgbClr val="6B6B6B"/>
                </a:solidFill>
                <a:latin typeface="Montserrat" pitchFamily="2" charset="77"/>
              </a:rPr>
              <a:t>c</a:t>
            </a: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: esforço, equipe e capital</a:t>
            </a:r>
          </a:p>
        </p:txBody>
      </p:sp>
      <p:sp>
        <p:nvSpPr>
          <p:cNvPr id="5014" name="arrow1">
            <a:extLst>
              <a:ext uri="{FF2B5EF4-FFF2-40B4-BE49-F238E27FC236}">
                <a16:creationId xmlns:a16="http://schemas.microsoft.com/office/drawing/2014/main" id="{8F0900F5-52AB-73F0-B5CE-40A2384CD70A}"/>
              </a:ext>
            </a:extLst>
          </p:cNvPr>
          <p:cNvSpPr/>
          <p:nvPr/>
        </p:nvSpPr>
        <p:spPr>
          <a:xfrm>
            <a:off x="3759200" y="1752600"/>
            <a:ext cx="381000" cy="304800"/>
          </a:xfrm>
          <a:prstGeom prst="rightArrow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5" name="eqcard">
            <a:extLst>
              <a:ext uri="{FF2B5EF4-FFF2-40B4-BE49-F238E27FC236}">
                <a16:creationId xmlns:a16="http://schemas.microsoft.com/office/drawing/2014/main" id="{659379DE-8AE9-227A-E1A1-F4C1DA17E12D}"/>
              </a:ext>
            </a:extLst>
          </p:cNvPr>
          <p:cNvSpPr/>
          <p:nvPr/>
        </p:nvSpPr>
        <p:spPr>
          <a:xfrm>
            <a:off x="4267200" y="1016000"/>
            <a:ext cx="4572000" cy="177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DED1"/>
            </a:solidFill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7" name="arrow2">
            <a:extLst>
              <a:ext uri="{FF2B5EF4-FFF2-40B4-BE49-F238E27FC236}">
                <a16:creationId xmlns:a16="http://schemas.microsoft.com/office/drawing/2014/main" id="{FFB86F97-F529-DD98-F97E-C004172F5261}"/>
              </a:ext>
            </a:extLst>
          </p:cNvPr>
          <p:cNvSpPr/>
          <p:nvPr/>
        </p:nvSpPr>
        <p:spPr>
          <a:xfrm>
            <a:off x="8966200" y="1752600"/>
            <a:ext cx="381000" cy="304800"/>
          </a:xfrm>
          <a:prstGeom prst="rightArrow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8" name="outcard">
            <a:extLst>
              <a:ext uri="{FF2B5EF4-FFF2-40B4-BE49-F238E27FC236}">
                <a16:creationId xmlns:a16="http://schemas.microsoft.com/office/drawing/2014/main" id="{1E447FC3-9216-9E99-1499-AEF1F5F87C66}"/>
              </a:ext>
            </a:extLst>
          </p:cNvPr>
          <p:cNvSpPr/>
          <p:nvPr/>
        </p:nvSpPr>
        <p:spPr>
          <a:xfrm>
            <a:off x="9474200" y="1016000"/>
            <a:ext cx="2209800" cy="1778000"/>
          </a:xfrm>
          <a:prstGeom prst="roundRect">
            <a:avLst>
              <a:gd name="adj" fmla="val 5000"/>
            </a:avLst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9" name="outlab">
            <a:extLst>
              <a:ext uri="{FF2B5EF4-FFF2-40B4-BE49-F238E27FC236}">
                <a16:creationId xmlns:a16="http://schemas.microsoft.com/office/drawing/2014/main" id="{6690732F-ABB3-E1B3-F5C4-7C6F97BC77E7}"/>
              </a:ext>
            </a:extLst>
          </p:cNvPr>
          <p:cNvSpPr/>
          <p:nvPr/>
        </p:nvSpPr>
        <p:spPr>
          <a:xfrm>
            <a:off x="9677400" y="1193800"/>
            <a:ext cx="1854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950" b="1" spc="80">
                <a:solidFill>
                  <a:srgbClr val="FFFFFF"/>
                </a:solidFill>
                <a:latin typeface="Montserrat" pitchFamily="2" charset="77"/>
              </a:rPr>
              <a:t>OUTPUT DO MODELO</a:t>
            </a:r>
          </a:p>
        </p:txBody>
      </p:sp>
      <p:sp>
        <p:nvSpPr>
          <p:cNvPr id="5020" name="outbig">
            <a:extLst>
              <a:ext uri="{FF2B5EF4-FFF2-40B4-BE49-F238E27FC236}">
                <a16:creationId xmlns:a16="http://schemas.microsoft.com/office/drawing/2014/main" id="{4930ABEB-6CA7-6419-72A3-A40E80179E7C}"/>
              </a:ext>
            </a:extLst>
          </p:cNvPr>
          <p:cNvSpPr/>
          <p:nvPr/>
        </p:nvSpPr>
        <p:spPr>
          <a:xfrm>
            <a:off x="9677400" y="1498600"/>
            <a:ext cx="1854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A localidade de maior valor é a escolhida</a:t>
            </a:r>
          </a:p>
        </p:txBody>
      </p:sp>
      <p:sp>
        <p:nvSpPr>
          <p:cNvPr id="5021" name="outsub">
            <a:extLst>
              <a:ext uri="{FF2B5EF4-FFF2-40B4-BE49-F238E27FC236}">
                <a16:creationId xmlns:a16="http://schemas.microsoft.com/office/drawing/2014/main" id="{C016D9B7-FE89-86CD-9DD2-76AEC945F62B}"/>
              </a:ext>
            </a:extLst>
          </p:cNvPr>
          <p:cNvSpPr/>
          <p:nvPr/>
        </p:nvSpPr>
        <p:spPr>
          <a:xfrm>
            <a:off x="9677400" y="2311400"/>
            <a:ext cx="1854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00">
                <a:solidFill>
                  <a:srgbClr val="E7F1EA"/>
                </a:solidFill>
                <a:latin typeface="Montserrat" pitchFamily="2" charset="77"/>
              </a:rPr>
              <a:t>Na margem observada a vaga é preenchida</a:t>
            </a:r>
          </a:p>
        </p:txBody>
      </p:sp>
      <p:sp>
        <p:nvSpPr>
          <p:cNvPr id="5022" name="hB">
            <a:extLst>
              <a:ext uri="{FF2B5EF4-FFF2-40B4-BE49-F238E27FC236}">
                <a16:creationId xmlns:a16="http://schemas.microsoft.com/office/drawing/2014/main" id="{1DD73516-C5C1-729A-14B5-59219E87EF2F}"/>
              </a:ext>
            </a:extLst>
          </p:cNvPr>
          <p:cNvSpPr/>
          <p:nvPr/>
        </p:nvSpPr>
        <p:spPr>
          <a:xfrm>
            <a:off x="508000" y="30480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200" b="1" spc="80">
                <a:solidFill>
                  <a:srgbClr val="056429"/>
                </a:solidFill>
                <a:latin typeface="Montserrat" pitchFamily="2" charset="77"/>
              </a:rPr>
              <a:t>COMO CADA VARIÁVEL MEXE NO OUTPUT</a:t>
            </a:r>
          </a:p>
        </p:txBody>
      </p:sp>
      <p:sp>
        <p:nvSpPr>
          <p:cNvPr id="5023" name="ruleB">
            <a:extLst>
              <a:ext uri="{FF2B5EF4-FFF2-40B4-BE49-F238E27FC236}">
                <a16:creationId xmlns:a16="http://schemas.microsoft.com/office/drawing/2014/main" id="{33C5750E-6950-5264-12CB-B9F93657DE97}"/>
              </a:ext>
            </a:extLst>
          </p:cNvPr>
          <p:cNvSpPr/>
          <p:nvPr/>
        </p:nvSpPr>
        <p:spPr>
          <a:xfrm>
            <a:off x="508000" y="3327400"/>
            <a:ext cx="11176000" cy="254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24" name="dc0">
            <a:extLst>
              <a:ext uri="{FF2B5EF4-FFF2-40B4-BE49-F238E27FC236}">
                <a16:creationId xmlns:a16="http://schemas.microsoft.com/office/drawing/2014/main" id="{209F00A9-D3A9-4DF9-4B1D-052D148AE8F9}"/>
              </a:ext>
            </a:extLst>
          </p:cNvPr>
          <p:cNvSpPr/>
          <p:nvPr/>
        </p:nvSpPr>
        <p:spPr>
          <a:xfrm>
            <a:off x="5080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25" name="dtag0">
            <a:extLst>
              <a:ext uri="{FF2B5EF4-FFF2-40B4-BE49-F238E27FC236}">
                <a16:creationId xmlns:a16="http://schemas.microsoft.com/office/drawing/2014/main" id="{7F179346-8F39-0165-2C06-B8C529E0DECD}"/>
              </a:ext>
            </a:extLst>
          </p:cNvPr>
          <p:cNvSpPr/>
          <p:nvPr/>
        </p:nvSpPr>
        <p:spPr>
          <a:xfrm>
            <a:off x="2457657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A4F09A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056429"/>
                </a:solidFill>
                <a:latin typeface="Montserrat" pitchFamily="2" charset="77"/>
              </a:rPr>
              <a:t>ELEVA</a:t>
            </a:r>
          </a:p>
        </p:txBody>
      </p:sp>
      <p:sp>
        <p:nvSpPr>
          <p:cNvPr id="5026" name="deq0">
            <a:extLst>
              <a:ext uri="{FF2B5EF4-FFF2-40B4-BE49-F238E27FC236}">
                <a16:creationId xmlns:a16="http://schemas.microsoft.com/office/drawing/2014/main" id="{45CE4BCA-CF29-3D89-BFBB-8FFF114E0740}"/>
              </a:ext>
            </a:extLst>
          </p:cNvPr>
          <p:cNvSpPr/>
          <p:nvPr/>
        </p:nvSpPr>
        <p:spPr>
          <a:xfrm>
            <a:off x="1359030" y="4078232"/>
            <a:ext cx="1856436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 U / ∂E(</a:t>
            </a:r>
            <a:r>
              <a:rPr lang="pt-BR" sz="1250" b="1" i="1" err="1">
                <a:solidFill>
                  <a:srgbClr val="114719"/>
                </a:solidFill>
                <a:latin typeface="Montserrat"/>
              </a:rPr>
              <a:t>w</a:t>
            </a:r>
            <a:r>
              <a:rPr lang="pt-BR" sz="1250" b="1" i="1" baseline="-25000" err="1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) = 1/p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&gt; 0</a:t>
            </a:r>
          </a:p>
        </p:txBody>
      </p:sp>
      <p:sp>
        <p:nvSpPr>
          <p:cNvPr id="5027" name="dtxt0">
            <a:extLst>
              <a:ext uri="{FF2B5EF4-FFF2-40B4-BE49-F238E27FC236}">
                <a16:creationId xmlns:a16="http://schemas.microsoft.com/office/drawing/2014/main" id="{42716D19-4018-DC31-D3B0-8BF27C58C2B4}"/>
              </a:ext>
            </a:extLst>
          </p:cNvPr>
          <p:cNvSpPr/>
          <p:nvPr/>
        </p:nvSpPr>
        <p:spPr>
          <a:xfrm>
            <a:off x="6858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Salário esperado maior eleva o valor, e rende mais onde os preços são baixos.</a:t>
            </a:r>
          </a:p>
        </p:txBody>
      </p:sp>
      <p:sp>
        <p:nvSpPr>
          <p:cNvPr id="5029" name="dc1">
            <a:extLst>
              <a:ext uri="{FF2B5EF4-FFF2-40B4-BE49-F238E27FC236}">
                <a16:creationId xmlns:a16="http://schemas.microsoft.com/office/drawing/2014/main" id="{37499684-94A0-995B-1233-4648F98ACFB1}"/>
              </a:ext>
            </a:extLst>
          </p:cNvPr>
          <p:cNvSpPr/>
          <p:nvPr/>
        </p:nvSpPr>
        <p:spPr>
          <a:xfrm>
            <a:off x="43053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30" name="dtag1">
            <a:extLst>
              <a:ext uri="{FF2B5EF4-FFF2-40B4-BE49-F238E27FC236}">
                <a16:creationId xmlns:a16="http://schemas.microsoft.com/office/drawing/2014/main" id="{6696F762-58F0-8484-4304-AC5802ACB5B3}"/>
              </a:ext>
            </a:extLst>
          </p:cNvPr>
          <p:cNvSpPr/>
          <p:nvPr/>
        </p:nvSpPr>
        <p:spPr>
          <a:xfrm>
            <a:off x="6307847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FE8884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3A3A3A"/>
                </a:solidFill>
                <a:latin typeface="Montserrat" pitchFamily="2" charset="77"/>
              </a:rPr>
              <a:t>REDUZ</a:t>
            </a:r>
          </a:p>
        </p:txBody>
      </p:sp>
      <p:sp>
        <p:nvSpPr>
          <p:cNvPr id="5031" name="deq1">
            <a:extLst>
              <a:ext uri="{FF2B5EF4-FFF2-40B4-BE49-F238E27FC236}">
                <a16:creationId xmlns:a16="http://schemas.microsoft.com/office/drawing/2014/main" id="{B7DC0DB4-46E3-9AD5-66EA-9003FB8DDA3B}"/>
              </a:ext>
            </a:extLst>
          </p:cNvPr>
          <p:cNvSpPr/>
          <p:nvPr/>
        </p:nvSpPr>
        <p:spPr>
          <a:xfrm>
            <a:off x="5075943" y="4088280"/>
            <a:ext cx="209857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  <a:spcBef>
                <a:spcPct val="0"/>
              </a:spcBef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 U / ∂p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= E(w) / 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 baseline="30000">
                <a:solidFill>
                  <a:srgbClr val="114719"/>
                </a:solidFill>
                <a:latin typeface="Montserrat"/>
              </a:rPr>
              <a:t>2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&lt; 0</a:t>
            </a:r>
            <a:endParaRPr lang="en-US"/>
          </a:p>
        </p:txBody>
      </p:sp>
      <p:sp>
        <p:nvSpPr>
          <p:cNvPr id="5032" name="dtxt1">
            <a:extLst>
              <a:ext uri="{FF2B5EF4-FFF2-40B4-BE49-F238E27FC236}">
                <a16:creationId xmlns:a16="http://schemas.microsoft.com/office/drawing/2014/main" id="{59D02858-653B-4968-B7ED-F324A238C415}"/>
              </a:ext>
            </a:extLst>
          </p:cNvPr>
          <p:cNvSpPr/>
          <p:nvPr/>
        </p:nvSpPr>
        <p:spPr>
          <a:xfrm>
            <a:off x="44831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Preço local alto derruba o valor, e corrói o salário.</a:t>
            </a:r>
          </a:p>
        </p:txBody>
      </p:sp>
      <p:sp>
        <p:nvSpPr>
          <p:cNvPr id="5034" name="dc2">
            <a:extLst>
              <a:ext uri="{FF2B5EF4-FFF2-40B4-BE49-F238E27FC236}">
                <a16:creationId xmlns:a16="http://schemas.microsoft.com/office/drawing/2014/main" id="{211F67F0-6D52-6D31-33AF-FA1D7A3F6E4E}"/>
              </a:ext>
            </a:extLst>
          </p:cNvPr>
          <p:cNvSpPr/>
          <p:nvPr/>
        </p:nvSpPr>
        <p:spPr>
          <a:xfrm>
            <a:off x="81026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35" name="dtag2">
            <a:extLst>
              <a:ext uri="{FF2B5EF4-FFF2-40B4-BE49-F238E27FC236}">
                <a16:creationId xmlns:a16="http://schemas.microsoft.com/office/drawing/2014/main" id="{2BCFCDC3-DF43-4B66-33E8-75B2F2ED3F23}"/>
              </a:ext>
            </a:extLst>
          </p:cNvPr>
          <p:cNvSpPr/>
          <p:nvPr/>
        </p:nvSpPr>
        <p:spPr>
          <a:xfrm>
            <a:off x="10178281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FE8884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3A3A3A"/>
                </a:solidFill>
                <a:latin typeface="Montserrat" pitchFamily="2" charset="77"/>
              </a:rPr>
              <a:t>REDUZ</a:t>
            </a:r>
          </a:p>
        </p:txBody>
      </p:sp>
      <p:sp>
        <p:nvSpPr>
          <p:cNvPr id="5036" name="deq2">
            <a:extLst>
              <a:ext uri="{FF2B5EF4-FFF2-40B4-BE49-F238E27FC236}">
                <a16:creationId xmlns:a16="http://schemas.microsoft.com/office/drawing/2014/main" id="{B2A314D3-EA5C-878D-0D75-DB2FFC99CDA0}"/>
              </a:ext>
            </a:extLst>
          </p:cNvPr>
          <p:cNvSpPr/>
          <p:nvPr/>
        </p:nvSpPr>
        <p:spPr>
          <a:xfrm>
            <a:off x="9234987" y="4098328"/>
            <a:ext cx="1193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∂U / ∂</a:t>
            </a:r>
            <a:r>
              <a:rPr lang="pt-BR" sz="1250" b="1" i="1" err="1">
                <a:solidFill>
                  <a:srgbClr val="114719"/>
                </a:solidFill>
                <a:latin typeface="Montserrat"/>
              </a:rPr>
              <a:t>c</a:t>
            </a:r>
            <a:r>
              <a:rPr lang="pt-BR" sz="1250" b="1" i="1" baseline="-25000" err="1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(s)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= − 1</a:t>
            </a:r>
          </a:p>
        </p:txBody>
      </p:sp>
      <p:sp>
        <p:nvSpPr>
          <p:cNvPr id="5037" name="dtxt2">
            <a:extLst>
              <a:ext uri="{FF2B5EF4-FFF2-40B4-BE49-F238E27FC236}">
                <a16:creationId xmlns:a16="http://schemas.microsoft.com/office/drawing/2014/main" id="{6DFFFA1B-E566-5FDB-6BBA-489079ECBAD6}"/>
              </a:ext>
            </a:extLst>
          </p:cNvPr>
          <p:cNvSpPr/>
          <p:nvPr/>
        </p:nvSpPr>
        <p:spPr>
          <a:xfrm>
            <a:off x="82804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custo entra um-para-um: cada real de custo anula um real de salário real.</a:t>
            </a:r>
          </a:p>
        </p:txBody>
      </p:sp>
      <p:sp>
        <p:nvSpPr>
          <p:cNvPr id="5044" name="botbox">
            <a:extLst>
              <a:ext uri="{FF2B5EF4-FFF2-40B4-BE49-F238E27FC236}">
                <a16:creationId xmlns:a16="http://schemas.microsoft.com/office/drawing/2014/main" id="{2D2CFE27-3EDD-0231-DE99-56A78B9018CF}"/>
              </a:ext>
            </a:extLst>
          </p:cNvPr>
          <p:cNvSpPr/>
          <p:nvPr/>
        </p:nvSpPr>
        <p:spPr>
          <a:xfrm>
            <a:off x="508000" y="5419440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45" name="botbar">
            <a:extLst>
              <a:ext uri="{FF2B5EF4-FFF2-40B4-BE49-F238E27FC236}">
                <a16:creationId xmlns:a16="http://schemas.microsoft.com/office/drawing/2014/main" id="{08F6C7EB-83E0-EAB0-7E39-E935F6A0991D}"/>
              </a:ext>
            </a:extLst>
          </p:cNvPr>
          <p:cNvSpPr/>
          <p:nvPr/>
        </p:nvSpPr>
        <p:spPr>
          <a:xfrm>
            <a:off x="508000" y="5495640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46" name="bottxt">
            <a:extLst>
              <a:ext uri="{FF2B5EF4-FFF2-40B4-BE49-F238E27FC236}">
                <a16:creationId xmlns:a16="http://schemas.microsoft.com/office/drawing/2014/main" id="{568B6CCF-B5FD-7D49-BA4E-9931AF8AB7D5}"/>
              </a:ext>
            </a:extLst>
          </p:cNvPr>
          <p:cNvSpPr/>
          <p:nvPr/>
        </p:nvSpPr>
        <p:spPr>
          <a:xfrm>
            <a:off x="787400" y="554644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300" b="1">
                <a:solidFill>
                  <a:srgbClr val="056429"/>
                </a:solidFill>
                <a:latin typeface="Montserrat"/>
              </a:rPr>
              <a:t>A política mexe em uma variável só:  </a:t>
            </a:r>
            <a:r>
              <a:rPr lang="pt-BR" sz="1300" b="1">
                <a:solidFill>
                  <a:srgbClr val="3A3A3A"/>
                </a:solidFill>
                <a:latin typeface="Montserrat"/>
              </a:rPr>
              <a:t>eleva E(</a:t>
            </a:r>
            <a:r>
              <a:rPr lang="pt-BR" sz="1300" b="1" err="1">
                <a:solidFill>
                  <a:srgbClr val="3A3A3A"/>
                </a:solidFill>
                <a:latin typeface="Montserrat"/>
              </a:rPr>
              <a:t>w</a:t>
            </a:r>
            <a:r>
              <a:rPr lang="pt-BR" sz="1300" b="1" err="1">
                <a:solidFill>
                  <a:srgbClr val="3A3A3A"/>
                </a:solidFill>
                <a:latin typeface="Montserrat"/>
                <a:ea typeface="+mn-lt"/>
                <a:cs typeface="+mn-lt"/>
              </a:rPr>
              <a:t>|B</a:t>
            </a:r>
            <a:r>
              <a:rPr lang="pt-BR" sz="1300" b="1">
                <a:solidFill>
                  <a:srgbClr val="3A3A3A"/>
                </a:solidFill>
                <a:latin typeface="Montserrat"/>
              </a:rPr>
              <a:t>) pela bolsa (B)</a:t>
            </a:r>
            <a:r>
              <a:rPr lang="pt-BR" sz="1300">
                <a:solidFill>
                  <a:srgbClr val="3A3A3A"/>
                </a:solidFill>
                <a:latin typeface="Montserrat"/>
              </a:rPr>
              <a:t>.  Preços e custo do lugar continuam contra, e é a soma dos três que decide se a vaga é preenchida.</a:t>
            </a:r>
          </a:p>
        </p:txBody>
      </p:sp>
      <p:sp>
        <p:nvSpPr>
          <p:cNvPr id="6001" name="dvar0">
            <a:extLst>
              <a:ext uri="{FF2B5EF4-FFF2-40B4-BE49-F238E27FC236}">
                <a16:creationId xmlns:a16="http://schemas.microsoft.com/office/drawing/2014/main" id="{46428D43-80F3-B7B5-F379-F76B1376ED81}"/>
              </a:ext>
            </a:extLst>
          </p:cNvPr>
          <p:cNvSpPr/>
          <p:nvPr/>
        </p:nvSpPr>
        <p:spPr>
          <a:xfrm>
            <a:off x="1238457" y="3632200"/>
            <a:ext cx="11176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Salário : E(</a:t>
            </a:r>
            <a:r>
              <a:rPr lang="pt-BR" sz="1050" b="1" i="1" err="1">
                <a:solidFill>
                  <a:srgbClr val="114719"/>
                </a:solidFill>
                <a:latin typeface="Montserrat" pitchFamily="2" charset="77"/>
              </a:rPr>
              <a:t>w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)</a:t>
            </a:r>
          </a:p>
        </p:txBody>
      </p:sp>
      <p:sp>
        <p:nvSpPr>
          <p:cNvPr id="6002" name="dvar1">
            <a:extLst>
              <a:ext uri="{FF2B5EF4-FFF2-40B4-BE49-F238E27FC236}">
                <a16:creationId xmlns:a16="http://schemas.microsoft.com/office/drawing/2014/main" id="{F9360ACC-65BB-8895-403F-5006A43BD3DC}"/>
              </a:ext>
            </a:extLst>
          </p:cNvPr>
          <p:cNvSpPr/>
          <p:nvPr/>
        </p:nvSpPr>
        <p:spPr>
          <a:xfrm>
            <a:off x="5075947" y="3632200"/>
            <a:ext cx="11303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Custo local : p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it</a:t>
            </a:r>
          </a:p>
        </p:txBody>
      </p:sp>
      <p:sp>
        <p:nvSpPr>
          <p:cNvPr id="6003" name="dvar2">
            <a:extLst>
              <a:ext uri="{FF2B5EF4-FFF2-40B4-BE49-F238E27FC236}">
                <a16:creationId xmlns:a16="http://schemas.microsoft.com/office/drawing/2014/main" id="{19FFFCA5-4CF9-082C-D72C-E99144DE940E}"/>
              </a:ext>
            </a:extLst>
          </p:cNvPr>
          <p:cNvSpPr/>
          <p:nvPr/>
        </p:nvSpPr>
        <p:spPr>
          <a:xfrm>
            <a:off x="8692381" y="3632200"/>
            <a:ext cx="13843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Custo laboral : </a:t>
            </a:r>
            <a:r>
              <a:rPr lang="pt-BR" sz="1050" b="1" i="1" err="1">
                <a:solidFill>
                  <a:srgbClr val="114719"/>
                </a:solidFill>
                <a:latin typeface="Montserrat" pitchFamily="2" charset="77"/>
              </a:rPr>
              <a:t>c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(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s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AA2DB79-C1FA-C4B4-B3AD-9D3E9749C0F7}"/>
                  </a:ext>
                </a:extLst>
              </p:cNvPr>
              <p:cNvSpPr txBox="1"/>
              <p:nvPr/>
            </p:nvSpPr>
            <p:spPr>
              <a:xfrm>
                <a:off x="4457700" y="1413327"/>
                <a:ext cx="4191000" cy="81952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000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000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𝒎𝒂𝒙</m:t>
                              </m:r>
                            </m:e>
                            <m:lim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GB" sz="20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𝜹</m:t>
                                  </m:r>
                                </m:e>
                                <m:sup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𝔼</m:t>
                                      </m:r>
                                      <m:d>
                                        <m:d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  <m:t>𝒘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  <m:t>𝒊𝒕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0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0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𝒔</m:t>
                                                  </m:r>
                                                </m:e>
                                              </m:d>
                                            </m:sub>
                                          </m:sSub>
                                          <m:r>
                                            <a:rPr lang="pt-BR" sz="2000" b="1" i="1" smtClean="0">
                                              <a:latin typeface="Cambria Math" panose="02040503050406030204" pitchFamily="18" charset="0"/>
                                            </a:rPr>
                                            <m:t>|</m:t>
                                          </m:r>
                                          <m:r>
                                            <a:rPr lang="pt-BR" sz="2000" b="1" i="1" smtClean="0">
                                              <a:latin typeface="Cambria Math" panose="02040503050406030204" pitchFamily="18" charset="0"/>
                                            </a:rPr>
                                            <m:t>𝑩</m:t>
                                          </m:r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𝒑</m:t>
                                          </m:r>
                                        </m:e>
                                        <m:sub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𝒊𝒕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− </m:t>
                                  </m:r>
                                  <m:sSub>
                                    <m:sSubPr>
                                      <m:ctrlP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  <m:sub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𝒊𝒕</m:t>
                                      </m:r>
                                      <m:d>
                                        <m:d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𝒔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pt-BR" sz="2000" b="1" i="1">
                  <a:latin typeface="Montserrat" pitchFamily="2" charset="77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AA2DB79-C1FA-C4B4-B3AD-9D3E9749C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700" y="1413327"/>
                <a:ext cx="4191000" cy="8195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15AD1CDB-BB31-41E7-2772-2EE8DD62522C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23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9" name="Retângulo 4">
            <a:extLst>
              <a:ext uri="{FF2B5EF4-FFF2-40B4-BE49-F238E27FC236}">
                <a16:creationId xmlns:a16="http://schemas.microsoft.com/office/drawing/2014/main" id="{51CC6AF6-CC7C-E95C-FF49-A048B20ED600}"/>
              </a:ext>
            </a:extLst>
          </p:cNvPr>
          <p:cNvSpPr/>
          <p:nvPr/>
        </p:nvSpPr>
        <p:spPr>
          <a:xfrm>
            <a:off x="-1389203" y="638460"/>
            <a:ext cx="15621000" cy="646836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55A04FE-F0EA-21A7-3BB4-511C26E46D50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97BB95C-D9D8-8E88-3D0F-6CE60DC7D494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2" name="CaixaDeTexto 3">
              <a:extLst>
                <a:ext uri="{FF2B5EF4-FFF2-40B4-BE49-F238E27FC236}">
                  <a16:creationId xmlns:a16="http://schemas.microsoft.com/office/drawing/2014/main" id="{19A25D04-D9EE-81B9-8AB1-7C297A98BCAE}"/>
                </a:ext>
              </a:extLst>
            </p:cNvPr>
            <p:cNvSpPr txBox="1"/>
            <p:nvPr/>
          </p:nvSpPr>
          <p:spPr>
            <a:xfrm>
              <a:off x="180517" y="3386111"/>
              <a:ext cx="11830965" cy="36933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A6DC634-30E4-A735-D09E-C7BADD91E17A}"/>
              </a:ext>
            </a:extLst>
          </p:cNvPr>
          <p:cNvSpPr txBox="1"/>
          <p:nvPr/>
        </p:nvSpPr>
        <p:spPr>
          <a:xfrm>
            <a:off x="869442" y="2796219"/>
            <a:ext cx="104584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err="1">
                <a:solidFill>
                  <a:schemeClr val="bg1"/>
                </a:solidFill>
                <a:latin typeface="Montserrat"/>
              </a:rPr>
              <a:t>Municípios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com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maior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remuneração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 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oferecida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 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pelo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PMM-E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têm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maior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probabilidade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de 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preenchimento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 de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vagas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.</a:t>
            </a:r>
            <a:endParaRPr lang="en-US" sz="3200" b="1">
              <a:solidFill>
                <a:schemeClr val="bg1"/>
              </a:solidFill>
              <a:latin typeface="Montserrat"/>
              <a:ea typeface="Calibri"/>
              <a:cs typeface="Calibri"/>
            </a:endParaRPr>
          </a:p>
        </p:txBody>
      </p:sp>
      <p:sp>
        <p:nvSpPr>
          <p:cNvPr id="7" name="CaixaDeTexto 4">
            <a:extLst>
              <a:ext uri="{FF2B5EF4-FFF2-40B4-BE49-F238E27FC236}">
                <a16:creationId xmlns:a16="http://schemas.microsoft.com/office/drawing/2014/main" id="{026DA21C-120B-188D-C42C-2AD1C054C18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Literatura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Hipótese</a:t>
            </a:r>
            <a:r>
              <a:rPr lang="pt-BR" sz="1000">
                <a:latin typeface="Montserrat" panose="00000500000000000000" pitchFamily="2" charset="0"/>
              </a:rPr>
              <a:t>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2749314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66AEB-1C59-DF0E-91C3-F67D8F8EF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5E4E75-2A95-EABA-8DF1-ABAD222CA97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D33057-6850-DCFF-A691-A66A805580AC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4C4FA-0789-2900-7CAC-4BC7ABC416D7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3BC21E-B073-82F3-4768-5F0A8DBBEDF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24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F524D9-EF22-499F-E1F5-658015E5CB36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A69B9E19-0C59-9573-3274-7B6F82D020D2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757392-372E-1F1F-454D-E855E0506DF1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87AF07-1C1B-B09F-0B57-58F8158843C1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1C8AAB-15A2-2A6C-BE17-BD2BAB0E7EF7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D50C0DF-B962-B0F7-BBE9-0530E1315E8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111CF3D-EE9D-D6B3-7909-3109CE09BA1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42510825-6692-3ED1-966A-2577EA955B54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79D2B1F6-BB89-110B-D0DA-5A81A57411BC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E54A0F2-DB4F-7634-1749-47E485C2B730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F751C40-2085-4D4B-F12A-8203E12FC5AC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A1B9921-9E98-21DE-5C38-50B25C817F4C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FD3AB2-AE38-43A1-A66D-2AE4E63BB296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48D909D8-6F94-3FFC-6F7A-E8B1F98FB3CC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D5EE1F6-C564-E905-F7A4-AE6F3875FF0A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3D25D192-08B2-962E-4967-51AFF70D43E5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12410C2E-F3A4-E7FB-F1EC-980292639224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0B63262F-CA28-33FE-6865-D88A873E8512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917C9B66-92E7-BF4B-592B-C0A4BCCFB37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610E63FC-A90E-B66A-EBA0-77C6304F63F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82274C7-79F6-585D-D427-136CE2D33D1E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FFFDCA74-A98E-A258-0486-800B1DD365E3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FA3A8F8E-BEB5-E949-9ABC-9B9E09996FF3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42FCEAC4-0564-8859-6B90-4911485BD249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8B88F6AF-5174-807F-F8A7-DBA02A930C7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3DE563CA-BEE5-8A6A-2C01-BBAB28A4E0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CFB3811-EBA6-397E-6A23-74751DCB4E2A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4C7662D4-FFCA-1399-9DA3-C140DA25BB01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D3F5AAE3-33E0-70FD-E3C7-924AC39F221D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F598BBDC-5740-3703-8676-18B3BC74C3AC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2C169D3D-38B5-3467-428E-C537D2537F2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A7F530FB-AA1A-A7D7-E24B-EDD4C889C39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3C1B1C6-0618-8C9A-A60D-126BF5D9F258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808DE1A8-8968-F829-C9FB-4B93D68B7743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F2186FE8-5589-58A8-6BB2-C87CA373564F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23978CC4-FC82-2352-5498-3D451093779C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7450B603-9A94-7027-C504-A6ABCC799C8F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F2434365-F371-96A8-0505-2A549E47438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EBFBA64-0AA4-AC04-EDC1-84C73FE71FF6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1E6C7032-200D-03BD-323F-5F5398206A8A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A77F7FC6-3FE2-6171-4843-8245C2AF4020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B487ACF8-45D6-9368-EE15-DDF287C165A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9D18CCA8-A188-A35A-7AB2-CC76AF48B6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A562E1CF-ABEE-6080-F31F-1F53253ACE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5BA6D45-72AD-F8E7-454F-6356D853ED65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D02E914B-C3C0-C77A-EC81-41472F414F8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A7701997-8983-6EC5-C638-02DFB8BFE49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013D9E8A-02DD-AF86-CC10-26C4640B2AE4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8D2AA130-3235-1386-6AE3-57B328C7358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90DED9CF-61A1-FB3D-4AA3-EFD0E992E6B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879A97C-D4F0-5667-51A9-0FD65A861FC8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A330DAB1-7F60-D444-B524-886F2A43004C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CD58E439-39E7-2BF6-C7F8-24900D719109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5B9F92FD-DD7B-CF6F-2225-82965019204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F8CEA567-588C-8B5D-9A35-59487C338A2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18843C3C-5C93-E155-B32D-C157EDCDEA8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572361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0882C-733F-019D-F3E1-65F760866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02A225-F89B-B067-D9F3-D475FCF1BB5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B04F6B-2BB3-EBA3-4CF3-0E8F47ADA58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19E971-86CA-D480-5315-42E2BF9D2FAC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4519388-8C4E-9C35-6235-5FE51E20FCA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26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F4EA5F-FBC1-6529-3426-AB8C0F0B9600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B69BB17-55F6-E65C-8A36-4F7995A525E9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2982F4-170A-C1F5-0919-3E6D84A43FB7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7AA4DD-F3E6-43A8-CAF0-91E1207792DE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976DCB-3595-B634-97C9-CDD0FF9E2214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5508171-59B0-F58B-27AC-4C03B67F36B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BFD4CAB-8F12-07E9-513F-C865E17A6C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B07A211E-1EF2-64C3-65A2-A871D133EDA7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EF1FA326-974F-4A01-E9C9-09158D42D27C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4CEF150-8EAE-4A1B-B065-5D885D057CA3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EEA4624-BE91-38E5-430F-98664C31C2D2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3BDA438-1814-2F43-0755-761AA34D2B3B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9B2D477-8BA0-C906-B7E9-1BBDF6DDC235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D13FD12F-100E-A422-C52C-F8873FFB187C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CE74085-1E5A-B916-47F4-EF4D44BDECEF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2D670672-70B1-6A37-7A31-A4F8D539BE7C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DD13785D-BCE6-7C3B-3F7E-67CC26BEEF2C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9799A3C2-9F5F-460D-BC1D-69401EB74BFE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A816C51A-383D-2CA1-9E9A-A4D738F1BFF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DEE86144-E928-AFEB-458B-3B82C98D3B0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700C1EB-4671-B873-1153-F0694D3C8B46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E7314E97-342A-A72D-972F-EF1A665CF797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250BF801-1D39-35CA-E788-8C30D1E703EF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33D5580E-460E-416B-4532-AE45CB814992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D7A0090B-8903-AD54-EE35-96AA7B8022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C460E473-B330-4A71-5511-F07BD2B2A2F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AD1FF96-FAC6-67E4-FF16-6DE0024FFEDF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05013EC8-FD34-7889-0A29-2846EF804204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8303C3C7-1226-6F28-6586-8ECAC2544D68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E9011C87-4360-29E5-B27D-405438BCA04D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C4E528A3-EE28-5994-8CAC-4514ECE2706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F372F248-D96C-09F0-D3D2-ED368780449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82C4D56-A1D3-60E7-2C2D-968FC2A1217B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65AB738A-2EAC-4888-A95E-98B2F1C8697A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84158769-3253-C16B-5A56-51387CCD945D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D0E765DA-D3AA-BAB3-6A47-DA06A19484BF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0D0624D1-7287-46DB-1849-6DDFD954F217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978262BF-C1AD-E705-A15B-6A8E0F9CD11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9331BB1-0A2F-D358-2B8A-47E3BB386DEE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08875949-E2A3-0FCF-1546-736537221A0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5B68E81B-E41E-A34B-07FE-21DAC9DDCD6B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213D103D-271C-21EA-6639-FC4180D3499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A7F83AF1-398F-5A6F-1A06-B9F448290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98BC2EE6-2C9E-4930-C642-B156968B339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A5DF456-5BAE-3848-E56C-E75A7F8C876E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5BD8DAB4-B1DA-B391-6002-32F64637556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7E3F5B81-FC28-B434-C5FB-A964B18BE22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62027722-0B5E-7AB5-FA7A-3B9EE2E245D7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771CAF42-2881-5A1B-4337-B5C1F9F94A8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D61C9595-A64B-37EF-29C1-6F220D917AA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A293DA1-B3C5-8F8E-BDBD-20BF3FCD6C15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49392BB5-435D-CE7B-83C5-D51FE46E648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C311B6CA-CC0D-38BE-9FB7-0B55F61A762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323EA9F8-E2A6-1B71-F62B-66F5DD965AF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0A4C51E3-7A21-EEBF-FAD8-98BAEEADC0B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F1F1F5B0-4C43-5177-AAF1-11AE8451C78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948398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C9272-979C-E10B-1DE0-7B78F8FB0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A80FC0-2716-B1A5-2630-1FA7C087391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0B0268-7941-FE47-07AE-962F1395B83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396497-1694-4589-F15E-A4FC61C67C5F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BC363ED-50C8-7CFD-BA8E-61FC7D5B1C29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28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EACA32-376C-5521-E233-E731BA5ACB2E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C8291A0-C481-C535-E3DD-643A10CBEE6F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EF5DC5-70FD-02E7-6225-AAEB6DE706E9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1A2BAE-157F-AAD0-9BF0-AD98CDAEC22C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93E01D1-B16E-D948-9482-D25EE44C24D1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3832639-71D7-E950-B34C-07FDB10220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7C8B94A-08BF-5B57-8BBE-37798DE0A7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8BD093DA-11A2-A1B1-6078-5DC84E6A34AD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0BDF49B1-11B9-D26D-14BA-F9D68412D15B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3C1C53C-D062-0825-3FB4-D8071F5DE4A2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A955A2C-CFF0-CEFD-EFE6-72D522EC1CAD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7A4F6F-C467-3CF6-A566-245EF51FE913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D890C57-AB86-60F1-8CE2-7A1393E7B869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C6382C9B-A73C-1D84-4EDA-A853FFFF97BA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C079F24-6855-BFD1-141A-94F1CB052392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EF9648E5-604F-AC27-0625-F178673F9B11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1F6F99D0-CEA0-FA62-BA2E-0573B9FA331C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70C25E1D-DE08-49EA-C18E-E0DC299546E4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89410F64-5486-7DE3-E39B-9E6A31635E7B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465FCB97-3922-D5E8-9321-8A741F13888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A48C866-1897-9F25-649C-9466E7C20F8C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5E237D8F-CEA0-80CF-C135-E0457052A67A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D92AFC86-9F82-B4F5-8F3A-82C5888D3C34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6F7461D5-5A31-5E4A-857E-39B83A7ED877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B1A19F03-76AD-9ADA-6586-CDE1C7F58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AFAD4736-0628-EF18-0D4D-8D9BE61A5BD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0DC97BA-B94A-D2F5-D637-FAD83E77C69E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17FF085-A062-9CE0-3B5E-4D991D6DEF14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A3D7D50-0A96-4A2D-5BE4-DE51EA4DBE8D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DF71708-91F3-675F-AECF-E90BDE5A3007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4DBCEBFC-6EEF-2CE6-E0CD-6F646AF5F22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1F3AF67A-48A6-ED5D-DD41-73BAFD0E676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5609B7F-7F98-6CA4-730E-A2B5DF2C3BDD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29007BDE-8415-D588-67FE-68627462A6B3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1C3E0850-BF85-DBE2-0E2B-107330992BD7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B95C7DBA-2CEC-207E-2453-3F008B3F086D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174F724F-488C-89C2-E82E-D0E97B780E1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1739C711-A020-4B59-DD66-4E553BA9B80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B3A64F81-8A03-EEAE-3AA3-52AE256DCFE7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819392EE-918E-1F96-EA5E-095793FCFC76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E5569E41-AF00-6579-C975-9886CE87D99E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D67688B8-5028-F364-86B9-05A3D6A0D64D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C4FAEF76-B6E7-BB66-6119-75D97374BF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F59A4395-124E-5BFF-FAFF-6DED0E93F0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A31CE19-A6FA-BE04-F606-75E8D38A192F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F6D0B7BA-F20D-1A26-6F9B-5012C0439020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33D01EA0-B349-090A-AFE7-BD28049AC3A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F87FE832-BC07-FFE2-B114-87745902D068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48A497E8-AE18-AD2B-6CB1-3B08E994E4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1E0ACEBB-EB4D-A60D-DA28-0EEEBC1CFC6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41902B9-D586-1B5C-85CD-937D96F323E6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838787CD-AECF-988B-B124-3045ADBBDD0F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F4C9817D-F183-4491-E1EC-939E3475E9C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EC8C6FBB-0C19-FD2D-4739-78AB7D26FAA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B69891CB-36E3-D2D2-481D-1B840A2000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A0A20599-3BB6-B8FC-FDF3-A002490102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9159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E5BB-752B-CD44-E6FD-56F731741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3A75D7-A688-F85E-7349-793146A214D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0720C6-BA37-C3F3-E9D0-3467DC0168B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D4FD9-FEB2-66E8-A979-A575109BBC88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E59A372-90B1-DBE2-0C36-7A607643B3F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30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0DFEE4-6D96-44E8-4AC8-F6C067DC322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8BD9EC0-61BA-9BC9-5C77-E8C4D9B4CB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F78F2F5-AF8E-5F19-8BB5-BCC238E279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90D70FED-87E5-FA8F-FDF0-6FADE3A24811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DEE5547E-C64F-3B20-74ED-0D8038D631D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83" name="Rosca 3">
            <a:extLst>
              <a:ext uri="{FF2B5EF4-FFF2-40B4-BE49-F238E27FC236}">
                <a16:creationId xmlns:a16="http://schemas.microsoft.com/office/drawing/2014/main" id="{2BF674F6-FEE0-44CB-1F86-6650BCAF3A40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AAED65-3818-1D6F-46A2-74200BCE7D7F}"/>
              </a:ext>
            </a:extLst>
          </p:cNvPr>
          <p:cNvSpPr txBox="1"/>
          <p:nvPr/>
        </p:nvSpPr>
        <p:spPr>
          <a:xfrm>
            <a:off x="976751" y="2828836"/>
            <a:ext cx="47753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b="1" i="1">
                <a:solidFill>
                  <a:schemeClr val="bg1"/>
                </a:solidFill>
                <a:latin typeface="Montserrat" panose="00000500000000000000" pitchFamily="2" charset="0"/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4777050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E5BB-752B-CD44-E6FD-56F731741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3A75D7-A688-F85E-7349-793146A214D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0720C6-BA37-C3F3-E9D0-3467DC0168B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D4FD9-FEB2-66E8-A979-A575109BBC88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E59A372-90B1-DBE2-0C36-7A607643B3F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31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0DFEE4-6D96-44E8-4AC8-F6C067DC322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8BD9EC0-61BA-9BC9-5C77-E8C4D9B4CB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F78F2F5-AF8E-5F19-8BB5-BCC238E279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90D70FED-87E5-FA8F-FDF0-6FADE3A24811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DEE5547E-C64F-3B20-74ED-0D8038D631D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83" name="Rosca 3">
            <a:extLst>
              <a:ext uri="{FF2B5EF4-FFF2-40B4-BE49-F238E27FC236}">
                <a16:creationId xmlns:a16="http://schemas.microsoft.com/office/drawing/2014/main" id="{2BF674F6-FEE0-44CB-1F86-6650BCAF3A40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AAED65-3818-1D6F-46A2-74200BCE7D7F}"/>
              </a:ext>
            </a:extLst>
          </p:cNvPr>
          <p:cNvSpPr txBox="1"/>
          <p:nvPr/>
        </p:nvSpPr>
        <p:spPr>
          <a:xfrm>
            <a:off x="2206111" y="2818676"/>
            <a:ext cx="47753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b="1" i="1">
                <a:solidFill>
                  <a:schemeClr val="bg1"/>
                </a:solidFill>
                <a:latin typeface="Montserrat" panose="00000500000000000000" pitchFamily="2" charset="0"/>
              </a:rPr>
              <a:t>Apêndice</a:t>
            </a:r>
          </a:p>
        </p:txBody>
      </p:sp>
    </p:spTree>
    <p:extLst>
      <p:ext uri="{BB962C8B-B14F-4D97-AF65-F5344CB8AC3E}">
        <p14:creationId xmlns:p14="http://schemas.microsoft.com/office/powerpoint/2010/main" val="28557667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31790-841A-E231-02FA-7AE22D0E5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4">
            <a:extLst>
              <a:ext uri="{FF2B5EF4-FFF2-40B4-BE49-F238E27FC236}">
                <a16:creationId xmlns:a16="http://schemas.microsoft.com/office/drawing/2014/main" id="{17F44C52-A592-F4FA-F73E-76DB1487FF07}"/>
              </a:ext>
            </a:extLst>
          </p:cNvPr>
          <p:cNvGrpSpPr>
            <a:grpSpLocks/>
          </p:cNvGrpSpPr>
          <p:nvPr/>
        </p:nvGrpSpPr>
        <p:grpSpPr bwMode="auto">
          <a:xfrm>
            <a:off x="6178620" y="925973"/>
            <a:ext cx="6277864" cy="5580324"/>
            <a:chOff x="6769100" y="641350"/>
            <a:chExt cx="7597775" cy="6931025"/>
          </a:xfrm>
        </p:grpSpPr>
        <p:sp>
          <p:nvSpPr>
            <p:cNvPr id="30" name="Freeform 2">
              <a:extLst>
                <a:ext uri="{FF2B5EF4-FFF2-40B4-BE49-F238E27FC236}">
                  <a16:creationId xmlns:a16="http://schemas.microsoft.com/office/drawing/2014/main" id="{88E05A83-BA15-E84C-39E1-3EE09D0181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1" name="Freeform 3">
              <a:extLst>
                <a:ext uri="{FF2B5EF4-FFF2-40B4-BE49-F238E27FC236}">
                  <a16:creationId xmlns:a16="http://schemas.microsoft.com/office/drawing/2014/main" id="{4C3A937A-A972-E90A-0457-474C926F09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3" name="Freeform 4">
              <a:extLst>
                <a:ext uri="{FF2B5EF4-FFF2-40B4-BE49-F238E27FC236}">
                  <a16:creationId xmlns:a16="http://schemas.microsoft.com/office/drawing/2014/main" id="{CAEC2B22-F8E2-F5DE-CD1F-BDA55B5C00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4" name="Freeform 5">
              <a:extLst>
                <a:ext uri="{FF2B5EF4-FFF2-40B4-BE49-F238E27FC236}">
                  <a16:creationId xmlns:a16="http://schemas.microsoft.com/office/drawing/2014/main" id="{3BE9C572-D2E6-86CB-1587-EA01C3F96F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195DBA2-0282-37A6-3A35-079C9B8C37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8" name="Freeform 7">
              <a:extLst>
                <a:ext uri="{FF2B5EF4-FFF2-40B4-BE49-F238E27FC236}">
                  <a16:creationId xmlns:a16="http://schemas.microsoft.com/office/drawing/2014/main" id="{D2260992-2D44-499E-3CD3-D390D3EBE1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0" name="Freeform 8">
              <a:extLst>
                <a:ext uri="{FF2B5EF4-FFF2-40B4-BE49-F238E27FC236}">
                  <a16:creationId xmlns:a16="http://schemas.microsoft.com/office/drawing/2014/main" id="{34E5FE27-ED12-5830-04CE-79BFAB8BD1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1" name="Freeform 9">
              <a:extLst>
                <a:ext uri="{FF2B5EF4-FFF2-40B4-BE49-F238E27FC236}">
                  <a16:creationId xmlns:a16="http://schemas.microsoft.com/office/drawing/2014/main" id="{E5AFCA71-4556-0927-CC18-E35AF9C15E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2" name="Freeform 10">
              <a:extLst>
                <a:ext uri="{FF2B5EF4-FFF2-40B4-BE49-F238E27FC236}">
                  <a16:creationId xmlns:a16="http://schemas.microsoft.com/office/drawing/2014/main" id="{ADAF658A-EE6C-9A45-8A24-555F1FCC92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3" name="Freeform 11">
              <a:extLst>
                <a:ext uri="{FF2B5EF4-FFF2-40B4-BE49-F238E27FC236}">
                  <a16:creationId xmlns:a16="http://schemas.microsoft.com/office/drawing/2014/main" id="{81960EB9-61E3-A17B-4175-8B5388BAD1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4" name="Freeform 12">
              <a:extLst>
                <a:ext uri="{FF2B5EF4-FFF2-40B4-BE49-F238E27FC236}">
                  <a16:creationId xmlns:a16="http://schemas.microsoft.com/office/drawing/2014/main" id="{E184A842-2B88-F602-EAE5-7847EB80A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5" name="Freeform 13">
              <a:extLst>
                <a:ext uri="{FF2B5EF4-FFF2-40B4-BE49-F238E27FC236}">
                  <a16:creationId xmlns:a16="http://schemas.microsoft.com/office/drawing/2014/main" id="{A75846B6-9F47-2ADE-B15A-A71A703DA0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6" name="Freeform 14">
              <a:extLst>
                <a:ext uri="{FF2B5EF4-FFF2-40B4-BE49-F238E27FC236}">
                  <a16:creationId xmlns:a16="http://schemas.microsoft.com/office/drawing/2014/main" id="{AE5B36C9-ABD5-3D75-DA64-00090FA3FA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7" name="Freeform 15">
              <a:extLst>
                <a:ext uri="{FF2B5EF4-FFF2-40B4-BE49-F238E27FC236}">
                  <a16:creationId xmlns:a16="http://schemas.microsoft.com/office/drawing/2014/main" id="{4CAD3348-C567-15A4-2830-0E7FD9C98C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8" name="Freeform 16">
              <a:extLst>
                <a:ext uri="{FF2B5EF4-FFF2-40B4-BE49-F238E27FC236}">
                  <a16:creationId xmlns:a16="http://schemas.microsoft.com/office/drawing/2014/main" id="{BDF4B993-62BB-5286-C676-C926520E9A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9" name="Freeform 17">
              <a:extLst>
                <a:ext uri="{FF2B5EF4-FFF2-40B4-BE49-F238E27FC236}">
                  <a16:creationId xmlns:a16="http://schemas.microsoft.com/office/drawing/2014/main" id="{95472DE3-CF2C-A176-3DFC-C3CAF98C65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0" name="Freeform 18">
              <a:extLst>
                <a:ext uri="{FF2B5EF4-FFF2-40B4-BE49-F238E27FC236}">
                  <a16:creationId xmlns:a16="http://schemas.microsoft.com/office/drawing/2014/main" id="{8EDAC523-3440-F5E1-3B09-3E46F6FB11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1" name="Freeform 19">
              <a:extLst>
                <a:ext uri="{FF2B5EF4-FFF2-40B4-BE49-F238E27FC236}">
                  <a16:creationId xmlns:a16="http://schemas.microsoft.com/office/drawing/2014/main" id="{A19E2BBC-2364-42E7-8697-C2ED4F6B41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2" name="Freeform 20">
              <a:extLst>
                <a:ext uri="{FF2B5EF4-FFF2-40B4-BE49-F238E27FC236}">
                  <a16:creationId xmlns:a16="http://schemas.microsoft.com/office/drawing/2014/main" id="{2EEF50C7-B3BC-4B0D-5EB2-2A4755C309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3" name="Freeform 21">
              <a:extLst>
                <a:ext uri="{FF2B5EF4-FFF2-40B4-BE49-F238E27FC236}">
                  <a16:creationId xmlns:a16="http://schemas.microsoft.com/office/drawing/2014/main" id="{A686153D-87F0-673A-12E0-7132437CD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4" name="Freeform 22">
              <a:extLst>
                <a:ext uri="{FF2B5EF4-FFF2-40B4-BE49-F238E27FC236}">
                  <a16:creationId xmlns:a16="http://schemas.microsoft.com/office/drawing/2014/main" id="{EB013C36-223E-DC9C-CE24-E43A4271C1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5" name="Freeform 23">
              <a:extLst>
                <a:ext uri="{FF2B5EF4-FFF2-40B4-BE49-F238E27FC236}">
                  <a16:creationId xmlns:a16="http://schemas.microsoft.com/office/drawing/2014/main" id="{810DA4F3-4AEF-82E4-F7D5-C713926B90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6" name="Freeform 24">
              <a:extLst>
                <a:ext uri="{FF2B5EF4-FFF2-40B4-BE49-F238E27FC236}">
                  <a16:creationId xmlns:a16="http://schemas.microsoft.com/office/drawing/2014/main" id="{FCF6F84C-6FDA-5A23-E069-7B6EB94AC3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7" name="Freeform 25">
              <a:extLst>
                <a:ext uri="{FF2B5EF4-FFF2-40B4-BE49-F238E27FC236}">
                  <a16:creationId xmlns:a16="http://schemas.microsoft.com/office/drawing/2014/main" id="{FE3FCA8F-D61C-2493-4980-78F3B56558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8" name="Freeform 26">
              <a:extLst>
                <a:ext uri="{FF2B5EF4-FFF2-40B4-BE49-F238E27FC236}">
                  <a16:creationId xmlns:a16="http://schemas.microsoft.com/office/drawing/2014/main" id="{54C50595-A194-049D-00E2-44D2E1214D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9" name="Freeform 27">
              <a:extLst>
                <a:ext uri="{FF2B5EF4-FFF2-40B4-BE49-F238E27FC236}">
                  <a16:creationId xmlns:a16="http://schemas.microsoft.com/office/drawing/2014/main" id="{42B7DE57-7ABB-0563-35BA-6022E9B250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60" name="Freeform 28">
              <a:extLst>
                <a:ext uri="{FF2B5EF4-FFF2-40B4-BE49-F238E27FC236}">
                  <a16:creationId xmlns:a16="http://schemas.microsoft.com/office/drawing/2014/main" id="{4BBABFF3-0735-3BD5-94E9-C7DDF8919F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FC11BFCA-8192-586D-3775-6B1DBED4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/>
              <a:t>Apêndice: plano de dados da banca 1, vagas e bolsa</a:t>
            </a:r>
          </a:p>
        </p:txBody>
      </p:sp>
      <p:pic>
        <p:nvPicPr>
          <p:cNvPr id="22" name="Picture 21" descr="A green city skyline with black background&#10;&#10;Description automatically generated">
            <a:extLst>
              <a:ext uri="{FF2B5EF4-FFF2-40B4-BE49-F238E27FC236}">
                <a16:creationId xmlns:a16="http://schemas.microsoft.com/office/drawing/2014/main" id="{FBC7BA27-3F5C-AC55-92CE-8C27CAA84D1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" r="3964"/>
          <a:stretch/>
        </p:blipFill>
        <p:spPr>
          <a:xfrm>
            <a:off x="14642" y="4928646"/>
            <a:ext cx="5705805" cy="17072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8CE9B1-5ED4-B90A-95E0-94FB943D5A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Preenchimento das vagas do PMM-E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1A78142-FD64-C970-A9AC-CEFCC745BD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01" y="3447208"/>
            <a:ext cx="5593566" cy="303226"/>
          </a:xfrm>
        </p:spPr>
        <p:txBody>
          <a:bodyPr/>
          <a:lstStyle/>
          <a:p>
            <a:r>
              <a:rPr lang="pt-BR"/>
              <a:t>II. Valor das bolsas do PMM-E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5978EA-62E5-5444-25C9-1E5117C7568B}"/>
              </a:ext>
            </a:extLst>
          </p:cNvPr>
          <p:cNvSpPr/>
          <p:nvPr/>
        </p:nvSpPr>
        <p:spPr>
          <a:xfrm>
            <a:off x="82550" y="1161370"/>
            <a:ext cx="5653088" cy="2088243"/>
          </a:xfrm>
          <a:prstGeom prst="rect">
            <a:avLst/>
          </a:prstGeom>
          <a:solidFill>
            <a:schemeClr val="bg1"/>
          </a:solidFill>
          <a:ln w="19050">
            <a:solidFill>
              <a:srgbClr val="D6E1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F5A5DC-0139-79BC-99F1-5BC2742958CB}"/>
              </a:ext>
            </a:extLst>
          </p:cNvPr>
          <p:cNvSpPr/>
          <p:nvPr/>
        </p:nvSpPr>
        <p:spPr>
          <a:xfrm>
            <a:off x="87494" y="2555681"/>
            <a:ext cx="5652738" cy="699213"/>
          </a:xfrm>
          <a:prstGeom prst="rect">
            <a:avLst/>
          </a:prstGeom>
          <a:solidFill>
            <a:srgbClr val="D6E1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180CF-09D1-B73C-EF67-A17E37AED802}"/>
              </a:ext>
            </a:extLst>
          </p:cNvPr>
          <p:cNvSpPr txBox="1"/>
          <p:nvPr/>
        </p:nvSpPr>
        <p:spPr>
          <a:xfrm>
            <a:off x="75603" y="1124198"/>
            <a:ext cx="5644844" cy="166199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Cruzamento por </a:t>
            </a:r>
            <a:r>
              <a:rPr lang="pt-BR" sz="1200" b="1">
                <a:latin typeface="Montserrat"/>
              </a:rPr>
              <a:t>estabelecimento (CNES) x curso</a:t>
            </a:r>
            <a:endParaRPr lang="pt-BR" sz="1200" b="1">
              <a:latin typeface="Montserrat" panose="00000500000000000000" pitchFamily="2" charset="0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Permite calcular a proporção de células (estabelecimento × curso) com alguma confirmação ou homologação: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F8ADC8-BF58-2DED-8774-D99E4527AB78}"/>
              </a:ext>
            </a:extLst>
          </p:cNvPr>
          <p:cNvSpPr txBox="1"/>
          <p:nvPr/>
        </p:nvSpPr>
        <p:spPr>
          <a:xfrm>
            <a:off x="91440" y="2646871"/>
            <a:ext cx="5650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sz="1600" lang="pt-BR">
                <a:latin typeface="Montserrat" panose="00000500000000000000" pitchFamily="2" charset="0"/>
              </a:rPr>
              <a:t>30,3% na 1ª chamada · 35,6% somando a 2ª</a:t>
            </a:r>
          </a:p>
        </p:txBody>
      </p:sp>
      <p:sp>
        <p:nvSpPr>
          <p:cNvPr id="11" name="CaixaDeTexto 4">
            <a:extLst>
              <a:ext uri="{FF2B5EF4-FFF2-40B4-BE49-F238E27FC236}">
                <a16:creationId xmlns:a16="http://schemas.microsoft.com/office/drawing/2014/main" id="{31CE1E65-87B0-DDFA-82B8-B660C1836E7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Literatura  I  Hipótese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Viabilidade Empírica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70B1A57-A6B1-CE34-302B-7472C52C70D6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44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06B81C7-0D37-807B-27F3-BDE4E2100DF2}"/>
              </a:ext>
            </a:extLst>
          </p:cNvPr>
          <p:cNvSpPr txBox="1"/>
          <p:nvPr/>
        </p:nvSpPr>
        <p:spPr>
          <a:xfrm>
            <a:off x="75603" y="3758468"/>
            <a:ext cx="5644844" cy="19389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Faixa pela regra do IVS 2010: até 0,300 → R$ 10 mil; 0,301 a 0,400 → R$ 15 mil; acima de 0,400 → R$ 20 mil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Faixa publicada = regra: 368 de 368 municípios do ciclo 1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1200">
              <a:latin typeface="Montserra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14562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31790-841A-E231-02FA-7AE22D0E5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C11BFCA-8192-586D-3775-6B1DBED4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/>
              <a:t>Apêndice: plano de dados da banca 1, lugar e custo</a:t>
            </a:r>
          </a:p>
        </p:txBody>
      </p:sp>
      <p:pic>
        <p:nvPicPr>
          <p:cNvPr id="22" name="Picture 21" descr="A green city skyline with black background&#10;&#10;Description automatically generated">
            <a:extLst>
              <a:ext uri="{FF2B5EF4-FFF2-40B4-BE49-F238E27FC236}">
                <a16:creationId xmlns:a16="http://schemas.microsoft.com/office/drawing/2014/main" id="{FBC7BA27-3F5C-AC55-92CE-8C27CAA84D1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" r="3964"/>
          <a:stretch/>
        </p:blipFill>
        <p:spPr>
          <a:xfrm>
            <a:off x="14642" y="5021246"/>
            <a:ext cx="5705805" cy="17072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8CE9B1-5ED4-B90A-95E0-94FB943D5A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Preenchimento das vagas do PMM-E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1A78142-FD64-C970-A9AC-CEFCC745BD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01" y="3447208"/>
            <a:ext cx="5593566" cy="303226"/>
          </a:xfrm>
        </p:spPr>
        <p:txBody>
          <a:bodyPr/>
          <a:lstStyle/>
          <a:p>
            <a:r>
              <a:rPr lang="pt-BR"/>
              <a:t>II. Tipos de cidade como proxy para o Mercado Local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BB4FEA0-7C63-4F54-17D4-F3335ADB87E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III. Desvantagens locais que reduzem utilidade</a:t>
            </a:r>
          </a:p>
          <a:p>
            <a:endParaRPr lang="pt-B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3866195-3E42-5899-31E7-7961A9B64D55}"/>
              </a:ext>
            </a:extLst>
          </p:cNvPr>
          <p:cNvCxnSpPr/>
          <p:nvPr/>
        </p:nvCxnSpPr>
        <p:spPr>
          <a:xfrm>
            <a:off x="5980253" y="1394359"/>
            <a:ext cx="2203048" cy="0"/>
          </a:xfrm>
          <a:prstGeom prst="line">
            <a:avLst/>
          </a:prstGeom>
          <a:ln w="19050">
            <a:solidFill>
              <a:srgbClr val="1147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D95CF08-FE05-2E50-C600-39490FB2C42A}"/>
              </a:ext>
            </a:extLst>
          </p:cNvPr>
          <p:cNvCxnSpPr>
            <a:cxnSpLocks/>
          </p:cNvCxnSpPr>
          <p:nvPr/>
        </p:nvCxnSpPr>
        <p:spPr>
          <a:xfrm>
            <a:off x="5993754" y="4886444"/>
            <a:ext cx="3578506" cy="0"/>
          </a:xfrm>
          <a:prstGeom prst="line">
            <a:avLst/>
          </a:prstGeom>
          <a:ln w="19050">
            <a:solidFill>
              <a:srgbClr val="1147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E776EDA-25D8-1769-75D4-8B5DE4743833}"/>
              </a:ext>
            </a:extLst>
          </p:cNvPr>
          <p:cNvSpPr txBox="1"/>
          <p:nvPr/>
        </p:nvSpPr>
        <p:spPr>
          <a:xfrm>
            <a:off x="5993659" y="1143013"/>
            <a:ext cx="2208337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1200" b="1">
                <a:latin typeface="Montserrat"/>
              </a:rPr>
              <a:t>Custo de vida</a:t>
            </a:r>
            <a:endParaRPr lang="pt-BR">
              <a:latin typeface="Montserrat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0B6A47A-EC2A-521B-3D61-1F072BCC444E}"/>
              </a:ext>
            </a:extLst>
          </p:cNvPr>
          <p:cNvSpPr txBox="1"/>
          <p:nvPr/>
        </p:nvSpPr>
        <p:spPr>
          <a:xfrm>
            <a:off x="6622436" y="4605187"/>
            <a:ext cx="2262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lang="pt-BR" sz="1200">
                <a:latin typeface="Montserrat" panose="00000500000000000000" pitchFamily="2" charset="0"/>
              </a:rPr>
              <a:t>IVS: running variable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D4CD7B8-39D2-88AD-8617-D888E0852F81}"/>
              </a:ext>
            </a:extLst>
          </p:cNvPr>
          <p:cNvSpPr txBox="1"/>
          <p:nvPr/>
        </p:nvSpPr>
        <p:spPr>
          <a:xfrm>
            <a:off x="5993754" y="1394111"/>
            <a:ext cx="2189547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b="1">
                <a:latin typeface="Montserrat" panose="00000500000000000000" pitchFamily="2" charset="0"/>
              </a:rPr>
              <a:t>Dado: Perfil das despesas no Brasil (IBGE, 2020)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Usaremos como </a:t>
            </a:r>
            <a:r>
              <a:rPr lang="pt-BR" sz="1200" b="1">
                <a:latin typeface="Montserrat" panose="00000500000000000000" pitchFamily="2" charset="0"/>
              </a:rPr>
              <a:t>proxy para diferenças estaduais no custo de vida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Inclui despesas com habitação, alimentação, transporte e outros grupos de consumo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FDD28E-1778-703B-7E8D-6AD9DC573F0A}"/>
              </a:ext>
            </a:extLst>
          </p:cNvPr>
          <p:cNvSpPr txBox="1"/>
          <p:nvPr/>
        </p:nvSpPr>
        <p:spPr>
          <a:xfrm>
            <a:off x="5993754" y="4891691"/>
            <a:ext cx="56473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1" lang="pt-BR" sz="1200">
                <a:latin typeface="Montserrat" panose="00000500000000000000" pitchFamily="2" charset="0"/>
              </a:rPr>
              <a:t>IVS 2010 oficial do Ipea (Plataforma IVS, Censo 2010)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 panose="00000500000000000000" pitchFamily="2" charset="0"/>
              </a:rPr>
              <a:t>IVS e três subíndices para 5.565 municípios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 panose="00000500000000000000" pitchFamily="2" charset="0"/>
              </a:rPr>
              <a:t>É a running variable: entra contínuo (spline) e controla o custo do lugar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1" lang="pt-BR" sz="1200">
                <a:latin typeface="Montserrat" panose="00000500000000000000" pitchFamily="2" charset="0"/>
              </a:rPr>
              <a:t>Só a bolsa (com as regras do mesmo corte) salta em 0,300 e 0,400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5978EA-62E5-5444-25C9-1E5117C7568B}"/>
              </a:ext>
            </a:extLst>
          </p:cNvPr>
          <p:cNvSpPr/>
          <p:nvPr/>
        </p:nvSpPr>
        <p:spPr>
          <a:xfrm>
            <a:off x="82550" y="1161370"/>
            <a:ext cx="5653088" cy="2088243"/>
          </a:xfrm>
          <a:prstGeom prst="rect">
            <a:avLst/>
          </a:prstGeom>
          <a:solidFill>
            <a:schemeClr val="bg1"/>
          </a:solidFill>
          <a:ln w="19050">
            <a:solidFill>
              <a:srgbClr val="D6E1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F5A5DC-0139-79BC-99F1-5BC2742958CB}"/>
              </a:ext>
            </a:extLst>
          </p:cNvPr>
          <p:cNvSpPr/>
          <p:nvPr/>
        </p:nvSpPr>
        <p:spPr>
          <a:xfrm>
            <a:off x="87494" y="2555681"/>
            <a:ext cx="5652738" cy="699213"/>
          </a:xfrm>
          <a:prstGeom prst="rect">
            <a:avLst/>
          </a:prstGeom>
          <a:solidFill>
            <a:srgbClr val="D6E1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180CF-09D1-B73C-EF67-A17E37AED802}"/>
              </a:ext>
            </a:extLst>
          </p:cNvPr>
          <p:cNvSpPr txBox="1"/>
          <p:nvPr/>
        </p:nvSpPr>
        <p:spPr>
          <a:xfrm>
            <a:off x="75603" y="1147348"/>
            <a:ext cx="5644844" cy="166199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Cruzamento por </a:t>
            </a:r>
            <a:r>
              <a:rPr lang="pt-BR" sz="1200" b="1">
                <a:latin typeface="Montserrat"/>
              </a:rPr>
              <a:t>estabelecimento (CNES) x curso</a:t>
            </a:r>
            <a:endParaRPr lang="pt-BR" sz="1200" b="1">
              <a:latin typeface="Montserrat" panose="00000500000000000000" pitchFamily="2" charset="0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Permite calcular a proporção de células (estabelecimento × curso) com alguma confirmação ou homologação: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F8ADC8-BF58-2DED-8774-D99E4527AB78}"/>
              </a:ext>
            </a:extLst>
          </p:cNvPr>
          <p:cNvSpPr txBox="1"/>
          <p:nvPr/>
        </p:nvSpPr>
        <p:spPr>
          <a:xfrm>
            <a:off x="91440" y="2635296"/>
            <a:ext cx="5650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sz="1600" lang="pt-BR">
                <a:latin typeface="Montserrat" panose="00000500000000000000" pitchFamily="2" charset="0"/>
              </a:rPr>
              <a:t>30,3% na 1ª chamada · 35,6% somando a 2ª</a:t>
            </a:r>
          </a:p>
        </p:txBody>
      </p:sp>
      <p:sp>
        <p:nvSpPr>
          <p:cNvPr id="11" name="CaixaDeTexto 4">
            <a:extLst>
              <a:ext uri="{FF2B5EF4-FFF2-40B4-BE49-F238E27FC236}">
                <a16:creationId xmlns:a16="http://schemas.microsoft.com/office/drawing/2014/main" id="{31CE1E65-87B0-DDFA-82B8-B660C1836E7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Literatura  I  Hipótese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Viabilidade Empírica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392FA4-CEF3-2B0F-1EC0-46B7DDBAE7B6}"/>
              </a:ext>
            </a:extLst>
          </p:cNvPr>
          <p:cNvSpPr txBox="1"/>
          <p:nvPr/>
        </p:nvSpPr>
        <p:spPr>
          <a:xfrm>
            <a:off x="90794" y="3782836"/>
            <a:ext cx="566395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Dados combinados </a:t>
            </a:r>
            <a:r>
              <a:rPr lang="pt-BR" sz="1200" b="1">
                <a:latin typeface="Montserrat" panose="00000500000000000000" pitchFamily="2" charset="0"/>
              </a:rPr>
              <a:t>da REGIC 2018 </a:t>
            </a:r>
            <a:r>
              <a:rPr lang="pt-BR" sz="1200">
                <a:latin typeface="Montserrat" panose="00000500000000000000" pitchFamily="2" charset="0"/>
              </a:rPr>
              <a:t>e</a:t>
            </a:r>
            <a:r>
              <a:rPr lang="pt-BR" sz="1200" b="1">
                <a:latin typeface="Montserrat" panose="00000500000000000000" pitchFamily="2" charset="0"/>
              </a:rPr>
              <a:t> </a:t>
            </a:r>
            <a:r>
              <a:rPr lang="pt-BR" sz="1200">
                <a:latin typeface="Montserrat" panose="00000500000000000000" pitchFamily="2" charset="0"/>
              </a:rPr>
              <a:t>da</a:t>
            </a:r>
            <a:r>
              <a:rPr lang="pt-BR" sz="1200" b="1">
                <a:latin typeface="Montserrat" panose="00000500000000000000" pitchFamily="2" charset="0"/>
              </a:rPr>
              <a:t> Composição das </a:t>
            </a:r>
            <a:r>
              <a:rPr lang="pt-BR" sz="1200" b="1" err="1">
                <a:latin typeface="Montserrat" panose="00000500000000000000" pitchFamily="2" charset="0"/>
              </a:rPr>
              <a:t>RMs</a:t>
            </a:r>
            <a:r>
              <a:rPr lang="pt-BR" sz="1200" b="1">
                <a:latin typeface="Montserrat" panose="00000500000000000000" pitchFamily="2" charset="0"/>
              </a:rPr>
              <a:t> e </a:t>
            </a:r>
            <a:r>
              <a:rPr lang="pt-BR" sz="1200" b="1" err="1">
                <a:latin typeface="Montserrat" panose="00000500000000000000" pitchFamily="2" charset="0"/>
              </a:rPr>
              <a:t>RIDEs</a:t>
            </a:r>
            <a:r>
              <a:rPr lang="pt-BR" sz="1200" b="1">
                <a:latin typeface="Montserrat" panose="00000500000000000000" pitchFamily="2" charset="0"/>
              </a:rPr>
              <a:t> (IBGE, 2022)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Classificação: capital, metrópole, interior próximo de polo ou remoto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Usamos como proxy para aproximar o acesso do médico a consultórios, clínicas, hospitais e outras fontes de renda privada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70B1A57-A6B1-CE34-302B-7472C52C70D6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45</a:t>
            </a:fld>
          </a:p>
        </p:txBody>
      </p:sp>
      <p:grpSp>
        <p:nvGrpSpPr>
          <p:cNvPr id="23" name="Group 4">
            <a:extLst>
              <a:ext uri="{FF2B5EF4-FFF2-40B4-BE49-F238E27FC236}">
                <a16:creationId xmlns:a16="http://schemas.microsoft.com/office/drawing/2014/main" id="{40E765F2-1552-74E2-5E00-918AE5AF6F70}"/>
              </a:ext>
            </a:extLst>
          </p:cNvPr>
          <p:cNvGrpSpPr>
            <a:grpSpLocks/>
          </p:cNvGrpSpPr>
          <p:nvPr/>
        </p:nvGrpSpPr>
        <p:grpSpPr bwMode="auto">
          <a:xfrm>
            <a:off x="8468878" y="1434984"/>
            <a:ext cx="3647519" cy="3242239"/>
            <a:chOff x="6769100" y="641350"/>
            <a:chExt cx="7597775" cy="6931025"/>
          </a:xfrm>
        </p:grpSpPr>
        <p:sp>
          <p:nvSpPr>
            <p:cNvPr id="24" name="Freeform 2">
              <a:extLst>
                <a:ext uri="{FF2B5EF4-FFF2-40B4-BE49-F238E27FC236}">
                  <a16:creationId xmlns:a16="http://schemas.microsoft.com/office/drawing/2014/main" id="{E0F56E96-8BCE-1B54-94F9-D8E6BF7383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25" name="Freeform 3">
              <a:extLst>
                <a:ext uri="{FF2B5EF4-FFF2-40B4-BE49-F238E27FC236}">
                  <a16:creationId xmlns:a16="http://schemas.microsoft.com/office/drawing/2014/main" id="{097A154A-7AD9-36F0-C821-C2EDB51219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28" name="Freeform 4">
              <a:extLst>
                <a:ext uri="{FF2B5EF4-FFF2-40B4-BE49-F238E27FC236}">
                  <a16:creationId xmlns:a16="http://schemas.microsoft.com/office/drawing/2014/main" id="{F5B91B3F-02EA-E0CA-6ADC-F8BE746051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0" name="Freeform 5">
              <a:extLst>
                <a:ext uri="{FF2B5EF4-FFF2-40B4-BE49-F238E27FC236}">
                  <a16:creationId xmlns:a16="http://schemas.microsoft.com/office/drawing/2014/main" id="{AA38D075-E999-F241-01F0-5FFA54261C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1" name="Freeform 6">
              <a:extLst>
                <a:ext uri="{FF2B5EF4-FFF2-40B4-BE49-F238E27FC236}">
                  <a16:creationId xmlns:a16="http://schemas.microsoft.com/office/drawing/2014/main" id="{C08ED914-BFDF-0F5D-985F-31D2798FE7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3" name="Freeform 7">
              <a:extLst>
                <a:ext uri="{FF2B5EF4-FFF2-40B4-BE49-F238E27FC236}">
                  <a16:creationId xmlns:a16="http://schemas.microsoft.com/office/drawing/2014/main" id="{3B44DDA0-33AC-E91C-82D9-C50B36C1C3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40CDFB65-A3A8-1918-F266-9970819324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7" name="Freeform 9">
              <a:extLst>
                <a:ext uri="{FF2B5EF4-FFF2-40B4-BE49-F238E27FC236}">
                  <a16:creationId xmlns:a16="http://schemas.microsoft.com/office/drawing/2014/main" id="{9F27EFA8-F41C-A139-0843-3F0DB2DB8D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12C22C4E-25A1-3D2D-9341-F8F0A3CE2E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0" name="Freeform 11">
              <a:extLst>
                <a:ext uri="{FF2B5EF4-FFF2-40B4-BE49-F238E27FC236}">
                  <a16:creationId xmlns:a16="http://schemas.microsoft.com/office/drawing/2014/main" id="{8076E413-E84A-76C8-BC44-1D0467E8BA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1" name="Freeform 12">
              <a:extLst>
                <a:ext uri="{FF2B5EF4-FFF2-40B4-BE49-F238E27FC236}">
                  <a16:creationId xmlns:a16="http://schemas.microsoft.com/office/drawing/2014/main" id="{6DB18853-BF16-C200-C469-5AD88C3F2F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2" name="Freeform 13">
              <a:extLst>
                <a:ext uri="{FF2B5EF4-FFF2-40B4-BE49-F238E27FC236}">
                  <a16:creationId xmlns:a16="http://schemas.microsoft.com/office/drawing/2014/main" id="{208B88BB-3023-D32F-F245-A9BAEBB683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3" name="Freeform 14">
              <a:extLst>
                <a:ext uri="{FF2B5EF4-FFF2-40B4-BE49-F238E27FC236}">
                  <a16:creationId xmlns:a16="http://schemas.microsoft.com/office/drawing/2014/main" id="{045CA533-7792-2924-EDDD-7D064BA6C7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4" name="Freeform 15">
              <a:extLst>
                <a:ext uri="{FF2B5EF4-FFF2-40B4-BE49-F238E27FC236}">
                  <a16:creationId xmlns:a16="http://schemas.microsoft.com/office/drawing/2014/main" id="{3A11E3A8-0F0B-3AB3-8268-A171FE5D7E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5" name="Freeform 16">
              <a:extLst>
                <a:ext uri="{FF2B5EF4-FFF2-40B4-BE49-F238E27FC236}">
                  <a16:creationId xmlns:a16="http://schemas.microsoft.com/office/drawing/2014/main" id="{E7F2B9E8-5046-2F6E-5F41-80B2AC7E9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6" name="Freeform 17">
              <a:extLst>
                <a:ext uri="{FF2B5EF4-FFF2-40B4-BE49-F238E27FC236}">
                  <a16:creationId xmlns:a16="http://schemas.microsoft.com/office/drawing/2014/main" id="{83B71404-C293-7A5A-227C-5765683412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7" name="Freeform 18">
              <a:extLst>
                <a:ext uri="{FF2B5EF4-FFF2-40B4-BE49-F238E27FC236}">
                  <a16:creationId xmlns:a16="http://schemas.microsoft.com/office/drawing/2014/main" id="{2F580B3C-7FC1-34DE-BCB9-B64C1BBA80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05E1F93F-CD65-8122-D1F8-2B50FCC19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F6713CFC-E7F3-CFAF-12A4-0B42A3ED4E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0" name="Freeform 21">
              <a:extLst>
                <a:ext uri="{FF2B5EF4-FFF2-40B4-BE49-F238E27FC236}">
                  <a16:creationId xmlns:a16="http://schemas.microsoft.com/office/drawing/2014/main" id="{E475239C-04A3-0178-C4D7-8BE1EA3FAA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1" name="Freeform 22">
              <a:extLst>
                <a:ext uri="{FF2B5EF4-FFF2-40B4-BE49-F238E27FC236}">
                  <a16:creationId xmlns:a16="http://schemas.microsoft.com/office/drawing/2014/main" id="{9868D123-7920-5775-388D-4724FB3500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0C6BAED6-4933-7156-997F-F860DD0D6D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9AFE3034-46FA-9125-7B93-8A8D6D07A0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D3666E80-17CC-4DA3-A866-4EE961DE6E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35FC4C67-D73C-5021-9B36-C8CC58BC7A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BC75ADF3-2880-8FD6-00D4-7E4D40BD31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41FC0814-215F-A6BB-026F-BA097BDC14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</p:spTree>
    <p:extLst>
      <p:ext uri="{BB962C8B-B14F-4D97-AF65-F5344CB8AC3E}">
        <p14:creationId xmlns:p14="http://schemas.microsoft.com/office/powerpoint/2010/main" val="42104051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D8302-6645-E359-87BE-53887B61F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0D0B5E15-BA88-ADF3-F9E1-E8DAAE870F94}"/>
              </a:ext>
            </a:extLst>
          </p:cNvPr>
          <p:cNvGrpSpPr>
            <a:grpSpLocks/>
          </p:cNvGrpSpPr>
          <p:nvPr/>
        </p:nvGrpSpPr>
        <p:grpSpPr bwMode="auto">
          <a:xfrm>
            <a:off x="7265837" y="1679748"/>
            <a:ext cx="5508000" cy="4896000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2DD22C46-1A6D-1403-0F41-CEC9C828D5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B1FC9C9A-B2A8-68CE-F5C1-DCBF130D65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252E69F4-7F3C-051A-4A9A-C97E04750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A3FADD93-31B4-F69B-40EA-03B0D38F3D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F66D85AA-4498-B782-1168-69086182BD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F65F0F26-6643-FA8E-012E-D01555D2E5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AD3E72F3-6DE5-89AB-081D-880BA514EF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39254891-FB6D-A555-EE64-7454AAEA95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74AEAB2A-96FE-8239-7928-9EE0A37AEC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D57E6E2F-2A6B-D457-73BB-02650A35C1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ECAF7CDA-C870-9894-036F-940042F46E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821C0E3D-802E-4E34-059F-9B6FBB8358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9C21DF14-2144-F883-9F40-8A94A51845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70F9E47D-3341-14B0-0B9F-66B0FA5E7F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460B2E56-32F6-428E-5F51-4329F09649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B95C7A2C-29DF-B9C7-B5D1-85971DF253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0C8A9918-2D4B-E314-DA08-988B76BC85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F8B550EB-1183-3985-19F6-91FF86F0C3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E4AA4D29-62F3-07B7-A90C-41C965714F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AEA7884-57A0-1D3B-47E2-DED015AF71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D83B4C4F-B158-5C95-EB5C-31F44B0AE2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2D81CD98-E11E-A492-891C-F6488A0200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889D5E41-A89A-70BA-EA7F-F2FD19DAAF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7183A10C-55CD-904F-842C-2352C67ECA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77BAA2A8-5CFE-17DD-1329-B5EBFC5A95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5F4B2D60-371A-2D4A-649D-9E9739D1D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E71CB26F-67AB-0C69-9C2C-160FB45D50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825EF4D4-933F-A75F-D5A2-5869C7114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>
                <a:solidFill>
                  <a:srgbClr val="F0F6FC"/>
                </a:solidFill>
              </a:rPr>
              <a:t>Apêndice: o IVS mede a vulnerabilidade social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2D095647-E4D0-B27B-A7CE-724089BCDC83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O IVS resume a vulnerabilidade social em três dimensões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34631625-2C86-C8D4-7771-6879EB1133CE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Índice de Vulnerabilidade Social (0 a 1), Por UF – Ipea, 2010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6D584C9-F7E1-E9D4-047F-9F73944D6EE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43</a:t>
            </a:fld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675E731D-634D-4B76-D0BA-3BD9C275E024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756F68A-E66C-4BB9-7564-E16AFDC1EBBB}"/>
              </a:ext>
            </a:extLst>
          </p:cNvPr>
          <p:cNvGrpSpPr/>
          <p:nvPr/>
        </p:nvGrpSpPr>
        <p:grpSpPr>
          <a:xfrm>
            <a:off x="8114607" y="1298448"/>
            <a:ext cx="3291840" cy="384048"/>
            <a:chOff x="8099298" y="1298448"/>
            <a:chExt cx="3291840" cy="384048"/>
          </a:xfrm>
        </p:grpSpPr>
        <p:sp>
          <p:nvSpPr>
            <p:cNvPr id="7" name="Shape 40">
              <a:extLst>
                <a:ext uri="{FF2B5EF4-FFF2-40B4-BE49-F238E27FC236}">
                  <a16:creationId xmlns:a16="http://schemas.microsoft.com/office/drawing/2014/main" id="{EE6F8429-62C3-2A3B-6E47-6199AA39A7A7}"/>
                </a:ext>
              </a:extLst>
            </p:cNvPr>
            <p:cNvSpPr/>
            <p:nvPr/>
          </p:nvSpPr>
          <p:spPr>
            <a:xfrm>
              <a:off x="8099298" y="1298448"/>
              <a:ext cx="658368" cy="155448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Shape 41">
              <a:extLst>
                <a:ext uri="{FF2B5EF4-FFF2-40B4-BE49-F238E27FC236}">
                  <a16:creationId xmlns:a16="http://schemas.microsoft.com/office/drawing/2014/main" id="{97AA86FD-5F0B-BB66-6746-F85D794A73BD}"/>
                </a:ext>
              </a:extLst>
            </p:cNvPr>
            <p:cNvSpPr/>
            <p:nvPr/>
          </p:nvSpPr>
          <p:spPr>
            <a:xfrm>
              <a:off x="8757666" y="1298448"/>
              <a:ext cx="658368" cy="155448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Shape 42">
              <a:extLst>
                <a:ext uri="{FF2B5EF4-FFF2-40B4-BE49-F238E27FC236}">
                  <a16:creationId xmlns:a16="http://schemas.microsoft.com/office/drawing/2014/main" id="{74EFC84B-6C38-3FCB-59BE-7B1AE97741D1}"/>
                </a:ext>
              </a:extLst>
            </p:cNvPr>
            <p:cNvSpPr/>
            <p:nvPr/>
          </p:nvSpPr>
          <p:spPr>
            <a:xfrm>
              <a:off x="9416034" y="1298448"/>
              <a:ext cx="658368" cy="155448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Shape 43">
              <a:extLst>
                <a:ext uri="{FF2B5EF4-FFF2-40B4-BE49-F238E27FC236}">
                  <a16:creationId xmlns:a16="http://schemas.microsoft.com/office/drawing/2014/main" id="{14843313-10A5-A849-3658-64B78275CFBA}"/>
                </a:ext>
              </a:extLst>
            </p:cNvPr>
            <p:cNvSpPr/>
            <p:nvPr/>
          </p:nvSpPr>
          <p:spPr>
            <a:xfrm>
              <a:off x="10074402" y="1298448"/>
              <a:ext cx="658368" cy="155448"/>
            </a:xfrm>
            <a:prstGeom prst="rect">
              <a:avLst/>
            </a:prstGeom>
            <a:solidFill>
              <a:srgbClr val="396445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Shape 44">
              <a:extLst>
                <a:ext uri="{FF2B5EF4-FFF2-40B4-BE49-F238E27FC236}">
                  <a16:creationId xmlns:a16="http://schemas.microsoft.com/office/drawing/2014/main" id="{1A2819C1-3C09-80D6-E96D-8B0956B99A86}"/>
                </a:ext>
              </a:extLst>
            </p:cNvPr>
            <p:cNvSpPr/>
            <p:nvPr/>
          </p:nvSpPr>
          <p:spPr>
            <a:xfrm>
              <a:off x="10732770" y="1298448"/>
              <a:ext cx="658368" cy="1554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Text 45">
              <a:extLst>
                <a:ext uri="{FF2B5EF4-FFF2-40B4-BE49-F238E27FC236}">
                  <a16:creationId xmlns:a16="http://schemas.microsoft.com/office/drawing/2014/main" id="{C8D4ED20-EB1E-5980-BEB1-D4E675669C61}"/>
                </a:ext>
              </a:extLst>
            </p:cNvPr>
            <p:cNvSpPr txBox="1"/>
            <p:nvPr/>
          </p:nvSpPr>
          <p:spPr>
            <a:xfrm>
              <a:off x="809929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Menor vulnerabilidade</a:t>
              </a:r>
              <a:endParaRPr lang="en-US" sz="900"/>
            </a:p>
          </p:txBody>
        </p:sp>
        <p:sp>
          <p:nvSpPr>
            <p:cNvPr id="21" name="Text 46">
              <a:extLst>
                <a:ext uri="{FF2B5EF4-FFF2-40B4-BE49-F238E27FC236}">
                  <a16:creationId xmlns:a16="http://schemas.microsoft.com/office/drawing/2014/main" id="{CF4EEF54-3BA7-FF0F-50E5-08A25D3766FF}"/>
                </a:ext>
              </a:extLst>
            </p:cNvPr>
            <p:cNvSpPr txBox="1"/>
            <p:nvPr/>
          </p:nvSpPr>
          <p:spPr>
            <a:xfrm>
              <a:off x="974521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Maior vulnerabilidade</a:t>
              </a:r>
              <a:endParaRPr lang="en-US" sz="90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578AC84-2773-A277-A61B-305BD14E15B4}"/>
              </a:ext>
            </a:extLst>
          </p:cNvPr>
          <p:cNvGrpSpPr/>
          <p:nvPr/>
        </p:nvGrpSpPr>
        <p:grpSpPr>
          <a:xfrm>
            <a:off x="192024" y="1897208"/>
            <a:ext cx="6711696" cy="2651760"/>
            <a:chOff x="192024" y="1417320"/>
            <a:chExt cx="6711696" cy="2651760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C678DA31-3BB0-DFEA-48F2-E67463403928}"/>
                </a:ext>
              </a:extLst>
            </p:cNvPr>
            <p:cNvSpPr/>
            <p:nvPr/>
          </p:nvSpPr>
          <p:spPr>
            <a:xfrm>
              <a:off x="192024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 4">
              <a:extLst>
                <a:ext uri="{FF2B5EF4-FFF2-40B4-BE49-F238E27FC236}">
                  <a16:creationId xmlns:a16="http://schemas.microsoft.com/office/drawing/2014/main" id="{0D83207D-3922-3DFE-8CE4-7821D12F7489}"/>
                </a:ext>
              </a:extLst>
            </p:cNvPr>
            <p:cNvSpPr txBox="1"/>
            <p:nvPr/>
          </p:nvSpPr>
          <p:spPr>
            <a:xfrm>
              <a:off x="192024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Infraestrutura urbana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3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Abastecimento de água e esgoto inadequados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Domicílios urbanos sem coleta de lixo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Vulneráveis à pobreza com mais de 1 hora até o trabalho</a:t>
              </a:r>
              <a:endParaRPr lang="en-US" sz="1200"/>
            </a:p>
          </p:txBody>
        </p:sp>
        <p:sp>
          <p:nvSpPr>
            <p:cNvPr id="16" name="Text 5">
              <a:extLst>
                <a:ext uri="{FF2B5EF4-FFF2-40B4-BE49-F238E27FC236}">
                  <a16:creationId xmlns:a16="http://schemas.microsoft.com/office/drawing/2014/main" id="{3E0C97DF-4723-D794-0BE1-C94A061EFA01}"/>
                </a:ext>
              </a:extLst>
            </p:cNvPr>
            <p:cNvSpPr txBox="1"/>
            <p:nvPr/>
          </p:nvSpPr>
          <p:spPr>
            <a:xfrm>
              <a:off x="2258568" y="1417320"/>
              <a:ext cx="256032" cy="2651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2200"/>
            </a:p>
          </p:txBody>
        </p:sp>
        <p:sp>
          <p:nvSpPr>
            <p:cNvPr id="20" name="Shape 6">
              <a:extLst>
                <a:ext uri="{FF2B5EF4-FFF2-40B4-BE49-F238E27FC236}">
                  <a16:creationId xmlns:a16="http://schemas.microsoft.com/office/drawing/2014/main" id="{2CF9107D-5A77-E6F4-C5E8-2CF16F1A7187}"/>
                </a:ext>
              </a:extLst>
            </p:cNvPr>
            <p:cNvSpPr/>
            <p:nvPr/>
          </p:nvSpPr>
          <p:spPr>
            <a:xfrm>
              <a:off x="2514600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24" name="Text 7">
              <a:extLst>
                <a:ext uri="{FF2B5EF4-FFF2-40B4-BE49-F238E27FC236}">
                  <a16:creationId xmlns:a16="http://schemas.microsoft.com/office/drawing/2014/main" id="{C76546F3-4ACF-048B-EA0C-04B0F24D1C51}"/>
                </a:ext>
              </a:extLst>
            </p:cNvPr>
            <p:cNvSpPr txBox="1"/>
            <p:nvPr/>
          </p:nvSpPr>
          <p:spPr>
            <a:xfrm>
              <a:off x="2514600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Capital humano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8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Mortalidade infantil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Fora da escola: 0 a 5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Fora da escola: 6 a 14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Mães de 10 a 17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Mães chefes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Analfabetismo adulto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Crianças em domicílio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Jovens sem estudo nem trabalho</a:t>
              </a:r>
              <a:endParaRPr lang="en-US" sz="1200"/>
            </a:p>
          </p:txBody>
        </p:sp>
        <p:sp>
          <p:nvSpPr>
            <p:cNvPr id="26" name="Text 8">
              <a:extLst>
                <a:ext uri="{FF2B5EF4-FFF2-40B4-BE49-F238E27FC236}">
                  <a16:creationId xmlns:a16="http://schemas.microsoft.com/office/drawing/2014/main" id="{BC8CD39C-4F0C-DFFA-CB2A-F214BD11D440}"/>
                </a:ext>
              </a:extLst>
            </p:cNvPr>
            <p:cNvSpPr txBox="1"/>
            <p:nvPr/>
          </p:nvSpPr>
          <p:spPr>
            <a:xfrm>
              <a:off x="4581144" y="1417320"/>
              <a:ext cx="256032" cy="2651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2200"/>
            </a:p>
          </p:txBody>
        </p:sp>
        <p:sp>
          <p:nvSpPr>
            <p:cNvPr id="29" name="Shape 9">
              <a:extLst>
                <a:ext uri="{FF2B5EF4-FFF2-40B4-BE49-F238E27FC236}">
                  <a16:creationId xmlns:a16="http://schemas.microsoft.com/office/drawing/2014/main" id="{17A3757B-3D23-CC99-C609-93EA175E5E1C}"/>
                </a:ext>
              </a:extLst>
            </p:cNvPr>
            <p:cNvSpPr/>
            <p:nvPr/>
          </p:nvSpPr>
          <p:spPr>
            <a:xfrm>
              <a:off x="4837176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Text 10">
              <a:extLst>
                <a:ext uri="{FF2B5EF4-FFF2-40B4-BE49-F238E27FC236}">
                  <a16:creationId xmlns:a16="http://schemas.microsoft.com/office/drawing/2014/main" id="{6088F753-4FD4-5A34-C195-06791D3D6C13}"/>
                </a:ext>
              </a:extLst>
            </p:cNvPr>
            <p:cNvSpPr txBox="1"/>
            <p:nvPr/>
          </p:nvSpPr>
          <p:spPr>
            <a:xfrm>
              <a:off x="4837176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 e trabalho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5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 de até 1/2 salário mínimo per capita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Desocupação, 18 anos ou mais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Informalidade entre adultos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Dependência de renda de idosos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Trabalho infantil</a:t>
              </a:r>
              <a:endParaRPr lang="en-US" sz="1200"/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09F9C9B5-1EA6-E5CC-7A31-BEA9D0901C41}"/>
              </a:ext>
            </a:extLst>
          </p:cNvPr>
          <p:cNvGrpSpPr/>
          <p:nvPr/>
        </p:nvGrpSpPr>
        <p:grpSpPr>
          <a:xfrm>
            <a:off x="192024" y="4722376"/>
            <a:ext cx="6711696" cy="502920"/>
            <a:chOff x="192024" y="4206240"/>
            <a:chExt cx="6711696" cy="502920"/>
          </a:xfrm>
        </p:grpSpPr>
        <p:sp>
          <p:nvSpPr>
            <p:cNvPr id="39" name="Shape 11">
              <a:extLst>
                <a:ext uri="{FF2B5EF4-FFF2-40B4-BE49-F238E27FC236}">
                  <a16:creationId xmlns:a16="http://schemas.microsoft.com/office/drawing/2014/main" id="{AEAC7FCF-A270-3DDA-9CBD-2FBC3897C461}"/>
                </a:ext>
              </a:extLst>
            </p:cNvPr>
            <p:cNvSpPr/>
            <p:nvPr/>
          </p:nvSpPr>
          <p:spPr>
            <a:xfrm>
              <a:off x="192024" y="4206240"/>
              <a:ext cx="6711696" cy="502920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3" name="Text 12">
              <a:extLst>
                <a:ext uri="{FF2B5EF4-FFF2-40B4-BE49-F238E27FC236}">
                  <a16:creationId xmlns:a16="http://schemas.microsoft.com/office/drawing/2014/main" id="{68EC1178-B3E0-683C-0C89-8459BC3D1055}"/>
                </a:ext>
              </a:extLst>
            </p:cNvPr>
            <p:cNvSpPr txBox="1"/>
            <p:nvPr/>
          </p:nvSpPr>
          <p:spPr>
            <a:xfrm>
              <a:off x="192024" y="4206240"/>
              <a:ext cx="6711696" cy="502920"/>
            </a:xfrm>
            <a:prstGeom prst="rect">
              <a:avLst/>
            </a:prstGeom>
            <a:noFill/>
            <a:ln/>
          </p:spPr>
          <p:txBody>
            <a:bodyPr wrap="square" lIns="203200" tIns="0" rIns="203200" bIns="0" rtlCol="0" anchor="ctr"/>
            <a:lstStyle/>
            <a:p>
              <a:pPr marL="0" indent="0">
                <a:buNone/>
              </a:pPr>
              <a:r>
                <a:rPr lang="en-US" sz="125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IVS</a:t>
              </a:r>
              <a:r>
                <a:rPr lang="en-US" sz="125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= média simples das três dimensões, com o mesmo peso (1/3 cada)</a:t>
              </a:r>
              <a:endParaRPr lang="en-US" sz="1250"/>
            </a:p>
          </p:txBody>
        </p:sp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723C95C8-FB99-08ED-6037-EDC5931F5FD1}"/>
              </a:ext>
            </a:extLst>
          </p:cNvPr>
          <p:cNvGrpSpPr/>
          <p:nvPr/>
        </p:nvGrpSpPr>
        <p:grpSpPr>
          <a:xfrm>
            <a:off x="192024" y="5398705"/>
            <a:ext cx="6711696" cy="932688"/>
            <a:chOff x="192024" y="4846320"/>
            <a:chExt cx="6711696" cy="932688"/>
          </a:xfrm>
        </p:grpSpPr>
        <p:sp>
          <p:nvSpPr>
            <p:cNvPr id="45" name="Text 13">
              <a:extLst>
                <a:ext uri="{FF2B5EF4-FFF2-40B4-BE49-F238E27FC236}">
                  <a16:creationId xmlns:a16="http://schemas.microsoft.com/office/drawing/2014/main" id="{E94064C7-BA11-7737-396D-8E263430C145}"/>
                </a:ext>
              </a:extLst>
            </p:cNvPr>
            <p:cNvSpPr txBox="1"/>
            <p:nvPr/>
          </p:nvSpPr>
          <p:spPr>
            <a:xfrm>
              <a:off x="192024" y="4846320"/>
              <a:ext cx="6711696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1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Quanto mais perto de 1, maior a vulnerabilidade. Classificação oficial:</a:t>
              </a:r>
              <a:endParaRPr lang="en-US" sz="1100"/>
            </a:p>
          </p:txBody>
        </p:sp>
        <p:sp>
          <p:nvSpPr>
            <p:cNvPr id="47" name="Shape 14">
              <a:extLst>
                <a:ext uri="{FF2B5EF4-FFF2-40B4-BE49-F238E27FC236}">
                  <a16:creationId xmlns:a16="http://schemas.microsoft.com/office/drawing/2014/main" id="{FF28408C-6E49-C75A-9151-9938FC1DB6C6}"/>
                </a:ext>
              </a:extLst>
            </p:cNvPr>
            <p:cNvSpPr/>
            <p:nvPr/>
          </p:nvSpPr>
          <p:spPr>
            <a:xfrm>
              <a:off x="192024" y="5093208"/>
              <a:ext cx="1305763" cy="256032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A1265641-DD71-F7E4-D3C9-AA684D31DBE8}"/>
                </a:ext>
              </a:extLst>
            </p:cNvPr>
            <p:cNvSpPr txBox="1"/>
            <p:nvPr/>
          </p:nvSpPr>
          <p:spPr>
            <a:xfrm>
              <a:off x="192024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baixa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até 0,200</a:t>
              </a:r>
              <a:endParaRPr lang="en-US" sz="1100"/>
            </a:p>
          </p:txBody>
        </p:sp>
        <p:sp>
          <p:nvSpPr>
            <p:cNvPr id="55" name="Shape 16">
              <a:extLst>
                <a:ext uri="{FF2B5EF4-FFF2-40B4-BE49-F238E27FC236}">
                  <a16:creationId xmlns:a16="http://schemas.microsoft.com/office/drawing/2014/main" id="{36A6CB95-61FE-E222-18B8-BC8694108F29}"/>
                </a:ext>
              </a:extLst>
            </p:cNvPr>
            <p:cNvSpPr/>
            <p:nvPr/>
          </p:nvSpPr>
          <p:spPr>
            <a:xfrm>
              <a:off x="1543507" y="5093208"/>
              <a:ext cx="1305763" cy="256032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9" name="Text 17">
              <a:extLst>
                <a:ext uri="{FF2B5EF4-FFF2-40B4-BE49-F238E27FC236}">
                  <a16:creationId xmlns:a16="http://schemas.microsoft.com/office/drawing/2014/main" id="{4C0C3975-5F73-3056-5DB8-EC9CEA09306D}"/>
                </a:ext>
              </a:extLst>
            </p:cNvPr>
            <p:cNvSpPr txBox="1"/>
            <p:nvPr/>
          </p:nvSpPr>
          <p:spPr>
            <a:xfrm>
              <a:off x="1543507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Baixa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0,201 a 0,300</a:t>
              </a:r>
              <a:endParaRPr lang="en-US" sz="1100"/>
            </a:p>
          </p:txBody>
        </p:sp>
        <p:sp>
          <p:nvSpPr>
            <p:cNvPr id="63" name="Shape 18">
              <a:extLst>
                <a:ext uri="{FF2B5EF4-FFF2-40B4-BE49-F238E27FC236}">
                  <a16:creationId xmlns:a16="http://schemas.microsoft.com/office/drawing/2014/main" id="{636112A7-D697-73A3-257D-EF8D0D399C21}"/>
                </a:ext>
              </a:extLst>
            </p:cNvPr>
            <p:cNvSpPr/>
            <p:nvPr/>
          </p:nvSpPr>
          <p:spPr>
            <a:xfrm>
              <a:off x="2894990" y="5093208"/>
              <a:ext cx="1305763" cy="256032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7" name="Text 19">
              <a:extLst>
                <a:ext uri="{FF2B5EF4-FFF2-40B4-BE49-F238E27FC236}">
                  <a16:creationId xmlns:a16="http://schemas.microsoft.com/office/drawing/2014/main" id="{3E972387-1627-E2C1-A646-D1878B3A7814}"/>
                </a:ext>
              </a:extLst>
            </p:cNvPr>
            <p:cNvSpPr txBox="1"/>
            <p:nvPr/>
          </p:nvSpPr>
          <p:spPr>
            <a:xfrm>
              <a:off x="2894990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Média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0,301 a 0,400</a:t>
              </a:r>
              <a:endParaRPr lang="en-US" sz="1100"/>
            </a:p>
          </p:txBody>
        </p:sp>
        <p:sp>
          <p:nvSpPr>
            <p:cNvPr id="71" name="Shape 20">
              <a:extLst>
                <a:ext uri="{FF2B5EF4-FFF2-40B4-BE49-F238E27FC236}">
                  <a16:creationId xmlns:a16="http://schemas.microsoft.com/office/drawing/2014/main" id="{298126D2-CB5A-1E16-283A-C4F682298DAA}"/>
                </a:ext>
              </a:extLst>
            </p:cNvPr>
            <p:cNvSpPr/>
            <p:nvPr/>
          </p:nvSpPr>
          <p:spPr>
            <a:xfrm>
              <a:off x="4246474" y="5093208"/>
              <a:ext cx="1305763" cy="256032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8" name="Text 21">
              <a:extLst>
                <a:ext uri="{FF2B5EF4-FFF2-40B4-BE49-F238E27FC236}">
                  <a16:creationId xmlns:a16="http://schemas.microsoft.com/office/drawing/2014/main" id="{486654E4-AB2D-4093-A331-A607C862D102}"/>
                </a:ext>
              </a:extLst>
            </p:cNvPr>
            <p:cNvSpPr txBox="1"/>
            <p:nvPr/>
          </p:nvSpPr>
          <p:spPr>
            <a:xfrm>
              <a:off x="4246474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Alta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0,401 a 0,500</a:t>
              </a:r>
              <a:endParaRPr lang="en-US" sz="1100"/>
            </a:p>
          </p:txBody>
        </p:sp>
        <p:sp>
          <p:nvSpPr>
            <p:cNvPr id="82" name="Shape 22">
              <a:extLst>
                <a:ext uri="{FF2B5EF4-FFF2-40B4-BE49-F238E27FC236}">
                  <a16:creationId xmlns:a16="http://schemas.microsoft.com/office/drawing/2014/main" id="{0F0F0484-D426-7493-11AB-F6E6012B5930}"/>
                </a:ext>
              </a:extLst>
            </p:cNvPr>
            <p:cNvSpPr/>
            <p:nvPr/>
          </p:nvSpPr>
          <p:spPr>
            <a:xfrm>
              <a:off x="5597957" y="5093208"/>
              <a:ext cx="1305763" cy="256032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6" name="Text 23">
              <a:extLst>
                <a:ext uri="{FF2B5EF4-FFF2-40B4-BE49-F238E27FC236}">
                  <a16:creationId xmlns:a16="http://schemas.microsoft.com/office/drawing/2014/main" id="{23DF7A25-76B3-21BA-E668-9F9E982247AF}"/>
                </a:ext>
              </a:extLst>
            </p:cNvPr>
            <p:cNvSpPr txBox="1"/>
            <p:nvPr/>
          </p:nvSpPr>
          <p:spPr>
            <a:xfrm>
              <a:off x="5597957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alta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acima de 0,500</a:t>
              </a:r>
              <a:endParaRPr lang="en-US" sz="1100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812C7FBF-C156-B397-C6CD-DB70574B0437}"/>
              </a:ext>
            </a:extLst>
          </p:cNvPr>
          <p:cNvGrpSpPr/>
          <p:nvPr/>
        </p:nvGrpSpPr>
        <p:grpSpPr>
          <a:xfrm>
            <a:off x="192024" y="1248312"/>
            <a:ext cx="6711696" cy="475488"/>
            <a:chOff x="192024" y="5897880"/>
            <a:chExt cx="6711696" cy="475488"/>
          </a:xfrm>
        </p:grpSpPr>
        <p:sp>
          <p:nvSpPr>
            <p:cNvPr id="90" name="Shape 24">
              <a:extLst>
                <a:ext uri="{FF2B5EF4-FFF2-40B4-BE49-F238E27FC236}">
                  <a16:creationId xmlns:a16="http://schemas.microsoft.com/office/drawing/2014/main" id="{E976D4D9-95A2-B4BA-379D-6481F2053AE3}"/>
                </a:ext>
              </a:extLst>
            </p:cNvPr>
            <p:cNvSpPr/>
            <p:nvPr/>
          </p:nvSpPr>
          <p:spPr>
            <a:xfrm>
              <a:off x="192024" y="5897880"/>
              <a:ext cx="6711696" cy="475488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4" name="Text 25">
              <a:extLst>
                <a:ext uri="{FF2B5EF4-FFF2-40B4-BE49-F238E27FC236}">
                  <a16:creationId xmlns:a16="http://schemas.microsoft.com/office/drawing/2014/main" id="{B95565A2-4882-2370-46D5-D12E0B486C40}"/>
                </a:ext>
              </a:extLst>
            </p:cNvPr>
            <p:cNvSpPr txBox="1"/>
            <p:nvPr/>
          </p:nvSpPr>
          <p:spPr>
            <a:xfrm>
              <a:off x="192024" y="5897880"/>
              <a:ext cx="6711696" cy="475488"/>
            </a:xfrm>
            <a:prstGeom prst="rect">
              <a:avLst/>
            </a:prstGeom>
            <a:noFill/>
            <a:ln/>
          </p:spPr>
          <p:txBody>
            <a:bodyPr wrap="square" lIns="152400" tIns="0" rIns="152400" bIns="0" rtlCol="0" anchor="ctr"/>
            <a:lstStyle/>
            <a:p>
              <a:pPr marL="0" indent="0">
                <a:buNone/>
              </a:pPr>
              <a:r>
                <a:rPr lang="en-US" sz="1000" b="1" err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Vulnerabilidade</a:t>
              </a:r>
              <a:r>
                <a:rPr lang="en-US" sz="1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social: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fragilidades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nas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condições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de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vida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de um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território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ligadas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a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e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trabalho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educação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saúde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trasnporte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moradia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e saneamento. </a:t>
              </a:r>
              <a:r>
                <a:rPr lang="en-US" sz="1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endParaRPr lang="en-US" sz="1000"/>
            </a:p>
          </p:txBody>
        </p:sp>
      </p:grpSp>
      <p:sp>
        <p:nvSpPr>
          <p:cNvPr id="162" name="Text 34">
            <a:extLst>
              <a:ext uri="{FF2B5EF4-FFF2-40B4-BE49-F238E27FC236}">
                <a16:creationId xmlns:a16="http://schemas.microsoft.com/office/drawing/2014/main" id="{83BDBE20-A294-593C-5A26-21488A7BD3DE}"/>
              </a:ext>
            </a:extLst>
          </p:cNvPr>
          <p:cNvSpPr txBox="1"/>
          <p:nvPr/>
        </p:nvSpPr>
        <p:spPr>
          <a:xfrm>
            <a:off x="192024" y="6446520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Ipea, Atlas da Vulnerabilidade Social; Edital SGTES/MS nº 3/2025 (item 11.1.4).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170269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Testamos cada seta do modelo: quatro hipóteses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H3 é a hipótese central; H1 testa a consistência da cadeia.</a:t>
            </a:r>
          </a:p>
        </p:txBody>
      </p:sp>
      <p:sp>
        <p:nvSpPr>
          <p:cNvPr id="102" name="Nó 1"/>
          <p:cNvSpPr/>
          <p:nvPr/>
        </p:nvSpPr>
        <p:spPr>
          <a:xfrm>
            <a:off x="283464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B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DDEFE0"/>
                </a:solidFill>
                <a:latin typeface="Montserrat"/>
              </a:rPr>
              <a:t>bolsa maior</a:t>
            </a:r>
          </a:p>
        </p:txBody>
      </p:sp>
      <p:sp>
        <p:nvSpPr>
          <p:cNvPr id="103" name="Nó 2"/>
          <p:cNvSpPr/>
          <p:nvPr/>
        </p:nvSpPr>
        <p:spPr>
          <a:xfrm>
            <a:off x="2688336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V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DDEFE0"/>
                </a:solidFill>
                <a:latin typeface="Montserrat"/>
              </a:rPr>
              <a:t>a vaga vale mais</a:t>
            </a:r>
          </a:p>
        </p:txBody>
      </p:sp>
      <p:cxnSp>
        <p:nvCxnSpPr>
          <p:cNvPr id="104" name="Seta 1"/>
          <p:cNvCxnSpPr/>
          <p:nvPr/>
        </p:nvCxnSpPr>
        <p:spPr>
          <a:xfrm>
            <a:off x="2322576" y="1563624"/>
            <a:ext cx="320040" cy="0"/>
          </a:xfrm>
          <a:prstGeom prst="straightConnector1">
            <a:avLst/>
          </a:prstGeom>
          <a:ln w="31750">
            <a:solidFill>
              <a:srgbClr val="056429"/>
            </a:solidFill>
            <a:tailEnd type="triangle" w="med" len="med"/>
          </a:ln>
        </p:spPr>
      </p:cxnSp>
      <p:sp>
        <p:nvSpPr>
          <p:cNvPr id="105" name="Nó 3"/>
          <p:cNvSpPr/>
          <p:nvPr/>
        </p:nvSpPr>
        <p:spPr>
          <a:xfrm>
            <a:off x="5093208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π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DDEFE0"/>
                </a:solidFill>
                <a:latin typeface="Montserrat"/>
              </a:rPr>
              <a:t>mais médicos a escolhem</a:t>
            </a:r>
          </a:p>
        </p:txBody>
      </p:sp>
      <p:cxnSp>
        <p:nvCxnSpPr>
          <p:cNvPr id="106" name="Seta 2"/>
          <p:cNvCxnSpPr/>
          <p:nvPr/>
        </p:nvCxnSpPr>
        <p:spPr>
          <a:xfrm>
            <a:off x="4727448" y="1563624"/>
            <a:ext cx="320040" cy="0"/>
          </a:xfrm>
          <a:prstGeom prst="straightConnector1">
            <a:avLst/>
          </a:prstGeom>
          <a:ln w="31750">
            <a:solidFill>
              <a:srgbClr val="056429"/>
            </a:solidFill>
            <a:tailEnd type="triangle" w="med" len="med"/>
          </a:ln>
        </p:spPr>
      </p:cxnSp>
      <p:sp>
        <p:nvSpPr>
          <p:cNvPr id="107" name="Nó 4"/>
          <p:cNvSpPr/>
          <p:nvPr/>
        </p:nvSpPr>
        <p:spPr>
          <a:xfrm>
            <a:off x="7498080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Pr(Y = 1)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DDEFE0"/>
                </a:solidFill>
                <a:latin typeface="Montserrat"/>
              </a:rPr>
              <a:t>a vaga é preenchida</a:t>
            </a:r>
          </a:p>
        </p:txBody>
      </p:sp>
      <p:cxnSp>
        <p:nvCxnSpPr>
          <p:cNvPr id="108" name="Seta 3"/>
          <p:cNvCxnSpPr/>
          <p:nvPr/>
        </p:nvCxnSpPr>
        <p:spPr>
          <a:xfrm>
            <a:off x="7132320" y="1563624"/>
            <a:ext cx="320040" cy="0"/>
          </a:xfrm>
          <a:prstGeom prst="straightConnector1">
            <a:avLst/>
          </a:prstGeom>
          <a:ln w="31750">
            <a:solidFill>
              <a:srgbClr val="056429"/>
            </a:solidFill>
            <a:tailEnd type="triangle" w="med" len="med"/>
          </a:ln>
        </p:spPr>
      </p:cxnSp>
      <p:sp>
        <p:nvSpPr>
          <p:cNvPr id="109" name="Nó 5"/>
          <p:cNvSpPr/>
          <p:nvPr/>
        </p:nvSpPr>
        <p:spPr>
          <a:xfrm>
            <a:off x="9902952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E7F1E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capacidade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3A3A3A"/>
                </a:solidFill>
                <a:latin typeface="Montserrat"/>
              </a:rPr>
              <a:t>horas de especialista no SUS</a:t>
            </a:r>
          </a:p>
        </p:txBody>
      </p:sp>
      <p:cxnSp>
        <p:nvCxnSpPr>
          <p:cNvPr id="110" name="Seta 4"/>
          <p:cNvCxnSpPr/>
          <p:nvPr/>
        </p:nvCxnSpPr>
        <p:spPr>
          <a:xfrm>
            <a:off x="9537192" y="1563624"/>
            <a:ext cx="320040" cy="0"/>
          </a:xfrm>
          <a:prstGeom prst="straightConnector1">
            <a:avLst/>
          </a:prstGeom>
          <a:ln w="31750">
            <a:solidFill>
              <a:srgbClr val="056429"/>
            </a:solidFill>
            <a:tailEnd type="triangle" w="med" len="med"/>
          </a:ln>
        </p:spPr>
      </p:cxnSp>
      <p:sp>
        <p:nvSpPr>
          <p:cNvPr id="111" name="H1"/>
          <p:cNvSpPr/>
          <p:nvPr/>
        </p:nvSpPr>
        <p:spPr>
          <a:xfrm>
            <a:off x="329184" y="804672"/>
            <a:ext cx="9116568" cy="292608"/>
          </a:xfrm>
          <a:prstGeom prst="roundRect">
            <a:avLst>
              <a:gd name="adj" fmla="val 50000"/>
            </a:avLst>
          </a:prstGeom>
          <a:solidFill>
            <a:srgbClr val="05642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FFFFFF"/>
                </a:solidFill>
                <a:latin typeface="Montserrat"/>
              </a:rPr>
              <a:t>H1 · preenchimento: B → Pr(Y = 1)</a:t>
            </a:r>
          </a:p>
        </p:txBody>
      </p:sp>
      <p:sp>
        <p:nvSpPr>
          <p:cNvPr id="112" name="H2"/>
          <p:cNvSpPr/>
          <p:nvPr/>
        </p:nvSpPr>
        <p:spPr>
          <a:xfrm>
            <a:off x="329184" y="2029968"/>
            <a:ext cx="6711696" cy="292608"/>
          </a:xfrm>
          <a:prstGeom prst="roundRect">
            <a:avLst>
              <a:gd name="adj" fmla="val 50000"/>
            </a:avLst>
          </a:prstGeom>
          <a:solidFill>
            <a:srgbClr val="3E7C4F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FFFFFF"/>
                </a:solidFill>
                <a:latin typeface="Montserrat"/>
              </a:rPr>
              <a:t>H2 · escolha: B → V → π</a:t>
            </a:r>
          </a:p>
        </p:txBody>
      </p:sp>
      <p:sp>
        <p:nvSpPr>
          <p:cNvPr id="113" name="H3"/>
          <p:cNvSpPr/>
          <p:nvPr/>
        </p:nvSpPr>
        <p:spPr>
          <a:xfrm>
            <a:off x="2871216" y="1014984"/>
            <a:ext cx="1627632" cy="274320"/>
          </a:xfrm>
          <a:prstGeom prst="roundRect">
            <a:avLst>
              <a:gd name="adj" fmla="val 50000"/>
            </a:avLst>
          </a:prstGeom>
          <a:solidFill>
            <a:srgbClr val="C23B33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FFFFFF"/>
                </a:solidFill>
                <a:latin typeface="Montserrat"/>
              </a:rPr>
              <a:t>H3 · central</a:t>
            </a:r>
          </a:p>
        </p:txBody>
      </p:sp>
      <p:sp>
        <p:nvSpPr>
          <p:cNvPr id="114" name="H4"/>
          <p:cNvSpPr/>
          <p:nvPr/>
        </p:nvSpPr>
        <p:spPr>
          <a:xfrm>
            <a:off x="7543800" y="2029968"/>
            <a:ext cx="4306824" cy="29260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FFFFFF"/>
                </a:solidFill>
                <a:latin typeface="Montserrat"/>
              </a:rPr>
              <a:t>H4 · capacidade líquida</a:t>
            </a:r>
          </a:p>
        </p:txBody>
      </p:sp>
      <p:graphicFrame>
        <p:nvGraphicFramePr>
          <p:cNvPr id="115" name="Tabela"/>
          <p:cNvGraphicFramePr>
            <a:graphicFrameLocks noGrp="1"/>
          </p:cNvGraphicFramePr>
          <p:nvPr/>
        </p:nvGraphicFramePr>
        <p:xfrm>
          <a:off x="292608" y="2414016"/>
          <a:ext cx="11594592" cy="1832864"/>
        </p:xfrm>
        <a:graphic>
          <a:graphicData uri="http://schemas.openxmlformats.org/drawingml/2006/table">
            <a:tbl>
              <a:tblPr firstRow="1" bandRow="1"/>
              <a:tblGrid>
                <a:gridCol w="2534557"/>
                <a:gridCol w="6218215"/>
                <a:gridCol w="2841820"/>
              </a:tblGrid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A pergunta, em linguagem simples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Seta do modelo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Onde a bolsa é maior, mais vagas são preenchidas?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Pr(Y = 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114719"/>
                          </a:solidFill>
                          <a:latin typeface="Montserrat"/>
                        </a:rPr>
                        <a:t>H2</a:t>
                      </a: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Os médicos escolhem mais as vagas de bolsa maior?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V → π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114719"/>
                          </a:solidFill>
                          <a:latin typeface="Montserrat"/>
                        </a:rPr>
                        <a:t>H3</a:t>
                      </a: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 incentivo limitado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A bolsa pesa pouco comparada a trabalhar na UF de origem?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B contra o custo do lugar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O médico que chega soma horas ou só muda o registro?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chegada → capacidade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6" name="O que isso quer dizer"/>
          <p:cNvSpPr/>
          <p:nvPr/>
        </p:nvSpPr>
        <p:spPr>
          <a:xfrm>
            <a:off x="292608" y="4429760"/>
            <a:ext cx="11594592" cy="11216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Se a bolsa pesa pouco perto do custo do lugar (H3), ela muda quem escolhe qual vaga (H2) sem mudar quantas vagas preenchem (H1).</a:t>
            </a:r>
          </a:p>
        </p:txBody>
      </p:sp>
      <p:sp>
        <p:nvSpPr>
          <p:cNvPr id="117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§3; modelo da banca 1 (Moehling et al.; Redding e Rossi-Hansberg; Choné e Ma; Burdett, Shi e Wright).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Os três ciclos em números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Descritivo: as diferenças entre ciclos não são efeito da bolsa.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7772400" cy="4746752"/>
        </p:xfrm>
        <a:graphic>
          <a:graphicData uri="http://schemas.openxmlformats.org/drawingml/2006/table">
            <a:tbl>
              <a:tblPr firstRow="1" bandRow="1"/>
              <a:tblGrid>
                <a:gridCol w="3165137"/>
                <a:gridCol w="1259259"/>
                <a:gridCol w="1297844"/>
                <a:gridCol w="2050159"/>
              </a:tblGrid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Item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com célula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748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(estab. × curso)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1.547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2.293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20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Vagas imediatas · cadastro reserva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678 · 1.145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1.836 · 1.053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1.132 · 3.999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(universo G1)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2.179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2.604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ligados ao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938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2.102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2.533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com 1ª opção numa célula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2.140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2.581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 da escolha (P1)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915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2.032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2.474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720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Preenchidas na 1ª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393 (30,3%)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728 (47,1%)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497 (21,7%)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20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Preenchidas até a 2ª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461 (35,6%)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867 (56,0%)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observado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720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por faixa: R$ 10 · 15 · 20 mil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159 · 107 · 102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210 · 115 · 129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276 · 180 · 291 (e 1 sem IVS)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Marcadores"/>
          <p:cNvSpPr txBox="1"/>
          <p:nvPr/>
        </p:nvSpPr>
        <p:spPr>
          <a:xfrm>
            <a:off x="8385048" y="804672"/>
            <a:ext cx="3502152" cy="19637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Célula: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estabelecimento × curso.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Preenchida: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alguma confirmação ou homologação.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"…":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partes do universo G1.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8339328" y="2951338"/>
            <a:ext cx="3547872" cy="2600086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Os ciclos diferem em tamanho e em preenchimento: por isso comparamos sempre dentro do ciclo, perto dos cortes.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output/apresentacao_banca2/tabela_descritiva_ciclos.csv, contada de output/rdd_bolsa/outcomes/outcomes_V_celula.parquet e de output/rdd_bolsa/G1_resumo.json.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Um estimador por hipótese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Nos cortes, o contraste é sempre o pacote do corte; nenhum estimador mede a participação no PMM-E.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3442208"/>
        </p:xfrm>
        <a:graphic>
          <a:graphicData uri="http://schemas.openxmlformats.org/drawingml/2006/table">
            <a:tbl>
              <a:tblPr firstRow="1" bandRow="1"/>
              <a:tblGrid>
                <a:gridCol w="1941322"/>
                <a:gridCol w="3773563"/>
                <a:gridCol w="2801515"/>
                <a:gridCol w="3078193"/>
              </a:tblGrid>
              <a:tr h="3951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FFFFFF"/>
                          </a:solidFill>
                          <a:latin typeface="Montserrat"/>
                        </a:rPr>
                        <a:t>Inferência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92703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sharp local linear nos cortes 0,300 e 0,400 do IVS 2010 oficial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aberta (A3) e município (N); ciclos 1–3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CR1 por município; Holm nas primárias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192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114719"/>
                          </a:solidFill>
                          <a:latin typeface="Montserrat"/>
                        </a:rPr>
                        <a:t>H2 e H3</a:t>
                      </a: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 e incentivo limitado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 (McFadden) da 1ª opção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célula do mesmo curso e ciclo; ciclos 1–3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cluster por conjunto de escolha; H3 com a covariância conjunta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703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 escalonado (Callaway–Sant'Anna); comparação na nota de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mês, ciclos 1 e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bootstrap por médico; Rambachan–Roth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O que isso quer dizer"/>
          <p:cNvSpPr/>
          <p:nvPr/>
        </p:nvSpPr>
        <p:spPr>
          <a:xfrm>
            <a:off x="292608" y="4429760"/>
            <a:ext cx="11594592" cy="11216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Cada pergunta tem o desenho que ela pede: um salto no corte para o preenchimento, uma escolha entre vagas para a bolsa e o lugar, e a trajetória do médico antes e depois de entrar para a capacidade.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§4.1; protocolos 40, 48, 52, 52b, 54, 56 e 59.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Hipóteses de identificação e como foram testadas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Outras regras federais mudam em 0,300 e 0,400: por isso "pacote do corte".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3442208"/>
        </p:xfrm>
        <a:graphic>
          <a:graphicData uri="http://schemas.openxmlformats.org/drawingml/2006/table">
            <a:tbl>
              <a:tblPr firstRow="1" bandRow="1"/>
              <a:tblGrid>
                <a:gridCol w="6603637"/>
                <a:gridCol w="4990955"/>
              </a:tblGrid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 de identificação (para quais H)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Situação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0564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 faixa é função determinística do IVS, regra sharp (H1, H2, H3)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manipulação do IVS (H1, H2, H3)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continuidade dos potenciais no corte (H1)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passa, com seleção suspeita no ciclo 1 em 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dado o IVS contínuo, só a bolsa salta (H2, H3)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pacote do corte não se separa (co-políticas)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564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independência de alternativas irrelevantes (H2, H3)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violada em parte; o coeficiente da bolsa muda pouco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tendências paralelas entre coortes de entrada (H4)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falha em parte dos outcomes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alocação quase aleatória perto da nota de corte (H4, P6)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passa; desempate não é sorteio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O que isso quer dizer"/>
          <p:cNvSpPr/>
          <p:nvPr/>
        </p:nvSpPr>
        <p:spPr>
          <a:xfrm>
            <a:off x="292608" y="4429760"/>
            <a:ext cx="11594592" cy="11216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As hipóteses que sustentam o desenho passam; as que falham estão rotuladas e mudam a leitura: por causa delas falamos em pacote do corte e em associação na H4.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§4.2; auditorias 16 e 18; docs 37, 41, 49, 57a, 57d, 57f e 57h.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Primeiro estágio sharp: dois cortes, +R$ 5 mil em cada, 0 municípios do lado errado no ciclo 1.</a:t>
            </a:r>
          </a:p>
        </p:txBody>
      </p:sp>
      <p:pic>
        <p:nvPicPr>
          <p:cNvPr id="102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315200" cy="281850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O que isso quer dizer"/>
          <p:cNvSpPr/>
          <p:nvPr/>
        </p:nvSpPr>
        <p:spPr>
          <a:xfrm>
            <a:off x="292608" y="3806056"/>
            <a:ext cx="7315200" cy="174536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A bolsa é fixada pelo IVS de 2010, medido antes do programa: perto de cada corte, só ela (e as regras do mesmo corte) muda.</a:t>
            </a:r>
          </a:p>
        </p:txBody>
      </p:sp>
      <p:graphicFrame>
        <p:nvGraphicFramePr>
          <p:cNvPr id="104" name="Tabela"/>
          <p:cNvGraphicFramePr>
            <a:graphicFrameLocks noGrp="1"/>
          </p:cNvGraphicFramePr>
          <p:nvPr/>
        </p:nvGraphicFramePr>
        <p:xfrm>
          <a:off x="7882128" y="804672"/>
          <a:ext cx="4005072" cy="4746752"/>
        </p:xfrm>
        <a:graphic>
          <a:graphicData uri="http://schemas.openxmlformats.org/drawingml/2006/table">
            <a:tbl>
              <a:tblPr firstRow="1" bandRow="1"/>
              <a:tblGrid>
                <a:gridCol w="2670048"/>
                <a:gridCol w="1335024"/>
              </a:tblGrid>
              <a:tr h="84921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FFFFFF"/>
                          </a:solidFill>
                          <a:latin typeface="Montserrat"/>
                        </a:rPr>
                        <a:t>Conferência (portão R1)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52416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3A3A3A"/>
                          </a:solidFill>
                          <a:latin typeface="Montserrat"/>
                        </a:rPr>
                        <a:t>escore da relação nominal do MS = IVS 2010 oficial, a 3 casas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0" dirty="0">
                          <a:solidFill>
                            <a:srgbClr val="3A3A3A"/>
                          </a:solidFill>
                          <a:latin typeface="Montserrat"/>
                        </a:rPr>
                        <a:t>404/404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18668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 · ciclo 2: faixa reproduzida pela regra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 de 368 · 454 de 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8668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3 (congelado): o que falta foi criado depois de 2010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0" dirty="0">
                          <a:solidFill>
                            <a:srgbClr val="3A3A3A"/>
                          </a:solidFill>
                          <a:latin typeface="Montserrat"/>
                        </a:rPr>
                        <a:t>747 de 748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16; figura por scripts/apresentacao/gerar_figuras_banca2.py.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Na cadeia, só a escolha e o registro do médico se movem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Nenhuma pergunta tem hoje evidência causal limpa de mudança no resultado medido.</a:t>
            </a:r>
          </a:p>
        </p:txBody>
      </p:sp>
      <p:pic>
        <p:nvPicPr>
          <p:cNvPr id="102" name="Figura" descr="A cadeia do doc 57: uma linha por pergunta, cada uma na sua escala, com a força da evidênc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315200" cy="4120896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7927848" y="804672"/>
            <a:ext cx="3959352" cy="22385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Escolha: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a bolsa reordena a 1ª opção só no ciclo 2.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Preenchimento: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nenhum aumento detectável no corte.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Capacidade: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o médico soma horas, mas metade já estava lá.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7882128" y="3226064"/>
            <a:ext cx="4005072" cy="232536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A bolsa muda quem escolhe qual vaga, não quantas vagas preenchem; metade de quem chega já trabalhava no município.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§2 e §4); output/rdd_bolsa/P1h_magnitudes.csv (doc 57i); figura por scripts/apresentacao/gerar_figuras_banca2.py.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H1: o preenchimento não aumenta de forma detectável no corte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Inconclusivo: IC que contém zero não é efeito zero. O descarte de ganhos grandes vale com o IC convencional e para o pacote do corte.</a:t>
            </a:r>
          </a:p>
        </p:txBody>
      </p:sp>
      <p:pic>
        <p:nvPicPr>
          <p:cNvPr id="102" name="Figura" descr="H1: vagas preenchidas por município (N1) e probabilidade de a célula aberta ser preenchida (A3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529354" cy="44825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8142002" y="804672"/>
            <a:ext cx="3745198" cy="20417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A3: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o maior aumento compatível, +3,2 p.p., fica abaixo da referência de +10 p.p.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N1: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o sinal é negativo, mas não passa no Holm (0,124) e depende da medida.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8096282" y="3029346"/>
            <a:ext cx="3790918" cy="225791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Se a bolsa atraísse muito mais médicos, mais vagas seriam preenchidas do lado de bolsa maior. Não vemos isso, e um ganho de +10 p.p. fica descartado.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§3); output/rdd_bolsa/S57_resumo.json (A3; doc 49, §15; doc 57, §4.2).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H2: a bolsa pesa na escolha da vaga só no ciclo 2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Inconclusivo na primária. Escolha não é expansão: o que uma vaga ganha, outra do mesmo curso perde.</a:t>
            </a:r>
          </a:p>
        </p:txBody>
      </p:sp>
      <p:pic>
        <p:nvPicPr>
          <p:cNvPr id="102" name="Figura" descr="H2: razão de chances da 1ª opção por +R$ 5 mil, ciclos empilhados e por ciclo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498080" cy="4411661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8110728" y="804672"/>
            <a:ext cx="3776472" cy="20417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Primária (M1):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1,24 [0,99; 1,55] por +R$ 5 mil, p 0,065; ciclos iguais, p 0,058.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Só o ciclo 2 exclui 1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e resiste a placebos de corte (E9); os ciclos 1 e 3 não o replicam.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8065008" y="3029346"/>
            <a:ext cx="3822192" cy="252207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Na média dos ciclos, a bolsa não muda de forma clara a 1ª opção; só no ciclo 2, e isso ainda precisa se repetir no ciclo 3.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57a); output/rdd_bolsa/E8_resumo.json (E9, doc 44, §5.2).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no modelo de escolha, a UF de origem pesa mais que a bolsa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Escolha de quem se candidatou, entre vagas abertas: θ é preferência revelada condicional ao modelo, não efeito da geografia; β é o pacote do corte.</a:t>
            </a:r>
          </a:p>
        </p:txBody>
      </p:sp>
      <p:pic>
        <p:nvPicPr>
          <p:cNvPr id="102" name="Figura" descr="H3: pesos na utilidade da escolha da 1ª opção (M1), na mesma escala: bolsa, distância e lugar de orig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315200" cy="4112768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7927848" y="804672"/>
            <a:ext cx="3959352" cy="27879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Primária, pós-resultado: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D_UF = θ_UF − 10·β = 1,98 [1,56; 2,40], p unilateral &lt; 0,001 (Holm).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Em km (descritivo):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toda a bolsa vale 224 km [−18; 466]; o IC contém zero.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Sensibilidades: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D_UF positivo nas seis, de 1,18 a 2,37.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7882128" y="3775517"/>
            <a:ext cx="4005072" cy="1511747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Para quem se candidata, a vaga na UF de origem pesa mais que R$ 10 mil a mais por mês.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output/rdd_bolsa/P1h_magnitudes.csv, P1h_resumo.json e P1h_figuras/P1h_magnitudes.png (script 25c; doc 57i; protocolo 52b; auditoria 31).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H4: o médico soma horas, mas metade já estava no município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Associação sob tendências paralelas, não efeito da bolsa nem da participação no PMM-E: horas cadastradas não são presença.</a:t>
            </a:r>
          </a:p>
        </p:txBody>
      </p:sp>
      <p:pic>
        <p:nvPicPr>
          <p:cNvPr id="102" name="Figura" descr="H4: horas semanais cadastradas do médico depois da entrada (P4) e na nota de corte (P4-CA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618635" cy="44825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8231283" y="804672"/>
            <a:ext cx="3655917" cy="20417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Origem (descritivo):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51,0% [48,4; 53,7] já tinham vínculo no município do posto.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Rambachan–Roth: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as horas totais aguentam violações até 1,30 vez a maior do pré.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8185563" y="3029346"/>
            <a:ext cx="3701637" cy="225791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Quem entra passa a ter mais horas cadastradas, sobretudo no posto. Mas metade já trabalhava ali: parte do ganho é registro novo, não médico novo.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(P4, doc 57d); output/rdd_bolsa/H_estimativas.csv e CA_estimativas.csv (doc 57h).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as leituras resistem, com ressalvas declaradas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Especificações fixadas em protocolo antes de estimar; a H3 é pós-resultado e está rotulada assim.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3442208"/>
        </p:xfrm>
        <a:graphic>
          <a:graphicData uri="http://schemas.openxmlformats.org/drawingml/2006/table">
            <a:tbl>
              <a:tblPr firstRow="1" bandRow="1"/>
              <a:tblGrid>
                <a:gridCol w="1146048"/>
                <a:gridCol w="5224272"/>
                <a:gridCol w="5224272"/>
              </a:tblGrid>
              <a:tr h="36181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O que resiste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Ressalva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8284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 com h = 0,030 e 0,080 (−0,78 e −0,47) e no donut (−0,65)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o Holm depende do controle: com um só coeficiente, −1,03 [−1,79; −0,28]; o IC honesto não informa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06173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coeficiente positivo em todas as especificações (de +0,0304 a +0,0759 por R$ 1 mil); o ciclo 2 resiste a placebos (p por posto 0,036)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o IC contém zero no M1 e no M7; ciclo 2 com spline cúbico: p 0,083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51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H3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D_UF positivo nas seis especificações, de 1,18 a 2,37, com q de BKY &lt; 0,05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pós-resultado: os coeficientes do M1 já eram conhecidos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951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horas totais aguentam violações até 1,30 vez a maior do pré; no posto, até 1,90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fora do posto, só até 0,78; na nota de corte, +7,91 [−0,63; +16,45]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O que isso quer dizer"/>
          <p:cNvSpPr/>
          <p:nvPr/>
        </p:nvSpPr>
        <p:spPr>
          <a:xfrm>
            <a:off x="292608" y="4429760"/>
            <a:ext cx="11594592" cy="11216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Nenhuma conclusão muda com outras janelas, especificações ou violações moderadas de tendência; as ressalvas dizem onde a leitura depende de uma escolha.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49); P1_estimativas.csv (doc 57a); E8_resumo.json (E9); P1h_magnitudes.csv (doc 57i); H_estimativas.csv e CA_estimativas.csv (doc 57h). Teste a teste, com os números: apêndice.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Discussão: o que não afirmamos e o que vem depois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Inconclusivo não quer dizer que a bolsa não funciona: é ausência de efeito detectável, nos limites acima.</a:t>
            </a:r>
          </a:p>
        </p:txBody>
      </p:sp>
      <p:sp>
        <p:nvSpPr>
          <p:cNvPr id="102" name="Coluna 1"/>
          <p:cNvSpPr/>
          <p:nvPr/>
        </p:nvSpPr>
        <p:spPr>
          <a:xfrm>
            <a:off x="292608" y="804672"/>
            <a:ext cx="5637276" cy="4482592"/>
          </a:xfrm>
          <a:prstGeom prst="roundRect">
            <a:avLst>
              <a:gd name="adj" fmla="val 4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t">
            <a:noAutofit/>
          </a:bodyPr>
          <a:lstStyle/>
          <a:p>
            <a:endParaRPr lang="pt-BR"/>
          </a:p>
        </p:txBody>
      </p:sp>
      <p:sp>
        <p:nvSpPr>
          <p:cNvPr id="103" name="Cabeçalho 1"/>
          <p:cNvSpPr txBox="1"/>
          <p:nvPr/>
        </p:nvSpPr>
        <p:spPr>
          <a:xfrm>
            <a:off x="521208" y="950976"/>
            <a:ext cx="518007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O que não podemos afirmar</a:t>
            </a:r>
          </a:p>
        </p:txBody>
      </p:sp>
      <p:sp>
        <p:nvSpPr>
          <p:cNvPr id="104" name="Marcadores 1"/>
          <p:cNvSpPr txBox="1"/>
          <p:nvPr/>
        </p:nvSpPr>
        <p:spPr>
          <a:xfrm>
            <a:off x="521208" y="1517904"/>
            <a:ext cx="5180076" cy="3659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Pacote do corte.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Em 0,300 e 0,400 mudam também emendas, custeio de MAC, o IED da APS e a coparticipação do PMMB; o salto mede tudo junto.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Sem margem extensiva.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A escolha é só de quem já se candidatou; o logit não vê quem deixou de se inscrever.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Vínculo não é presença.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Horas e vínculos são cadastros do CNES. Não é a participação no PMM-E, nem o Agora Tem Especialistas.</a:t>
            </a:r>
          </a:p>
        </p:txBody>
      </p:sp>
      <p:sp>
        <p:nvSpPr>
          <p:cNvPr id="105" name="Coluna 2"/>
          <p:cNvSpPr/>
          <p:nvPr/>
        </p:nvSpPr>
        <p:spPr>
          <a:xfrm>
            <a:off x="6249924" y="804672"/>
            <a:ext cx="5637276" cy="4482592"/>
          </a:xfrm>
          <a:prstGeom prst="roundRect">
            <a:avLst>
              <a:gd name="adj" fmla="val 4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t">
            <a:noAutofit/>
          </a:bodyPr>
          <a:lstStyle/>
          <a:p>
            <a:endParaRPr lang="pt-BR"/>
          </a:p>
        </p:txBody>
      </p:sp>
      <p:sp>
        <p:nvSpPr>
          <p:cNvPr id="106" name="Cabeçalho 2"/>
          <p:cNvSpPr txBox="1"/>
          <p:nvPr/>
        </p:nvSpPr>
        <p:spPr>
          <a:xfrm>
            <a:off x="6478524" y="950976"/>
            <a:ext cx="518007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Literatura e próximos passos</a:t>
            </a:r>
          </a:p>
        </p:txBody>
      </p:sp>
      <p:sp>
        <p:nvSpPr>
          <p:cNvPr id="107" name="Marcadores 2"/>
          <p:cNvSpPr txBox="1"/>
          <p:nvPr/>
        </p:nvSpPr>
        <p:spPr>
          <a:xfrm>
            <a:off x="6478524" y="1517904"/>
            <a:ext cx="5180076" cy="3659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Dal Bó, Finan e Rossi (2013):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+33% no salário anunciado deu +15,1 p.p. na aceitação. Aqui, com degraus de +50% e +33%, o IC admite no máximo +3,2 p.p.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Escolha não é expansão.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A bolsa reordena candidatos entre vagas sem mudar quantas vagas preenchem.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Próximos passos: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repetir o ciclo 2 no ciclo 3, com a competência 202703 madura; pedir o universo de inscritos e a folha de pagamento.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doc 44, §6 (trechos do doc 20 da seção 03 copiados em output/rdd_bolsa/E8_resumo.json); doc 57, §4.2, §6 e §7.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do modelo às equações estimadas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Hipótese de identificação comum: dado o IVS contínuo, só a bolsa (com as regras do mesmo corte) salta em 0,300 e 0,400.</a:t>
            </a:r>
          </a:p>
        </p:txBody>
      </p:sp>
      <p:sp>
        <p:nvSpPr>
          <p:cNvPr id="102" name="Caixa das equações"/>
          <p:cNvSpPr/>
          <p:nvPr/>
        </p:nvSpPr>
        <p:spPr>
          <a:xfrm>
            <a:off x="292608" y="804672"/>
            <a:ext cx="11594592" cy="2249424"/>
          </a:xfrm>
          <a:prstGeom prst="roundRect">
            <a:avLst>
              <a:gd name="adj" fmla="val 6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ctr">
            <a:noAutofit/>
          </a:bodyPr>
          <a:lstStyle/>
          <a:p>
            <a:endParaRPr lang="pt-BR"/>
          </a:p>
        </p:txBody>
      </p:sp>
      <p:sp>
        <p:nvSpPr>
          <p:cNvPr id="103" name="Rótulo 1"/>
          <p:cNvSpPr txBox="1"/>
          <p:nvPr/>
        </p:nvSpPr>
        <p:spPr>
          <a:xfrm>
            <a:off x="521208" y="1078992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Modelo (Moehling)</a:t>
            </a:r>
          </a:p>
        </p:txBody>
      </p:sp>
      <p:sp>
        <p:nvSpPr>
          <p:cNvPr id="104" name="Equação 1"/>
          <p:cNvSpPr txBox="1"/>
          <p:nvPr/>
        </p:nvSpPr>
        <p:spPr>
          <a:xfrm>
            <a:off x="3081528" y="1078992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V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= Σ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δ</a:t>
            </a:r>
            <a:r>
              <a:rPr lang="pt-BR" sz="1805" b="0" baseline="30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[ E(w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| B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) / p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c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]</a:t>
            </a:r>
          </a:p>
        </p:txBody>
      </p:sp>
      <p:sp>
        <p:nvSpPr>
          <p:cNvPr id="105" name="Rótulo 2"/>
          <p:cNvSpPr txBox="1"/>
          <p:nvPr/>
        </p:nvSpPr>
        <p:spPr>
          <a:xfrm>
            <a:off x="521208" y="1645920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Escolha (H2, H3)</a:t>
            </a:r>
          </a:p>
        </p:txBody>
      </p:sp>
      <p:sp>
        <p:nvSpPr>
          <p:cNvPr id="106" name="Equação 2"/>
          <p:cNvSpPr txBox="1"/>
          <p:nvPr/>
        </p:nvSpPr>
        <p:spPr>
          <a:xfrm>
            <a:off x="3081528" y="1645920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U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= β·B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f(IVS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) − γ·dist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θ·mesmaUF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λ·X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</a:p>
        </p:txBody>
      </p:sp>
      <p:sp>
        <p:nvSpPr>
          <p:cNvPr id="107" name="Rótulo 3"/>
          <p:cNvSpPr txBox="1"/>
          <p:nvPr/>
        </p:nvSpPr>
        <p:spPr>
          <a:xfrm>
            <a:off x="521208" y="2212848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Preenchimento (H1)</a:t>
            </a:r>
          </a:p>
        </p:txBody>
      </p:sp>
      <p:sp>
        <p:nvSpPr>
          <p:cNvPr id="108" name="Equação 3"/>
          <p:cNvSpPr txBox="1"/>
          <p:nvPr/>
        </p:nvSpPr>
        <p:spPr>
          <a:xfrm>
            <a:off x="3081528" y="2212848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Y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c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= α + τ·D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f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±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(IVS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corte) + μ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curso×ciclo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c</a:t>
            </a:r>
          </a:p>
        </p:txBody>
      </p:sp>
      <p:sp>
        <p:nvSpPr>
          <p:cNvPr id="109" name="Marcadores"/>
          <p:cNvSpPr txBox="1"/>
          <p:nvPr/>
        </p:nvSpPr>
        <p:spPr>
          <a:xfrm>
            <a:off x="292608" y="3328416"/>
            <a:ext cx="11594592" cy="1958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β: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utilidade marginal da bolsa, o 1/p do modelo.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γ e θ: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custo geográfico (Redding e Rossi-Hansberg): distância e mesma UF da origem.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f(IVS):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contínua nos cortes; absorve o que varia suave com a vulnerabilidade (custo laboral de Choné e Ma, amenidades, preços).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ε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tipo valor extremo dá o logit condicional; a agregação de Burdett, Shi e Wright leva de π a Pr(Y = 1).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τ: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o salto no corte, com D = lado de bolsa maior; mede o pacote do corte, não a bolsa isolada.</a:t>
            </a:r>
          </a:p>
        </p:txBody>
      </p:sp>
      <p:sp>
        <p:nvSpPr>
          <p:cNvPr id="110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§4.3; protocolos 48 e 52.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oito bases oficiais, ligadas por município e médico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Nome, CPF e CRM só ficam em memória ou em cache fora do Git; nenhuma saída os traz.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1984567"/>
                <a:gridCol w="2633581"/>
                <a:gridCol w="1086993"/>
                <a:gridCol w="2610515"/>
                <a:gridCol w="1798243"/>
                <a:gridCol w="1480693"/>
              </a:tblGrid>
              <a:tr h="32921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Base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Fonte oficial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Período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chaves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Cobertura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Uso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Quadros de vagas e resultados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chamamentos dos ciclos 1, 2 e 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= estabelecimento × curso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 · 1.547 · 2.293 células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descritivas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e opções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classificação, alocação e homologação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opção; CPF mascarado só em memória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993 · 2.179 · 2.604 candidatos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H3, P6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IVS 2010 oficial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Ipea, Plataforma IVS (Censo 2010)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2010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5.565 municípios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running variable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2562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CNES: vínculos e horas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DATASUS/MS, base completa mensal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2022-01 a 2026-08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profissional × estabelecimento × mês; pseudônimo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ligados: 938 · 2.102 · 2.533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 (origem), H4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Especialistas ativos do PMM-E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MS, relação nominal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2026-09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posto; CRM só em memória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1.957 registros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(chegada)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2562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Produção ambulatorial e hospitalar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DATASUS/MS: SIA e SIH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mensal, pré e pós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× mês × grupo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nacional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K (acesso)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21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População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IBGE, Censo 2022 (SIDRA)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5.570 municípios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denominadores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Atos com corte no IVS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portarias do MS (auditoria 18)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2023–2026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ato ×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nos dois cortes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ameaça: 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output/apresentacao_banca2/tabela_fontes.csv (gerada por scripts/apresentacao/gerar_figuras_banca2.py); manifestos de aquisição em output/aquisicao/.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"IVS como piso" da banca 1 era um arquivo errado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FAILURE MODE: o arquivo não é inventado; é a linha errada da base certa.</a:t>
            </a:r>
          </a:p>
        </p:txBody>
      </p:sp>
      <p:sp>
        <p:nvSpPr>
          <p:cNvPr id="102" name="Cartão 1"/>
          <p:cNvSpPr/>
          <p:nvPr/>
        </p:nvSpPr>
        <p:spPr>
          <a:xfrm>
            <a:off x="292608" y="804672"/>
            <a:ext cx="3681984" cy="4746752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O que era o arquivo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Em cada município, a última linha de subgrupo da base do Ipea com IVS preenchido; </a:t>
            </a:r>
            <a:r>
              <a:rPr lang="pt-BR" sz="1800" b="0" i="1" dirty="0">
                <a:solidFill>
                  <a:srgbClr val="3A3A3A"/>
                </a:solidFill>
                <a:latin typeface="Montserrat"/>
              </a:rPr>
              <a:t>Negro / Mulher / Urbano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em 4.362 de 5.565 municípios (78%).</a:t>
            </a:r>
          </a:p>
        </p:txBody>
      </p:sp>
      <p:sp>
        <p:nvSpPr>
          <p:cNvPr id="103" name="Cartão 2"/>
          <p:cNvSpPr/>
          <p:nvPr/>
        </p:nvSpPr>
        <p:spPr>
          <a:xfrm>
            <a:off x="4248912" y="804672"/>
            <a:ext cx="3681984" cy="4746752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Quanto acerta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O IVS oficial a 3 casas em 38 municípios; correlação 0,85.</a:t>
            </a:r>
          </a:p>
        </p:txBody>
      </p:sp>
      <p:sp>
        <p:nvSpPr>
          <p:cNvPr id="104" name="Cartão 3"/>
          <p:cNvSpPr/>
          <p:nvPr/>
        </p:nvSpPr>
        <p:spPr>
          <a:xfrm>
            <a:off x="8205216" y="804672"/>
            <a:ext cx="3681984" cy="4746752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O que mudou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Malha, tipologia, A4, A5 e a Tabela 1 do ciclo 1 foram refeitos; a RDD já usava o IVS oficial.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output/rdd_bolsa/identificacao_arquivo_local_ivs.json; output/tema_trabalho/failure_mode_ivs_resumo.json; auditorias 16 e 19.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nos mesmos cortes mudam outras regras federais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 RDD em nível mede um pacote; a DiRD tira só a parte constante dessas regras.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909828"/>
                <a:gridCol w="5669381"/>
                <a:gridCol w="5015383"/>
              </a:tblGrid>
              <a:tr h="11248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Muda além da bolsa (verificado no ato ou nos dados)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Não verificado ou inferido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2497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teto de emendas e de parcelas de custeio de MAC e APS +20% para "IVS maior que 0,3"; estrato do IED da APS nos portes 2 e 3; Portaria 752/2023: teto de coparticipação do PMMB de 10% → 40%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como a Portaria 752/2023 foi aplicada no corte; priorização de eMulti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1248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estrato do IED nos portes 1, 2 e 4; Portaria 752/2023: 40% → 100%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ajuda de custo e perfis de escolha do PMMB; Eixo Vínculo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output/aquisicao/a10_manifesto_normas_ivs.json.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N1 a N4, com controle das vagas oferecidas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Nenhuma linha rejeita zero depois do Holm; o sinal é negativo em todas.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5859431"/>
                <a:gridCol w="1279961"/>
                <a:gridCol w="2534004"/>
                <a:gridCol w="1921195"/>
              </a:tblGrid>
              <a:tr h="7911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Outcome (ciclos e cortes empilhados)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IC 95%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p de Holm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7911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vagas preenchidas na 1ª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[−1,44; −0,07]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0,124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911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N2 células com alocado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[−0,66; +0,04]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0,235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11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N3 células com alocado até a 2ª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[−0,87; +0,17]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0,376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911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N4 especialistas ativos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−0,21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[−1,34; +0,92]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0,717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11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sem controle (efeito total da faixa)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−1,45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[−2,90; −0,01]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fora do Holm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e S57_resumo.json (doc 49, §3).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A3 por corte e no ciclo 1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No ciclo 1, a faixa saiu depois do pedido dos gestores; ali a amostra não descarta efeitos moderados.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4090834"/>
                <a:gridCol w="1902761"/>
                <a:gridCol w="2408774"/>
                <a:gridCol w="2115274"/>
                <a:gridCol w="1076949"/>
              </a:tblGrid>
              <a:tr h="7911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Amostra (célula aberta)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Média abaixo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 [IC 95%], p.p.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Maior aumento compatível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MDE de 80%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7911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cortes empilhados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34,7%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−4,9 [−12,9; +3,2]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+3,2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11,5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911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33,3%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−8,4 [−18,5; +1,7]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+1,7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14,5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11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36,8%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−1,3 [−14,0; +11,3]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+11,3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18,1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911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1, cortes empilhados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31,2%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−3,3 [−20,9; +14,2]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+14,2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25,1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11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 com candidato de 1ª opção, empilhado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−7,1 [−19,6; +5,4]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+5,4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§4.2; doc 49, §15).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bolsa em todas as especificações do logit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 leitura da H2 é sensível à especificação; só o M1 é a principal, e as demais são relatadas, não escolhidas.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482592"/>
        </p:xfrm>
        <a:graphic>
          <a:graphicData uri="http://schemas.openxmlformats.org/drawingml/2006/table">
            <a:tbl>
              <a:tblPr firstRow="1" bandRow="1"/>
              <a:tblGrid>
                <a:gridCol w="1962016"/>
                <a:gridCol w="5398754"/>
                <a:gridCol w="4233822"/>
              </a:tblGrid>
              <a:tr h="4980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Modelo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Coeficiente por R$ 1 mil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980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M1 (primária)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com distância e origem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+0,0424 [−0,0027; +0,0874]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80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M0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sem distância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+0,0690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80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M2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 da distância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80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M4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efeito fixo de UF da vaga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+0,0759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80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M7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explodido (1ª e 2ª opção)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+0,0304 [−0,0150; +0,0758]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80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M8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misto (média)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80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M9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de saúde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+0,0434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80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M5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por ciclo: 1 · 2 · 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+0,0132 · +0,1064 · −0,0004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57a, §4).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robustez, teste a teste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Nenhuma especificação foi escolhida depois de ver o resultado; a comparação da H3 é pós-resultado e está rotulada.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482592"/>
        </p:xfrm>
        <a:graphic>
          <a:graphicData uri="http://schemas.openxmlformats.org/drawingml/2006/table">
            <a:tbl>
              <a:tblPr firstRow="1" bandRow="1"/>
              <a:tblGrid>
                <a:gridCol w="831088"/>
                <a:gridCol w="3584966"/>
                <a:gridCol w="3205295"/>
                <a:gridCol w="3973243"/>
              </a:tblGrid>
              <a:tr h="32629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29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outras janelas (h = 0,030 e 0,080)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−0,78 e −0,47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29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sem os municípios colados ao corte (donut)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−0,65 [−1,43; +0,14]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sinal; o IC contém zero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496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um só coeficiente do controle (fora do protocolo)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−1,03 [−1,79; −0,28]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 o "nenhuma rejeita zero depois do Holm" depende dessa escolha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29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IC honesto de N1 (M do protocolo)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[−79,58; +78,07]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 não informa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496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outras especificações do logit (M0, M2, M4, M7, M8, M9)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de +0,0304 a +0,0759 por R$ 1 mil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todas; o IC contém zero só no M1 e no M7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29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E9 no ciclo 2: cortes placebo e spline cúbico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0,036; spline cúbico p 0,083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robusto a placebos; sensível à forma do IVS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496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3A3A3A"/>
                          </a:solidFill>
                          <a:latin typeface="Montserrat"/>
                        </a:rPr>
                        <a:t>H3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D_UF em M2, M4, M5 por ciclo e M7 (BKY entre as seis)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de 1,18 a 2,37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todas, com q de BKY &lt; 0,05; pós-resultado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0496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Rambachan–Roth (Δ^RM, média do pós)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ruptura de M̄: 1,30 (totais), 1,90 (posto), 0,78 (fora)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e posto aguentam violações do tamanho das do pré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29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comparação na nota de corte (P4-CA)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+7,91 [−0,63; +16,45]; pré p 0,837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mesma direção; o IC contém zero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0496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3A3A3A"/>
                          </a:solidFill>
                          <a:latin typeface="Montserrat"/>
                        </a:rPr>
                        <a:t>todas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nas primárias; BKY nas secundárias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nenhuma primária rejeita zero, salvo o Y1 do P6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b="0" dirty="0">
                          <a:solidFill>
                            <a:srgbClr val="3A3A3A"/>
                          </a:solidFill>
                          <a:latin typeface="Montserrat"/>
                        </a:rPr>
                        <a:t>o Y1 é quase mecânico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 e §7); P1_estimativas.csv (doc 57a); E8_resumo.json (E9); P1h_magnitudes.csv (doc 57i); H_estimativas.csv e CA_estimativas.csv (doc 57h); doc 57, §3.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E9 resiste no ciclo 2; o empilhado é frágil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O sinal da escolha vem do ciclo 2; o ciclo 3 maduro é a replicação fora da amostra.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8275312"/>
                <a:gridCol w="1556824"/>
                <a:gridCol w="1762456"/>
              </a:tblGrid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(pós-auditoria, fora do protocolo)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Empilhado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p do score bootstrap (Webb), cluster por conjunto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0,002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cortes placebo: nº com abs(t) ≥ t real, de 27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contra os placebos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0,036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0,107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spline cúbico: p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0,083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0,220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 e 3 empilhados, sem o 2: p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0,267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Q de Cochran (ciclos 1, 2, 3): p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0,014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output/rdd_bolsa/E8_resumo.json (e9); doc 44, §5.2.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magnitude da literatura e o IC empilhado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Contextos e outcomes diferentes: lá, servidores e aceitação da oferta; aqui, especialistas e célula com confirmação ou homologação.</a:t>
            </a:r>
          </a:p>
        </p:txBody>
      </p:sp>
      <p:sp>
        <p:nvSpPr>
          <p:cNvPr id="102" name="Cartão 1"/>
          <p:cNvSpPr/>
          <p:nvPr/>
        </p:nvSpPr>
        <p:spPr>
          <a:xfrm>
            <a:off x="292608" y="804672"/>
            <a:ext cx="5660136" cy="2104136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Dal Bó, Finan e Rossi (2013)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Salário anunciado sorteado, +33%: aceitação +15,1 p.p. e candidaturas +26%.</a:t>
            </a:r>
          </a:p>
        </p:txBody>
      </p:sp>
      <p:sp>
        <p:nvSpPr>
          <p:cNvPr id="103" name="Cartão 2"/>
          <p:cNvSpPr/>
          <p:nvPr/>
        </p:nvSpPr>
        <p:spPr>
          <a:xfrm>
            <a:off x="6227064" y="804672"/>
            <a:ext cx="5660136" cy="2104136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Bobba et al.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Adicional de +13% por regra, numa RDD: o preenchimento não mudou; o professor que chegou era melhor.</a:t>
            </a:r>
          </a:p>
        </p:txBody>
      </p:sp>
      <p:sp>
        <p:nvSpPr>
          <p:cNvPr id="104" name="Cartão 3"/>
          <p:cNvSpPr/>
          <p:nvPr/>
        </p:nvSpPr>
        <p:spPr>
          <a:xfrm>
            <a:off x="292608" y="3183128"/>
            <a:ext cx="5660136" cy="2104136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Aqui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Degrau de +50% em 0,300 e +33% em 0,400; o IC da célula aberta admite no máximo +3,2 p.p., com os cortes empilhados.</a:t>
            </a:r>
          </a:p>
        </p:txBody>
      </p:sp>
      <p:sp>
        <p:nvSpPr>
          <p:cNvPr id="105" name="Cartão 4"/>
          <p:cNvSpPr/>
          <p:nvPr/>
        </p:nvSpPr>
        <p:spPr>
          <a:xfrm>
            <a:off x="6227064" y="3183128"/>
            <a:ext cx="5660136" cy="2104136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Próximos passos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Ciclo 3 com a competência 202703 publicada, completa e madura; pedidos do universo de inscritos e da folha de pagamento.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44, §6 (trechos do doc 20 da seção 03 copiados em output/rdd_bolsa/E8_resumo.json); doc 57, §6.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