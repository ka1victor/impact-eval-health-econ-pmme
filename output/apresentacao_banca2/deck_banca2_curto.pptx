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Nossa pergunta é simples: quando o médico especialista escolhe uma vaga do PMM-E, a bolsa maior muda qual vaga ele põe em 1ª opção? A hipótese: comparando vagas da mesma UF, a vaga de bolsa maior tem mais chance de ser a 1ª opção. A motivação: o programa paga bolsa maior onde o IVS do município é maior; queremos saber se isso muda a vaga que o médico escolhe. Um aviso honesto, que está na tela: formulamos esta hipótese depois de ver os dados.</a:t>
            </a:r>
          </a:p>
          <a:p>
            <a:r>
              <a:rPr lang="pt-BR" dirty="0"/>
              <a:t>DETALHE PARA PERGUNTAS: Hipótese única desta versão (decisão do autor de 28/10/2026; doc 07 da banca 2): "a hipótese é simplesmente sobre o efeito bolsa → 1ª opção", com "só comparação entre municípios da mesma UF". A UF de origem, a UF da vaga, a região de saúde, o município e a distância entram só como controle e pareamento, nunca como resultado. Foi formulada depois de ver outros resultados do projeto no corte e os coeficientes do modelo de escolha: é pós-resultado, e isso é dito aqui. A leitura pela teoria da banca 1 é interpretação, não teste (auditoria 50). O contraste da bolsa é o pacote do corte (a bolsa e as outras regras federais que mudam nos mesmos cortes de IVS, auditoria 18), não a participação no PMM-E nem o Agora Tem Especialistas. Tudo é condicional a se candidatar.</a:t>
            </a:r>
          </a:p>
          <a:p>
            <a:r>
              <a:rPr lang="pt-BR" dirty="0"/>
              <a:t>Cautela na tela: Formulada após ver os dados.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A 1ª opção de cada candidato vem dos editais do Ministério da Saúde, ciclos 1 a 3; a origem vem do CNES: o município onde ele tinha vínculo médico antes da inscrição; bolsa e vagas, dos quadros de vagas; o IVS, do Ipea; distância e UF, do IBGE. A unidade de observação é o par candidato × vaga: cada candidato aparece uma vez para cada vaga aberta do seu curso e ciclo, e a variável dependente vale 1 na sua 1ª opção. Atenção: é a vaga que ele marcou na inscrição; não medimos se ele foi alocado nem se entrou no município. O funil, à direita, mostra quem sai em cada etapa: dos 5.714 candidatos com 1ª opção, 5.421 entram no modelo.</a:t>
            </a:r>
          </a:p>
          <a:p>
            <a:r>
              <a:rPr lang="pt-BR" dirty="0"/>
              <a:t>DETALHE PARA PERGUNTAS: 1ª opção: listas de classificação dos editais do PMM-E (SGTES/MS), ciclos 1–3, uma linha por candidato e opção. Cada ciclo é um chamamento com quadro de vagas próprio: o ciclo 1 com quadro de 24/07/2025; o ciclo 2 com quadro de 03/02/2026, retificado em 13/02/2026 (o vigente na inscrição, de onde vem o tipo de vaga usado aqui; auditoria 36) e de novo em 19/03/2026; o ciclo 3 com quadro de 16/07/2026. Origem: o município do estabelecimento onde o candidato tinha vínculo médico no CNES antes das inscrições, ligado pelo portão G1 (CPF e nome); não é a residência. Vagas e bolsa: quadros de vagas da 1ª chamada, por célula (estabelecimento × curso), com a faixa da bolsa anunciada (adendo 52c, auditoria 41). IVS 2010 oficial: Plataforma IVS do Ipea; é a variável dos cortes. Distância entre os centroides dos municípios (malha do IBGE); UF e região de saúde (tabela oficial do TabNet). Secundárias, em cinza: porte e capital, controles do modelo. Funil (P1_resumo.json, sem recálculo): 5.714 candidatos com 1ª opção numa vaga do quadro; 5.513 ligados ao CNES; 5.425 com município de origem (vínculo médico na competência anterior à inscrição); 5.421 no modelo, depois de tirar quem tem a origem ou a 1ª opção num município sem região de saúde na tabela oficial. Unidade do modelo: 932.577 pares candidato × vaga, em 56 conjuntos de escolha (curso × ciclo), com 5.125 vagas (estabelecimento × curso). A taxa de ligação é parecida entre alocados e não alocados (G1). Dados pessoais só em memória ou em cache fora do Git.</a:t>
            </a:r>
          </a:p>
          <a:p>
            <a:r>
              <a:rPr lang="pt-BR" dirty="0"/>
              <a:t>Cautela na tela: y = opção marcada, não ida ao município.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(0:25): De onde vem a variação da bolsa? De uma regra. Até IVS 0,300, R$ 10 mil; até 0,400, R$ 15 mil; acima, R$ 20 mil. Cada ponto é um município, e a regra reproduz a faixa de todos os municípios dos ciclos 1 e 2. O município não escolhe a bolsa: é a regra que dá.</a:t>
            </a:r>
          </a:p>
          <a:p>
            <a:r>
              <a:rPr lang="pt-BR" dirty="0"/>
              <a:t>DETALHE PARA PERGUNTAS: Como ler: cada ponto é um município com vaga no quadro da 1ª chamada do ciclo 1; o eixo horizontal é o IVS 2010 oficial, a cor também; o vertical, a bolsa anunciada. Até 0,300, R$ 10 mil; até 0,400, R$ 15 mil; acima, R$ 20 mil. O escore da relação nominal do MS é o IVS 2010 oficial em 404/404 municípios. No ciclo 3, 747 de 748: o que falta foi criado depois de 2010. É daqui que vem a variação da bolsa no modelo de escolha: vagas parecidas, de lados diferentes de um corte, pagam bolsas diferentes.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(0:30): Antes do modelo, os dados crus. Dos 5.425 candidatos com origem, 79% põem a 1ª opção na própria UF, e a distância mediana é de 51 km. Isso é descritivo, e não é o nosso resultado: é o motivo do desenho. Como a maioria escolhe dentro da própria UF, comparamos só vagas da mesma UF, e a UF entra como controle.</a:t>
            </a:r>
          </a:p>
          <a:p>
            <a:r>
              <a:rPr lang="pt-BR" dirty="0"/>
              <a:t>DETALHE PARA PERGUNTAS: Descritivo. Dos 5.425 candidatos com 1ª opção e município de origem, 79% põem a 1ª opção na UF onde já trabalhavam, 46% na mesma região de saúde e 36% no próprio município; a distância mediana até a 1ª opção é 51 km, e três em cada quatro ficam a até 189 km. A origem é o município do vínculo médico anterior no CNES, não a residência. É preferência revelada: diz onde escolhem, não por quê. Aqui ela não é resultado: é a razão para controlar e parear pela UF (decisão do autor de 28/10/2026). Como a comparação crua mistura a bolsa com o IVS, a distância e a UF (doc 66, §3), o modelo compara cada candidato consigo mesmo, só entre vagas da mesma UF.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Agora, a descritiva da hipótese. Pegamos só as 1ªs opções na UF de origem, a até 0,050 de um corte de IVS, onde as vagas dos dois lados são parecidas. O lado de bolsa maior tem 52,5% das vagas, mas recebe 60,8% das 1ªs opções: é mais escolhido do que oferecido, e nos três ciclos. Cuidado: é descritivo, sem teste e sem controlar a distância; quem testa é o modelo.</a:t>
            </a:r>
          </a:p>
          <a:p>
            <a:r>
              <a:rPr lang="pt-BR" dirty="0"/>
              <a:t>DETALHE PARA PERGUNTAS: Descritivo (doc 66, §3; figura F2 do doc 66, usada sem redesenho; auditoria 52). Só 1ªs opções na UF de origem a até 0,050 de um corte; para cada candidato, a parte das vagas (estabelecimento × curso) do mesmo curso e UF que fica no lado de bolsa maior, contra a parte das 1ªs opções que fica nele: 52,5% das vagas e 60,8% das 1ªs opções, com 1.568 candidatos nos ciclos 1–3. Em cada ciclo, as 1ªs opções ficam acima das vagas. Não é evidência à parte: sem teste e sem controlar a distância; a versão com inferência, distância e o par de UFs fixado (VL-2, só vagas perto do corte) é inconclusiva (Robustez). Pacote do corte; condicional a se candidatar.</a:t>
            </a:r>
          </a:p>
          <a:p>
            <a:r>
              <a:rPr lang="pt-BR" dirty="0"/>
              <a:t>Cautela na tela: Descritivo: sem teste e sem controlar a distância.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Usamos um logit condicional. A escolha é discreta: o candidato escolhe uma entre as vagas abertas do seu curso. Cada candidato é comparado consigo mesmo, e o efeito fixo do par de UFs faz a comparação só entre vagas da mesma UF, vistas por médicos da mesma UF de origem. A distância, a região e o município entram como controle. A bolsa varia pela regra do IVS. O teste é β maior que zero, com erro-padrão agrupado por conjunto de escolha.</a:t>
            </a:r>
          </a:p>
          <a:p>
            <a:r>
              <a:rPr lang="pt-BR" dirty="0"/>
              <a:t>DETALHE PARA PERGUNTAS: Logit condicional (McFadden): cada um dos 5.421 candidatos escolhe, entre as vagas abertas do seu curso e ciclo, a de maior utilidade; o candidato é comparado consigo mesmo entre as vagas que podia escolher, e o que não varia entre vagas (dele) sai da verossimilhança. Utilidade (VL-1, adendo 52e): bolsa (linear, por R$ 1 mil) + curva contínua do IVS (spline com dobras nos cortes, sem salto) + distância + mesma região de saúde e mesmo município da origem + efeito fixo do par (UF de origem, UF da vaga) + porte, capital, estrato e vagas imediatas da vaga. Com o efeito fixo do par, o peso da bolsa vem só de vagas da mesma UF (a de origem ou outra), vistas por médicos da mesma UF de origem. Só o salto da bolsa nos cortes de IVS identifica o peso dela. UF, região, município e distância são controle e pareamento: os coeficientes deles não são interpretados. Teste: β zero; p de H0: β = zero com erro-padrão agrupado por conjunto de escolha (curso × ciclo), Holm nas três principais do adendo e, com poucos grupos, score bootstrap de Rademacher. Tipo de vaga do ciclo 2 pelo quadro de 13/02/2026 (adendo 52c). Especificação pós-resultado: o adendo 52e foi congelado antes de rodar, mas depois de ver o modelo base.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Cinco premissas. Primeiro, a bolsa segue a regra do IVS, sem exceção nos ciclos 1 e 2. Segundo, o que mantemos fixo: o próprio candidato, o par de UFs e a distância; a região de saúde e o município também entram como controle. Terceiro, nos mesmos cortes mudam outras regras federais: medimos o pacote do corte. Quarto, e precisamos ser claros: esta especificação foi escolhida depois de ver o resultado; a pré-registrada, sem fixar a UF, tem intervalo que contém 1. Quinto, supomos que o candidato viu todas as vagas do seu curso.</a:t>
            </a:r>
          </a:p>
          <a:p>
            <a:r>
              <a:rPr lang="pt-BR" dirty="0"/>
              <a:t>DETALHE PARA PERGUNTAS: Bolsa por regra: o IVS 2010 oficial reproduz a faixa de todos os municípios dos ciclos 1 e 2 (368/368 e 454/454); o município não escolhe a bolsa. Mantido fixo: o candidato (logit condicional), o par (UF de origem, UF da vaga) por efeito fixo e a distância, com a mesma região de saúde e o mesmo município da origem como controles; nenhum deles é resultado. Pacote do corte: em 0,300 e 0,400 mudam também outras regras federais (auditoria 18); o peso da bolsa é o do pacote, não o da bolsa sozinha nem o da participação no PMM-E. Especificação pós-resultado (adendo 52e; auditoria 48): congelada antes de rodar, depois de ver o modelo base. A especificação pré-registrada (P1a, sem fixar a UF) dá 1,25 [0,98; 1,61], IC que contém 1 (p 0,072; família de um teste, Holm = p). IIA (independência de alternativas irrelevantes): no modelo base, o logit aninhado por região de saúde a rejeita em parte e o peso da bolsa fica perto do mesmo valor (doc 57a; doc 57v); não foi refeito com o par de UFs. Conjunto de escolha: supõe que o candidato viu todas as vagas do seu curso e listou sem estratégia (a alocação é por nota). A origem é medida pelo vínculo anterior no CNES, não pela residência. Tudo é condicional a se candidatar.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(0:50): Este é o resultado principal. Comparando só vagas da mesma UF, a de origem ou outra, vistas por médicos da mesma UF de origem, a vaga com bolsa R$ 5 mil maior tem 1,47 vez a chance de ser a 1ª opção, nos ciclos 1 a 3 juntos; o intervalo vai de 1,15 a 1,89. No ciclo 2, 1,90. Em palavras: entre duas vagas parecidas da mesma UF, a de bolsa maior tem cerca de uma vez e meia a chance de ser a escolhida; ou, por R$ 5 mil a mais, o médico aceita uma vaga 75 km mais longe. Duas ressalvas, na tela: é uma especificação escolhida depois do resultado; e a pré-registrada, sem fixar a UF, tem intervalo que contém 1.</a:t>
            </a:r>
          </a:p>
          <a:p>
            <a:r>
              <a:rPr lang="pt-BR" dirty="0"/>
              <a:t>DETALHE PARA PERGUNTAS: VL-1 (adendo 52e; doc 57x; auditoria 48; pós-resultado): comparando só vagas da mesma UF (a de origem ou outra), vistas por médicos da mesma UF de origem (efeito fixo do par de UFs), a razão de chances da 1ª opção por +R$ 5 mil é 1,47 [1,15; 1,89] nos ciclos 1–3 (p de Holm 0,005) e 1,90 [1,30; 2,78] no ciclo 2 (p de Holm 0,003). Como ler: entre duas vagas parecidas da mesma UF, a de bolsa R$ 5 mil maior tem 1,47 vez a chance de ser a 1ª opção; no logit condicional, é a razão entre as probabilidades de escolher uma e a outra. Em km: dentro da mesma UF, +R$ 5 mil pesam como 75 km [28; 122] a menos de distância nos ciclos 1–3 e 117 km [56; 178] no ciclo 2. Sem fixar a UF (modelo base; a especificação pré-registrada é a dos ciclos 1–3): 1,25 [0,98; 1,61], IC que contém 1 (p 0,072; família de um teste, Holm = p), e 1,79 [1,19; 2,68] no ciclo 2. Com o score bootstrap para poucos grupos, o VL-1 se mantém (doc 57x). Escolha não é expansão: o que uma vaga ganha, outra do mesmo curso perde. Pacote do corte; condicional a se candidatar.</a:t>
            </a:r>
          </a:p>
          <a:p>
            <a:r>
              <a:rPr lang="pt-BR" dirty="0"/>
              <a:t>Cautela na tela: Adendo pós-resultado; pré-registrado, sem fixar a UF: IC contém 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(0:40): A robustez fica sempre dentro da mesma UF. À esquerda, o peso da bolsa se mantém com a distância em log e com a região de saúde de origem no lugar da UF de origem. Com poucos grupos, o p do score bootstrap continua 0,011. Separando os dois degraus, 0,300 e 0,400, o efeito aparece nos dois e não difere entre eles. Só com vagas perto do corte, comparando na mesma UF ou na mesma UF e região, o intervalo contém 1: inconclusivo. À direita, ciclo a ciclo: o efeito é forte só no ciclo 2; nos ciclos 1 e 3, o intervalo contém 1. Por que o ciclo 2? Não sabemos.</a:t>
            </a:r>
          </a:p>
          <a:p>
            <a:r>
              <a:rPr lang="pt-BR" dirty="0"/>
              <a:t>DETALHE PARA PERGUNTAS: Todas as variantes comparam vagas da mesma UF. Ciclos 1–3 (adendo 52e; doc 57x; auditoria 48): VL-1, 1,47 [1,15; 1,89]; com a distância em log, 1,45 [1,15; 1,83] (ciclo 2: 1,75 [1,23; 2,49]); com o efeito fixo de região de saúde de origem × UF da vaga (VL-3), 1,49 [1,15; 1,92] (ciclo 2: 1,91 [1,33; 2,74]); só com vagas a até 0,050 de um corte (VL-2), 1,28 [0,95; 1,72], p de Holm 0,103: inconclusivo, a comparação local tem pouca informação. Perto do corte com a região de saúde de origem × UF da vaga (VL-3 sobre o VL-2): 1,28 [0,95; 1,71], também inconclusivo. No ciclo 2, perto do corte: 1,47 [1,01; 2,14] com o par de UFs e 1,49 [1,04; 2,13] com a região, IC que exclui 1. Por degrau, com o par de UFs fixado (adendo 52h; doc 57za; pós-resultado; auditoria pendente): 0,300, 1,41 [1,03; 1,93]; 0,400, 1,52 [1,16; 1,99]; razão entre os dois 0,93 [0,69; 1,26], p 0,633, sem diferença detectada (no ciclo 2: 1,99 e 1,84). No degrau 0,300 dos ciclos 1–3, o score bootstrap não confirma ao nível de 5%; no 0,400, confirma. Inferência com poucos clusters (conjuntos de escolha): p do score bootstrap de Rademacher 0,011 nos ciclos 1–3 e 0,004 no ciclo 2, sem ajuste (doc 57x). Por ciclo, com o par de UFs fixado (adendo 52g; doc 57z; pós-resultado; auditoria pendente): ciclo 1, 1,15 [0,66; 2,01], com 16 conjuntos de escolha; ciclo 2, 1,90 [1,30; 2,78]; ciclo 3, 1,25 [0,90; 1,73], com 23 conjuntos. A leitura fixada no adendo antes de rodar: forte só no ciclo 2, como na especificação base. Os km dos ciclos 1 e 3 têm IC que contém zero e não são usados. Por que o ciclo 2, não sabemos (leituras candidatas, sem teste: informação sobre a grade, vagas por curso, parte de vagas imediatas; doc 57a). Tudo pós-resultado e condicional a se candidatar;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Voltando à pergunta: a bolsa maior aumenta a chance de a vaga ser a 1ª opção, comparando vagas da mesma UF? Sim: 1,47 vez a chance nos três ciclos juntos, e forte só no ciclo 2. Pela teoria da banca 1, o médico aceita a vaga se a bolsa compensa o custo do lugar; os dados sugerem que R$ 5 mil compensam parte desse custo, cerca de 75 km a menos. Isso vale para a vaga que quem se candidatou marcou como 1ª opção, não para a entrada no município.</a:t>
            </a:r>
          </a:p>
          <a:p>
            <a:r>
              <a:rPr lang="pt-BR" dirty="0"/>
              <a:t>DETALHE PARA PERGUNTAS: No modelo da banca 1, o médico aceita a vaga se a bolsa compensa o custo do lugar. O dado: comparando vagas da mesma UF, a vaga de bolsa maior tem mais chance de ser a 1ª opção. A leitura que os dados sugerem, sem teste direto: a bolsa compensa parte do custo do lugar, e R$ 5 mil valem cerca de 75 km a menos de distância na escolha. É interpretação, não teste (auditoria 50). Dá para afirmar: entre quem se candidatou, a vaga de bolsa maior é preferida a uma vaga parecida da mesma UF, com força só no ciclo 2 (nos ciclos 1 e 3, separados, o IC contém 1). Não dá para afirmar: que a bolsa causa mais médicos no município; nada sobre quem não se candidatou; que o efeito vale fora do pacote do corte. O contraste é o pacote do corte, não a participação no PMM-E. Próximos passos: a auditoria do adendo 52g, o ciclo 3 com a competência 202703 madura e o universo de inscritos.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Seis limitações e o que cada uma implica. A especificação é pós-resultado: o resultado é exploratório e pede dados novos. Sem fixar a UF, como no pré-registrado, o intervalo contém 1. Só vemos a inscrição: quem se candidatou e o que marcou, não quem entrou no município. O contraste é o pacote do corte: vale para o pacote, não para os R$ 5 mil sozinhos. O efeito é forte só no ciclo 2: não dá para generalizar. E a origem é o vínculo no CNES, não a residência. Obrigado.</a:t>
            </a:r>
          </a:p>
          <a:p>
            <a:r>
              <a:rPr lang="pt-BR" dirty="0"/>
              <a:t>DETALHE PARA PERGUNTAS: Implicações, com mais detalhe. Pós-resultado: a hipótese e a especificação com o par de UFs vieram depois dos coeficientes do modelo base; o resultado é exploratório e só vira confirmatório com um protocolo congelado aplicado a dados novos (o universo de inscritos, novos ciclos). Sem fixar a UF: a especificação pré-registrada (P1a) dá 1,25 [0,98; 1,61], IC que contém 1 (p 0,072; família de um teste, Holm = p). Condicional a se candidatar: sem a margem extensiva, nada aqui diz quantos especialistas a mais se inscreveriam com bolsa maior; e o que uma vaga ganha na escolha, outra do mesmo curso perde. Pacote do corte: nos mesmos cortes mudam outras regras federais (auditoria 18); a implicação de política vale para o pacote, não para os R$ 5 mil sozinhos. Só inscrição: a 1ª opção é a vaga marcada na inscrição; não medimos alocação, posse nem trabalho no município. Só ciclo 2: comparando vagas da mesma UF, ciclo a ciclo (adendo 52g), 1,15 [0,66; 2,01] no ciclo 1 e 1,25 [0,90; 1,73] no ciclo 3, IC que contêm 1; não generalizar para o programa. Origem = vínculo no CNES: quem trabalha longe de casa aparece com a origem do trabalho; ela só define o par de UFs que fica fixo. Perguntas prováveis da banca (doc 66, §8). P1, "Vocês formularam a hipótese depois de ver os resultados?" Sim, e está na tela do slide 1; a especificação com o par de UFs foi congelada antes de rodar (52e; auditoria 48), mas depois de ver o modelo base. P2, "Se o pré-registrado tem IC que contém 1, por que acreditar?" Porque, comparando vagas da mesma UF, o efeito é 1,47 [1,15; 1,89], p de Holm 0,005, e se mantém com o score bootstrap; mas é exploratório. P3, "Isso é a bolsa ou o pacote?" O pacote do corte: nos mesmos cortes mudam outras regras federais (auditoria 18); em 0,300 nenhum outro incentivo individual ao especialista do PMM-E muda (auditoria 35); em 0,400 fica aberta a ajuda de custo do PMMB; nos dois cortes, o serviço do município pode mudar. P4, "E a origem?" Não é a pergunta desta hipótese: a UF de origem é controle. Se insistirem: no modelo base, sem fixar a UF, o teste origem × toda a bolsa (D_UF) dá 1,94 [1,48; 2,40] em log-chance (doc 57p); não é interpretado aqui.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curto_01_curto_dados_amostra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2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3_exp_escolha_origem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4_H2_F2_mesma_uf_perto_do_cort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bolsa_mesma_uf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curto_robustez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Pergunta e hipótese: a bolsa maior muda a 1ª opção?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Formulada após ver os dados.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Hipótese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comparando vagas da mesma UF, a de bolsa maior tem mais chance de ser a 1ª opção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236976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Motivação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236976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bolsa sobe com o IVS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07 da banca 2 (decisão do autor de 28/10/2026); adendos 52e e 52g; doc 57x; auditoria 48.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 e amostra: de onde vêm e quem entra no modelo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Unidade: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candidato × vaga do seu curso e ciclo; y = 1 na 1ª opção.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 modelo: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5.421 candidatos e 932.577 pares candidato × vaga.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y = opção marcada, não ida ao município.</a:t>
            </a:r>
          </a:p>
        </p:txBody>
      </p:sp>
      <p:pic>
        <p:nvPicPr>
          <p:cNvPr id="104" name="Figura" descr="Variáveis e fontes, à esquerda; à direita, o funil da amostra da escolha por ciclo, de quem tem 1ª opção no quadro até quem entra no modelo, com quem sai em cada eta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102" y="804672"/>
            <a:ext cx="9357604" cy="38039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output/rdd_bolsa/P1_resumo.json (protocolo 52; doc 57a); portão G1; output/apresentacao_banca2/tabela_fontes.csv; curto_dados_amostra.png; auditorias 16, 36 e 41.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Como ler: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ponto por município do ciclo 1; a bolsa salta nos cortes.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reproduz 368/368 e 454/454 municípios.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Onde escolhem: a maioria fica na própria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à origem do candidato (mesma UF, mesma região de saúde, mesmo município) e distância da origem à 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51239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51239"/>
            <a:ext cx="3108960" cy="225375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põem a 1ª opção na UF de origem; mediana: 51 km (descritivo).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669589"/>
            <a:ext cx="3108960" cy="197374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isso: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comparamos só vagas da mesma UF.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output/apresentacao_banca2/exp_escolha_origem.png.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Descritivo: perto do corte, a bolsa maior é mais escolhida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escritivo: na UF de origem, a até 0,050 de um corte de IVS, a parte do lado de bolsa maior nas vagas disponíveis e nas 1ªs opções, ciclos 1–3 e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15963"/>
            <a:ext cx="8211312" cy="41803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6085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sem teste e sem controlar a distância.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015963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 maior: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52,5% das vagas, 60,8% das 1ªs opções.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529584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Quem: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 UF de origem, a até 0,050 de um corte; 1.568 candidatos.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output/rdd_bolsa/H2_sintese.csv e H2_figuras/H2_F2_mesma_uf_perto_do_corte.png (scripts/rdd_bolsa/51_sintese_H2.py; doc 66, §3; auditoria 52).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Modelo: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U = β·bolsa + γ·distância + EF(UF origem × UF vaga) + …;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P(j) = e^Uj/Σe^U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candidato consigo mesmo, vagas da mesma UF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Bolsa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regra do IVS (sharp)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Teste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β &gt; zero; cluster por conjunto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52; adendos 52c e 52e (docs/06_execucao/); docs 57a, 57x e 66 (§4).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Identificação: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064183"/>
                <a:gridCol w="7530409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 por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sharp: 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Mantido fixo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candidato, par de UFs,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 (adendo 52e)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suposto: todas vistas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 e 48; adendo 52e; docs 57a, 57v e 57x; output/rdd_bolsa/portao_r1_ivs_oficial.json; VL_estimativas.csv.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mesma UF, a vaga de bolsa maior é preferida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+R$ 5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chance ×1,47 [1,15; 1,89].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Leitura: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por +R$ 5 mil, o médico aceita vaga 75 km mais longe.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Adendo pós-resultado; pré-registrado, sem fixar a UF: IC contém 1.</a:t>
            </a:r>
          </a:p>
        </p:txBody>
      </p:sp>
      <p:pic>
        <p:nvPicPr>
          <p:cNvPr id="104" name="Figura" descr="Razão de chances da 1ª opção por +R$ 5 mil comparando vagas da mesma UF (efeito fixo do par de UFs), ciclos 1–3 e ciclo 2, com IC 95% e os km equivalen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39782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output/apresentacao_banca2/curto_bolsa_mesma_uf.png.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sempre comparando vagas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Mantém: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log da distância; região × UF; por degrau; score bootstrap.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Por ciclo: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forte só no ciclo 2; nos ciclos 1 e 3 o IC contém 1.</a:t>
            </a:r>
          </a:p>
        </p:txBody>
      </p:sp>
      <p:sp>
        <p:nvSpPr>
          <p:cNvPr id="103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Perto do corte: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inconclusivo.</a:t>
            </a:r>
          </a:p>
        </p:txBody>
      </p:sp>
      <p:pic>
        <p:nvPicPr>
          <p:cNvPr id="104" name="Figura" descr="Robustez dentro da mesma UF: razão de chances da 1ª opção por +R$ 5 mil no VL-1, com a distância em log, com a região de saúde de origem × UF da vaga e só com vagas perto do corte (ciclos 1–3); à direita, o VL-1 em cada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448" y="804672"/>
            <a:ext cx="8506913" cy="38039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output/rdd_bolsa/VG_estimativas.csv (adendo 52g; doc 57z) e VK_estimativas.csv (adendo 52h; doc 57za), auditoria pendente; output/apresentacao_banca2/curto_robustez_escolha.png.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Conclusão: a bolsa maior aumenta a 1ª opção? Sim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Resposta</a:t>
            </a:r>
          </a:p>
        </p:txBody>
      </p:sp>
      <p:sp>
        <p:nvSpPr>
          <p:cNvPr id="102" name="Item"/>
          <p:cNvSpPr/>
          <p:nvPr/>
        </p:nvSpPr>
        <p:spPr>
          <a:xfrm>
            <a:off x="2106168" y="89611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sim, comparando vagas da mesma UF: chance ×1,47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69443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Força</a:t>
            </a:r>
          </a:p>
        </p:txBody>
      </p:sp>
      <p:sp>
        <p:nvSpPr>
          <p:cNvPr id="104" name="Item"/>
          <p:cNvSpPr/>
          <p:nvPr/>
        </p:nvSpPr>
        <p:spPr>
          <a:xfrm>
            <a:off x="2106168" y="269443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forte só no ciclo 2 (×1,90)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275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Teoria</a:t>
            </a:r>
          </a:p>
        </p:txBody>
      </p:sp>
      <p:sp>
        <p:nvSpPr>
          <p:cNvPr id="106" name="Item"/>
          <p:cNvSpPr/>
          <p:nvPr/>
        </p:nvSpPr>
        <p:spPr>
          <a:xfrm>
            <a:off x="2106168" y="449275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os dados sugerem: bolsa compensa parte do custo do lugar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modelo da banca 1; doc 07 da banca 2; docs 57x e 57z; doc 66 (§9 e §10); auditorias 18, 48, 50 e 52.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Limitações e o que cada uma implica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5405414"/>
                <a:gridCol w="6189178"/>
              </a:tblGrid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Limitação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Implicação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exploratório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fixar UF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contém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inscrição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≠ ida ao município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não isolada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generalizar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Origem =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≠ residência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66 (§0, §5 e §8); doc 07 da banca 2 (§3 e §4); docs 57p, 57x e 57z; auditorias 18, 48, 50 e 52.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