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  <p:sldId id="413" r:id="rId60"/>
    <p:sldId id="414" r:id="rId61"/>
    <p:sldId id="415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efeito candidato é o incentivo marginal de R$ 5 mil anunciado nos cortes do IVS, como pacote do corte: em 0,300 e 0,400 mudam também outras regras federais. Não é a participação no PMM-E nem o efeito do Agora Tem Especialistas. Numeração desta apresentação a partir de 26/10/2026: H1 preenchimento; H2 bolsa × origem (antes H3); H3 oferta (antes H4). A H1 é a hipótese central (decisão do autor de 26/10/2026): onde a bolsa é maior, mais vagas são preenchidas. H2 e H3 ficam em cinza, como plano B, até a validação dos professores. A H2 é o "incentivo limitado" do modelo da banca 1: toda a bolsa pesa menos que trabalhar na UF de origem do médico; foi formulada depois de ver os coeficientes do modelo de escolha, e por isso é pós-resultado. A H3 pergunta se a chegada do médico soma oferta ou só remaneja. Cautela: H2 é pós-resultado.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Principais. Bolsa: a faixa anunciada nos quadros dos editais do PMM-E (SGTES/MS), por município, ciclos 1–3. IVS 2010 oficial: Plataforma IVS do Ipea, Censo 2010, por município; é a variável de corte. Preenchimento e tipo de vaga: quadros de vagas e resultados da 1ª e da 2ª chamada, por célula (estabelecimento × curso), 2025–2026; o tipo (vaga imediata ou cadastro reserva) vem do quadro, e no ciclo 2 do quadro de 13/02/2026, anterior à alocação (auditoria 36). 1ª opção e origem: listas de classificação dos editais, ligadas ao cadastro de profissionais do CNES pelo portão G1; a origem é onde o médico tinha vínculo no CNES antes das inscrições, não residência. Horas: CNES mensal do DATASUS, por médico e mês, de 2022-01 a 2026-08. Secundárias, em cinza: capital pelo código IBGE (auditoria 36); porte pela população do Censo 2022; regras no mesmo corte nas portarias do MS (auditoria 18) e incentivos ligados à vulnerabilidade (auditoria 35). Servem para o diagnóstico da queda e para a leitura do pacote do corte; não entram na especificação principal. Dados pessoais só em memória ou em cache fora do Git.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ciclo é um chamamento do PMM-E com quadro de vagas próprio: o ciclo 1 com quadro de 24/07/2025, o ciclo 2 com quadro de 03/02/2026 e o ciclo 3 com quadro de 16/07/2026 (ciclo 3 congelado). Municípios: os que tinham vaga no quadro. Célula = estabelecimento × curso no quadro da 1ª chamada. Nesta tabela, no ciclo 1, "preenchida" é alguma confirmação ou homologação; nos ciclos 2 e 3, alocado. As estimativas da H1 usam ao menos um alocado nos três ciclos (no ciclo 1, o confirmado), como conferiu a auditoria 36. Amostra da escolha (H2, plano B): 915, 2.032 e 2.474 candidatos com 1ª opção numa célula do quadro, ligados ao CNES e com município de origem.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Até 0,300, R$ 10 mil; até 0,400, R$ 15 mil; acima, R$ 20 mil. O escore da relação nominal do MS é o IVS 2010 oficial em 404/404 municípios. No ciclo 3, congelado, 747 de 748: o que falta foi criado depois de 2010. Em 0,300 e 0,400 mudam também outras regras federais: pacote do corte.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Só células com pelo menos uma vaga imediata (no ciclo 2, pelo quadro de 13/02/2026, anterior à alocação). Cada ponto é a fração de células preenchidas numa faixa de 0,010 de IVS; cada linha, a reta local de um lado. Abaixo de 0,300, 56,1% dessas células são preenchidas. A distância crua entre as retas não é a estimativa: a HI-1 compara células do mesmo curso e ciclo, com uma reta por ciclo, e dá −3,7 p.p. [−21,3; +13,9] em 0,300 e −2,3 em 0,400. Saídas do adendo 48b, em auditoria. Por que a reta de baixo sobe (protocolo 62, doc 57m, auditoria 37; descritivo e pós-resultado): na faixa de R$ 10 mil, a fração de células preenchidas sobe +11,9 p.p. a cada 0,100 de IVS [+6,0; +17,7]; comparando só células da mesma UF, sobram +1,3 p.p. O Nordeste é a região que mais preenche nessa faixa (43% das células) e a de IVS mais alto. Diz com o que a subida anda junto, não por quê.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Especificação principal da H1 desde 26/10/2026 (adendo 48b, pós-resultado), RDD sharp local linear em cada corte separado. A equação da tela é a HI-2: médicos alocados na 1ª chamada em vagas imediatas, por município, com intercepto por ciclo, o salto do lado de bolsa maior, uma reta de cada lado por ciclo e o controle das vagas imediatas com coeficiente por ciclo. A HI-1 é a célula com vaga imediata preenchida na 1ª chamada, com efeitos fixos de curso × ciclo. Amostra: só células com pelo menos uma vaga imediata, ciclos 1–3; as demais ficam fora e são contadas. Kernel triangular, h = 0,050, erro-padrão agrupado por município; Holm entre as quatro linhas primárias. Comparamos vagas do mesmo tipo; a reserva se preenche por remanejamento e pela priorização da SGTES, outro mecanismo (doc 57n). No ciclo 2, o tipo de vaga é o do quadro de 13/02/2026 (auditoria 36). Em cinza, os planos B. H2: logit condicional (McFadden); cada um dos 5.421 candidatos escolhe a vaga de maior utilidade entre as do seu curso e ciclo: utilidade = bolsa + IVS + distância + origem; a curva do IVS é um spline com nós nos cortes, e só o salto da bolsa nos cortes identifica o peso dela; erro-padrão agrupado por conjunto de escolha; o teste é o peso da UF de origem menos o de toda a bolsa, unilateral e pós-resultado. H3: estudo de evento escalonado (Callaway e Sant'Anna) no médico e no município × mês; erro-padrão por bootstrap multiplicador agrupado; sensibilidades: Rambachan–Roth e a comparação na nota de corte. Cuidado: pacote do corte.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Regra sharp: o IVS 2010 oficial reproduz a faixa de todos os municípios dos ciclos 1 e 2. Sem manipulação: o IVS foi medido em 2010, antes do programa, e o teste de densidade não acusa acúmulo no ciclo 1 (p de Holm 0,707 em 0,300 e 0,658 em 0,400). Balanço: covariáveis pré e placebos de outcome e de corte passam; ressalvas: em 0,400, seleção suspeita no ciclo 1; em 0,300, a parte dos municípios que são capitais cai −17,8 p.p. [−34,1; −1,5] no corte (auditoria 36, diagnóstico). Pacote do corte: a única regra federal que muda em 0,300 e não em 0,400 é o acréscimo no teto de emendas e nas parcelas de custeio da APS e da MAC do município (auditoria 18); nenhum incentivo individual ao especialista além da bolsa muda em 0,300; em 0,400 mudam incentivos de médicos da APS (AgSUS e PMMB) (auditoria 35). Por isso o contraste é o pacote do corte, não a bolsa sozinha. Tipo de vaga: a SGTES/MS decide se a vaga é imediata ou de cadastro reserva, por critério que não está nos dados nem nos editais, e a decisão pode responder ao corte; comparar só vagas imediatas pode então comparar grupos selecionados de forma diferente. O teste da seleção (limites de Lee, "ter vaga imediata" como outcome, balanço dentro da amostra imediata) está pendente e precisa de adendo congelado antes de rodar (doc 05, §2.12). Na H3 (plano B), o teste conjunto do pré falha nas horas no município do posto; na H2, a independência de alternativas irrelevantes é violada em parte, e o peso da bolsa muda pouco.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Especificação principal da H1 (adendo 48b, em auditoria; pós-resultado). HI-1, a chance de uma célula com vaga imediata ser preenchida na 1ª chamada: −3,7 p.p. [−21,3; +13,9] em 0,300 e −2,3 p.p. [−24,0; +19,4] em 0,400, p de Holm 1,000 nos dois. HI-2, médicos alocados nessas vagas por município, comparando municípios com as mesmas vagas imediatas: −1,13 [−2,15; −0,10] em 0,300, p de Holm 0,126 (média abaixo 2,77); −0,16 [−0,99; +0,68] em 0,400, p de Holm 1,000. O IC convencional exclui zero só em HI-2 em 0,300, mas o sinal não sobrevive à correção para quatro testes. IC que contém zero não é efeito zero. TOST (HI-s7), com IC de 90% e as margens do protocolo 60: HI-1 [−18,4; +11,1] em 0,300 e [−20,5; +15,9] em 0,400, contra ±10 p.p.: inconclusivo. HI-2 em 0,300: [−1,99; −0,26] contra ±0,69 médico por município (25% da média abaixo): não houve aumento igual ou maior que a margem, mas uma queda desse tamanho não fica descartada. HI-2 em 0,400, contra ±0,50: inconclusivo. No IC convencional, sob a aproximação local linear e para o pacote do corte. Não dá para dizer que nada mudou. Tudo se refere ao pacote do corte, não à bolsa isolada. Cautela: Em auditoria (adendo 48b); pacote do corte.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Especificação secundária da H1: a medida antiga, alocados por município (N1), que mistura vaga imediata e cadastro reserva. Sem controle, o efeito total de abrir vagas e preenchê-las; com controle, o preenchimento dado o número de vagas. A decomposição é exata: sem controle = via vagas + com controle. Em 0,400: −1,36 = −1,22 + −0,14; do lado de bolsa maior há menos vagas oferecidas (−3,59), sobretudo por alguns municípios grandes logo abaixo do corte. Em 0,300: −1,56 = −0,11 + −1,45 [−2,67; −0,22]; a oferta não muda (+0,39). Só com vagas imediatas, os saltos em 0,300 encolhem: N1 com controle de −1,45 para −1,13 (HI-2); a célula aberta preenchida (A3) de −8,4 p.p. [−18,5; +1,7] para −3,7 p.p. (HI-1). Linhas por corte, sem correção múltipla.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Todas as combinações de ciclo, corte e medida estão gravadas; nada foi estimado para este slide. Na taxa por vaga oferecida, o ciclo 2 dá −27,8 p.p. [−49,0; −6,7] em 0,300, contra −16,0 com os ciclos juntos, e responde por 51% do salto conjunto. Na A3, o ciclo 2 dá −10,2 p.p., com IC que contém zero. "Preenchida" é ao menos um alocado nos três ciclos (no ciclo 1, o confirmado), conferido pela auditoria 36. A A3 usa o tipo de vaga do ciclo 2 do quadro retificado de 19/03/2026, refeito depois do resultado preliminar; com o tipo de vaga de antes da alocação, a queda aumenta. A H1 principal (adendo 48b) usa o quadro de 13/02/2026. Cautela: Tipo de vaga do ciclo 2: quadro refeito depois do resultado (auditoria 36).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Diagnóstico da auditoria 36, descritivo e pós-resultado, sem estatuto causal. Na janela de 0,050 há 13 capitais abaixo de 0,300 e 6 acima; a menos de 0,010 do corte, São Paulo, Goiânia, Natal e Brasília ficam abaixo e nenhuma capital acima. No corte, a parte dos municípios que são capitais cai −17,8 p.p. [−34,1; −1,5]. Com uma dummy de capital: A3 de −8,4 para −2,6 p.p. [−11,8; +6,6]; taxa por vaga de −16,0 para −10,9 p.p. [−22,6; +0,8]; N1 de −1,45 para −0,92 [−1,98; +0,14]. Só com células de vaga imediata (tipo de vaga de antes da alocação): A3 −3,7 p.p. e taxa −13,2 p.p., com IC que contém zero; nos alocados por município (HI-2, adendo 48b), −1,13, com IC que exclui zero, que não passa no Holm. O adendo 48c vai estimar capitais e UF de forma padronizada; quando sair, a fonte deste slide muda. Cautela: Auditoria 36, diagnóstico pós-resultado.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frase por explicação; todas são diagnósticos pós-resultado e medem o pacote do corte. Reta: nas médias simples da janela, 33,3% das células são preenchidas abaixo de 0,300 e 33,5% acima; a RDD compara as duas retas no ponto do corte, e a de baixo carrega uma subida que só existe nos últimos municípios antes de 0,300, com capitais e Nordeste logo abaixo do corte. Vagas: do lado de cima há mais vagas de cadastro reserva e de cursos que preenchem pouco em qualquer lugar; só com vagas imediatas, a queda encolhe. Porte: em 0,400, municípios grandes logo abaixo abrem e preenchem muitas vagas; com o controle das vagas, o salto quase some. Incentivo: nos atos lidos, nenhum incentivo individual além da bolsa muda em 0,300 (auditoria 35); muda o teto de emendas do município (auditoria 18). Acaso: com os 3 cortes falsos do protocolo, o p por posto é 0,250, o menor possível; numa grade maior, fora do protocolo, 0,031; não fica descartado nem confirmado. Nada disso mostra que a bolsa reduz o preenchimento.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Planos B, em cinza. H2 (P1h, pós-resultado): diferença, em log-chance, entre o peso de a vaga ficar na mesma UF de origem do médico e o peso de toda a bolsa, no modelo de escolha da 1ª opção, estimado em cada ciclo: 2,34 no ciclo 1, 1,31 no ciclo 2 e 2,37 no ciclo 3. Com os ciclos juntos, toda a bolsa pesa 0,42 e a mesma UF 2,40; diferença 1,98 [1,56; 2,40]. Origem é preferência revelada, não efeito causal; escolha não é expansão: o que uma vaga ganha, outra do mesmo curso perde. Reestimação em curso (52c): o ciclo 2 será refeito com o tipo de vaga do quadro de 13/02/2026; até lá, valem estes números. H3, nível do médico (P4): as horas cadastradas do próprio médico do PMM-E sobem +6,6 h/sem [+5,4; +7,8] depois da entrada (+8,7 no município do posto, −2,1 fora dele), e 51,0% [48,4; 53,7] já tinham vínculo no município do posto; na comparação na nota de corte, +7,91 h/sem [−0,63; +16,45]. Associação; não diz nada sobre os outros médicos do município e não é efeito da bolsa nem da participação no PMM-E. H3, nível do município (protocolo 60, parte B, em auditoria): depois da chegada do 1º médico do programa, vínculos e horas dos especialistas sobem, mas o pré já vinha subindo e a conclusão não aguenta Rambachan–Roth; não dá para afirmar aumento da oferta local; as horas dos outros especialistas não caem. Horas cadastradas não são presença.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história parte da H1. No modelo da banca 1, o médico aceita a vaga se a bolsa compensa o custo do lugar. O preenchimento não sobe no corte; o sinal negativo é a estimativa no corte, puxada por poucos municípios. Incentivo limitado: a política mexe numa variável, e o custo do lugar (longe da origem, da família e da rede) continua contra; a bolsa reordena os candidatos entre as vagas abertas (H2, plano B). Pacote do corte: em 0,300 e 0,400 mudam também outras regras federais, então o contraste não isola a bolsa. Vínculo não é presença: na oferta (H3, plano B), o médico soma horas cadastradas, mas metade já trabalhava no município do posto, e no município não dá para afirmar aumento. Associação não é efeito; inconclusivo não é efeito zero. Próximos passos: a auditoria 38 do adendo 48b, o adendo 48c (capitais e UF), o teste da seleção pelo tipo de vaga, o ciclo 3 com a competência 202703 madura e o universo de inscritos.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curto_01_regra_bolsa_ivs_oficial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curto_02_HI_scatter_imediatas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curto_03_HI_principal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curto_04_h1_controle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curto_05_curto_h1_por_ciclo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curto_06_curto_queda_capital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Hipóteses: a H1 é a candidata central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H2 é pós-resultado.</a:t>
            </a:r>
          </a:p>
        </p:txBody>
      </p:sp>
      <p:sp>
        <p:nvSpPr>
          <p:cNvPr id="102" name="Rótulo central"/>
          <p:cNvSpPr/>
          <p:nvPr/>
        </p:nvSpPr>
        <p:spPr>
          <a:xfrm>
            <a:off x="292608" y="804672"/>
            <a:ext cx="2651760" cy="208940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FFFFFF"/>
                </a:solidFill>
                <a:latin typeface="Montserrat"/>
              </a:rPr>
              <a:t>H1 · central</a:t>
            </a:r>
          </a:p>
        </p:txBody>
      </p:sp>
      <p:sp>
        <p:nvSpPr>
          <p:cNvPr id="103" name="Hipótese central"/>
          <p:cNvSpPr/>
          <p:nvPr/>
        </p:nvSpPr>
        <p:spPr>
          <a:xfrm>
            <a:off x="3081528" y="804672"/>
            <a:ext cx="8805672" cy="208940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25400">
            <a:solidFill>
              <a:srgbClr val="056429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3A3A3A"/>
                </a:solidFill>
                <a:latin typeface="Montserrat"/>
              </a:rPr>
              <a:t>bolsa maior, mais vagas preenchidas</a:t>
            </a:r>
          </a:p>
        </p:txBody>
      </p:sp>
      <p:sp>
        <p:nvSpPr>
          <p:cNvPr id="104" name="Rótulo plano B"/>
          <p:cNvSpPr/>
          <p:nvPr/>
        </p:nvSpPr>
        <p:spPr>
          <a:xfrm>
            <a:off x="292608" y="3122676"/>
            <a:ext cx="2651760" cy="1044702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H2 · plano B</a:t>
            </a:r>
          </a:p>
        </p:txBody>
      </p:sp>
      <p:sp>
        <p:nvSpPr>
          <p:cNvPr id="105" name="Hipótese plano B"/>
          <p:cNvSpPr/>
          <p:nvPr/>
        </p:nvSpPr>
        <p:spPr>
          <a:xfrm>
            <a:off x="3081528" y="3122676"/>
            <a:ext cx="8805672" cy="1044702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a bolsa pesa pouco perto da origem</a:t>
            </a:r>
          </a:p>
        </p:txBody>
      </p:sp>
      <p:sp>
        <p:nvSpPr>
          <p:cNvPr id="106" name="Rótulo plano B"/>
          <p:cNvSpPr/>
          <p:nvPr/>
        </p:nvSpPr>
        <p:spPr>
          <a:xfrm>
            <a:off x="292608" y="4395978"/>
            <a:ext cx="2651760" cy="1044702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H3 · plano B</a:t>
            </a:r>
          </a:p>
        </p:txBody>
      </p:sp>
      <p:sp>
        <p:nvSpPr>
          <p:cNvPr id="107" name="Hipótese plano B"/>
          <p:cNvSpPr/>
          <p:nvPr/>
        </p:nvSpPr>
        <p:spPr>
          <a:xfrm>
            <a:off x="3081528" y="4395978"/>
            <a:ext cx="8805672" cy="1044702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a chegada soma oferta ou remaneja?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doc 06 da banca 2; doc 57i (P1h, protocolo 52b, auditoria 31).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Dados: as variáveis e de onde vêm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7345084"/>
                <a:gridCol w="4249508"/>
              </a:tblGrid>
              <a:tr h="6412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Variável: principal · </a:t>
                      </a:r>
                      <a:r>
                        <a:rPr lang="pt-BR" sz="2400" b="1" i="1" dirty="0">
                          <a:solidFill>
                            <a:srgbClr val="FFFFFF"/>
                          </a:solidFill>
                          <a:latin typeface="Montserrat"/>
                        </a:rPr>
                        <a:t>secundária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412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Bolsa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editais SGTES/MS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412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12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Preenchimento, tipo de vaga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quadros SGTES/MS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412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1ª opção, origem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editais +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12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Horas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412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i="1" dirty="0">
                          <a:solidFill>
                            <a:srgbClr val="8A8A85"/>
                          </a:solidFill>
                          <a:latin typeface="Montserrat"/>
                        </a:rPr>
                        <a:t>Capital, porte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i="1" dirty="0">
                          <a:solidFill>
                            <a:srgbClr val="8A8A85"/>
                          </a:solidFill>
                          <a:latin typeface="Montserrat"/>
                        </a:rPr>
                        <a:t>IBGE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12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i="1" dirty="0">
                          <a:solidFill>
                            <a:srgbClr val="8A8A85"/>
                          </a:solidFill>
                          <a:latin typeface="Montserrat"/>
                        </a:rPr>
                        <a:t>Regras no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i="1" dirty="0">
                          <a:solidFill>
                            <a:srgbClr val="8A8A85"/>
                          </a:solidFill>
                          <a:latin typeface="Montserrat"/>
                        </a:rPr>
                        <a:t>portarias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output/apresentacao_banca2/tabela_fontes.csv; auditorias 16, 18, 35 e 36; portão G1.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= edital de vagas: 2025, início e meio de 2026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50392"/>
          <a:ext cx="11594592" cy="4709160"/>
        </p:xfrm>
        <a:graphic>
          <a:graphicData uri="http://schemas.openxmlformats.org/drawingml/2006/table">
            <a:tbl>
              <a:tblPr firstRow="1" bandRow="1"/>
              <a:tblGrid>
                <a:gridCol w="5254690"/>
                <a:gridCol w="2113301"/>
                <a:gridCol w="2113301"/>
                <a:gridCol w="2113301"/>
              </a:tblGrid>
              <a:tr h="117729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17729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7729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7729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Preenchidas (1ª chamada)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30,3%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47,1%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21,7%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output/apresentacao_banca2/tabela_descritiva_ciclos.csv; cronologia_ciclos.csv.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Ciclos 1 e 2: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regra reproduz a faixa de 368 de 368 e de 454 de 454 municípios.</a:t>
            </a:r>
          </a:p>
        </p:txBody>
      </p:sp>
      <p:pic>
        <p:nvPicPr>
          <p:cNvPr id="102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948448"/>
            <a:ext cx="11594592" cy="446732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Dados crus, só vagas imediatas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Só células com vaga imediata: médias por faixa de 0,010 de IVS e reta local de cada lado, nos cortes 0,300 e 0,40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27563"/>
            <a:ext cx="8211312" cy="4439449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1227563"/>
            <a:ext cx="3108960" cy="21374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Em 0,300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, a reta de baixo sobe forte até o corte e chega alta.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3529584"/>
            <a:ext cx="3108960" cy="21374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Dados crus; com curso e ciclo, a HI-1 fica bem menor.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output/rdd_bolsa/HI_figuras/HI_scatter_imediatas.png, HI_resumo.json e HI_estimativas.csv (adendo 48b; doc 57n; em auditoria); doc 57m (auditoria 37); figura usada sem redesenho.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O salto no corte, só com vagas imediatas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Equação em palavras"/>
          <p:cNvSpPr/>
          <p:nvPr/>
        </p:nvSpPr>
        <p:spPr>
          <a:xfrm>
            <a:off x="292608" y="850392"/>
            <a:ext cx="11594592" cy="160020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73152" rIns="365760" bIns="73152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0" dirty="0">
                <a:solidFill>
                  <a:srgbClr val="FFFFFF"/>
                </a:solidFill>
                <a:latin typeface="Montserrat"/>
              </a:rPr>
              <a:t>alocados = ciclo + salto × lado de bolsa maior + retas por lado e ciclo + ciclo × vagas imediatas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2724912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h = 0,050</a:t>
            </a:r>
          </a:p>
        </p:txBody>
      </p:sp>
      <p:sp>
        <p:nvSpPr>
          <p:cNvPr id="103" name="Item"/>
          <p:cNvSpPr/>
          <p:nvPr/>
        </p:nvSpPr>
        <p:spPr>
          <a:xfrm>
            <a:off x="2624328" y="2724912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triangular; erro-padrão por município</a:t>
            </a:r>
          </a:p>
        </p:txBody>
      </p:sp>
      <p:sp>
        <p:nvSpPr>
          <p:cNvPr id="104" name="Rótulo plano B"/>
          <p:cNvSpPr/>
          <p:nvPr/>
        </p:nvSpPr>
        <p:spPr>
          <a:xfrm>
            <a:off x="292608" y="3907536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H2</a:t>
            </a:r>
          </a:p>
        </p:txBody>
      </p:sp>
      <p:sp>
        <p:nvSpPr>
          <p:cNvPr id="105" name="Item plano B"/>
          <p:cNvSpPr/>
          <p:nvPr/>
        </p:nvSpPr>
        <p:spPr>
          <a:xfrm>
            <a:off x="2624328" y="3907536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logit da 1ª opção</a:t>
            </a:r>
          </a:p>
        </p:txBody>
      </p:sp>
      <p:sp>
        <p:nvSpPr>
          <p:cNvPr id="106" name="Rótulo plano B"/>
          <p:cNvSpPr/>
          <p:nvPr/>
        </p:nvSpPr>
        <p:spPr>
          <a:xfrm>
            <a:off x="292608" y="5090160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H3</a:t>
            </a:r>
          </a:p>
        </p:txBody>
      </p:sp>
      <p:sp>
        <p:nvSpPr>
          <p:cNvPr id="107" name="Item plano B"/>
          <p:cNvSpPr/>
          <p:nvPr/>
        </p:nvSpPr>
        <p:spPr>
          <a:xfrm>
            <a:off x="2624328" y="5090160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estudo de evento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adendo 48b ao protocolo 48 (docs/06_execucao/48b_adendo_H1_vagas_imediatas.md); protocolos 52, 52b, 54, 59 e 60.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RDD: as premissas e o nosso caso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Identificação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6886429"/>
                <a:gridCol w="4708163"/>
              </a:tblGrid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Premissa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Aderência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Regra sharp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368/368, 454/454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manipulação, balanço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passam, salvo capitais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a bolsa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não: pacote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Outro incentivo individual em 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Tipo de vaga (MS) exógeno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testado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auditorias 16, 18, 35 e 36; docs 37, 41, 49 e 05 (§2.12) da banca 2; output/rdd_bolsa/E1_densidade_estimativas.csv; output/auditoria_H1/a36_estimativas.csv.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Só vagas imediatas: nada passa no Holm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H1 principal: HI-1 (célula com vaga imediata preenchida) e HI-2 (alocados em vagas imediatas por município), por corte, com IC 95% e p de Hol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110032"/>
            <a:ext cx="8211312" cy="399216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266790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Em auditoria (adendo 48b); pacote do corte.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1110032"/>
            <a:ext cx="3108960" cy="2114955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Nada passa no Holm; HI-1: IC contém zero nos dois cortes.</a:t>
            </a:r>
          </a:p>
        </p:txBody>
      </p:sp>
      <p:sp>
        <p:nvSpPr>
          <p:cNvPr id="104" name="Linha"/>
          <p:cNvSpPr/>
          <p:nvPr/>
        </p:nvSpPr>
        <p:spPr>
          <a:xfrm>
            <a:off x="8778240" y="3389579"/>
            <a:ext cx="3108960" cy="2394965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TOST: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HI-2 em 0,300 descarta aumento ≥ 25% da média, não descarta queda.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output/rdd_bolsa/HI_estimativas.csv, HI_resumo.json e HI_figuras/HI_principal.png (adendo 48b; doc 57n; em auditoria); figura usada sem redesenho.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Antes e depois do controle das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0,400: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queda passa pelas vagas: cidades grandes logo abaixo; com o controle, some.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0,300: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oferta não muda; cai o preenchimento por vaga.</a:t>
            </a:r>
          </a:p>
        </p:txBody>
      </p:sp>
      <p:pic>
        <p:nvPicPr>
          <p:cNvPr id="103" name="Figura" descr="Antes e depois do controle das vagas oferecidas, por corte: sem controle e com controle em dois gráficos na mesma escala; ao lado, o salto nas vagas oferecid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71165"/>
            <a:ext cx="11594592" cy="334640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(decomposição e S-c; doc 49, §3 a §5); ND_estimativas.csv (doc 49b, §3); HI_estimativas.csv (adendo 48b; doc 57n; em auditoria).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Por ciclo: a queda em 0,300 vem do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A queda em 0,300 vem sobretudo do ciclo 2; por ciclo, os intervalos são largos.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Tipo de vaga do ciclo 2: quadro refeito depois do resultado (auditoria 36).</a:t>
            </a:r>
          </a:p>
        </p:txBody>
      </p:sp>
      <p:pic>
        <p:nvPicPr>
          <p:cNvPr id="103" name="Figura" descr="H1 por ciclo e por corte: célula aberta preenchida (A3) e taxa por vaga oferecida, ciclos 1, 2 e 3 e juntos, com IC 95%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2815" y="804672"/>
            <a:ext cx="9154178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output/rdd_bolsa/NA_estimativas.csv (A3 por ciclo); ND_estimativas.csv (taxa por vaga, adendo AD2; doc 49b); auditoria 36.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Controlando a capital, a queda encolhe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Queda em 0,300 nas três medidas: como estimada, com dummy de capital e só com células de vaga imediata, com IC 95% (auditoria 36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103356"/>
            <a:ext cx="8211312" cy="400551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273466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Auditoria 36, diagnóstico pós-resultado.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1103356"/>
            <a:ext cx="3108960" cy="268165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Controlando a capital, a queda encolhe e o IC contém zero; só com vagas imediatas, encolhe.</a:t>
            </a:r>
          </a:p>
        </p:txBody>
      </p:sp>
      <p:sp>
        <p:nvSpPr>
          <p:cNvPr id="104" name="Linha"/>
          <p:cNvSpPr/>
          <p:nvPr/>
        </p:nvSpPr>
        <p:spPr>
          <a:xfrm>
            <a:off x="8778240" y="3949598"/>
            <a:ext cx="3108960" cy="1841621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13 capitais abaixo de 0,300 e 6 acima.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output/auditoria_H1/a36_estimativas.csv e a36_resumo.json (auditoria 36); o adendo 48c fará a versão padronizada.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Por que o sinal sai negativo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Rótulo"/>
          <p:cNvSpPr/>
          <p:nvPr/>
        </p:nvSpPr>
        <p:spPr>
          <a:xfrm>
            <a:off x="292608" y="896112"/>
            <a:ext cx="2103120" cy="114757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Reta</a:t>
            </a:r>
          </a:p>
        </p:txBody>
      </p:sp>
      <p:sp>
        <p:nvSpPr>
          <p:cNvPr id="102" name="Item"/>
          <p:cNvSpPr/>
          <p:nvPr/>
        </p:nvSpPr>
        <p:spPr>
          <a:xfrm>
            <a:off x="2532888" y="896112"/>
            <a:ext cx="9354312" cy="114757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puxada por capitais e Nordeste logo abaixo de 0,300</a:t>
            </a:r>
          </a:p>
        </p:txBody>
      </p:sp>
      <p:sp>
        <p:nvSpPr>
          <p:cNvPr id="103" name="Rótulo"/>
          <p:cNvSpPr/>
          <p:nvPr/>
        </p:nvSpPr>
        <p:spPr>
          <a:xfrm>
            <a:off x="292608" y="2244852"/>
            <a:ext cx="2103120" cy="114757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Vagas</a:t>
            </a:r>
          </a:p>
        </p:txBody>
      </p:sp>
      <p:sp>
        <p:nvSpPr>
          <p:cNvPr id="104" name="Item"/>
          <p:cNvSpPr/>
          <p:nvPr/>
        </p:nvSpPr>
        <p:spPr>
          <a:xfrm>
            <a:off x="2532888" y="2244852"/>
            <a:ext cx="9354312" cy="114757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diferentes do lado de cima</a:t>
            </a:r>
          </a:p>
        </p:txBody>
      </p:sp>
      <p:sp>
        <p:nvSpPr>
          <p:cNvPr id="105" name="Rótulo"/>
          <p:cNvSpPr/>
          <p:nvPr/>
        </p:nvSpPr>
        <p:spPr>
          <a:xfrm>
            <a:off x="292608" y="3593592"/>
            <a:ext cx="2103120" cy="114757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Porte</a:t>
            </a:r>
          </a:p>
        </p:txBody>
      </p:sp>
      <p:sp>
        <p:nvSpPr>
          <p:cNvPr id="106" name="Item"/>
          <p:cNvSpPr/>
          <p:nvPr/>
        </p:nvSpPr>
        <p:spPr>
          <a:xfrm>
            <a:off x="2532888" y="3593592"/>
            <a:ext cx="9354312" cy="114757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municípios grandes logo abaixo de 0,400</a:t>
            </a:r>
          </a:p>
        </p:txBody>
      </p:sp>
      <p:sp>
        <p:nvSpPr>
          <p:cNvPr id="107" name="Rótulo"/>
          <p:cNvSpPr/>
          <p:nvPr/>
        </p:nvSpPr>
        <p:spPr>
          <a:xfrm>
            <a:off x="292608" y="4942332"/>
            <a:ext cx="2103120" cy="114757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Incentivo</a:t>
            </a:r>
          </a:p>
        </p:txBody>
      </p:sp>
      <p:sp>
        <p:nvSpPr>
          <p:cNvPr id="108" name="Item"/>
          <p:cNvSpPr/>
          <p:nvPr/>
        </p:nvSpPr>
        <p:spPr>
          <a:xfrm>
            <a:off x="2532888" y="4942332"/>
            <a:ext cx="9354312" cy="114757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nenhum individual muda em 0,300</a:t>
            </a:r>
          </a:p>
        </p:txBody>
      </p:sp>
      <p:sp>
        <p:nvSpPr>
          <p:cNvPr id="109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síntese da Robustez; doc 49b; doc 57l (auditoria 33); doc 57m (auditoria 37); auditorias 18, 35 e 36.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C4CCC6"/>
                </a:solidFill>
                <a:latin typeface="Montserrat"/>
              </a:rPr>
              <a:t>H2 e H3 · plano B: origem pesa; oferta incerta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Rótulo plano B"/>
          <p:cNvSpPr/>
          <p:nvPr/>
        </p:nvSpPr>
        <p:spPr>
          <a:xfrm>
            <a:off x="292608" y="896112"/>
            <a:ext cx="2590800" cy="1597152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H2</a:t>
            </a:r>
          </a:p>
        </p:txBody>
      </p:sp>
      <p:sp>
        <p:nvSpPr>
          <p:cNvPr id="102" name="Item plano B"/>
          <p:cNvSpPr/>
          <p:nvPr/>
        </p:nvSpPr>
        <p:spPr>
          <a:xfrm>
            <a:off x="3020568" y="896112"/>
            <a:ext cx="8866632" cy="1597152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origem supera toda a bolsa: 2,34 · 1,31 · 2,37 (ciclos 1–3)</a:t>
            </a:r>
          </a:p>
        </p:txBody>
      </p:sp>
      <p:sp>
        <p:nvSpPr>
          <p:cNvPr id="103" name="Rótulo plano B"/>
          <p:cNvSpPr/>
          <p:nvPr/>
        </p:nvSpPr>
        <p:spPr>
          <a:xfrm>
            <a:off x="292608" y="2694432"/>
            <a:ext cx="2590800" cy="1597152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H3</a:t>
            </a:r>
          </a:p>
        </p:txBody>
      </p:sp>
      <p:sp>
        <p:nvSpPr>
          <p:cNvPr id="104" name="Item plano B"/>
          <p:cNvSpPr/>
          <p:nvPr/>
        </p:nvSpPr>
        <p:spPr>
          <a:xfrm>
            <a:off x="3020568" y="2694432"/>
            <a:ext cx="8866632" cy="1597152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+6,6 h/sem do próprio médico; metade já estava lá</a:t>
            </a:r>
          </a:p>
        </p:txBody>
      </p:sp>
      <p:sp>
        <p:nvSpPr>
          <p:cNvPr id="105" name="Rótulo plano B"/>
          <p:cNvSpPr/>
          <p:nvPr/>
        </p:nvSpPr>
        <p:spPr>
          <a:xfrm>
            <a:off x="292608" y="4492752"/>
            <a:ext cx="2590800" cy="1597152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H3 · município</a:t>
            </a:r>
          </a:p>
        </p:txBody>
      </p:sp>
      <p:sp>
        <p:nvSpPr>
          <p:cNvPr id="106" name="Item plano B"/>
          <p:cNvSpPr/>
          <p:nvPr/>
        </p:nvSpPr>
        <p:spPr>
          <a:xfrm>
            <a:off x="3020568" y="4492752"/>
            <a:ext cx="8866632" cy="1597152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aumento não afirmável; outros especialistas não saem</a:t>
            </a:r>
          </a:p>
        </p:txBody>
      </p:sp>
      <p:sp>
        <p:nvSpPr>
          <p:cNvPr id="107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 (doc 57i; auditoria 31); S57_resumo.json (doc 57d); CA_estimativas.csv (doc 57h); OL_resumo.json (doc 57k; em auditoria).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Discussão: por que não sobe? Um incentivo limitado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Rótulo"/>
          <p:cNvSpPr/>
          <p:nvPr/>
        </p:nvSpPr>
        <p:spPr>
          <a:xfrm>
            <a:off x="292608" y="896112"/>
            <a:ext cx="3200400" cy="1604603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Incentivo limitado</a:t>
            </a:r>
          </a:p>
        </p:txBody>
      </p:sp>
      <p:sp>
        <p:nvSpPr>
          <p:cNvPr id="102" name="Item"/>
          <p:cNvSpPr/>
          <p:nvPr/>
        </p:nvSpPr>
        <p:spPr>
          <a:xfrm>
            <a:off x="3630168" y="896112"/>
            <a:ext cx="8257032" cy="160460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a bolsa mexe numa variável; o custo do lugar continua contra</a:t>
            </a:r>
          </a:p>
        </p:txBody>
      </p:sp>
      <p:sp>
        <p:nvSpPr>
          <p:cNvPr id="103" name="Rótulo"/>
          <p:cNvSpPr/>
          <p:nvPr/>
        </p:nvSpPr>
        <p:spPr>
          <a:xfrm>
            <a:off x="292608" y="2701883"/>
            <a:ext cx="3200400" cy="1593427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Pacote do corte</a:t>
            </a:r>
          </a:p>
        </p:txBody>
      </p:sp>
      <p:sp>
        <p:nvSpPr>
          <p:cNvPr id="104" name="Item"/>
          <p:cNvSpPr/>
          <p:nvPr/>
        </p:nvSpPr>
        <p:spPr>
          <a:xfrm>
            <a:off x="3630168" y="2701883"/>
            <a:ext cx="8257032" cy="1593427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com a bolsa, mudam outras regras</a:t>
            </a:r>
          </a:p>
        </p:txBody>
      </p:sp>
      <p:sp>
        <p:nvSpPr>
          <p:cNvPr id="105" name="Rótulo"/>
          <p:cNvSpPr/>
          <p:nvPr/>
        </p:nvSpPr>
        <p:spPr>
          <a:xfrm>
            <a:off x="292608" y="4496477"/>
            <a:ext cx="3200400" cy="1593427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Oferta</a:t>
            </a:r>
          </a:p>
        </p:txBody>
      </p:sp>
      <p:sp>
        <p:nvSpPr>
          <p:cNvPr id="106" name="Item"/>
          <p:cNvSpPr/>
          <p:nvPr/>
        </p:nvSpPr>
        <p:spPr>
          <a:xfrm>
            <a:off x="3630168" y="4496477"/>
            <a:ext cx="8257032" cy="1593427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vínculo cadastrado não é presença</a:t>
            </a:r>
          </a:p>
        </p:txBody>
      </p:sp>
      <p:sp>
        <p:nvSpPr>
          <p:cNvPr id="107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síntese dos slides anteriores; modelo da banca 1; docs 57, 57d, 57i e 57k; auditorias 18 e 35.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