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48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402" r:id="rId49"/>
    <p:sldId id="403" r:id="rId50"/>
    <p:sldId id="404" r:id="rId51"/>
    <p:sldId id="405" r:id="rId52"/>
    <p:sldId id="406" r:id="rId53"/>
    <p:sldId id="407" r:id="rId54"/>
    <p:sldId id="408" r:id="rId55"/>
    <p:sldId id="409" r:id="rId56"/>
    <p:sldId id="410" r:id="rId57"/>
    <p:sldId id="411" r:id="rId58"/>
    <p:sldId id="412" r:id="rId59"/>
    <p:sldId id="413" r:id="rId60"/>
    <p:sldId id="414" r:id="rId61"/>
    <p:sldId id="415" r:id="rId62"/>
    <p:sldId id="416" r:id="rId63"/>
    <p:sldId id="417" r:id="rId64"/>
    <p:sldId id="418" r:id="rId65"/>
    <p:sldId id="419" r:id="rId66"/>
    <p:sldId id="420" r:id="rId67"/>
    <p:sldId id="421" r:id="rId68"/>
    <p:sldId id="422" r:id="rId69"/>
    <p:sldId id="423" r:id="rId70"/>
    <p:sldId id="424" r:id="rId71"/>
    <p:sldId id="425" r:id="rId72"/>
    <p:sldId id="426" r:id="rId73"/>
    <p:sldId id="427" r:id="rId7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3" Type="http://schemas.openxmlformats.org/officeDocument/2006/relationships/customXml" Target="../customXml/item3.xml"/><Relationship Id="rId46" Type="http://schemas.openxmlformats.org/officeDocument/2006/relationships/tableStyles" Target="tableStyles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Relationship Id="rId68" Type="http://schemas.openxmlformats.org/officeDocument/2006/relationships/slide" Target="slides/slide56.xml"/><Relationship Id="rId69" Type="http://schemas.openxmlformats.org/officeDocument/2006/relationships/slide" Target="slides/slide57.xml"/><Relationship Id="rId70" Type="http://schemas.openxmlformats.org/officeDocument/2006/relationships/slide" Target="slides/slide58.xml"/><Relationship Id="rId71" Type="http://schemas.openxmlformats.org/officeDocument/2006/relationships/slide" Target="slides/slide59.xml"/><Relationship Id="rId72" Type="http://schemas.openxmlformats.org/officeDocument/2006/relationships/slide" Target="slides/slide60.xml"/><Relationship Id="rId73" Type="http://schemas.openxmlformats.org/officeDocument/2006/relationships/slide" Target="slides/slide61.xml"/><Relationship Id="rId74" Type="http://schemas.openxmlformats.org/officeDocument/2006/relationships/slide" Target="slides/slide6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efeito candidato é o incentivo marginal de R$ 5 mil anunciado, como pacote do corte: em 0,300 e 0,400 mudam também outras regras federais. Não é a participação no PMM-E nem o efeito do Agora Tem Especialistas. A H1 (preenchimento) é a hipótese central; H2 e H3 são plano B. A ordem segue a estrutura da versão final: hipótese, dados, análise descritiva, metodologia, identificação, resultados, robustez e discussão.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Numeração desta apresentação a partir de 26/10/2026: H1 preenchimento; H2 bolsa × origem (antes H3); H3 oferta (antes H4). A H1 é a hipótese central (decisão do autor de 26/10/2026): onde a bolsa é maior, mais vagas são preenchidas. H2 e H3 ficam em cinza, como plano B, até a validação dos professores. A H2 é o "incentivo limitado" do modelo da banca 1: toda a bolsa pesa menos que trabalhar na UF de origem do médico; foi formulada depois de ver os coeficientes do modelo de escolha, e por isso é pós-resultado. A H3 pergunta se a chegada do médico soma oferta ou só remaneja. Cautela: H2 é pós-resultado.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Bolsa: a faixa anunciada nos quadros dos editais do PMM-E (SGTES/MS), por município, ciclos 1–3. IVS 2010 oficial: Plataforma IVS do Ipea, Censo 2010, por município; é a variável de corte. Preenchimento: quadros de vagas e resultados da 1ª e da 2ª chamada, por célula (estabelecimento × curso), 2025–2026. 1ª opção e origem: listas de classificação dos editais, ligadas ao cadastro de profissionais do CNES pelo portão G1; a origem é onde o médico tinha vínculo no CNES antes das inscrições, não residência. Horas: CNES mensal do DATASUS, por médico e mês, de 2022-01 a 2026-08. Dados pessoais só em memória ou em cache fora do Git.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Composição das vagas: curso, vaga imediata ou de cadastro reserva, tipo de estabelecimento, lidos dos quadros; no ciclo 2, o tipo de vaga vem do quadro de 13/02/2026, anterior à alocação (auditoria 36). Capital: as capitais, pelo código IBGE (auditoria 36). Região: UF, macrorregião e região de saúde (malha do IBGE); porte: população do Censo 2022. Regras no mesmo corte: portarias do MS com corte no IVS (auditoria 18) e incentivos ligados à vulnerabilidade (auditoria 35). Servem para o diagnóstico da queda e para a leitura do pacote do corte; não entram na especificação principal.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Célula = estabelecimento × curso no quadro da 1ª chamada. Nesta tabela, no ciclo 1, "preenchida" é alguma confirmação ou homologação; nos ciclos 2 e 3, alocado. As estimativas da H1 usam ao menos um alocado nos três ciclos (no ciclo 1, o confirmado), como conferiu a auditoria 36. Amostra da escolha: candidatos com 1ª opção numa célula do quadro, ligados ao CNES e com município de origem.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Até 0,300, R$ 10 mil; até 0,400, R$ 15 mil; acima, R$ 20 mil. O escore da relação nominal do MS é o IVS 2010 oficial em 404/404 municípios. No ciclo 3, congelado, 747 de 748: o que falta foi criado depois de 2010. Em 0,300 e 0,400 mudam também outras regras federais: pacote do corte.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Só células com pelo menos uma vaga imediata (no ciclo 2, pelo quadro de 13/02/2026, anterior à alocação). Cada ponto é a fração de células preenchidas numa faixa de 0,010 de IVS; cada linha, a reta local de um lado. Abaixo de 0,300, 56,1% dessas células são preenchidas. A distância crua entre as retas não é a estimativa: a HI-1 compara células do mesmo curso e ciclo, com uma reta por ciclo, e dá −3,7 p.p. [−21,3; +13,9] em 0,300 e −2,3 em 0,400. Saídas do adendo 48b, em auditoria.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Protocolo 62 (doc 57m), auditado (auditoria 37, aprovado com correções de texto); descritivo e pós-resultado. Na faixa de R$ 10 mil, a fração de células preenchidas sobe +11,9 p.p. a cada 0,100 de IVS [+6,0; +17,7]. Comparando só células da mesma UF, sobram +1,3 p.p. O Nordeste é a região que mais preenche nessa faixa (43% das células) e a de IVS mais alto. Com todos os fatores juntos, sobram +0,5 p.p. Diz com o que a subida anda junto, não por quê. Cautela: Descritivo: dentro da faixa, a bolsa é a mesma.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Protocolo 62 (doc 57m; auditoria 37). Nos últimos 0,050 antes de 0,300, o preenchimento sobe +36,1 p.p. por 0,100 [+7,4; +64,7]. Nenhum fator sozinho a reduz à metade: comparando dentro da mesma UF, sobram +21,6 p.p.; com todos juntos ainda sobram +26,1 p.p. As células do Norte e do Nordeste da faixa estão quase todas nesse trecho. São as mesmas células que a RDD usa do lado de baixo, mas não a mesma reta: a RDD pondera pelo kernel e tem retas por ciclo. Quanto mais íngreme esse trecho, mais alto fica o ponto de partida do lado de R$ 10 mil no corte. Isso volta na Robustez, no passo a passo da queda.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Especificação principal da H1 desde 26/10/2026 (adendo 48b, pós-resultado). HI-1: célula com vaga imediata preenchida na 1ª chamada, com efeitos fixos de curso × ciclo. HI-2: alocados em vagas imediatas por município, com controle das vagas imediatas e coeficiente por ciclo. Amostra: só células com pelo menos uma vaga imediata, ciclos 1–3; as demais ficam fora e são contadas. RDD sharp local linear, kernel triangular, h = 0,050, cada corte separado, intercepto e retas por ciclo, erro-padrão agrupado por município; Holm entre as quatro linhas primárias. As células de cadastro reserva se preenchem por remanejamento e pela priorização da SGTES, outro mecanismo (doc 57n). No ciclo 2, o tipo de vaga é o do quadro de 13/02/2026, anterior à alocação (auditoria 36). Cuidado: pacote do corte.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H2: logit condicional (McFadden). Cada um dos 5.421 candidatos escolhe a vaga de maior utilidade entre as do seu curso e ciclo; a curva do IVS é um spline com nós nos cortes, e só o salto da bolsa nos cortes identifica o peso dela. Origem: pesos de mesma UF, mesma região e mesmo município. Pesos comuns aos ciclos na principal (M1); erro-padrão agrupado por conjunto de escolha. Teste da H2: o peso da UF de origem menos o de toda a bolsa, unilateral e pós-resultado. Cuidado: só quem se candidatou; independência de alternativas irrelevantes. H3: estudo de evento escalonado (Callaway e Sant'Anna), médicos dos ciclos 1 e 2: a mudança das horas desde o mês anterior à entrada, nos que entraram, menos a mesma mudança nos que ainda não entraram; erro-padrão por bootstrap multiplicador agrupado por médico; sensibilidades: Rambachan–Roth e a comparação na nota de corte. Cautela: Origem não é causal; horas cadastradas não são presença.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Regra sharp: o IVS 2010 oficial reproduz a faixa de todos os municípios dos ciclos 1 e 2. Sem manipulação: o IVS foi medido em 2010, antes do programa, e o teste de densidade não acusa acúmulo no ciclo 1 (p de Holm 0,707 em 0,300 e 0,658 em 0,400). Continuidade: balanço de covariáveis pré e placebos de outcome e de corte. Ressalvas: em 0,400, seleção suspeita no ciclo 1; em 0,300, a parte dos municípios que são capitais cai −17,8 p.p. [−34,1; −1,5] no corte (auditoria 36, diagnóstico). Para a H2, a curva do IVS com nós nos cortes e o spline cúbico.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Pacote do corte: a única regra federal que muda em 0,300 e não em 0,400 é o acréscimo no teto de emendas e nas parcelas de custeio da APS e da MAC do município (auditoria 18; doc 57l). Nenhum incentivo individual ao especialista além da bolsa muda em 0,300; em 0,400 mudam incentivos de médicos da APS (AgSUS e PMMB) (auditoria 35). Por isso o contraste é o pacote do corte, não a bolsa sozinha. Na H3, o teste conjunto do pré falha nas horas no município do posto; Rambachan–Roth mede quanto a conclusão aguenta. Na H2, a independência de alternativas irrelevantes é violada em parte, e o peso da bolsa muda pouco.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Especificação principal da H1 (adendo 48b, em auditoria; pós-resultado). HI-1, a chance de uma célula com vaga imediata ser preenchida na 1ª chamada: −3,7 p.p. [−21,3; +13,9] em 0,300 e −2,3 p.p. [−24,0; +19,4] em 0,400, p de Holm 1,000 nos dois. HI-2, médicos alocados nessas vagas por município, comparando municípios com as mesmas vagas imediatas: −1,13 [−2,15; −0,10] em 0,300, p de Holm 0,126 (média abaixo 2,77); −0,16 [−0,99; +0,68] em 0,400, p de Holm 1,000. O IC convencional exclui zero só em HI-2 em 0,300, mas o sinal não sobrevive à correção para quatro testes. IC que contém zero não é efeito zero. Tudo se refere ao pacote do corte, não à bolsa isolada.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Pesos na escolha da vaga, em log-chance, não efeitos no preenchimento. Um degrau da bolsa pesa 0,21 [−0,01; 0,44]: a vaga com +R$ 5 mil tem chance 24% maior de ser a 1ª opção (razão de chances 1,24), sem distinção de zero. Toda a bolsa pesa 0,42 [−0,03; 0,87]; a vaga na mesma UF de origem, fora da região de saúde, 2,40 [2,28; 2,53]. A diferença, 1,98, p unilateral &lt; 0,001, é o teste da H2, pós-resultado. O peso da bolsa tem identificação nos cortes (pacote do corte); o da origem é preferência revelada. Descritivo da origem: 79% das 1ª opções ficam na UF de origem, 46% na região de saúde e 36% no próprio município; mediana de 51 km, entre 5.425 candidatos. Reestimação em curso (52c): o tipo de vaga imediata do ciclo 2 entra no logit com o quadro de 13/02/2026; até lá, valem estes números. Cautela: Pós-resultado; origem é preferência revelada, não efeito causal.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Horas totais cadastradas: +6,6 h/sem [+5,4; +7,8] depois da entrada, sobretudo no município do posto (+8,7, com o pré falhando), e −2,1 fora dele. 51,0% [48,4; 53,7] dos médicos já tinham vínculo no município do posto: parte do ganho é registro novo, não médico novo. Associação sob tendências paralelas; não é a participação no PMM-E nem o efeito da bolsa. Cautela: Associação; horas cadastradas não são presença.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Especificações secundárias da H1: as medidas antigas misturam vaga imediata e cadastro reserva. Em 0,300, a célula aberta preenchida (A3) dá −8,4 p.p. [−18,5; +1,7] e, só com vagas imediatas (HI-1), −3,7 p.p.; os alocados por município com controle (N1) dão −1,45 [−2,67; −0,22] e, só com vagas imediatas (HI-2), −1,13. Em 0,400, N1 dá −0,14. Linhas por corte, sem correção múltipla. Cautela: IC que contém zero não é efeito zero.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Sem controle, o efeito total de abrir vagas e preenchê-las; com controle, o preenchimento dado o número de vagas. A decomposição é exata: sem controle = via vagas + com controle. Em 0,400: −1,36 = −1,22 + −0,14; do lado de bolsa maior há menos vagas oferecidas (−3,59), sobretudo por alguns municípios grandes logo abaixo do corte. Em 0,300: −1,56 = −0,11 + −1,45; a oferta não muda (+0,39).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Todas as combinações de ciclo, corte e medida estão gravadas; nada foi estimado para este slide. Na taxa por vaga oferecida, o ciclo 2 dá −27,8 p.p. [−49,0; −6,7] em 0,300, contra −16,0 com os ciclos juntos, e responde por 51% do salto conjunto. Na A3, o ciclo 2 dá −10,2 p.p., com IC que contém zero. "Preenchida" é ao menos um alocado nos três ciclos (no ciclo 1, o confirmado), conferido pela auditoria 36. A A3 usa o tipo de vaga do ciclo 2 do quadro retificado de 19/03/2026, refeito depois do resultado preliminar; com o tipo de vaga de antes da alocação, a queda aumenta. A H1 principal (adendo 48b) usa o quadro de 13/02/2026. Cautela: Tipo de vaga do ciclo 2: quadro refeito depois do resultado (auditoria 36).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(a) Nas médias simples da janela, 33,3% das células são preenchidas abaixo de 0,300 e 33,5% acima. (b) A RDD compara as duas retas no ponto do corte: a de baixo segue a subida forte dos últimos 0,050 e chega alta; a de cima começa baixa. Essa subida é puxada por poucos municípios: na janela há 13 capitais abaixo de 0,300 e 6 acima, e as capitais têm muitas células e preenchem mais (auditoria 36); as células do Norte e do Nordeste da faixa de R$ 10 mil estão quase todas nos últimos 0,050 antes do corte (doc 57m; auditoria 37). Acaso: com os 3 cortes falsos do protocolo, o p por posto é 0,250, o menor possível; numa grade maior, fora do protocolo, 0,031. Acaso não fica descartado nem confirmado.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Diagnóstico da auditoria 36, descritivo e pós-resultado, sem estatuto causal. Na janela de 0,050 há 13 capitais abaixo de 0,300 e 6 acima; a menos de 0,010 do corte, São Paulo, Goiânia, Natal e Brasília ficam abaixo e nenhuma capital acima. No corte, a parte dos municípios que são capitais cai −17,8 p.p. [−34,1; −1,5]. Com uma dummy de capital: A3 de −8,4 para −2,6 p.p. [−11,8; +6,6]; taxa por vaga de −16,0 para −10,9 p.p. [−22,6; +0,8]; N1 de −1,45 para −0,92 [−1,98; +0,14]. Só com células de vaga imediata (tipo de vaga de antes da alocação): A3 −3,7 p.p. e taxa −13,2 p.p., com IC que contém zero; nos alocados por município (HI-2, adendo 48b), −1,13, com IC que exclui zero, que não passa no Holm. O adendo 48c vai estimar capitais e UF de forma padronizada; quando sair, a fonte deste slide muda. Cautela: Auditoria 36, diagnóstico pós-resultado.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TOST da H1 principal (HI-s7), com IC de 90% e as margens do protocolo 60. HI-1: [−18,4; +11,1] em 0,300 e [−20,5; +15,9] em 0,400, contra ±10 p.p.: inconclusivo, nenhum dos dois testes rejeita. HI-2 em 0,300: [−1,99; −0,26] contra ±0,69 médico por município (25% da média abaixo, 2,77): não houve aumento igual ou maior que a margem, mas uma queda desse tamanho não fica descartada. HI-2 em 0,400, contra ±0,50: inconclusivo. No IC convencional, sob a aproximação local linear e para o pacote do corte. Não dá para dizer que nada mudou. Nos atos lidos, nenhum incentivo individual além da bolsa muda em 0,300 (auditoria 35); a única regra federal que muda em 0,300 e não em 0,400 é o teto de emendas e de parcelas de custeio do município (auditoria 18). Nada disso mostra que a bolsa reduz o preenchimento: o corte junta a bolsa com outras regras.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Antes era a H2 da escolha; agora é a especificação secundária da H2. Por ciclo (M5), só o ciclo 2 mostra efeito da bolsa: 1,70 [1,22; 2,37] por +R$ 5 mil; nos ciclos 1 e 3, 1,07 e 1,00; a igualdade entre ciclos tem p 0,058. A vantagem da UF de origem sobre toda a bolsa fica entre 1,18 (distância em log) e 2,37 (só o ciclo 3) nas seis variantes. Escolha não é expansão: o que uma vaga ganha, outra do mesmo curso perde. Reestimação em curso (52c): o ciclo 2 será refeito com o tipo de vaga do quadro de 13/02/2026. Cautela: Pós-resultado; escolha não é expansão.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Comparação dos aprovados com quem ficou logo abaixo da nota de corte: +7,91 h/sem nas horas totais, IC que contém zero, pré com p 0,837. Rambachan–Roth: a ruptura de M̄ é 1,30 nas horas totais e 1,90 no município do posto; acima de 1, a conclusão aguenta violações de tendência do tamanho das vistas no pré. Horas cadastradas não são presença.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linguagem simples: nos dados crus os dois lados preenchem igual; a reta de baixo carrega até o corte uma subida que só existe nos últimos municípios antes de 0,300, com capitais e Nordeste logo abaixo do corte; controlando a condição de capital, ou comparando vagas do mesmo tipo, a queda encolhe e o intervalo passa a conter zero. O corte junta a bolsa com outras regras: pacote do corte. Cautela: Nada disso mostra que a bolsa reduz o preenchimento.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história parte da H1. No modelo da banca 1, o médico aceita a vaga se a bolsa compensa o custo do lugar. O preenchimento não sobe no corte; o sinal negativo é a estimativa no corte, puxada por poucos municípios. A escolha explica por quê (H2, plano B): a política mexe numa variável, e o custo do lugar (longe da origem, da família e da rede) continua contra; a bolsa reordena os candidatos entre as vagas abertas, e o que uma vaga ganha outra do mesmo curso perde. Na oferta (H3, plano B), o médico soma horas cadastradas, mas metade já trabalhava no município do posto. Associação não é efeito; inconclusivo não é efeito zero. Próximos passos: as saídas do adendo 48b, o ciclo 3 com a competência 202703 madura e o universo de inscritos. Cautela: Pacote do corte; vínculo não é presença.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curto_01_regra_bolsa_ivs_oficial.png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curto_02_HI_scatter_imediatas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curto_03_GF_medias_por_ivs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curto_04_GF_inclinacao_fatores_janela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curto_05_HI_principal.png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curto_06_P1h_magnitudes.png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curto_07_curto_h3_horas.png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curto_08_HI_antiga_vs_imediatas.png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curto_09_h1_controle.png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curto_10_curto_h1_por_ciclo.png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curto_11_curto_reta_0300.png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curto_12_curto_queda_capital.png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curto_13_curto_tost_hi.png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curto_14_h2_escolha.png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curto_15_curto_h3_nota_corte.png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7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8.xml"/></Relationships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 que a bolsa de R$ 5 mil faz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Frase"/>
          <p:cNvSpPr/>
          <p:nvPr/>
        </p:nvSpPr>
        <p:spPr>
          <a:xfrm>
            <a:off x="658368" y="2258568"/>
            <a:ext cx="10863072" cy="2377440"/>
          </a:xfrm>
          <a:prstGeom prst="roundRect">
            <a:avLst>
              <a:gd name="adj" fmla="val 8000"/>
            </a:avLst>
          </a:prstGeom>
          <a:solidFill>
            <a:srgbClr val="114719"/>
          </a:solidFill>
          <a:ln>
            <a:noFill/>
          </a:ln>
        </p:spPr>
        <p:txBody>
          <a:bodyPr wrap="square" lIns="411480" tIns="91440" rIns="41148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0" dirty="0">
                <a:solidFill>
                  <a:srgbClr val="FFFFFF"/>
                </a:solidFill>
                <a:latin typeface="Montserrat"/>
              </a:rPr>
              <a:t>R$ 5 mil a mais nos cortes do IVS: escolha, preenchimento e oferta de especialistas</a:t>
            </a:r>
          </a:p>
        </p:txBody>
      </p:sp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§3; doc 57.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Hipóteses: a H1 é a candidata central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H2 é pós-resultado.</a:t>
            </a:r>
          </a:p>
        </p:txBody>
      </p:sp>
      <p:sp>
        <p:nvSpPr>
          <p:cNvPr id="102" name="Rótulo central"/>
          <p:cNvSpPr/>
          <p:nvPr/>
        </p:nvSpPr>
        <p:spPr>
          <a:xfrm>
            <a:off x="292608" y="804672"/>
            <a:ext cx="2651760" cy="208940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rgbClr val="FFFFFF"/>
                </a:solidFill>
                <a:latin typeface="Montserrat"/>
              </a:rPr>
              <a:t>H1 · central</a:t>
            </a:r>
          </a:p>
        </p:txBody>
      </p:sp>
      <p:sp>
        <p:nvSpPr>
          <p:cNvPr id="103" name="Hipótese central"/>
          <p:cNvSpPr/>
          <p:nvPr/>
        </p:nvSpPr>
        <p:spPr>
          <a:xfrm>
            <a:off x="3081528" y="804672"/>
            <a:ext cx="8805672" cy="208940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25400">
            <a:solidFill>
              <a:srgbClr val="056429"/>
            </a:solidFill>
          </a:ln>
        </p:spPr>
        <p:txBody>
          <a:bodyPr wrap="square" lIns="274320" tIns="36576" rIns="27432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rgbClr val="3A3A3A"/>
                </a:solidFill>
                <a:latin typeface="Montserrat"/>
              </a:rPr>
              <a:t>bolsa maior, mais vagas preenchidas</a:t>
            </a:r>
          </a:p>
        </p:txBody>
      </p:sp>
      <p:sp>
        <p:nvSpPr>
          <p:cNvPr id="104" name="Rótulo plano B"/>
          <p:cNvSpPr/>
          <p:nvPr/>
        </p:nvSpPr>
        <p:spPr>
          <a:xfrm>
            <a:off x="292608" y="3122676"/>
            <a:ext cx="2651760" cy="1044702"/>
          </a:xfrm>
          <a:prstGeom prst="roundRect">
            <a:avLst>
              <a:gd name="adj" fmla="val 10000"/>
            </a:avLst>
          </a:prstGeom>
          <a:solidFill>
            <a:srgbClr val="A3A39E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H2 · plano B</a:t>
            </a:r>
          </a:p>
        </p:txBody>
      </p:sp>
      <p:sp>
        <p:nvSpPr>
          <p:cNvPr id="105" name="Hipótese plano B"/>
          <p:cNvSpPr/>
          <p:nvPr/>
        </p:nvSpPr>
        <p:spPr>
          <a:xfrm>
            <a:off x="3081528" y="3122676"/>
            <a:ext cx="8805672" cy="1044702"/>
          </a:xfrm>
          <a:prstGeom prst="roundRect">
            <a:avLst>
              <a:gd name="adj" fmla="val 6000"/>
            </a:avLst>
          </a:prstGeom>
          <a:solidFill>
            <a:srgbClr val="F2F2F0"/>
          </a:solidFill>
          <a:ln w="12700">
            <a:solidFill>
              <a:srgbClr val="C9C9C4"/>
            </a:solidFill>
          </a:ln>
        </p:spPr>
        <p:txBody>
          <a:bodyPr wrap="square" lIns="274320" tIns="36576" rIns="27432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8A8A85"/>
                </a:solidFill>
                <a:latin typeface="Montserrat"/>
              </a:rPr>
              <a:t>a bolsa pesa pouco perto da origem</a:t>
            </a:r>
          </a:p>
        </p:txBody>
      </p:sp>
      <p:sp>
        <p:nvSpPr>
          <p:cNvPr id="106" name="Rótulo plano B"/>
          <p:cNvSpPr/>
          <p:nvPr/>
        </p:nvSpPr>
        <p:spPr>
          <a:xfrm>
            <a:off x="292608" y="4395978"/>
            <a:ext cx="2651760" cy="1044702"/>
          </a:xfrm>
          <a:prstGeom prst="roundRect">
            <a:avLst>
              <a:gd name="adj" fmla="val 10000"/>
            </a:avLst>
          </a:prstGeom>
          <a:solidFill>
            <a:srgbClr val="A3A39E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H3 · plano B</a:t>
            </a:r>
          </a:p>
        </p:txBody>
      </p:sp>
      <p:sp>
        <p:nvSpPr>
          <p:cNvPr id="107" name="Hipótese plano B"/>
          <p:cNvSpPr/>
          <p:nvPr/>
        </p:nvSpPr>
        <p:spPr>
          <a:xfrm>
            <a:off x="3081528" y="4395978"/>
            <a:ext cx="8805672" cy="1044702"/>
          </a:xfrm>
          <a:prstGeom prst="roundRect">
            <a:avLst>
              <a:gd name="adj" fmla="val 6000"/>
            </a:avLst>
          </a:prstGeom>
          <a:solidFill>
            <a:srgbClr val="F2F2F0"/>
          </a:solidFill>
          <a:ln w="12700">
            <a:solidFill>
              <a:srgbClr val="C9C9C4"/>
            </a:solidFill>
          </a:ln>
        </p:spPr>
        <p:txBody>
          <a:bodyPr wrap="square" lIns="274320" tIns="36576" rIns="27432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8A8A85"/>
                </a:solidFill>
                <a:latin typeface="Montserrat"/>
              </a:rPr>
              <a:t>a chegada soma oferta ou remaneja?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§3; doc 06 da banca 2; doc 57i (P1h, protocolo 52b, auditoria 31).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Dados: as variáveis principais e de onde vêm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3945780"/>
                <a:gridCol w="4471973"/>
                <a:gridCol w="3176840"/>
              </a:tblGrid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Variável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Fonte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Bolsa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editais SGTES/MS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IVS 2010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Ipea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Preenchimento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quadros, ciclos 1–3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1ª opção e origem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editais + CNES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Horas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CNES, mensal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mês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output/apresentacao_banca2/tabela_fontes.csv; auditoria 16; portão G1.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Dados: as variáveis secundárias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4615656"/>
                <a:gridCol w="3532187"/>
                <a:gridCol w="3446749"/>
              </a:tblGrid>
              <a:tr h="102595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Variável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Fonte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Uso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102595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Composição das vagas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quadros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diagnóstico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02595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Capital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IBGE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diagnóstico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2595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Região e porte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IBGE, Censo 2022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controles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02595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Regras no mesmo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portarias do MS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output/apresentacao_banca2/tabela_fontes.csv; auditorias 18 e 35; docs 57l e 57m.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Os três ciclos em números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5547224"/>
                <a:gridCol w="1996953"/>
                <a:gridCol w="2025208"/>
                <a:gridCol w="2025208"/>
              </a:tblGrid>
              <a:tr h="102595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102595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com vaga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454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748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02595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1.547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2.293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2595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Preenchidas na 1ª chamada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30,3%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47,1%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21,7%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02595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 da escolha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915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2.032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2.474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output/apresentacao_banca2/tabela_descritiva_ciclos.csv.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Ciclos 1 e 2: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a regra reproduz a faixa de 368 de 368 e de 454 de 454 municípios.</a:t>
            </a:r>
          </a:p>
        </p:txBody>
      </p:sp>
      <p:pic>
        <p:nvPicPr>
          <p:cNvPr id="102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948448"/>
            <a:ext cx="11594592" cy="4467328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 · Dados crus, só vagas imediatas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Só células com vaga imediata: médias por faixa de 0,010 de IVS e reta local de cada lado, nos cortes 0,300 e 0,40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227563"/>
            <a:ext cx="8211312" cy="4439449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Linha"/>
          <p:cNvSpPr/>
          <p:nvPr/>
        </p:nvSpPr>
        <p:spPr>
          <a:xfrm>
            <a:off x="8778240" y="804672"/>
            <a:ext cx="3108960" cy="1626413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Em 0,300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, a reta de baixo sobe forte até o corte e chega alta.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2595677"/>
            <a:ext cx="3108960" cy="1626413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Dados crus; com curso e ciclo, a HI-1 fica bem menor.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output/rdd_bolsa/HI_figuras/HI_scatter_imediatas.png, HI_resumo.json e HI_estimativas.csv (adendo 48b; doc 57n; em auditoria); figura usada sem redesenho.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 · Dentro da faixa de R$ 10 mil, o preenchimento sobe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901184"/>
            <a:ext cx="11594592" cy="731520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Faixa de R$ 10 mil: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a subida anda junto com a região (Nordeste); dentro da mesma UF, quase some.</a:t>
            </a:r>
          </a:p>
        </p:txBody>
      </p:sp>
      <p:sp>
        <p:nvSpPr>
          <p:cNvPr id="102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Descritivo: dentro da faixa, a bolsa é a mesma.</a:t>
            </a:r>
          </a:p>
        </p:txBody>
      </p:sp>
      <p:pic>
        <p:nvPicPr>
          <p:cNvPr id="103" name="Figura" descr="Fração de células abertas preenchidas por faixa de 0,010 de IVS dentro de cada faixa da bolsa, com a reta da faixa e a que sobra depois dos fator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7944" y="804672"/>
            <a:ext cx="8503920" cy="3968496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output/rdd_bolsa/GF_estimativas.csv, GF_resumo.json e GF_figuras/GF_medias_por_ivs.png (protocolo 62; doc 57m; auditoria 37); figura usada sem redesenho.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 · Perto de 0,300 sobra uma subida forte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Quanto da subida do preenchimento sobra depois de cada fator, nos últimos 0,050 de IVS antes do cor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240498"/>
            <a:ext cx="8211312" cy="441358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Linha"/>
          <p:cNvSpPr/>
          <p:nvPr/>
        </p:nvSpPr>
        <p:spPr>
          <a:xfrm>
            <a:off x="8778240" y="804672"/>
            <a:ext cx="3108960" cy="218643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Últimos 0,050 antes de 0,300: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sobra uma subida forte e imprecisa, que nenhum fator sozinho reduz à metade.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3155696"/>
            <a:ext cx="3108960" cy="1346403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São as células que a RDD usa abaixo do corte.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output/rdd_bolsa/GF_estimativas.csv e GF_figuras/GF_inclinacao_fatores_janela.png (protocolo 62; doc 57m; auditoria 37); figura usada sem redesenho.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 · O salto no corte, só com vagas imediatas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Equação em palavras"/>
          <p:cNvSpPr/>
          <p:nvPr/>
        </p:nvSpPr>
        <p:spPr>
          <a:xfrm>
            <a:off x="292608" y="850392"/>
            <a:ext cx="11594592" cy="1600200"/>
          </a:xfrm>
          <a:prstGeom prst="roundRect">
            <a:avLst>
              <a:gd name="adj" fmla="val 8000"/>
            </a:avLst>
          </a:prstGeom>
          <a:solidFill>
            <a:srgbClr val="114719"/>
          </a:solidFill>
          <a:ln>
            <a:noFill/>
          </a:ln>
        </p:spPr>
        <p:txBody>
          <a:bodyPr wrap="square" lIns="365760" tIns="73152" rIns="365760" bIns="73152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0" dirty="0">
                <a:solidFill>
                  <a:srgbClr val="FFFFFF"/>
                </a:solidFill>
                <a:latin typeface="Montserrat"/>
              </a:rPr>
              <a:t>preenchida = salto + reta de cada lado</a:t>
            </a:r>
          </a:p>
        </p:txBody>
      </p:sp>
      <p:sp>
        <p:nvSpPr>
          <p:cNvPr id="102" name="Rótulo"/>
          <p:cNvSpPr/>
          <p:nvPr/>
        </p:nvSpPr>
        <p:spPr>
          <a:xfrm>
            <a:off x="292608" y="2724912"/>
            <a:ext cx="2194560" cy="1591056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Outcome</a:t>
            </a:r>
          </a:p>
        </p:txBody>
      </p:sp>
      <p:sp>
        <p:nvSpPr>
          <p:cNvPr id="103" name="Item"/>
          <p:cNvSpPr/>
          <p:nvPr/>
        </p:nvSpPr>
        <p:spPr>
          <a:xfrm>
            <a:off x="2624328" y="2724912"/>
            <a:ext cx="9262872" cy="1591056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vaga imediata preenchida, por célula e município</a:t>
            </a:r>
          </a:p>
        </p:txBody>
      </p:sp>
      <p:sp>
        <p:nvSpPr>
          <p:cNvPr id="104" name="Rótulo"/>
          <p:cNvSpPr/>
          <p:nvPr/>
        </p:nvSpPr>
        <p:spPr>
          <a:xfrm>
            <a:off x="292608" y="4498848"/>
            <a:ext cx="2194560" cy="1591056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Razão</a:t>
            </a:r>
          </a:p>
        </p:txBody>
      </p:sp>
      <p:sp>
        <p:nvSpPr>
          <p:cNvPr id="105" name="Item"/>
          <p:cNvSpPr/>
          <p:nvPr/>
        </p:nvSpPr>
        <p:spPr>
          <a:xfrm>
            <a:off x="2624328" y="4498848"/>
            <a:ext cx="9262872" cy="1591056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comparamos vagas do mesmo tipo; a reserva se preenche por outro caminho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adendo 48b ao protocolo 48 (docs/06_execucao/48b_adendo_H1_vagas_imediatas.md).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C4CCC6"/>
                </a:solidFill>
                <a:latin typeface="Montserrat"/>
              </a:rPr>
              <a:t>H2 e H3 · plano B: como estimamos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Origem não é causal; horas cadastradas não são presença.</a:t>
            </a:r>
          </a:p>
        </p:txBody>
      </p:sp>
      <p:sp>
        <p:nvSpPr>
          <p:cNvPr id="102" name="Rótulo plano B"/>
          <p:cNvSpPr/>
          <p:nvPr/>
        </p:nvSpPr>
        <p:spPr>
          <a:xfrm>
            <a:off x="292608" y="896112"/>
            <a:ext cx="2286000" cy="1382776"/>
          </a:xfrm>
          <a:prstGeom prst="roundRect">
            <a:avLst>
              <a:gd name="adj" fmla="val 10000"/>
            </a:avLst>
          </a:prstGeom>
          <a:solidFill>
            <a:srgbClr val="A3A39E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H2 · plano B</a:t>
            </a:r>
          </a:p>
        </p:txBody>
      </p:sp>
      <p:sp>
        <p:nvSpPr>
          <p:cNvPr id="103" name="Item plano B"/>
          <p:cNvSpPr/>
          <p:nvPr/>
        </p:nvSpPr>
        <p:spPr>
          <a:xfrm>
            <a:off x="2715768" y="896112"/>
            <a:ext cx="9171432" cy="1382776"/>
          </a:xfrm>
          <a:prstGeom prst="roundRect">
            <a:avLst>
              <a:gd name="adj" fmla="val 6000"/>
            </a:avLst>
          </a:prstGeom>
          <a:solidFill>
            <a:srgbClr val="F2F2F0"/>
          </a:solidFill>
          <a:ln w="12700">
            <a:solidFill>
              <a:srgbClr val="C9C9C4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8A8A85"/>
                </a:solidFill>
                <a:latin typeface="Montserrat"/>
              </a:rPr>
              <a:t>logit da 1ª opção: utilidade = bolsa + IVS + distância + origem</a:t>
            </a:r>
          </a:p>
        </p:txBody>
      </p:sp>
      <p:sp>
        <p:nvSpPr>
          <p:cNvPr id="104" name="Rótulo plano B"/>
          <p:cNvSpPr/>
          <p:nvPr/>
        </p:nvSpPr>
        <p:spPr>
          <a:xfrm>
            <a:off x="292608" y="2480056"/>
            <a:ext cx="2286000" cy="1371600"/>
          </a:xfrm>
          <a:prstGeom prst="roundRect">
            <a:avLst>
              <a:gd name="adj" fmla="val 10000"/>
            </a:avLst>
          </a:prstGeom>
          <a:solidFill>
            <a:srgbClr val="A3A39E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H3 · plano B</a:t>
            </a:r>
          </a:p>
        </p:txBody>
      </p:sp>
      <p:sp>
        <p:nvSpPr>
          <p:cNvPr id="105" name="Item plano B"/>
          <p:cNvSpPr/>
          <p:nvPr/>
        </p:nvSpPr>
        <p:spPr>
          <a:xfrm>
            <a:off x="2715768" y="2480056"/>
            <a:ext cx="9171432" cy="1371600"/>
          </a:xfrm>
          <a:prstGeom prst="roundRect">
            <a:avLst>
              <a:gd name="adj" fmla="val 6000"/>
            </a:avLst>
          </a:prstGeom>
          <a:solidFill>
            <a:srgbClr val="F2F2F0"/>
          </a:solidFill>
          <a:ln w="12700">
            <a:solidFill>
              <a:srgbClr val="C9C9C4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8A8A85"/>
                </a:solidFill>
                <a:latin typeface="Montserrat"/>
              </a:rPr>
              <a:t>estudo de evento das horas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protocolos 52, 52b, 54 e 59; docs 57a, 57i, 57d e 57h.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 · RDD: as premissas do desenho valem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Identificação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Ressalva: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em 0,300, menos capitais acima do corte (auditoria 36).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50392"/>
          <a:ext cx="11594592" cy="4709160"/>
        </p:xfrm>
        <a:graphic>
          <a:graphicData uri="http://schemas.openxmlformats.org/drawingml/2006/table">
            <a:tbl>
              <a:tblPr firstRow="1" bandRow="1"/>
              <a:tblGrid>
                <a:gridCol w="4614052"/>
                <a:gridCol w="6980540"/>
              </a:tblGrid>
              <a:tr h="117729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Premissa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Aderência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117729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Regra sharp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368/368 e 454/454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17729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Sem manipulação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densidade sem acúmulo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7729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Continuidade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 e placebos passam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auditorias 16 e 36; docs 37, 41 e 49; output/rdd_bolsa/E1_densidade_estimativas.csv; output/auditoria_H1/a36_estimativas.csv.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 · O corte é um pacote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Identificação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5525876"/>
                <a:gridCol w="6068716"/>
              </a:tblGrid>
              <a:tr h="128244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Premissa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Aderência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128244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a bolsa salta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não: em 0,300, teto de emendas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28244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Outro incentivo individual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nenhum em 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28244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Tendências (H3 · plano B)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falham nas horas no posto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auditorias 18 e 35; docs 57d e 57h.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 · Só vagas imediatas: nada passa no Holm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H1 principal: HI-1 (célula com vaga imediata preenchida) e HI-2 (alocados em vagas imediatas por município), por corte, com IC 95% e p de Hol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51205"/>
            <a:ext cx="8211312" cy="3992166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Linha"/>
          <p:cNvSpPr/>
          <p:nvPr/>
        </p:nvSpPr>
        <p:spPr>
          <a:xfrm>
            <a:off x="8778240" y="804672"/>
            <a:ext cx="3108960" cy="218643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Comparando só vagas imediatas, nenhuma linha passa no Holm; a célula não se distingue de zero nos dois cortes.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3155696"/>
            <a:ext cx="3108960" cy="1626413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HI-2 em 0,300: IC exclui zero; não sobrevive ao Holm.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output/rdd_bolsa/HI_estimativas.csv, HI_resumo.json e HI_figuras/HI_principal.png (adendo 48b; doc 57n; em auditoria); figura usada sem redesenho.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C4CCC6"/>
                </a:solidFill>
                <a:latin typeface="Montserrat"/>
              </a:rPr>
              <a:t>H2 · plano B: a origem pesa mais que a bolsa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H2: pesos na utilidade da escolha da 1ª opção (M1), na mesma escala: bolsa, distância e lugar de orig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8186952" cy="4602886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292608" y="5572150"/>
            <a:ext cx="8186952" cy="517754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Pós-resultado; origem é preferência revelada, não efeito causal.</a:t>
            </a:r>
          </a:p>
        </p:txBody>
      </p:sp>
      <p:sp>
        <p:nvSpPr>
          <p:cNvPr id="103" name="Linha"/>
          <p:cNvSpPr/>
          <p:nvPr/>
        </p:nvSpPr>
        <p:spPr>
          <a:xfrm>
            <a:off x="8753880" y="804672"/>
            <a:ext cx="3133320" cy="190642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Toda a bolsa: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0,42; a mesma UF de origem: 2,40; diferença 1,98 [1,56; 2,40].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output/rdd_bolsa/P1h_magnitudes.csv, P1h_resumo.json e P1h_figuras/P1h_magnitudes.png (doc 57i; protocolo 52b; auditoria 31); figura usada sem redesenho.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C4CCC6"/>
                </a:solidFill>
                <a:latin typeface="Montserrat"/>
              </a:rPr>
              <a:t>H3 · plano B: soma horas, mas metade já estava lá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H3: horas semanais cadastradas do médico depois da entrada (P4): totais, no município do posto e fora de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976903"/>
            <a:ext cx="8211312" cy="4258425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292608" y="5399919"/>
            <a:ext cx="8211312" cy="517754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Associação; horas cadastradas não são presença.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804672"/>
            <a:ext cx="3108960" cy="190642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+6,6 h/sem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depois da entrada; 51,0% já tinham vínculo no município do posto.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(P4, doc 57d).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 · Medida antiga × só vagas imediatas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Medida antiga (com cadastro reserva: A3 e N1) contra só vagas imediatas (HI-1 e HI-2), por corte, com IC 95%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239834" cy="4602886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292608" y="5572150"/>
            <a:ext cx="7239834" cy="517754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IC que contém zero não é efeito zero.</a:t>
            </a:r>
          </a:p>
        </p:txBody>
      </p:sp>
      <p:sp>
        <p:nvSpPr>
          <p:cNvPr id="103" name="Linha"/>
          <p:cNvSpPr/>
          <p:nvPr/>
        </p:nvSpPr>
        <p:spPr>
          <a:xfrm>
            <a:off x="7806762" y="804672"/>
            <a:ext cx="4080438" cy="1626413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Só vagas imediatas,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os saltos em 0,300 encolhem: −8,4 → −3,7 p.p. e −1,45 → −1,13.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output/rdd_bolsa/HI_figuras/HI_antiga_vs_imediatas.png e HI_estimativas.csv (adendo 48b; doc 57n; em auditoria); NA_estimativas.csv e N_estimativas.csv (doc 49).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 · Antes e depois do controle das vagas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0,400: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a queda passa pelas vagas: cidades grandes logo abaixo; com o controle, some.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0,300: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a oferta não muda; cai o preenchimento por vaga.</a:t>
            </a:r>
          </a:p>
        </p:txBody>
      </p:sp>
      <p:pic>
        <p:nvPicPr>
          <p:cNvPr id="103" name="Figura" descr="Antes e depois do controle das vagas oferecidas, por corte: sem controle e com controle em dois gráficos na mesma escala; ao lado, o salto nas vagas oferecid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271165"/>
            <a:ext cx="11594592" cy="3346407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(decomposição e S-c; doc 49, §3 a §5); ND_estimativas.csv (doc 49b, §3).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 · Por ciclo: a queda em 0,300 vem do ciclo 2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A queda em 0,300 vem sobretudo do ciclo 2; por ciclo, os intervalos são largos.</a:t>
            </a:r>
          </a:p>
        </p:txBody>
      </p:sp>
      <p:sp>
        <p:nvSpPr>
          <p:cNvPr id="102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Tipo de vaga do ciclo 2: quadro refeito depois do resultado (auditoria 36).</a:t>
            </a:r>
          </a:p>
        </p:txBody>
      </p:sp>
      <p:pic>
        <p:nvPicPr>
          <p:cNvPr id="103" name="Figura" descr="H1 por ciclo e por corte: célula aberta preenchida (A3) e taxa por vaga oferecida, ciclos 1, 2 e 3 e juntos, com IC 95%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2815" y="804672"/>
            <a:ext cx="9154178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output/rdd_bolsa/NA_estimativas.csv (A3 por ciclo); ND_estimativas.csv (taxa por vaga, adendo AD2; doc 49b); auditoria 36.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 · Em 0,300, o negativo vem da reta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901184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(a)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Nos dados crus, os dois lados preenchem igual (33% e 33%).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376672"/>
            <a:ext cx="11594592" cy="731520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(b)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A reta leva até o corte uma subida puxada por poucos municípios: capitais e Nordeste logo abaixo.</a:t>
            </a:r>
          </a:p>
        </p:txBody>
      </p:sp>
      <p:pic>
        <p:nvPicPr>
          <p:cNvPr id="103" name="Figura" descr="Corte 0,300: médias por faixa de 0,010, reta local de cada lado e médias da janela; a reta de baixo chega alta ao corte e a de cima começa baix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037" y="804672"/>
            <a:ext cx="9961735" cy="3968496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output/rdd_bolsa/outcomes/outcomes_V_celula.parquet; DQ_estimativas.csv (doc 57l; auditoria 33); output/auditoria_H1/a36_estimativas.csv (auditoria 36); doc 57m (auditoria 37).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 · Controlando a capital, a queda encolhe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Queda em 0,300 nas três medidas: como estimada, com dummy de capital e só com células de vaga imediata, com IC 95% (auditoria 36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103356"/>
            <a:ext cx="8211312" cy="4005518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292608" y="5273466"/>
            <a:ext cx="8211312" cy="517754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Auditoria 36, diagnóstico pós-resultado.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804672"/>
            <a:ext cx="3108960" cy="218643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(c)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Controlando a capital, a queda encolhe e o IC contém zero; só com vagas imediatas, encolhe.</a:t>
            </a:r>
          </a:p>
        </p:txBody>
      </p:sp>
      <p:sp>
        <p:nvSpPr>
          <p:cNvPr id="104" name="Linha"/>
          <p:cNvSpPr/>
          <p:nvPr/>
        </p:nvSpPr>
        <p:spPr>
          <a:xfrm>
            <a:off x="8778240" y="3155696"/>
            <a:ext cx="3108960" cy="1346403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13 capitais abaixo de 0,300 e 6 acima.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output/auditoria_H1/a36_estimativas.csv e a36_resumo.json (auditoria 36); o adendo 48c fará a versão padronizada.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 · O que dá para afirmar sobre a queda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901184"/>
            <a:ext cx="11594592" cy="731520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TOST: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HI-1 inconclusivo; HI-2 em 0,300 descarta aumento ≥ 25% da média, não descarta queda.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Em 0,300: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nenhum incentivo individual muda; muda o teto de emendas do município.</a:t>
            </a:r>
          </a:p>
        </p:txBody>
      </p:sp>
      <p:pic>
        <p:nvPicPr>
          <p:cNvPr id="103" name="Figura" descr="TOST da H1 principal (adendo 48b, HI-s7): salto no corte com IC 90% contra a margem do protocolo 60, para HI-1 e HI-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746" y="804672"/>
            <a:ext cx="10276316" cy="3968496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output/rdd_bolsa/HI_estimativas.csv (HI-s7; adendo 48b; doc 57n; em auditoria); auditorias 18 e 35; doc 57l.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C4CCC6"/>
                </a:solidFill>
                <a:latin typeface="Montserrat"/>
              </a:rPr>
              <a:t>H2 · plano B: por ciclo, só o ciclo 2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H2, especificação secundária: razão de chances da 1ª opção por +R$ 5 mil, um resultado por cic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33682"/>
            <a:ext cx="8211312" cy="4544866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292608" y="5543140"/>
            <a:ext cx="8211312" cy="517754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Pós-resultado; escolha não é expansão.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804672"/>
            <a:ext cx="3108960" cy="190642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 origem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pesa mais que a bolsa nas seis variantes: diferença de 1,18 a 2,37.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(M5; doc 57a, §4); P1h_magnitudes.csv (sensibilidades; doc 57i).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C4CCC6"/>
                </a:solidFill>
                <a:latin typeface="Montserrat"/>
              </a:rPr>
              <a:t>H3 · plano B: na nota de corte, mesma direção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H3, especificação secundária: horas do médico na comparação na nota de corte (P4-CA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213047"/>
            <a:ext cx="8211312" cy="4468481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Linha"/>
          <p:cNvSpPr/>
          <p:nvPr/>
        </p:nvSpPr>
        <p:spPr>
          <a:xfrm>
            <a:off x="8778240" y="804672"/>
            <a:ext cx="3108960" cy="190642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Nota de corte: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+7,91 h/sem [−0,63; +16,45], mesma direção; IC contém zero.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2875686"/>
            <a:ext cx="3108960" cy="1626413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Rambachan–Roth: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horas totais aguentam a violação do pré (1,30).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output/rdd_bolsa/CA_estimativas.csv e H_estimativas.csv (protocolo 59; doc 57h).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 · Discussão: o sinal negativo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Discussão</a:t>
            </a:r>
            <a:r>
              <a:rPr lang="pt-BR" sz="1000" dirty="0">
                <a:latin typeface="Montserrat"/>
              </a:rPr>
              <a:t xml:space="preserve"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Nada disso mostra que a bolsa reduz o preenchimento.</a:t>
            </a:r>
          </a:p>
        </p:txBody>
      </p:sp>
      <p:sp>
        <p:nvSpPr>
          <p:cNvPr id="102" name="Frase"/>
          <p:cNvSpPr/>
          <p:nvPr/>
        </p:nvSpPr>
        <p:spPr>
          <a:xfrm>
            <a:off x="658368" y="1911096"/>
            <a:ext cx="10863072" cy="2377440"/>
          </a:xfrm>
          <a:prstGeom prst="roundRect">
            <a:avLst>
              <a:gd name="adj" fmla="val 8000"/>
            </a:avLst>
          </a:prstGeom>
          <a:solidFill>
            <a:srgbClr val="114719"/>
          </a:solidFill>
          <a:ln>
            <a:noFill/>
          </a:ln>
        </p:spPr>
        <p:txBody>
          <a:bodyPr wrap="square" lIns="411480" tIns="91440" rIns="41148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0" dirty="0">
                <a:solidFill>
                  <a:srgbClr val="FFFFFF"/>
                </a:solidFill>
                <a:latin typeface="Montserrat"/>
              </a:rPr>
              <a:t>O sinal negativo não é a bolsa afastando médicos: é a estimativa no corte, puxada por poucos municípios, capitais logo abaixo.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síntese da Robustez; doc 57m; auditorias 36 e 37.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Discussão: por que não sobe? Um incentivo limitado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Discussão</a:t>
            </a:r>
            <a:r>
              <a:rPr lang="pt-BR" sz="1000" dirty="0">
                <a:latin typeface="Montserrat"/>
              </a:rPr>
              <a:t xml:space="preserve"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Pacote do corte; vínculo não é presença.</a:t>
            </a:r>
          </a:p>
        </p:txBody>
      </p:sp>
      <p:sp>
        <p:nvSpPr>
          <p:cNvPr id="102" name="Rótulo"/>
          <p:cNvSpPr/>
          <p:nvPr/>
        </p:nvSpPr>
        <p:spPr>
          <a:xfrm>
            <a:off x="292608" y="896112"/>
            <a:ext cx="1737360" cy="1371600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</a:t>
            </a:r>
          </a:p>
        </p:txBody>
      </p:sp>
      <p:sp>
        <p:nvSpPr>
          <p:cNvPr id="103" name="Item"/>
          <p:cNvSpPr/>
          <p:nvPr/>
        </p:nvSpPr>
        <p:spPr>
          <a:xfrm>
            <a:off x="2167128" y="896112"/>
            <a:ext cx="9720072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0" dirty="0">
                <a:solidFill>
                  <a:srgbClr val="3A3A3A"/>
                </a:solidFill>
                <a:latin typeface="Montserrat"/>
              </a:rPr>
              <a:t>o preenchimento não sobe no corte</a:t>
            </a:r>
          </a:p>
        </p:txBody>
      </p:sp>
      <p:sp>
        <p:nvSpPr>
          <p:cNvPr id="104" name="Rótulo"/>
          <p:cNvSpPr/>
          <p:nvPr/>
        </p:nvSpPr>
        <p:spPr>
          <a:xfrm>
            <a:off x="292608" y="2468880"/>
            <a:ext cx="1737360" cy="1371600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Por quê</a:t>
            </a:r>
          </a:p>
        </p:txBody>
      </p:sp>
      <p:sp>
        <p:nvSpPr>
          <p:cNvPr id="105" name="Item"/>
          <p:cNvSpPr/>
          <p:nvPr/>
        </p:nvSpPr>
        <p:spPr>
          <a:xfrm>
            <a:off x="2167128" y="2468880"/>
            <a:ext cx="9720072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0" dirty="0">
                <a:solidFill>
                  <a:srgbClr val="3A3A3A"/>
                </a:solidFill>
                <a:latin typeface="Montserrat"/>
              </a:rPr>
              <a:t>a origem pesa mais que toda a bolsa</a:t>
            </a:r>
          </a:p>
        </p:txBody>
      </p:sp>
      <p:sp>
        <p:nvSpPr>
          <p:cNvPr id="106" name="Rótulo"/>
          <p:cNvSpPr/>
          <p:nvPr/>
        </p:nvSpPr>
        <p:spPr>
          <a:xfrm>
            <a:off x="292608" y="4041648"/>
            <a:ext cx="1737360" cy="1371600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Oferta</a:t>
            </a:r>
          </a:p>
        </p:txBody>
      </p:sp>
      <p:sp>
        <p:nvSpPr>
          <p:cNvPr id="107" name="Item"/>
          <p:cNvSpPr/>
          <p:nvPr/>
        </p:nvSpPr>
        <p:spPr>
          <a:xfrm>
            <a:off x="2167128" y="4041648"/>
            <a:ext cx="9720072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0" dirty="0">
                <a:solidFill>
                  <a:srgbClr val="3A3A3A"/>
                </a:solidFill>
                <a:latin typeface="Montserrat"/>
              </a:rPr>
              <a:t>metade já estava no município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síntese dos slides anteriores; docs 57, 57d e 57i.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