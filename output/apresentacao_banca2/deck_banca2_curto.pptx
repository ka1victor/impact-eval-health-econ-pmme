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efeito candidato é o incentivo marginal de R$ 5 mil anunciado, como pacote do corte: em 0,300 e 0,400 mudam também outras regras federais. Não é a participação no PMM-E nem o efeito do Agora Tem Especialistas. Seguimos a cadeia: a regra que permite comparar; o preenchimento (H1); a escolha e o peso da origem (H3, que contém a H2); a oferta (H4).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ideia da descontinuidade: municípios logo abaixo e logo acima de um corte têm vulnerabilidade quase igual, mas bolsas diferentes; a diferença no corte mede o degrau. O IVS foi medido em 2010, antes do programa, e ninguém muda de faixa. Ciclos: o 1 abriu com o quadro de 24/07/2025, o 2 com o quadro retificado em 19/03/2026 e o 3 com o quadro retificado em 24/07/2026; o seguimento do ciclo 3 no CNES segue congelado. Cautela: Pacote do corte: em 0,300 e 0,400 mudam também outras regras federais.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Até 0,300, R$ 10 mil; até 0,400, R$ 15 mil; acima, R$ 20 mil. O escore da relação nominal do MS é o IVS 2010 oficial em 404/404 municípios. No ciclo 3, congelado, 747 de 748: o que falta foi criado depois de 2010. Cautela: Outras regras federais mudam nos mesmos cortes: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H1: onde a bolsa é maior, mais vagas são preenchidas. Sem controle, o salto é o efeito total: abrir vagas e preenchê-las. Com o controle das vagas oferecidas, é o preenchimento dado o número de vagas. A decomposição é exata: total = via oferta + com controle. Sensibilidades: coeficiente único das vagas, inclinação por lado e IC honesto.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Sem controle, o efeito total de abrir vagas e preenchê-las; com controle, o preenchimento dado o número de vagas. A decomposição é exata (Frisch–Waugh–Lovell): sem controle = via vagas + com controle. Em 0,400: −1,36 = −1,22 + −0,14; do lado de bolsa maior há menos vagas oferecidas, e dado o número de vagas a diferença quase some. Em 0,300: −1,56 = −0,11 + −1,45; a oferta não muda (+0,39) e cai a taxa de preenchimento por vaga oferecida, −16,0 p.p. [−27,9; −4,1], 51% dela no ciclo 2. N1 em 0,300 não é lido como queda: linha por corte, sem correção múltipla, com IC honesto que contém zero. TOST com IC de 90%: o limite de cima é +0,1 p.p. e +9,3 p.p. na célula aberta (margem de 10 p.p.) e −0,42 e +0,43 nas vagas por município (margem de 25% da média); só o teste do aumento rejeita. Uma queda desse tamanho não fica descartada. Cautela: TOST: sem aumento de 10 p.p. ou de 25% da média; não dá para dizer que nada mudou.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do protocolo 61 (doc 57l), auditado (auditoria 33, aprovado com correções de texto): descritivo e pós-resultado. Q1 é N1 com controle; Q2, a taxa por vaga oferecida; Q3, a célula aberta preenchida. Nas médias da janela, sem reta nem efeitos fixos, 33,3% das células são preenchidas abaixo de 0,300 e 33,5% acima. Do lado de cima: índice de curso −4,5 p.p. [−7,1; −2,0] (cursos que preenchem pouco em qualquer lugar); +10,6 [+3,5; +17,8] células do mesmo curso na mesma UF; no ciclo 2, +28,4 p.p. [+8,3; +48,4] de células só de reserva. Que menos células tiveram candidato de 1ª opção é estimativa imprecisa: −10,8 p.p. [−28,2; +6,7]. Igualando a composição, Q2 vai a −5,1 p.p., 32% do original; a concorrência, Q2 a −4,3 p.p., 27%; quem teve candidato de 1ª opção, Q1 a −0,49, 34%; nenhum fator reduz a queda à metade nas três medidas. Acaso: com os 3 cortes falsos do protocolo, o p por posto é 0,250, o menor possível; numa grade maior, fora do protocolo, 0,031. Esses fatores se formam depois do anúncio da faixa: descrevem o que acompanha a queda, não a causa. Cautela: Nada disso mostra que a bolsa reduz o preenchimento: o corte junta a bolsa com outras regras.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H3, a central: a bolsa pesa pouco perto de trabalhar na UF de origem. É o logit condicional da H2 (McFadden): cada um dos 5.421 candidatos escolhe a vaga de maior utilidade entre as do seu curso e ciclo. A curva do IVS absorve o que muda suave com a vulnerabilidade; só o salto da bolsa nos cortes identifica o peso dela. A origem é onde o médico já trabalhava, não uma condição sorteada.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números da figura são pesos na escolha da vaga, em log-chance, não efeitos no preenchimento. Um degrau da bolsa pesa 0,21 [−0,01; 0,44]: a vaga com +R$ 5 mil tem chance 24% maior de ser a 1ª opção (razão de chances 1,24), sem distinção de zero. Toda a bolsa pesa 0,42; a vaga na mesma UF de origem, fora da região de saúde, pesa 2,40. A diferença, 1,98 [1,56; 2,40], p unilateral &lt; 0,001, é o teste da H3, unilateral e pós-resultado: os coeficientes já eram conhecidos. O peso da bolsa tem identificação nos cortes (com as regras do mesmo corte); o da origem é preferência revelada. Cautela: Pós-resultado; o peso da origem é preferência revelada, não efeito causal.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Incentivo limitado: a política mexe numa variável, e o custo do lugar continua contra. A H2 vira uma frase: logit com distância, um resultado por ciclo, 1,70 [1,22; 2,37] no ciclo 2, p 0,002; 1,07 [0,69; 1,65] no ciclo 1 e 1,00 [0,72; 1,39] no ciclo 3; a igualdade entre ciclos tem p 0,058. Ponte com a H1 (P1g, leitura de consistência, não teste): se só a bolsa subisse um degrau, o modelo prevê +0,20 [−0,01; +0,41] candidato de 1ª opção por célula (estabelecimento × curso) em 0,300 e +0,24 [−0,03; +0,52] em 0,400; a RDD por célula observa −0,66 [−1,36; +0,05] e −0,19 [−1,09; +0,70]. Os intervalos contêm zero e se sobrepõem: o efeito que a escolha implica é pequeno demais para aparecer no preenchimento. O logit não vê quem deixou de se candidatar.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Hipótese H4: o médico que chega aumenta a oferta de especialistas ou só passa a ser registrado onde já estava? O estudo de evento escalonado compara cada médico, depois de entrar, com os que ainda não entraram. Sensibilidades: Rambachan–Roth e a comparação com quem ficou logo abaixo da nota de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médico soma +6,6 h/sem [+5,4; +7,8] de horas totais cadastradas, sobretudo no município do posto (+8,7, com o pré falhando), e perde −2,1 fora dele. Na comparação com quem ficou logo abaixo da nota de corte, +7,91 [−0,63; +16,45]: mesma direção, IC que contém zero. Não é a participação no PMM-E nem o efeito da bolsa. Cautela: Associação, não efeito da bolsa;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51,0% [48,4; 53,7] dos médicos já tinham vínculo no município do posto: parte do ganho é registro novo, não médico novo. O efeito da chegada sobre a oferta de especialistas do município e o deslocamento dos outros médicos estão em análise (protocolo 60, parte B), ainda sem resultado para mostrar. Cautela: Associação sob tendências paralelas; não é a participação no PMM-E.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Escolha não é expansão: a bolsa reordena os candidatos entre as vagas abertas, e o que uma vaga ganha outra do mesmo curso perde. O preenchimento não aumenta em nenhum dos dois cortes; uma queda do mesmo tamanho não fica descartada. Na oferta, o médico soma horas cadastradas, mas metade já trabalhava no município do posto. Próximos passos: repetir o ciclo 2 no ciclo 3, com a competência 202703 madura, e pedir o universo de inscritos. Cautela: Pacote do corte; inconclusivo não é efeito zero; vínculo não é presença.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1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2_h1_control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curto_03_DQ_quanto_da_queda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curto_05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a bolsa de R$ 5 mil faz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pa"/>
          <p:cNvSpPr/>
          <p:nvPr/>
        </p:nvSpPr>
        <p:spPr>
          <a:xfrm>
            <a:off x="841248" y="2487168"/>
            <a:ext cx="10497312" cy="201168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91440" rIns="36576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0" dirty="0">
                <a:solidFill>
                  <a:srgbClr val="FFFFFF"/>
                </a:solidFill>
                <a:latin typeface="Montserrat"/>
              </a:rPr>
              <a:t>R$ 5 mil a mais nos cortes do IVS: preenchimento, escolha e oferta de especialistas</a:t>
            </a:r>
          </a:p>
        </p:txBody>
      </p:sp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doc 57.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sai do IVS de 2010: dá para comparar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corte: em 0,300 e 0,400 mudam também outras regras federais.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Regra</a:t>
            </a:r>
          </a:p>
        </p:txBody>
      </p:sp>
      <p:sp>
        <p:nvSpPr>
          <p:cNvPr id="103" name="Item"/>
          <p:cNvSpPr/>
          <p:nvPr/>
        </p:nvSpPr>
        <p:spPr>
          <a:xfrm>
            <a:off x="1801368" y="896112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 IVS 2010 do município define a faixa: até 0,300, R$ 10 mil; até 0,400, R$ 15 mil; acima, R$ 20 mil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78024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RDD</a:t>
            </a:r>
          </a:p>
        </p:txBody>
      </p:sp>
      <p:sp>
        <p:nvSpPr>
          <p:cNvPr id="105" name="Item"/>
          <p:cNvSpPr/>
          <p:nvPr/>
        </p:nvSpPr>
        <p:spPr>
          <a:xfrm>
            <a:off x="1801368" y="2478024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perto de cada corte os municípios são parecidos; de um lado para o outro, só a bolsa (e as regras do mesmo corte) muda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59936"/>
            <a:ext cx="13716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Ciclos</a:t>
            </a:r>
          </a:p>
        </p:txBody>
      </p:sp>
      <p:sp>
        <p:nvSpPr>
          <p:cNvPr id="107" name="Item"/>
          <p:cNvSpPr/>
          <p:nvPr/>
        </p:nvSpPr>
        <p:spPr>
          <a:xfrm>
            <a:off x="1801368" y="4059936"/>
            <a:ext cx="100858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usamos os três: 368, 454 e 748 municípios com vaga; comparamos sempre dentro do ciclo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16; protocolo 48; output/apresentacao_banca2/tabela_descritiva_ciclos.csv.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regra reproduz a faixa de 368 de 368 e de 454 de 454 municípios.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Outras regras federais mudam nos mesmos cortes: pacote do corte.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bolsa maior → mais vagas preenchidas?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80579"/>
                <a:gridCol w="9114013"/>
              </a:tblGrid>
              <a:tr h="44643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5840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na 1ª chamada, por município e ciclo (N1); a célula aberta preenchida (A3) usa a mesma RDD, com efeitos fixos de curso × ciclo e de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municípios com vaga no quadro, ciclos 1–3; kernel triangular, h = 0,050;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5840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= intercepto do ciclo + salto × (lado de bolsa maior) + reta de cada lado do corte, por ciclo + coeficiente do ciclo × vagas oferecidas; sem controle, sai o último termo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salto comum aos ciclos; intercepto, retas e coeficiente das vagas oferecidas,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43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município (CR1)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524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vagas oferecidas podem responder ao corte: aí o controle compara municípios diferentes;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48, §1, §3 e §7; doc 49, §2 e §3; ficha completa no deck completo (doc 02).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Antes e depois do controle: em 0,400,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passa pelas vagas: o lado de bolsa maior oferece menos vagas (−3,59).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a oferta não muda; cai o preenchimento por vaga (pacote do corte).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TOST: sem aumento de 10 p.p. ou de 25% da média; não dá para dizer que nada mudou.</a:t>
            </a:r>
          </a:p>
        </p:txBody>
      </p:sp>
      <p:pic>
        <p:nvPicPr>
          <p:cNvPr id="104" name="Figura" descr="Antes e depois do controle das vagas oferecidas, por corte: sem controle e com controle em dois gráficos na mesma escala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33421"/>
            <a:ext cx="11594592" cy="334640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ND_estimativas.csv (doc 49b, §3); EQ_estimativas.csv (TOST; doc 57j; auditoria 32).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 que o preenchimento cai em 0,300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Diagnóstico do protocolo 61: quanto da queda em 0,300 sobra ao igualar cada fator entre os lados do corte, para Q1, Q2 e Q3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47749"/>
            <a:ext cx="6748272" cy="303672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4649064"/>
            <a:ext cx="6748272" cy="797763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Nada disso mostra que a bolsa reduz o preenchimento: o corte junta a bolsa com outras regras.</a:t>
            </a:r>
          </a:p>
        </p:txBody>
      </p:sp>
      <p:sp>
        <p:nvSpPr>
          <p:cNvPr id="103" name="Linha"/>
          <p:cNvSpPr/>
          <p:nvPr/>
        </p:nvSpPr>
        <p:spPr>
          <a:xfrm>
            <a:off x="7315200" y="804672"/>
            <a:ext cx="4572000" cy="228031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É a estimativa no corte, não os dados: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nas médias da janela, 33,3% das células são preenchidas abaixo e 33,5% acima; a queda vem da reta levada até o corte, com poucos municípios. O acaso não está descartado.</a:t>
            </a:r>
          </a:p>
        </p:txBody>
      </p:sp>
      <p:sp>
        <p:nvSpPr>
          <p:cNvPr id="104" name="Linha"/>
          <p:cNvSpPr/>
          <p:nvPr/>
        </p:nvSpPr>
        <p:spPr>
          <a:xfrm>
            <a:off x="7315200" y="3249574"/>
            <a:ext cx="4572000" cy="284033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 vagas do lado de cima eram diferentes: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cursos que preenchem pouco em qualquer lugar, mais células do mesmo curso na mesma UF disputando candidatos e, no ciclo 2, mais células só de reserva. Igualando esses fatores, a queda diminui pela metade ou mais em parte das medidas, mas nenhum fator faz isso nas três.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output/rdd_bolsa/DQ_estimativas.csv, DQ_resumo.json e DQ_figuras/DQ_quanto_da_queda.png (protocolo 61; doc 57l; auditoria 33, §8); figura usada sem redesenho, conferida pelo hash.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a bolsa pesa pouco perto da origem do médico?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71771"/>
                <a:gridCol w="9122821"/>
              </a:tblGrid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 1ª opção de cada candidato, entre todas as vagas (células) do mesmo curso e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ligados ao CNES e com município de origem,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577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utilidade da vaga = peso da bolsa × bolsa + curva suave do IVS (nós nos cortes) + peso da distância × distância até a origem + pesos de mesma UF, mesma região e mesmo município + porte, capital e vaga imediata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pesos comuns aos ciclos na principal (M1); um peso da bolsa por ciclo no M5, o da 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conjunto de escolha (curso × ciclo)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36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É causal?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bolsa: quase-experimental, pelo salto nos cortes (pacote do corte); origem: preferência revelada, não efeito causal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55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quem se candidatou; independência de alternativas irrelevantes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57i; ficha completa no deck completo (doc 02).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a UF de origem pesa mais que toda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688911" cy="432287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292141"/>
            <a:ext cx="7688911" cy="797763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Pós-resultado; o peso da origem é preferência revelada, não efeito causal.</a:t>
            </a:r>
          </a:p>
        </p:txBody>
      </p:sp>
      <p:sp>
        <p:nvSpPr>
          <p:cNvPr id="103" name="Linha"/>
          <p:cNvSpPr/>
          <p:nvPr/>
        </p:nvSpPr>
        <p:spPr>
          <a:xfrm>
            <a:off x="8255839" y="804672"/>
            <a:ext cx="3631361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Log-chance: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0,21 ≈ chance cerca de 24% maior de a vaga ser a 1ª opção, sem distinção de zero; não é efeito no preenchimento.</a:t>
            </a:r>
          </a:p>
        </p:txBody>
      </p:sp>
      <p:sp>
        <p:nvSpPr>
          <p:cNvPr id="104" name="Linha"/>
          <p:cNvSpPr/>
          <p:nvPr/>
        </p:nvSpPr>
        <p:spPr>
          <a:xfrm>
            <a:off x="8255839" y="3155696"/>
            <a:ext cx="3631361" cy="218643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Toda a bolsa: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0,42 [−0,03; 0,87]; a mesma UF de origem, 2,40 [2,28; 2,53]; a diferença, 1,98 [1,56; 2,40].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(doc 57i; protocolo 52b; auditoria 31); P1_estimativas.csv (M1).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isso quer dizer: incentivo limitado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438400" cy="115316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Limitado</a:t>
            </a:r>
          </a:p>
        </p:txBody>
      </p:sp>
      <p:sp>
        <p:nvSpPr>
          <p:cNvPr id="103" name="Item"/>
          <p:cNvSpPr/>
          <p:nvPr/>
        </p:nvSpPr>
        <p:spPr>
          <a:xfrm>
            <a:off x="2868168" y="896112"/>
            <a:ext cx="9019032" cy="115316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toda a bolsa pesa menos que trabalhar na UF de origem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250440"/>
            <a:ext cx="2438400" cy="149453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5" name="Item"/>
          <p:cNvSpPr/>
          <p:nvPr/>
        </p:nvSpPr>
        <p:spPr>
          <a:xfrm>
            <a:off x="2868168" y="2250440"/>
            <a:ext cx="9019032" cy="14945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a bolsa empurra pouco a escolha: por ciclo, só o ciclo 2 mostra efeito, 1,70 [1,22; 2,37] por +R$ 5 mil; nos ciclos 1 e 3, 1,07 e 1,00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3946144"/>
            <a:ext cx="2438400" cy="1494536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Preenchimento</a:t>
            </a:r>
          </a:p>
        </p:txBody>
      </p:sp>
      <p:sp>
        <p:nvSpPr>
          <p:cNvPr id="107" name="Item"/>
          <p:cNvSpPr/>
          <p:nvPr/>
        </p:nvSpPr>
        <p:spPr>
          <a:xfrm>
            <a:off x="2868168" y="3946144"/>
            <a:ext cx="9019032" cy="14945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por isso não aparece nas vagas preenchidas: o modelo prevê só +0,20 e +0,24 candidato de 1ª opção por célula em 0,300 e 0,400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 (doc 57i); P1_estimativas.csv (M5 por ciclo e ponte P1g; doc 57a, §4 e §9).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a chegada aumenta a oferta ou só remaneja?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22960"/>
          <a:ext cx="11594592" cy="5266944"/>
        </p:xfrm>
        <a:graphic>
          <a:graphicData uri="http://schemas.openxmlformats.org/drawingml/2006/table">
            <a:tbl>
              <a:tblPr firstRow="1" bandRow="1"/>
              <a:tblGrid>
                <a:gridCol w="2480579"/>
                <a:gridCol w="9114013"/>
              </a:tblGrid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semanais cadastradas do médico no CNES: totais, no município do posto e fora dele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mês; médicos dos ciclos 1 e 2 na lista de ativos,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975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k meses depois de entrar = mudança das horas desde o mês anterior à entrada, nos que entraram, menos a mesma mudança nos que ainda não entraram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133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um efeito por coorte de entrada (mês de início) e por mês; o resultado é a média do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agrupado por médico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0512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pré falha em parte dos outcomes; horas cadastradas não são presença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57h; ficha completa no deck completo (doc 02).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lá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823088" cy="4602886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572150"/>
            <a:ext cx="7823088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Associação, não efeito da bolsa; horas cadastradas não são presença.</a:t>
            </a:r>
          </a:p>
        </p:txBody>
      </p:sp>
      <p:sp>
        <p:nvSpPr>
          <p:cNvPr id="103" name="Linha"/>
          <p:cNvSpPr/>
          <p:nvPr/>
        </p:nvSpPr>
        <p:spPr>
          <a:xfrm>
            <a:off x="8390016" y="804672"/>
            <a:ext cx="3497184" cy="190642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Horas totais: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+6,6 h/sem [+5,4; +7,8] depois da entrada, sobretudo no município do posto.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que isso quer dizer: soma horas, mas em parte remaneja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Associação sob tendências paralelas; não é a participação no PMM-E.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Substituição</a:t>
            </a:r>
          </a:p>
        </p:txBody>
      </p:sp>
      <p:sp>
        <p:nvSpPr>
          <p:cNvPr id="103" name="Item"/>
          <p:cNvSpPr/>
          <p:nvPr/>
        </p:nvSpPr>
        <p:spPr>
          <a:xfrm>
            <a:off x="2715768" y="896112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metade já estava lá: 51,0% tinham vínculo no município do posto antes de entrar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78024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Cadastro</a:t>
            </a:r>
          </a:p>
        </p:txBody>
      </p:sp>
      <p:sp>
        <p:nvSpPr>
          <p:cNvPr id="105" name="Item"/>
          <p:cNvSpPr/>
          <p:nvPr/>
        </p:nvSpPr>
        <p:spPr>
          <a:xfrm>
            <a:off x="2715768" y="2478024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horas cadastradas no CNES não são presença nem horas trabalhadas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59936"/>
            <a:ext cx="2286000" cy="1380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Município</a:t>
            </a:r>
          </a:p>
        </p:txBody>
      </p:sp>
      <p:sp>
        <p:nvSpPr>
          <p:cNvPr id="107" name="Item"/>
          <p:cNvSpPr/>
          <p:nvPr/>
        </p:nvSpPr>
        <p:spPr>
          <a:xfrm>
            <a:off x="2715768" y="4059936"/>
            <a:ext cx="9171432" cy="1380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 efeito sobre os especialistas do município ainda está em análise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muda a escolha, não o preenchimento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inconclusivo não é efeito zero; vínculo não é presença.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896112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Escolha</a:t>
            </a:r>
          </a:p>
        </p:txBody>
      </p:sp>
      <p:sp>
        <p:nvSpPr>
          <p:cNvPr id="103" name="Item"/>
          <p:cNvSpPr/>
          <p:nvPr/>
        </p:nvSpPr>
        <p:spPr>
          <a:xfrm>
            <a:off x="3264408" y="896112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reordena candidatos entre vagas, só no ciclo 2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2468880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Preenchimento</a:t>
            </a:r>
          </a:p>
        </p:txBody>
      </p:sp>
      <p:sp>
        <p:nvSpPr>
          <p:cNvPr id="105" name="Item"/>
          <p:cNvSpPr/>
          <p:nvPr/>
        </p:nvSpPr>
        <p:spPr>
          <a:xfrm>
            <a:off x="3264408" y="2468880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não aumenta em nenhum dos dois cortes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4041648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Oferta</a:t>
            </a:r>
          </a:p>
        </p:txBody>
      </p:sp>
      <p:sp>
        <p:nvSpPr>
          <p:cNvPr id="107" name="Item"/>
          <p:cNvSpPr/>
          <p:nvPr/>
        </p:nvSpPr>
        <p:spPr>
          <a:xfrm>
            <a:off x="3264408" y="4041648"/>
            <a:ext cx="8622792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0" dirty="0">
                <a:solidFill>
                  <a:srgbClr val="3A3A3A"/>
                </a:solidFill>
                <a:latin typeface="Montserrat"/>
              </a:rPr>
              <a:t>soma horas, mas metade dos médicos já estava lá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síntese dos slides anteriores; doc 57.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