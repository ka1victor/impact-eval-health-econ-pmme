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414" r:id="rId61"/>
    <p:sldId id="415" r:id="rId62"/>
    <p:sldId id="416" r:id="rId63"/>
    <p:sldId id="417" r:id="rId64"/>
    <p:sldId id="418" r:id="rId65"/>
    <p:sldId id="419" r:id="rId66"/>
    <p:sldId id="420" r:id="rId67"/>
    <p:sldId id="421" r:id="rId68"/>
    <p:sldId id="422" r:id="rId69"/>
    <p:sldId id="423" r:id="rId70"/>
    <p:sldId id="424" r:id="rId71"/>
    <p:sldId id="425" r:id="rId72"/>
    <p:sldId id="426" r:id="rId73"/>
    <p:sldId id="427" r:id="rId74"/>
    <p:sldId id="428" r:id="rId75"/>
    <p:sldId id="429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efeito candidato é o incentivo marginal de R$ 5 mil anunciado, como pacote do corte: em 0,300 e 0,400 mudam também outras regras federais. Não é a participação no PMM-E nem o efeito do Agora Tem Especialistas. A ordem segue a estrutura da versão final: hipótese, dados, análise descritiva, metodologia, identificação, resultados, robustez e discussão.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Numeração desta apresentação a partir de 26/10/2026: H1 preenchimento; H2 bolsa × origem (antes H3); H3 oferta (antes H4). A H2 é o "incentivo limitado" do modelo da banca 1: toda a bolsa pesa menos que trabalhar na UF de origem do médico. Ela foi formulada depois de ver os coeficientes do modelo de escolha, e por isso é pós-resultado. H1 e H3 ficam em cinza, como plano B, até a validação dos professores; a escolha final da hipótese é do autor. Cautela: H2 é pós-resultado.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Bolsa: a faixa anunciada nos quadros dos editais do PMM-E (SGTES/MS), por município, ciclos 1–3. IVS 2010 oficial: Plataforma IVS do Ipea, Censo 2010, por município; é a variável de corte. Preenchimento: quadros de vagas e resultados da 1ª e da 2ª chamada, por célula (estabelecimento × curso), 2025–2026. 1ª opção e origem: listas de classificação dos editais, ligadas ao cadastro de profissionais do CNES pelo portão G1; a origem é onde o médico tinha vínculo no CNES antes das inscrições, não residência. Horas: CNES mensal do DATASUS, por médico e mês, de 2022-01 a 2026-08. Dados pessoais só em memória ou em cache fora do Git.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Composição das vagas: curso, vaga imediata ou de cadastro reserva, tipo de estabelecimento, lidos dos quadros. Concorrência: células do mesmo curso e ciclo na mesma UF ou região de saúde. Região: UF, macrorregião e região de saúde (malha do IBGE); porte: população do Censo 2022. Regras no mesmo corte: portarias do MS com corte no IVS (auditoria 18) e incentivos ligados à vulnerabilidade (auditoria 35). Servem para o diagnóstico da queda e para a leitura do pacote do corte; não entram na especificação principal.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Célula = estabelecimento × curso no quadro da 1ª chamada. "Preenchida" muda de definição entre ciclos: no ciclo 1, alguma confirmação ou homologação; nos ciclos 2 e 3, alocado (a auditoria 36, em curso, refaz a conta com uma definição única). Amostra da escolha: candidatos com 1ª opção numa célula do quadro, ligados ao CNES e com município de origem.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Até 0,300, R$ 10 mil; até 0,400, R$ 15 mil; acima, R$ 20 mil. O escore da relação nominal do MS é o IVS 2010 oficial em 404/404 municípios. No ciclo 3, congelado, 747 de 748: o que falta foi criado depois de 2010. Em 0,300 e 0,400 mudam também outras regras federais: pacote do corte.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5.425 candidatos com 1ª opção e município de origem. 79% escolhem em 1º lugar uma vaga na UF de origem, 46% na região de saúde de origem e 36% no próprio município; a distância mediana é 51 km. A origem é o município do estabelecimento em que o candidato tinha vínculo médico no CNES antes das inscrições; não é residência nem naturalidade. É a base descritiva da H2. Cautela: Descritivo; origem é onde trabalhava no CNES.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Todas as células abertas dos ciclos 1–3, sem controles. Nas médias simples da janela de 0,050, 33,3% das células são preenchidas abaixo de 0,300 e 33,5% acima; em 0,400, 37% e 39%. A reta de cada lado é a local, com kernel triangular; o salto é a distância entre as retas no corte. Quando as saídas do adendo 48b chegarem, este gráfico passa a usar só as células com vaga imediata (figura do script do adendo).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auditoria (protocolo 62, doc 57m), descritivo e pós-resultado. Na faixa de R$ 10 mil, a fração de células preenchidas sobe +11,9 p.p. a cada 0,100 de IVS [+6,0; +17,7]. Comparando só células da mesma UF, sobram +1,3 p.p. O Nordeste é a região que mais preenche nessa faixa (43% das células) e a de IVS mais alto. Com todos os fatores juntos, sobram +0,5 p.p. Diz com o que a subida anda junto, não por quê. Cautela: Descritivo: dentro da faixa, a bolsa é a mesma.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auditoria (protocolo 62, doc 57m). Nos últimos 0,050 antes de 0,300, o preenchimento sobe +36,1 p.p. por 0,100 [+7,4; +64,7]. Nenhum fator a reduz à metade; com todos juntos ainda sobram +26,1 p.p. Quanto mais íngreme esse trecho, mais alto fica o ponto de partida do lado de R$ 10 mil no corte. Isso volta na Robustez, no passo a passo da queda.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Especificação principal da H1 desde 26/10/2026 (adendo 48b, pós-resultado). HI-1: célula com vaga imediata preenchida na 1ª chamada, com efeitos fixos de curso × ciclo. HI-2: alocados em vagas imediatas por município, com controle das vagas imediatas e coeficiente por ciclo. Amostra: só células com pelo menos uma vaga imediata, ciclos 1–3; as só de reserva ficam fora e são contadas. RDD sharp local linear, kernel triangular, h = 0,050, cada corte separado, intercepto e retas por ciclo, erro-padrão agrupado por município; Holm entre as quatro linhas primárias. Cuidado: pacote do corte; "preenchida" muda de definição entre ciclos.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(McFadden): cada um dos 5.421 candidatos escolhe a vaga de maior utilidade entre as do seu curso e ciclo. A curva do IVS é um spline com nós nos cortes: só o salto da bolsa nos cortes identifica o peso dela. Origem: pesos de mesma UF, mesma região e mesmo município. Pesos comuns aos ciclos na principal (M1); erro-padrão agrupado por conjunto de escolha. A H2 é a diferença entre o peso da UF de origem e o de toda a bolsa, teste unilateral e pós-resultado. Cuidado: independência de alternativas irrelevantes.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Estudo de evento escalonado (Callaway e Sant'Anna): o efeito k meses depois de entrar é a mudança das horas desde o mês anterior à entrada, nos que entraram, menos a mesma mudança nos que ainda não entraram. Horas totais, no município do posto e fora dele. Um efeito por coorte de entrada e por mês; o resultado é a média do pós. Erro-padrão por bootstrap multiplicador agrupado por médico. Sensibilidades: Rambachan–Roth e a comparação na nota de corte.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Regra sharp: o IVS 2010 oficial reproduz a faixa de todos os municípios dos ciclos 1 e 2. Sem manipulação: o IVS foi medido em 2010, antes do programa, e o teste de densidade não acusa acúmulo no ciclo 1 (p de Holm 0,707 em 0,300 e 0,658 em 0,400). Continuidade: balanço de covariáveis pré e placebos de outcome e de corte. Para a H2, a curva do IVS com nós nos cortes e o spline cúbico.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Pacote do corte: a única regra federal que muda em 0,300 e não em 0,400 é o acréscimo no teto de emendas e nas parcelas de custeio da APS e da MAC do município (auditoria 18; doc 57l). Nenhum incentivo individual ao especialista além da bolsa muda em 0,300; em 0,400 mudam incentivos de médicos da APS (AgSUS e PMMB) (auditoria 35). Por isso o contraste é o pacote do corte, não a bolsa sozinha. Na H3, o teste conjunto do pré falha nas horas no município do posto; Rambachan–Roth mede quanto a conclusão aguenta. Na H2, a independência de alternativas irrelevantes é violada em parte, e o peso da bolsa muda pouco.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especificação principal da H1 passou a ser a do adendo 48b: compara só vagas do mesmo tipo, as imediatas. O gráfico principal (HI-1 e HI-2 por corte, com Holm) entra aqui quando as saídas estiverem gravadas. Leitura pré-registrada: se as linhas primárias tiverem IC que contém zero nos dois cortes, "comparando vagas do mesmo tipo, não se detecta diferença de preenchimento no corte". As medidas antigas estão na Robustez. Cautela: Pacote do corte; especificação pós-resultado.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Pesos na escolha da vaga, em log-chance, não efeitos no preenchimento. Um degrau da bolsa pesa 0,21 [−0,01; 0,44]: a vaga com +R$ 5 mil tem chance 24% maior de ser a 1ª opção (razão de chances 1,24), sem distinção de zero. Toda a bolsa pesa 0,42 [−0,03; 0,87]; a vaga na mesma UF de origem, fora da região de saúde, 2,40 [2,28; 2,53]. A diferença, 1,98, p unilateral &lt; 0,001, é o teste da H2, pós-resultado. O peso da bolsa tem identificação nos cortes (pacote do corte); o da origem é preferência revelada. Cautela: Pós-resultado; origem é preferência revelada, não efeito causal.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Horas totais cadastradas: +6,6 h/sem [+5,4; +7,8] depois da entrada, sobretudo no município do posto (+8,7, com o pré falhando), e −2,1 fora dele. 51,0% [48,4; 53,7] dos médicos já tinham vínculo no município do posto: parte do ganho é registro novo, não médico novo. Associação sob tendências paralelas; não é a participação no PMM-E nem o efeito da bolsa. Cautela: Associação; horas cadastradas não são presença.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Especificações secundárias da H1 desde o adendo 48b: medidas que misturam vaga imediata e cadastro reserva. A3 em 0,300: −8,4 p.p. [−18,5; +1,7]. N1 com controle em 0,300: −1,45 [−2,67; −0,22]; em 0,400, −0,14. Linhas por corte, sem correção múltipla; com IC honesto, o intervalo contém zero. Cautela: IC que contém zero não é efeito zero.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Sem controle, o efeito total de abrir vagas e preenchê-las; com controle, o preenchimento dado o número de vagas. A decomposição é exata: sem controle = via vagas + com controle. Em 0,400: −1,36 = −1,22 + −0,14; do lado de bolsa maior há menos vagas oferecidas (−3,59), sobretudo por alguns municípios grandes logo abaixo do corte. Em 0,300: −1,56 = −0,11 + −1,45; a oferta não muda (+0,39).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Todas as combinações de ciclo, corte e medida estão gravadas; nada foi estimado para este slide. Na taxa por vaga oferecida, o ciclo 2 dá −27,8 p.p. [−49,0; −6,7] em 0,300, contra −16,0 com os ciclos juntos, e responde por 51% do salto conjunto. Na A3, o ciclo 2 dá −10,2 p.p., com IC que contém zero. No ciclo 2, nenhuma célula só de reserva foi preenchida na 1ª chamada. "Preenchida" muda de definição: no ciclo 1, confirmação ou homologação; nos ciclos 2 e 3, alocado. A auditoria 36, em curso, refaz a conta com uma definição única. Cautela: Preenchida: confirmada no ciclo 1; alocada nos ciclos 2 e 3.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Nas médias da janela, 33,3% das células são preenchidas abaixo de 0,300 e 33,5% acima. A RDD compara as duas retas no ponto do corte: a de baixo segue a subida forte dos últimos 0,050 (doc 57m) e chega alta; a de cima começa baixa. O salto sai negativo mesmo com as médias iguais, e depende de poucos municípios perto do corte. Acaso: com os 3 cortes falsos do protocolo, o p por posto é 0,250, o menor possível; numa grade maior, fora do protocolo, 0,031. Acaso não fica descartado nem confirmado. Cautela: O acaso não está descartado.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Diagnóstico do protocolo 61 (doc 57l), auditado (auditoria 33): descritivo e pós-resultado. No corte, do lado de cima: células de cursos que preenchem pouco em qualquer lugar (índice de curso −4,5 p.p. [−7,1; −2,0]); mais células do mesmo curso na mesma UF disputando candidatos (+10,6 [+3,5; +17,8]); no ciclo 2, mais células só de reserva (+28,4 p.p. [+8,3; +48,4]). Que menos células tiveram candidato de 1ª opção é estimativa imprecisa: −10,8 p.p. [−28,2; +6,7]. Igualando a composição, Q2 vai a −5,1 p.p., 32% do original; a concorrência, Q2 a −4,3 p.p., 27%; quem teve candidato de 1ª opção, Q1 a −0,49, 34%. Esses fatores se formam depois do anúncio da faixa: descrevem o que acompanha a queda, não a causa. Cautela: Igualando: queda pela metade ou mais em algumas medidas; nenhum fator nas três.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TOST com IC de 90%: o limite de cima é +0,1 p.p. e +9,3 p.p. na célula aberta (margem de 10 p.p.) e −0,42 e +0,43 nas vagas por município (margem de 25% da média); só o teste do aumento rejeita. Uma queda desse tamanho não fica descartada: não dá para dizer que nada mudou. Nos atos lidos, nenhum incentivo individual além da bolsa muda em 0,300 (auditoria 35); a única regra federal que muda em 0,300 e não em 0,400 é o teto de emendas e de parcelas de custeio do município (auditoria 18). Nada disso mostra que a bolsa reduz o preenchimento: o corte junta a bolsa com outras regras.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Antes era a H2 da escolha; agora é a especificação secundária da H2. Por ciclo (M5), só o ciclo 2 mostra efeito da bolsa: 1,70 [1,22; 2,37] por +R$ 5 mil; nos ciclos 1 e 3, 1,07 e 1,00; a igualdade entre ciclos tem p 0,058. A vantagem da UF de origem sobre toda a bolsa fica entre 1,18 (distância em log) e 2,37 (só o ciclo 3) nas seis variantes. Escolha não é expansão: o que uma vaga ganha, outra do mesmo curso perde. Cautela: Pós-resultado; escolha não é expansão.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Comparação dos aprovados com quem ficou logo abaixo da nota de corte: +7,91 h/sem nas horas totais, IC que contém zero, pré com p 0,837. Rambachan–Roth: a ruptura de M̄ é 1,30 nas horas totais e 1,90 no município do posto; acima de 1, a conclusão aguenta violações de tendência do tamanho das vistas no pré. Horas cadastradas não são presença.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linguagem simples: nos dados crus os dois lados preenchem igual; a reta de baixo carrega até o corte uma subida que só existe nos últimos municípios antes de 0,300; e do lado de cima as vagas eram de outro tipo (mais reserva, cursos que preenchem pouco, mais concorrência). O corte junta a bolsa com outras regras: pacote do corte. Cautela: Nada disso mostra que a bolsa reduz o preenchimento.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 modelo da banca 1, o médico aceita a vaga se a bolsa compensa o custo do lugar. Incentivo limitado: a política mexe numa variável, e o custo do lugar (longe da origem, da família e da rede) continua contra. Escolha não é expansão: a bolsa reordena os candidatos entre as vagas abertas, e o que uma vaga ganha outra do mesmo curso perde; por isso não aparece no preenchimento. Substituição: o médico soma horas cadastradas, mas metade já trabalhava no município do posto. Associação não é efeito; inconclusivo não é efeito zero. Próximos passos: as saídas do adendo 48b, o ciclo 3 com a competência 202703 madura e o universo de inscritos. Cautela: Pacote do corte; vínculo não é presença.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curto_01_regra_bolsa_ivs_oficial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curto_02_exp_escolha_origem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3_curto_dispersao_a3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4_GF_medias_por_ivs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curto_05_GF_inclinacao_fatores_janela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curto_06_P1h_magnitudes.png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curto_07_curto_h3_horas.pn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curto_08_h1_preenchimento.pn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curto_09_h1_controle.png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curto_10_curto_h1_por_ciclo.png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curto_11_curto_reta_0300.png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curto_12_DQ_quanto_da_queda.png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curto_13_curto_tost.png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curto_14_h2_escolha.png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curto_15_curto_h3_nota_corte.png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9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0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que a bolsa de R$ 5 mil faz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Frase"/>
          <p:cNvSpPr/>
          <p:nvPr/>
        </p:nvSpPr>
        <p:spPr>
          <a:xfrm>
            <a:off x="658368" y="2258568"/>
            <a:ext cx="10863072" cy="237744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411480" tIns="91440" rIns="41148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0" dirty="0">
                <a:solidFill>
                  <a:srgbClr val="FFFFFF"/>
                </a:solidFill>
                <a:latin typeface="Montserrat"/>
              </a:rPr>
              <a:t>R$ 5 mil a mais nos cortes do IVS: escolha, preenchimento e oferta de especialistas</a:t>
            </a:r>
          </a:p>
        </p:txBody>
      </p:sp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doc 57.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Hipóteses: a H2 é a candidata central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H2 é pós-resultado.</a:t>
            </a:r>
          </a:p>
        </p:txBody>
      </p:sp>
      <p:sp>
        <p:nvSpPr>
          <p:cNvPr id="102" name="Rótulo central"/>
          <p:cNvSpPr/>
          <p:nvPr/>
        </p:nvSpPr>
        <p:spPr>
          <a:xfrm>
            <a:off x="292608" y="804672"/>
            <a:ext cx="2651760" cy="208940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FFFFFF"/>
                </a:solidFill>
                <a:latin typeface="Montserrat"/>
              </a:rPr>
              <a:t>H2 · central</a:t>
            </a:r>
          </a:p>
        </p:txBody>
      </p:sp>
      <p:sp>
        <p:nvSpPr>
          <p:cNvPr id="103" name="Hipótese central"/>
          <p:cNvSpPr/>
          <p:nvPr/>
        </p:nvSpPr>
        <p:spPr>
          <a:xfrm>
            <a:off x="3081528" y="804672"/>
            <a:ext cx="8805672" cy="20894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25400">
            <a:solidFill>
              <a:srgbClr val="056429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3A3A3A"/>
                </a:solidFill>
                <a:latin typeface="Montserrat"/>
              </a:rPr>
              <a:t>a bolsa pesa pouco perto da origem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122676"/>
            <a:ext cx="2651760" cy="1044702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H1 · plano B</a:t>
            </a:r>
          </a:p>
        </p:txBody>
      </p:sp>
      <p:sp>
        <p:nvSpPr>
          <p:cNvPr id="105" name="Hipótese plano B"/>
          <p:cNvSpPr/>
          <p:nvPr/>
        </p:nvSpPr>
        <p:spPr>
          <a:xfrm>
            <a:off x="3081528" y="3122676"/>
            <a:ext cx="8805672" cy="1044702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bolsa maior, mais vagas preenchidas</a:t>
            </a:r>
          </a:p>
        </p:txBody>
      </p:sp>
      <p:sp>
        <p:nvSpPr>
          <p:cNvPr id="106" name="Rótulo plano B"/>
          <p:cNvSpPr/>
          <p:nvPr/>
        </p:nvSpPr>
        <p:spPr>
          <a:xfrm>
            <a:off x="292608" y="4395978"/>
            <a:ext cx="2651760" cy="1044702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H3 · plano B</a:t>
            </a:r>
          </a:p>
        </p:txBody>
      </p:sp>
      <p:sp>
        <p:nvSpPr>
          <p:cNvPr id="107" name="Hipótese plano B"/>
          <p:cNvSpPr/>
          <p:nvPr/>
        </p:nvSpPr>
        <p:spPr>
          <a:xfrm>
            <a:off x="3081528" y="4395978"/>
            <a:ext cx="8805672" cy="1044702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a chegada soma oferta ou remaneja?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57i (P1h, protocolo 52b, auditoria 31); doc 06 da banca 2.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Dados: as variáveis principais e de onde vêm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3945780"/>
                <a:gridCol w="4471973"/>
                <a:gridCol w="3176840"/>
              </a:tblGrid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Variável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Bolsa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editais SGTES/MS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quadros,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1ª opção e origem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editais +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Horas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CNES, mensal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output/apresentacao_banca2/tabela_fontes.csv; auditoria 16; portão G1.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Dados: as variáveis secundárias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649875"/>
                <a:gridCol w="3545127"/>
                <a:gridCol w="3399590"/>
              </a:tblGrid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Variável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Composição das vagas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quadros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diagnóstico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Concorrência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quadros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diagnóstico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Região e porte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controles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Regras no mesmo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output/apresentacao_banca2/tabela_fontes.csv; auditorias 18 e 35; docs 57l e 57m.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5547224"/>
                <a:gridCol w="1996953"/>
                <a:gridCol w="2025208"/>
                <a:gridCol w="2025208"/>
              </a:tblGrid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30,3%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47,1%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21,7%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regra reproduz a faixa de 368 de 368 e de 454 de 454 municípios.</a:t>
            </a:r>
          </a:p>
        </p:txBody>
      </p:sp>
      <p:pic>
        <p:nvPicPr>
          <p:cNvPr id="102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948448"/>
            <a:ext cx="11594592" cy="446732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1ª opção fica perto de onde o médico já trabalhava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1ª opção em relação ao município de origem do candidato (mesma UF, mesma região de saúde, mesmo município) e distância origem–1ª op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910067"/>
            <a:ext cx="8211312" cy="43920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466756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Descritivo; origem é onde trabalhava no CNES.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804672"/>
            <a:ext cx="3108960" cy="162641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79%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das 1ª opções ficam na UF de origem; mediana de 51 km.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output/rdd_bolsa/G1_distancias_opcoes.parquet e G1_candidatos_origem.parquet (portão G1).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Nos dados crus, os dois lados preenchem igual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Em 0,300: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nos dados crus os dois lados preenchem igual (33% e 33%).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O negativo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vem da reta levada até o corte.</a:t>
            </a:r>
          </a:p>
        </p:txBody>
      </p:sp>
      <p:pic>
        <p:nvPicPr>
          <p:cNvPr id="103" name="Figura" descr="IVS contra a fração de células abertas preenchidas na 1ª chamada, nos cortes 0,300 e 0,400: médias por faixa de 0,010, municípios em cinza e reta local de cada la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215" y="804672"/>
            <a:ext cx="939937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output/rdd_bolsa/outcomes/outcomes_V_celula.parquet; output/rdd_bolsa/DQ_estimativas.csv (funil bruto; doc 57l; auditoria 33).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Dentro da faixa de R$ 10 mil, o preenchimento sobe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901184"/>
            <a:ext cx="11594592" cy="731520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Faixa de R$ 10 mil: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subida anda junto com a região (Nordeste); dentro da mesma UF, quase some (em auditoria).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Descritivo: dentro da faixa, a bolsa é a mesma.</a:t>
            </a:r>
          </a:p>
        </p:txBody>
      </p:sp>
      <p:pic>
        <p:nvPicPr>
          <p:cNvPr id="103" name="Figura" descr="Fração de células abertas preenchidas por faixa de 0,010 de IVS dentro de cada faixa da bolsa, com a reta da faixa e a que sobra depois dos fat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944" y="804672"/>
            <a:ext cx="8503920" cy="396849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output/rdd_bolsa/GF_estimativas.csv, GF_resumo.json e GF_figuras/GF_medias_por_ivs.png (protocolo 62; doc 57m; em auditoria); figura usada sem redesenho.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Perto de 0,300 sobra uma subida forte, sem explicação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Quanto da subida do preenchimento sobra depois de cada fator, nos últimos 0,050 de IVS antes do cor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40498"/>
            <a:ext cx="8211312" cy="441358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804672"/>
            <a:ext cx="3108960" cy="218643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Últimos 0,050 antes de 0,300: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sobra uma subida forte, sem fator que a acompanhe (em auditoria).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155696"/>
            <a:ext cx="3108960" cy="162641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É o trecho que a RDD usa do lado de baixo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output/rdd_bolsa/GF_estimativas.csv e GF_figuras/GF_inclinacao_fatores_janela.png (protocolo 62; doc 57m; em auditoria); figura usada sem redesenho.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salto no corte, só com vagas imediatas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0" dirty="0">
                <a:solidFill>
                  <a:srgbClr val="FFFFFF"/>
                </a:solidFill>
                <a:latin typeface="Montserrat"/>
              </a:rPr>
              <a:t>preenchida = salto + reta de cada lado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1591056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Outcome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159105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vaga imediata preenchida, por célula e município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4498848"/>
            <a:ext cx="2194560" cy="1591056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Razão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4498848"/>
            <a:ext cx="9262872" cy="159105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comparamos vagas do mesmo tipo: a de reserva não estava em jogo na 1ª chamada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adendo 48b ao protocolo 48 (docs/06_execucao/48b_adendo_H1_vagas_imediatas.md).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o logit condicional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0" dirty="0">
                <a:solidFill>
                  <a:srgbClr val="FFFFFF"/>
                </a:solidFill>
                <a:latin typeface="Montserrat"/>
              </a:rPr>
              <a:t>utilidade = bolsa + curva do IVS + distância + origem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Outcome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1ª opção de cada candidato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3907536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Comparação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3907536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vagas do mesmo curso e ciclo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5090160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Cuidado</a:t>
            </a:r>
          </a:p>
        </p:txBody>
      </p:sp>
      <p:sp>
        <p:nvSpPr>
          <p:cNvPr id="107" name="Item"/>
          <p:cNvSpPr/>
          <p:nvPr/>
        </p:nvSpPr>
        <p:spPr>
          <a:xfrm>
            <a:off x="2624328" y="5090160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só quem se candidatou; origem não é causal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52 e 52b; docs 57a e 57i.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horas antes e depois de entrar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0" dirty="0">
                <a:solidFill>
                  <a:srgbClr val="FFFFFF"/>
                </a:solidFill>
                <a:latin typeface="Montserrat"/>
              </a:rPr>
              <a:t>variação das horas = quem entrou − quem ainda não entrou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Outcome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horas do médico no CNES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3907536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Amostra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3907536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médicos dos ciclos 1 e 2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5090160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Cuidado</a:t>
            </a:r>
          </a:p>
        </p:txBody>
      </p:sp>
      <p:sp>
        <p:nvSpPr>
          <p:cNvPr id="107" name="Item"/>
          <p:cNvSpPr/>
          <p:nvPr/>
        </p:nvSpPr>
        <p:spPr>
          <a:xfrm>
            <a:off x="2624328" y="5090160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horas cadastradas não são presença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54 e 59; docs 57d e 57h.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RDD: as premissas do desenho valem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Ressalva: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seleção suspeita no ciclo 1 em 0,400.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50392"/>
          <a:ext cx="11594592" cy="4709160"/>
        </p:xfrm>
        <a:graphic>
          <a:graphicData uri="http://schemas.openxmlformats.org/drawingml/2006/table">
            <a:tbl>
              <a:tblPr firstRow="1" bandRow="1"/>
              <a:tblGrid>
                <a:gridCol w="3783390"/>
                <a:gridCol w="7811202"/>
              </a:tblGrid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Regra sharp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faixa reproduzida: 368/368 e 454/454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de 2010; densidade sem acúmulo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e placebos passam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16; docs 37, 41 e 49; output/rdd_bolsa/E1_densidade_estimativas.csv.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corte é um pacote; a H3 pede tendências paralelas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5525876"/>
                <a:gridCol w="6068716"/>
              </a:tblGrid>
              <a:tr h="128244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28244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a bolsa salta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não: em 0,300, teto de emendas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28244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Outro incentivo individual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 em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28244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(H3)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falham nas horas no posto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18 e 35; docs 57d e 57h.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vagas imediatas, por corte (aguardando 48b)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corte; especificação pós-resultado.</a:t>
            </a:r>
          </a:p>
        </p:txBody>
      </p:sp>
      <p:sp>
        <p:nvSpPr>
          <p:cNvPr id="102" name="Frase"/>
          <p:cNvSpPr/>
          <p:nvPr/>
        </p:nvSpPr>
        <p:spPr>
          <a:xfrm>
            <a:off x="658368" y="1911096"/>
            <a:ext cx="10863072" cy="237744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411480" tIns="91440" rIns="41148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0" dirty="0">
                <a:solidFill>
                  <a:srgbClr val="FFFFFF"/>
                </a:solidFill>
                <a:latin typeface="Montserrat"/>
              </a:rPr>
              <a:t>Aguardando 48b: HI-1 e HI-2 por corte, com Holm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adendo 48b; saídas output/rdd_bolsa/HI_* e doc 57n, ainda não gravados.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UF de origem pesa mais que toda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H2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8186952" cy="460288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572150"/>
            <a:ext cx="818695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Pós-resultado; origem é preferência revelada, não efeito causal.</a:t>
            </a:r>
          </a:p>
        </p:txBody>
      </p:sp>
      <p:sp>
        <p:nvSpPr>
          <p:cNvPr id="103" name="Linha"/>
          <p:cNvSpPr/>
          <p:nvPr/>
        </p:nvSpPr>
        <p:spPr>
          <a:xfrm>
            <a:off x="8753880" y="804672"/>
            <a:ext cx="3133320" cy="190642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Toda a bolsa: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0,42; a mesma UF de origem: 2,40; diferença 1,98 [1,56; 2,40].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(doc 57i; protocolo 52b; auditoria 31); figura usada sem redesenho.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o médico soma horas, mas metade já estava lá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H3: horas semanais cadastradas do médico depois da entrada (P4): totais, no município do posto e fora de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976903"/>
            <a:ext cx="8211312" cy="4258425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399919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Associação; horas cadastradas não são presença.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804672"/>
            <a:ext cx="3108960" cy="190642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+6,6 h/sem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depois da entrada; 51,0% já tinham vínculo no município do posto.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H1, medidas antigas: nenhum corte mostra aumento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H1 nas medidas antigas, por corte: célula aberta preenchida (A3) e vagas preenchidas por município (N1) sem e com contro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043563" cy="460288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572150"/>
            <a:ext cx="7043563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IC que contém zero não é efeito zero.</a:t>
            </a:r>
          </a:p>
        </p:txBody>
      </p:sp>
      <p:sp>
        <p:nvSpPr>
          <p:cNvPr id="103" name="Linha"/>
          <p:cNvSpPr/>
          <p:nvPr/>
        </p:nvSpPr>
        <p:spPr>
          <a:xfrm>
            <a:off x="7610491" y="804672"/>
            <a:ext cx="4276709" cy="162641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Com a reserva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(A3, N1): sem aumento em nenhum corte; em 0,300, sinal negativo.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49); S57_resumo.json (A3); EQ_estimativas.csv (doc 57j).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Antes e depois do controle: em 0,400, passa pelas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queda passa pelas vagas: cidades grandes logo abaixo; com o controle, some.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oferta não muda; cai o preenchimento por vaga.</a:t>
            </a:r>
          </a:p>
        </p:txBody>
      </p:sp>
      <p:pic>
        <p:nvPicPr>
          <p:cNvPr id="103" name="Figura" descr="Antes e depois do controle das vagas oferecidas, por corte: sem controle e com controle em dois gráficos na mesma escala; ao lado, o salto nas vagas oferecid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71165"/>
            <a:ext cx="11594592" cy="334640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(decomposição e S-c; doc 49, §3 a §5); ND_estimativas.csv (doc 49b, §3).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por ciclo: a queda em 0,300 vem do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901184"/>
            <a:ext cx="11594592" cy="731520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A queda em 0,300 vem sobretudo do ciclo 2 (vagas de reserva); por ciclo, os intervalos são largos.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Preenchida: confirmada no ciclo 1; alocada nos ciclos 2 e 3.</a:t>
            </a:r>
          </a:p>
        </p:txBody>
      </p:sp>
      <p:pic>
        <p:nvPicPr>
          <p:cNvPr id="103" name="Figura" descr="H1 por ciclo e por corte: célula aberta preenchida (A3) e taxa por vaga oferecida, ciclos 1, 2 e 3 e juntos, com IC 95%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339" y="804672"/>
            <a:ext cx="8489131" cy="396849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output/rdd_bolsa/NA_estimativas.csv (A3 por ciclo); ND_estimativas.csv (taxa por vaga, adendo AD2; doc 49b, §14).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Em 0,300 é a estimativa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A reta de baixo leva até o corte a subida dos últimos 0,050: a ponta fica alta.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Médias iguais, salto negativo: poucos municípios.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O acaso não está descartado.</a:t>
            </a:r>
          </a:p>
        </p:txBody>
      </p:sp>
      <p:pic>
        <p:nvPicPr>
          <p:cNvPr id="104" name="Figura" descr="Corte 0,300: médias por faixa de 0,010, reta local de cada lado e médias da janela; a reta de baixo chega alta ao corte e a de cima começa baix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616" y="804672"/>
            <a:ext cx="9548575" cy="38039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output/rdd_bolsa/outcomes/outcomes_V_celula.parquet; DQ_estimativas.csv (protocolo 61; doc 57l; auditoria 33).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As vagas do lado de cima eram diferentes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Diagnóstico do protocolo 61: quanto da queda em 0,300 sobra ao igualar cada fator entre os lados do corte, para Q1, Q2 e Q3, com IC 95%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118565"/>
            <a:ext cx="8211312" cy="369509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4978248"/>
            <a:ext cx="8211312" cy="797763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Igualando: queda pela metade ou mais em algumas medidas; nenhum fator nas três.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804672"/>
            <a:ext cx="3108960" cy="134640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Cursos que preenchem pouco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2315667"/>
            <a:ext cx="3108960" cy="134640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Mais células do curso na UF</a:t>
            </a:r>
          </a:p>
        </p:txBody>
      </p:sp>
      <p:sp>
        <p:nvSpPr>
          <p:cNvPr id="105" name="Linha"/>
          <p:cNvSpPr/>
          <p:nvPr/>
        </p:nvSpPr>
        <p:spPr>
          <a:xfrm>
            <a:off x="8778240" y="3826662"/>
            <a:ext cx="3108960" cy="134640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Ciclo 2: mais células só de reserva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output/rdd_bolsa/DQ_estimativas.csv, DQ_resumo.json e DQ_figuras/DQ_quanto_da_queda.png (protocolo 61; doc 57l; auditoria 33, §8); figura usada sem redesenho, conferida pelo hash.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que dá para afirmar sobre a queda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TOST: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sem aumento de 10 p.p. ou mais; "nada mudou" não se sustenta.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Em 0,300: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nenhum incentivo individual muda; muda o teto de emendas do município.</a:t>
            </a:r>
          </a:p>
        </p:txBody>
      </p:sp>
      <p:pic>
        <p:nvPicPr>
          <p:cNvPr id="103" name="Figura" descr="TOST por corte: salto no corte com IC 90% contra a margem do protocolo 60, para A3 e N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18" y="804672"/>
            <a:ext cx="11081373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output/rdd_bolsa/EQ_estimativas.csv (TOST; protocolo 60; doc 57j; auditoria 32); auditorias 18 e 35; doc 57l.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por ciclo, a bolsa pesa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H2, especificação secundária: razão de chances da 1ª opção por +R$ 5 mil, um resultado por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33682"/>
            <a:ext cx="8211312" cy="454486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543140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Pós-resultado; escolha não é expansão.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804672"/>
            <a:ext cx="3108960" cy="190642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 origem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pesa mais que a bolsa nas seis variantes: diferença de 1,18 a 2,37.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(M5; doc 57a, §4); P1h_magnitudes.csv (sensibilidades; doc 57i).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na nota de corte, a mesma direção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H3, especificação secundária: horas do médico na comparação na nota de corte (P4-CA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13047"/>
            <a:ext cx="8211312" cy="4468481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804672"/>
            <a:ext cx="3108960" cy="190642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Nota de corte: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+7,91 h/sem [−0,63; +16,45], mesma direção; IC contém zero.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2875686"/>
            <a:ext cx="3108960" cy="162641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horas totais aguentam a violação do pré (1,30).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output/rdd_bolsa/CA_estimativas.csv e H_estimativas.csv (protocolo 59; doc 57h).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o sinal negativo da H1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Nada disso mostra que a bolsa reduz o preenchimento.</a:t>
            </a:r>
          </a:p>
        </p:txBody>
      </p:sp>
      <p:sp>
        <p:nvSpPr>
          <p:cNvPr id="102" name="Frase"/>
          <p:cNvSpPr/>
          <p:nvPr/>
        </p:nvSpPr>
        <p:spPr>
          <a:xfrm>
            <a:off x="658368" y="1911096"/>
            <a:ext cx="10863072" cy="237744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411480" tIns="91440" rIns="41148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0" dirty="0">
                <a:solidFill>
                  <a:srgbClr val="FFFFFF"/>
                </a:solidFill>
                <a:latin typeface="Montserrat"/>
              </a:rPr>
              <a:t>O sinal negativo não é a bolsa afastando médicos: é a estimativa no corte, com poucos municípios e vagas diferentes.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síntese da Robustez; docs 57l e 57m; auditoria 33.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um incentivo limitado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corte; vínculo não é presença.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896112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Limitado</a:t>
            </a:r>
          </a:p>
        </p:txBody>
      </p:sp>
      <p:sp>
        <p:nvSpPr>
          <p:cNvPr id="103" name="Item"/>
          <p:cNvSpPr/>
          <p:nvPr/>
        </p:nvSpPr>
        <p:spPr>
          <a:xfrm>
            <a:off x="3081528" y="896112"/>
            <a:ext cx="880567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a origem pesa mais que toda a bolsa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246888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Escolha</a:t>
            </a:r>
          </a:p>
        </p:txBody>
      </p:sp>
      <p:sp>
        <p:nvSpPr>
          <p:cNvPr id="105" name="Item"/>
          <p:cNvSpPr/>
          <p:nvPr/>
        </p:nvSpPr>
        <p:spPr>
          <a:xfrm>
            <a:off x="3081528" y="2468880"/>
            <a:ext cx="880567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reordena candidatos, não enche vagas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4041648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Substituição</a:t>
            </a:r>
          </a:p>
        </p:txBody>
      </p:sp>
      <p:sp>
        <p:nvSpPr>
          <p:cNvPr id="107" name="Item"/>
          <p:cNvSpPr/>
          <p:nvPr/>
        </p:nvSpPr>
        <p:spPr>
          <a:xfrm>
            <a:off x="3081528" y="4041648"/>
            <a:ext cx="880567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metade já estava no município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síntese dos slides anteriores; doc 57.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