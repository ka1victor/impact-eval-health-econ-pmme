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H3 é a hipótese central: se a bolsa pesa pouco perto do custo do lugar, ela muda quem escolhe qual vaga (H2) sem mudar quantas vagas preenchem (H1). A H4 pergunta se o médico que chega aumenta a capacidade ou só passa a ser registrado onde já estava. O efeito candidato é o incentivo marginal de R$ 5 mil anunciado, como pacote do corte: em 0,300 e 0,400 mudam também outras regras federais. Não é a participação no PMM-E nem o efeito do Agora Tem Especialistas.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ciclo tem edital, quadro de vagas, escolha dos candidatos e resultado próprios; comparamos sempre dentro do ciclo, perto dos cortes. Célula é estabelecimento × curso. Preenchidas na 1ª chamada: 30,3% das células no ciclo 1, 47,1% no ciclo 2 e 21,7% no ciclo 3 (descritivo). A escolha usa 5.421 candidatos de 1ª opção ligados ao CNES. Cautela: Ciclo 3: só até a 1ª chamada; o CNES depois do início segue congelado.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Até 0,300, R$ 10 mil; até 0,400, R$ 15 mil; acima, R$ 20 mil. O escore da relação nominal do MS é o IVS 2010 oficial em 404/404 municípios. No ciclo 3, congelado, 747 de 748: o que falta foi criado depois de 2010. O IVS foi medido em 2010, antes do programa. Cautela: Descritivo; outras regras federais mudam nos mesmos cortes: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o gráfico clássico da RDD, sem nenhum controle: cada ponto é a média de uma faixa estreita de IVS, e cada linha é a reta local de um lado. Em 0,400, as vagas oferecidas caem de 7,05 para 3,93 por município na janela; em 0,300, ficam em 10,08 e 9,82. A célula preenchida não sobe em nenhum dos dois cortes. Não há acúmulo de municípios logo abaixo dos cortes: o teste de densidade do ciclo 1 tem p de Holm 0,707 em 0,300 e 0,658 em 0,400. Cautela: Descritivo: médias por faixa, sem controles; o teste é a RDD que vem a seguir.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H1: kernel triangular, h = 0,050, uma reta de cada lado por ciclo e um salto por corte; erro-padrão agrupado por município. Sem o controle, o salto é o efeito total (abrir vagas e preenchê-las); com o controle das vagas oferecidas, é o preenchimento dado o número de vagas. H2 e H3: a curva do IVS absorve o que muda suave com a vulnerabilidade, e só o salto da bolsa nos cortes identifica o peso dela. H4: compara o médico depois de entrar com os que ainda não entraram, a partir do mês anterior à entrada; horas cadastradas, não presença. Cautela: Nos cortes, o contraste é o pacote do corte, não a participação no PMM-E.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corte separado, ciclos 1 a 3. Célula aberta preenchida (A3): −8,4 p.p. [−18,5; +1,7] em 0,300 e −1,3 p.p. [−14,0; +11,3] em 0,400. Vagas preenchidas por município (N1), dois gráficos na mesma escala: sem controle, o efeito total de abrir vagas e preenchê-las, −1,56 e −1,36; com controle, o preenchimento dado o número de vagas, −1,45 [−2,67; −0,22] em 0,300 e −0,14 [−0,82; +0,54] em 0,400, sobre médias de 2,32 e 1,96 do lado de bolsa menor. N1 em 0,300 não é lido como queda: é uma linha por corte, sem correção múltipla, e o IC honesto vai de −90,23 a +87,34. IC que contém zero não é efeito zero. Cautela: Pacote do corte, IC convencional; N1 em 0,300 não é queda: IC honesto contém zero.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decomposição é exata (Frisch–Waugh–Lovell): sem controle = via vagas + com controle. Em 0,400: −1,36 = −1,22 + −0,14; do lado de bolsa maior há menos vagas oferecidas, e dado o número de vagas a diferença quase some. Em 0,300: −1,56 = −0,11 + −1,45; a oferta não muda (+0,39) e cai a taxa de preenchimento por vaga oferecida, −16,0 p.p. [−27,9; −4,1], 51% dela no ciclo 2. Depende da medida: com só as vagas imediatas no denominador, −19,2 p.p. Se as vagas respondem ao corte, o controle compara municípios diferentes; por isso as duas versões. Nenhuma linha por corte tem correção múltipla. Cautela: pacote do corte.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teste de zero pergunta se o salto é diferente de zero; o TOST pergunta se ele é pequeno. Com IC de 90%: A3 em 0,300, [−16,9; +0,1]; em 0,400, [−11,9; +9,3]; N1 em 0,300, [−2,48; −0,42], com margem de 0,58 vaga; em 0,400, [−0,71; +0,43], com margem de 0,49. Nos quatro, só o teste do aumento rejeita: não houve aumento do tamanho da margem ou mais. Uma queda desse tamanho não fica descartada, então não dá para dizer que nada mudou. A barra que sai pela esquerda não é lida como queda. As margens foram fixadas depois de ver os IC (protocolo 60). Cautela: IC convencional; com o IC honesto, nem o descarte do aumento se sustenta.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com distância (M5), um resultado por ciclo: compara duas vagas abertas do mesmo curso e ciclo que diferem só no degrau de R$ 5 mil, com o IVS contínuo controlado. Ciclo 2: 1,70 [1,22; 2,37], p 0,002; ciclos 1 e 3: 1,07 e 1,00, com IC que contém 1. A igualdade entre ciclos tem p 0,058. Com os três ciclos juntos (M1, a primária), 1,24 [0,99; 1,55], p 0,065: inconclusivo. O logit não vê quem deixou de se candidatar. Cautela: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números da figura são pesos na escolha da vaga, em log-chance, não efeitos no preenchimento. Um degrau da bolsa pesa 0,21 [−0,01; 0,44]: a vaga com +R$ 5 mil tem chance 24% maior de ser a 1ª opção (razão de chances 1,24), sem distinção de zero. Toda a bolsa pesa 0,42 [−0,03; 0,87]; a vaga na mesma UF de origem, fora da região de saúde, pesa 2,40 [2,28; 2,53]. A diferença, 1,98 [1,56; 2,40], é o teste da H3, unilateral e pós-resultado. É causal? O peso da bolsa tem identificação nos cortes (com as regras do mesmo corte); o da origem é preferência revelada, porque a origem não é sorteada.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médico soma +6,6 h/sem [+5,4; +7,8] de horas totais cadastradas, sobretudo no município do posto (+8,7, com o pré falhando), e perde −2,1 fora dele. 51,0% já tinham vínculo no município do posto. Na comparação com quem ficou logo abaixo da nota de corte, +7,91 [−0,63; +16,45]: mesma direção, IC que contém zero. Não é a participação no PMM-E nem o efeito da bolsa. Cautela: Associação, não efeito da bolsa; horas cadastradas não são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Escolha não é expansão: a bolsa reordena os candidatos entre as vagas abertas, e o que uma vaga ganha outra do mesmo curso perde. O preenchimento não aumenta em nenhum dos dois cortes; uma queda do mesmo tamanho não fica descartada. Na oferta, o médico soma horas cadastradas, mas metade já trabalhava no município do posto. Próximos passos: repetir o ciclo 2 no ciclo 3, com a competência 202703 madura, e pedir o universo de inscritos. Cautela: Pacote do corte; inconclusivo não é efeito zero; vínculo não é presença.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1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2_exp_rdd_crua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curto_03_h1_preenchimento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curto_04_h1_controle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tost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h2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curto_07_P1h_magnitudes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curto_08_h4_horas_medico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Quatro hipóteses: da bolsa anunciada à oferta de especialistas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097280" cy="96012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</a:t>
            </a:r>
          </a:p>
        </p:txBody>
      </p:sp>
      <p:sp>
        <p:nvSpPr>
          <p:cNvPr id="102" name="Item"/>
          <p:cNvSpPr/>
          <p:nvPr/>
        </p:nvSpPr>
        <p:spPr>
          <a:xfrm>
            <a:off x="1527048" y="896112"/>
            <a:ext cx="10360152" cy="96012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Bolsa maior → mais vagas preenchidas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057400"/>
            <a:ext cx="1097280" cy="96012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</a:t>
            </a:r>
          </a:p>
        </p:txBody>
      </p:sp>
      <p:sp>
        <p:nvSpPr>
          <p:cNvPr id="104" name="Item"/>
          <p:cNvSpPr/>
          <p:nvPr/>
        </p:nvSpPr>
        <p:spPr>
          <a:xfrm>
            <a:off x="1527048" y="2057400"/>
            <a:ext cx="10360152" cy="96012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Bolsa maior → vaga mais escolhida pelos médicos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3218688"/>
            <a:ext cx="1097280" cy="96012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</a:t>
            </a:r>
          </a:p>
        </p:txBody>
      </p:sp>
      <p:sp>
        <p:nvSpPr>
          <p:cNvPr id="106" name="Item"/>
          <p:cNvSpPr/>
          <p:nvPr/>
        </p:nvSpPr>
        <p:spPr>
          <a:xfrm>
            <a:off x="1527048" y="3218688"/>
            <a:ext cx="10360152" cy="96012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A bolsa pesa pouco perto da origem do médico</a:t>
            </a:r>
          </a:p>
        </p:txBody>
      </p:sp>
      <p:sp>
        <p:nvSpPr>
          <p:cNvPr id="107" name="Rótulo"/>
          <p:cNvSpPr/>
          <p:nvPr/>
        </p:nvSpPr>
        <p:spPr>
          <a:xfrm>
            <a:off x="292608" y="4379976"/>
            <a:ext cx="1097280" cy="96012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</a:t>
            </a:r>
          </a:p>
        </p:txBody>
      </p:sp>
      <p:sp>
        <p:nvSpPr>
          <p:cNvPr id="108" name="Item"/>
          <p:cNvSpPr/>
          <p:nvPr/>
        </p:nvSpPr>
        <p:spPr>
          <a:xfrm>
            <a:off x="1527048" y="4379976"/>
            <a:ext cx="10360152" cy="96012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A chegada aumenta a oferta ou só remaneja?</a:t>
            </a:r>
          </a:p>
        </p:txBody>
      </p:sp>
      <p:sp>
        <p:nvSpPr>
          <p:cNvPr id="109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PMM-E já rodou três ciclos, e usamos os três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 3: só até a 1ª chamada; o CNES depois do início segue congelado.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50392"/>
          <a:ext cx="11594592" cy="4456328"/>
        </p:xfrm>
        <a:graphic>
          <a:graphicData uri="http://schemas.openxmlformats.org/drawingml/2006/table">
            <a:tbl>
              <a:tblPr firstRow="1" bandRow="1"/>
              <a:tblGrid>
                <a:gridCol w="909828"/>
                <a:gridCol w="1193292"/>
                <a:gridCol w="1962374"/>
                <a:gridCol w="1853733"/>
                <a:gridCol w="1661077"/>
                <a:gridCol w="4014288"/>
              </a:tblGrid>
              <a:tr h="9258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Edital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Quadro de vagas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 (1ª chamada)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Municípios · células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temos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30233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nº 3/2025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24/07/2025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10/09/2025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· 1.295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quadro, escolhas, 1ª e 2ª chamada, CNES depois do início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30233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nº 1/2026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19/03/2026 (retificado)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05/05/2026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 · 1.547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quadro, escolhas, 1ª e 2ª chamada, CNES depois do início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58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nº 28/2026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24/07/2026 (retificado)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25/08/2026, sub judice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 · 2.293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quadro, escolhas e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output/apresentacao_banca2/cronologia_ciclos.csv e tabela_descritiva_ciclos.csv (doc 02).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regra reproduz a faixa de 368 de 368 e de 454 de 454 municípios.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Descritivo; outras regras federais mudam nos mesmos cortes: pacote do corte.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Nos dados crus, o lado de bolsa maior não preenche mais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menos vagas oferecidas do lado de bolsa maior; </a:t>
            </a: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oferta não muda.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Descritivo: médias por faixa, sem controles; o teste é a RDD que vem a seguir.</a:t>
            </a:r>
          </a:p>
        </p:txBody>
      </p:sp>
      <p:pic>
        <p:nvPicPr>
          <p:cNvPr id="103" name="Figura" descr="Gráfico cru da RDD por corte: célula preenchida e vagas oferecidas por faixa estreita de IVS, com a reta local de cada l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74" y="804672"/>
            <a:ext cx="11199260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output/rdd_bolsa/outcomes/outcomes_V_celula.parquet e outcomes_V_municipio.parquet; output/rdd_bolsa/ND_estimativas.csv (doc 49b); E1_densidade_estimativas.csv.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H1 com controle: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preenchidas = salto no corte + reta de cada lado + vagas oferecidas.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Nos cortes, o contraste é o pacote do corte, não a participação no PMM-E.</a:t>
            </a:r>
          </a:p>
        </p:txBody>
      </p:sp>
      <p:graphicFrame>
        <p:nvGraphicFramePr>
          <p:cNvPr id="103" name="Tabela"/>
          <p:cNvGraphicFramePr>
            <a:graphicFrameLocks noGrp="1"/>
          </p:cNvGraphicFramePr>
          <p:nvPr/>
        </p:nvGraphicFramePr>
        <p:xfrm>
          <a:off x="292608" y="850392"/>
          <a:ext cx="11594592" cy="4233672"/>
        </p:xfrm>
        <a:graphic>
          <a:graphicData uri="http://schemas.openxmlformats.org/drawingml/2006/table">
            <a:tbl>
              <a:tblPr firstRow="1" bandRow="1"/>
              <a:tblGrid>
                <a:gridCol w="2043684"/>
                <a:gridCol w="4512166"/>
                <a:gridCol w="5038742"/>
              </a:tblGrid>
              <a:tr h="54687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Comparação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2169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em cada corte, 0,300 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logo acima × logo abaixo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92169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da 1ª opção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do mesmo curso e ciclo, com bolsa diferente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169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 bolsa ×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mesmo logit, dois pesos na mesma escala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toda a bolsa contra a vaga na UF de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92169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 oferta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antes × depois, contra quem ainda não entrou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em nenhum dos dois cortes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Não aumenta em nenhum corte; uma queda do mesmo tamanho não fica descartada.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corte, IC convencional; N1 em 0,300 não é queda: IC honesto contém zero.</a:t>
            </a:r>
          </a:p>
        </p:txBody>
      </p:sp>
      <p:pic>
        <p:nvPicPr>
          <p:cNvPr id="103" name="Figura" descr="H1 por corte: A3 num gráfico; N1 sem controle e com controle em dois gráficos separados, na mesma esca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636" y="804672"/>
            <a:ext cx="6548536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S57_resumo.json (A3); EQ_estimativas.csv (doc 57j; auditoria 32).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Antes e depois do controle: em 0,400 a queda passa pelas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passa pelas vagas: o lado de bolsa maior oferece menos vagas (−3,59).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oferta não muda; cai o preenchimento por vaga (pacote do corte).</a:t>
            </a:r>
          </a:p>
        </p:txBody>
      </p:sp>
      <p:pic>
        <p:nvPicPr>
          <p:cNvPr id="103" name="Figura" descr="Antes e depois do controle das vagas oferecidas, por corte: sem controle e com controle em dois gráficos na mesma escala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71165"/>
            <a:ext cx="11594592" cy="334640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ND_estimativas.csv (doc 49b, §3).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dá para afirmar: não houve aumento do tamanho da margem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Sem aumento de 10 p.p. ou de 25% da média; não dá para dizer que nada mudou.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IC convencional; com o IC honesto, nem o descarte do aumento se sustenta.</a:t>
            </a:r>
          </a:p>
        </p:txBody>
      </p:sp>
      <p:pic>
        <p:nvPicPr>
          <p:cNvPr id="103" name="Figura" descr="TOST por corte: IC de 90% do salto contra a faixa de equivalência do protocolo 60, A3 e N1 com contro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18" y="804672"/>
            <a:ext cx="11081373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output/rdd_bolsa/EQ_estimativas.csv e EQ_resumo.json (protocolo 60, parte A; doc 57j; auditoria 32).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Só no ciclo 2 a vaga de bolsa maior é mais escolhida: 1,70 por +R$ 5 mil.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Escolha não é expansão: o que uma vaga ganha, outra do mesmo curso perde.</a:t>
            </a:r>
          </a:p>
        </p:txBody>
      </p:sp>
      <p:pic>
        <p:nvPicPr>
          <p:cNvPr id="103" name="Figura" descr="H2: razão de chances da 1ª opção por +R$ 5 mil, um resultado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067" y="804672"/>
            <a:ext cx="7731675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(M5; doc 57a).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mesmo logit da H2, a UF de origem pesa mais que toda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Log-chance: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degrau, 0,21 ≈ chance 24% maior de ser a 1ª opção; IC contém zero.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Não é efeito no preenchimento; a origem é preferência revelada, não efeito causal.</a:t>
            </a:r>
          </a:p>
        </p:txBody>
      </p:sp>
      <p:pic>
        <p:nvPicPr>
          <p:cNvPr id="103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4121" y="804672"/>
            <a:ext cx="7611567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(doc 57i; protocolo 52b; auditoria 31); P1_estimativas.csv (M1).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Soma horas cadastradas, mas metade já estava lá: parte é registro, não médico novo.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Associação, não efeito da bolsa; horas cadastradas não são presença.</a:t>
            </a:r>
          </a:p>
        </p:txBody>
      </p:sp>
      <p:pic>
        <p:nvPicPr>
          <p:cNvPr id="103" name="Figura" descr="H4: horas semanais cadastradas do médico depois da entrada (P4) e na nota de corte (P4-CA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3267" y="804672"/>
            <a:ext cx="7273275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H_estimativas.csv e CA_estimativas.csv (doc 57h).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muda a escolha, não o preenchimento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inconclusivo não é efeito zero; vínculo não é presença.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2834640" cy="96012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Escolha</a:t>
            </a:r>
          </a:p>
        </p:txBody>
      </p:sp>
      <p:sp>
        <p:nvSpPr>
          <p:cNvPr id="103" name="Item"/>
          <p:cNvSpPr/>
          <p:nvPr/>
        </p:nvSpPr>
        <p:spPr>
          <a:xfrm>
            <a:off x="3264408" y="896112"/>
            <a:ext cx="8622792" cy="96012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reordena candidatos entre vagas, só no ciclo 2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057400"/>
            <a:ext cx="2834640" cy="96012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Preenchimento</a:t>
            </a:r>
          </a:p>
        </p:txBody>
      </p:sp>
      <p:sp>
        <p:nvSpPr>
          <p:cNvPr id="105" name="Item"/>
          <p:cNvSpPr/>
          <p:nvPr/>
        </p:nvSpPr>
        <p:spPr>
          <a:xfrm>
            <a:off x="3264408" y="2057400"/>
            <a:ext cx="8622792" cy="96012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não aumenta em nenhum dos dois cortes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3218688"/>
            <a:ext cx="2834640" cy="96012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Oferta</a:t>
            </a:r>
          </a:p>
        </p:txBody>
      </p:sp>
      <p:sp>
        <p:nvSpPr>
          <p:cNvPr id="107" name="Item"/>
          <p:cNvSpPr/>
          <p:nvPr/>
        </p:nvSpPr>
        <p:spPr>
          <a:xfrm>
            <a:off x="3264408" y="3218688"/>
            <a:ext cx="8622792" cy="96012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soma horas, mas metade dos médicos já estava lá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dos slides anteriores; doc 57.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