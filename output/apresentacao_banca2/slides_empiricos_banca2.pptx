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  <p:sldId id="416" r:id="rId63"/>
    <p:sldId id="417" r:id="rId64"/>
    <p:sldId id="418" r:id="rId65"/>
    <p:sldId id="419" r:id="rId66"/>
    <p:sldId id="420" r:id="rId67"/>
    <p:sldId id="421" r:id="rId68"/>
    <p:sldId id="422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 (proposta do plano, delegada pelo autor e revisável por ele); H1 é o teste de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soma 5.421 candidatos. Ciclo 3: só a 1ª chamada; o seguimento pós-início segue congelado.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regra sharp é o que torna a descontinuidade possível. A ameaça que não se testa por inteiro é a das co-políticas: emendas, custeio de MAC, o IED da APS e a coparticipação do PMMB mudam nos mesmos cortes. Na DiRD, só a parte fixa no tempo delas sai. Cautela: A ameaça comum aos cortes são as outras regras federais que mudam em 0,300 e 0,400: por isso "pacote do corte".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No modelo de escolha, toda a amplitude da bolsa pesa 0,42 [−0,03; 0,87] na utilidade, e a vaga na mesma UF de origem, fora da região de saúde, pesa 2,40 [2,28; 2,53]. A bolsa pesa pouco perto do custo do lugar.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Cautela: Escolha de quem se candidatou, entre vagas abertas: θ é preferência revelada condicional ao modelo, não efeito da geografia; β é o pacote do corte.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Ler de cima para baixo, na ordem da cadeia. Cinza: o IC contém o nulo. Verde em N1 é negativo e não passa no Holm. Verde em P6 Y1 é quase mecânico. Verde em P4 é associação: nas horas totais o pré passa e a conclusão aguenta violações de tendência do tamanho das do pré, mas outros outcomes do P4 falham no pré. A força de cada linha sai de uma regra fixa do gerador sobre os valores de output/. A linha da H3 rejeita zero, mas é pós-resultado e compara dois pesos do mesmo modelo de escolha: não é efeito da bolsa nem da geografia. A escolha no ciclo 2 aparece no slide da H2.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As ressalvas estão na tela: nenhuma especificação foi escolhida depois de ver o resultado.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cartão é uma pergunta que a banca pode fazer. O universo de inscritos responderia à margem extensiva; o pedido está pronto, mas depende do Ministério.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1_regra_bolsa_ivs_oficial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2_h1_preenchimento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3_h2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banca2_04_P1h_magnitudes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banca2_05_h4_horas_medico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banca2_06_cadeia_resumo_doc57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Nó 1"/>
          <p:cNvSpPr/>
          <p:nvPr/>
        </p:nvSpPr>
        <p:spPr>
          <a:xfrm>
            <a:off x="320040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2" name="Nó 2"/>
          <p:cNvSpPr/>
          <p:nvPr/>
        </p:nvSpPr>
        <p:spPr>
          <a:xfrm>
            <a:off x="2734056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3" name="Seta 1"/>
          <p:cNvCxnSpPr/>
          <p:nvPr/>
        </p:nvCxnSpPr>
        <p:spPr>
          <a:xfrm>
            <a:off x="2258568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4" name="Nó 3"/>
          <p:cNvSpPr/>
          <p:nvPr/>
        </p:nvSpPr>
        <p:spPr>
          <a:xfrm>
            <a:off x="5148072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5" name="Seta 2"/>
          <p:cNvCxnSpPr/>
          <p:nvPr/>
        </p:nvCxnSpPr>
        <p:spPr>
          <a:xfrm>
            <a:off x="4672584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6" name="Nó 4"/>
          <p:cNvSpPr/>
          <p:nvPr/>
        </p:nvSpPr>
        <p:spPr>
          <a:xfrm>
            <a:off x="7562088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7" name="Seta 3"/>
          <p:cNvCxnSpPr/>
          <p:nvPr/>
        </p:nvCxnSpPr>
        <p:spPr>
          <a:xfrm>
            <a:off x="7086600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8" name="Nó 5"/>
          <p:cNvSpPr/>
          <p:nvPr/>
        </p:nvSpPr>
        <p:spPr>
          <a:xfrm>
            <a:off x="9976104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09" name="Seta 4"/>
          <p:cNvCxnSpPr/>
          <p:nvPr/>
        </p:nvCxnSpPr>
        <p:spPr>
          <a:xfrm>
            <a:off x="9500616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10" name="H1"/>
          <p:cNvSpPr/>
          <p:nvPr/>
        </p:nvSpPr>
        <p:spPr>
          <a:xfrm>
            <a:off x="365760" y="841248"/>
            <a:ext cx="9034272" cy="24688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1" name="H2"/>
          <p:cNvSpPr/>
          <p:nvPr/>
        </p:nvSpPr>
        <p:spPr>
          <a:xfrm>
            <a:off x="365760" y="1984248"/>
            <a:ext cx="6620256" cy="24688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2" name="H3"/>
          <p:cNvSpPr/>
          <p:nvPr/>
        </p:nvSpPr>
        <p:spPr>
          <a:xfrm>
            <a:off x="2962656" y="1033272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3" name="H4"/>
          <p:cNvSpPr/>
          <p:nvPr/>
        </p:nvSpPr>
        <p:spPr>
          <a:xfrm>
            <a:off x="7607808" y="1984248"/>
            <a:ext cx="4206240" cy="24688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4" name="Tabela"/>
          <p:cNvGraphicFramePr>
            <a:graphicFrameLocks noGrp="1"/>
          </p:cNvGraphicFramePr>
          <p:nvPr/>
        </p:nvGraphicFramePr>
        <p:xfrm>
          <a:off x="292608" y="2395728"/>
          <a:ext cx="11594592" cy="2361438"/>
        </p:xfrm>
        <a:graphic>
          <a:graphicData uri="http://schemas.openxmlformats.org/drawingml/2006/table">
            <a:tbl>
              <a:tblPr firstRow="1" bandRow="1"/>
              <a:tblGrid>
                <a:gridCol w="1754959"/>
                <a:gridCol w="2611951"/>
                <a:gridCol w="4161130"/>
                <a:gridCol w="3066552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testa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célula aberta do lado de bolsa maior preenche mais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nos cortes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vaga de bolsa maior é mais escolhida como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lugar, dentro de V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pequeno perto da distância e da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coeficientes do mesmo logit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H3 é a hipótese central (proposta do plano, delegada pelo autor e revisável por ele); H1 é o teste de consistência da cadeia.</a:t>
            </a:r>
          </a:p>
        </p:txBody>
      </p:sp>
      <p:sp>
        <p:nvSpPr>
          <p:cNvPr id="11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ixa das equações"/>
          <p:cNvSpPr/>
          <p:nvPr/>
        </p:nvSpPr>
        <p:spPr>
          <a:xfrm>
            <a:off x="292608" y="804672"/>
            <a:ext cx="11594592" cy="188366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2" name="Rótulo 1"/>
          <p:cNvSpPr txBox="1"/>
          <p:nvPr/>
        </p:nvSpPr>
        <p:spPr>
          <a:xfrm>
            <a:off x="521208" y="1033272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3" name="Equação 1"/>
          <p:cNvSpPr txBox="1"/>
          <p:nvPr/>
        </p:nvSpPr>
        <p:spPr>
          <a:xfrm>
            <a:off x="2990088" y="1033272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614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4" name="Rótulo 2"/>
          <p:cNvSpPr txBox="1"/>
          <p:nvPr/>
        </p:nvSpPr>
        <p:spPr>
          <a:xfrm>
            <a:off x="521208" y="150876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5" name="Equação 2"/>
          <p:cNvSpPr txBox="1"/>
          <p:nvPr/>
        </p:nvSpPr>
        <p:spPr>
          <a:xfrm>
            <a:off x="2990088" y="1508760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6" name="Rótulo 3"/>
          <p:cNvSpPr txBox="1"/>
          <p:nvPr/>
        </p:nvSpPr>
        <p:spPr>
          <a:xfrm>
            <a:off x="521208" y="198424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7" name="Equação 3"/>
          <p:cNvSpPr txBox="1"/>
          <p:nvPr/>
        </p:nvSpPr>
        <p:spPr>
          <a:xfrm>
            <a:off x="2990088" y="1984248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8" name="Marcadores"/>
          <p:cNvSpPr txBox="1"/>
          <p:nvPr/>
        </p:nvSpPr>
        <p:spPr>
          <a:xfrm>
            <a:off x="292608" y="2962656"/>
            <a:ext cx="11594592" cy="2505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09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Oito bases oficiais, ligadas por município, célula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7370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3081782"/>
        </p:xfrm>
        <a:graphic>
          <a:graphicData uri="http://schemas.openxmlformats.org/drawingml/2006/table">
            <a:tbl>
              <a:tblPr firstRow="1" bandRow="1"/>
              <a:tblGrid>
                <a:gridCol w="4890887"/>
                <a:gridCol w="1832260"/>
                <a:gridCol w="1888402"/>
                <a:gridCol w="2983043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(estabelecimento × curso)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nos resultados (universo G1)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 do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R$ 10 · 15 · 20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Marcadores"/>
          <p:cNvSpPr txBox="1"/>
          <p:nvPr/>
        </p:nvSpPr>
        <p:spPr>
          <a:xfrm>
            <a:off x="292608" y="4069334"/>
            <a:ext cx="11594592" cy="13987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Célula: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estabelecimento × curso no quadro da 1ª chamada; uma célula pode ter várias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Preenchida: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alguma confirmação ou homologação; não é taxa de ocupação de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Candidatos: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as linhas com "…" são partes do universo G1 (todos os candidatos nos resultados); a amostra do P1 exige 1ª opção numa célula do quadro, ligação ao CNES e município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Faixa pela grade aplicada: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até 0,300 → R$ 10 mil; de 0,301 a 0,400 → R$ 15 mil; acima de 0,400 → R$ 20 mil.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203954"/>
        </p:xfrm>
        <a:graphic>
          <a:graphicData uri="http://schemas.openxmlformats.org/drawingml/2006/table">
            <a:tbl>
              <a:tblPr firstRow="1" bandRow="1"/>
              <a:tblGrid>
                <a:gridCol w="1583055"/>
                <a:gridCol w="2548136"/>
                <a:gridCol w="2367130"/>
                <a:gridCol w="2548136"/>
                <a:gridCol w="2548136"/>
              </a:tblGrid>
              <a:tr h="31889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 principal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36474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kernel triangular, h = 0,050; uma reta de cada lado por ciclo × corte; salto comum; efeitos fixos de curso × ciclo e de tipo de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IC honesto como sensibilidade; Holm nas primárias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36474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 entre as células do conjunto de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1–3; origem ligada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linear em R$ mil; IVS em spline com nós nos cortes; distância, mesma UF, mesma região, mesmo município, porte, capital, vaga imediata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como combinação linear com a covariância conjunta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55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local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2; candidato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controles ainda não tratados, base g − 1; efeito fixo de célula na comparação local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por médico; permutação na célula;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65396"/>
        </p:xfrm>
        <a:graphic>
          <a:graphicData uri="http://schemas.openxmlformats.org/drawingml/2006/table">
            <a:tbl>
              <a:tblPr firstRow="1" bandRow="1"/>
              <a:tblGrid>
                <a:gridCol w="3566891"/>
                <a:gridCol w="845645"/>
                <a:gridCol w="3948473"/>
                <a:gridCol w="3233584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Vale para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ou argumento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 (regra sharp)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oficial reproduz a faixa nos três ciclos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medido em 2010, antes do programa; teste de densidade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de covariáveis; placebos de outcome e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spline com nós nos cortes; placebos de corte;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e logit misto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 pré;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(P6)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balanço; desempate por regra fixa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ameaça comum aos cortes são as outras regras federais que mudam em 0,300 e 0,400: por isso "pacote do corte".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032" y="804672"/>
            <a:ext cx="7475744" cy="28803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432304" y="3867912"/>
          <a:ext cx="7315200" cy="1554480"/>
        </p:xfrm>
        <a:graphic>
          <a:graphicData uri="http://schemas.openxmlformats.org/drawingml/2006/table">
            <a:tbl>
              <a:tblPr firstRow="1" bandRow="1"/>
              <a:tblGrid>
                <a:gridCol w="5258696"/>
                <a:gridCol w="2056504"/>
              </a:tblGrid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Primeiro estágio sharp: dois cortes, +R$ 5 mil em cada, 0 municípios do lado errado no ciclo 1.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141" y="804672"/>
            <a:ext cx="8001526" cy="34264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395724"/>
            <a:ext cx="11503152" cy="10723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p.p.; por corte, +1,7 em 0,300 e +11,3 em 0,400.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sinal negativo não passa no Holm (0,124); em 0,400 vem do porte; em 0,300, da taxa por vaga, que depende da medida (doc 49b).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1,24 [0,99; 1,55] por +R$ 5 mil, p 0,065; a igualdade entre ciclos tem p 0,058.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, e resiste a poucos clusters e a placebos de corte (E9); os ciclos 1 e 3 não o replicam.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02894"/>
            <a:ext cx="7589520" cy="42669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8156448" y="1048614"/>
            <a:ext cx="3730752" cy="4419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Primária (P1h-1):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= θ_UF − 10·β = 1,98 [1,56; 2,40], p unilateral &lt; 0,001 (Holm, família de um teste): toda a amplitude da bolsa (R$ 10 → 20 mil) pesa menos que a vaga estar na UF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Lugar: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θ_UF é mesma UF, outra região de saúde, contra uma vaga em outra UF à mesma distância.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Em km (descritivo):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toda a amplitude da bolsa vale 224 km a menos de distância [−18; 466]; o IC contém zero, como o de β.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Sensibilidades: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positivo em todas: M2 1,18 · M4 1,73 · M5 por ciclo 2,34 · 1,31 · 2,37 · M7 2,07.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Escolha de quem se candidatou, entre vagas abertas: θ é preferência revelada condicional ao modelo, não efeito da geografia; β é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 e P1h_resumo.json (doc 57i; protocolo 52b, pós-resultado); figura output/rdd_bolsa/P1h_figuras/P1h_magnitudes.png, gravada pelo script 25c, com os rótulos corrigidos pela auditoria 31 (achados A1 e A2).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51,0% [48,4; 53,7] dos médicos já tinham vínculo no município do posto antes de entrar.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as horas totais aguentam violações de tendência até 1,30 vez a maior vista no pré.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069635" cy="5239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7636563" y="804672"/>
            <a:ext cx="4250637" cy="5239512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duas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45254"/>
        </p:xfrm>
        <a:graphic>
          <a:graphicData uri="http://schemas.openxmlformats.org/drawingml/2006/table">
            <a:tbl>
              <a:tblPr firstRow="1" bandRow="1"/>
              <a:tblGrid>
                <a:gridCol w="894080"/>
                <a:gridCol w="3563985"/>
                <a:gridCol w="3186536"/>
                <a:gridCol w="3949990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R$ 1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 ressalvas estão na tela: nenhuma especificação foi escolhida depois de ver o resultado.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Limites: pacote do corte, só candidatos, vínculo cadastrado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Pacote do corte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Nos mesmos cortes mudam o teto de emendas e de custeio de MAC (+20% para IVS maior que 0,3), o estrato do IED da APS e o teto de coparticipação do PMMB (10% → 40% em 0,3; 40% → 100% em 0,4). A DiRD tira só a parte fixa no tempo.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Sem margem extensiva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 escolha é de quem já se candidatou: o logit não vê quem deixou de se inscrever, e um aumento igual da bolsa em todas as vagas não muda nenhuma escolha no modelo.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Vínculo não é presença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Horas e vínculos são cadastros do CNES; não são horas trabalhadas nem retenção individual.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Não é a participação no PMM-E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efeito candidato é o incentivo marginal de R$ 5 mil anunciado, como pacote do corte; nem o Agora Tem Especialistas.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57, §4.2 e §7; CLAUDE.md.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efeito do tamanho da literatura não cabe no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959864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3696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939796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R$ 1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286508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847596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5752941"/>
                <a:gridCol w="5089303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5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2" name="Cartão 2"/>
          <p:cNvSpPr/>
          <p:nvPr/>
        </p:nvSpPr>
        <p:spPr>
          <a:xfrm>
            <a:off x="4248912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3" name="Cartão 3"/>
          <p:cNvSpPr/>
          <p:nvPr/>
        </p:nvSpPr>
        <p:spPr>
          <a:xfrm>
            <a:off x="8205216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4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