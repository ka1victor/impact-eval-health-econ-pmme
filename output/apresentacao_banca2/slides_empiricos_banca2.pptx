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4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  <p:sldId id="413" r:id="rId60"/>
    <p:sldId id="414" r:id="rId61"/>
    <p:sldId id="415" r:id="rId62"/>
    <p:sldId id="416" r:id="rId63"/>
    <p:sldId id="417" r:id="rId64"/>
    <p:sldId id="418" r:id="rId65"/>
    <p:sldId id="419" r:id="rId66"/>
    <p:sldId id="420" r:id="rId67"/>
    <p:sldId id="421" r:id="rId68"/>
    <p:sldId id="422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banca 1 testava só a última seta. Testar cada seta explica um resultado nulo no fim da cadeia: se a bolsa pesa pouco perto do custo do lugar (H3), ela reordena candidatos entre vagas (H2) sem mudar quantas vagas preenchem (H1). A H4 pergunta se o médico que chega aumenta a capacidade ou só passa a ser registrado onde já estava. Cautela: H3 é a hipótese central (proposta do plano, delegada pelo autor e revisável por ele); H1 é o teste de consistência da cadeia.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primeira linha é o modelo da banca 1. A segunda é a equação que estimamos para a escolha: a bolsa entra linear, o IVS em spline com nós nos cortes, e a distância e a origem entram como custo. A terceira é a descontinuidade do preenchimento. As equações completas do modelo ficam no apêndice da banca final. Cautela: Hipótese de identificação comum: dado o IVS contínuo, só a bolsa (com as regras do mesmo corte) salta em 0,300 e 0,400.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célula (estabelecimento × curso) é a unidade do quadro de vagas. O IVS é o oficial do Ipea, que coincide com o escore do Ministério. O CNES liga o candidato ao seu município de origem e acompanha as horas do médico mês a mês. A ligação usa CPF mascarado e nome só em memória. Cautela: Nome, CPF e CRM só ficam em memória ou em cache fora do Git; nenhuma saída os traz.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ciclo 2 abriu mais vagas imediatas e preencheu uma fração maior das células; o ciclo 3 tem muito cadastro reserva. A ligação ao CNES passa de nove em cada dez candidatos em todos os ciclos. Se perguntarem pelos universos: o G1 conta todos os candidatos dos resultados; nos ciclos 2 e 3 alguns não têm a 1ª opção numa célula do quadro da 1ª chamada e ficam fora da escolha. A amostra do P1 soma 5.421 candidatos. Ciclo 3: só a 1ª chamada; o seguimento pós-início segue congelado. Cautela: Descritivo: as diferenças entre ciclos não são efeito da bolsa.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Todos os protocolos foram congelados antes de estimar. O IC honesto (Armstrong e Kolesár) protege contra curvatura no corte; com o M do protocolo, ele sai largo demais para informar. Holm controla o erro nas primárias de cada família. Cautela: Nos cortes, o contraste é sempre o pacote do corte; nenhum estimador mede a participação no PMM-E.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regra sharp é o que torna a descontinuidade possível. A ameaça que não se testa por inteiro é a das co-políticas: emendas, custeio de MAC, o IED da APS e a coparticipação do PMMB mudam nos mesmos cortes. Na DiRD, só a parte fixa no tempo delas sai. Cautela: A ameaça comum aos cortes são as outras regras federais que mudam em 0,300 e 0,400: por isso "pacote do corte".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ponto é um município do ciclo 1, na altura da bolsa anunciada. Até 0,300, R$ 10 mil; até 0,400, R$ 15 mil; acima, R$ 20 mil. O FAQ do edital descreve outra grade; a aplicada é esta. Cautela: Primeiro estágio sharp: dois cortes, +R$ 5 mil em cada, 0 municípios do lado errado no ciclo 1.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Esta é a variável que o grupo pediu: o número de vagas preenchidas controlando o número de vagas oferecidas (N1): −0,76 [−1,44; −0,07] por município, sobre uma média de 2,16 do lado de bolsa menor. Ao lado, a probabilidade de a célula aberta ser preenchida (A3), que não depende do porte: −4,9 p.p. [−12,9; +3,2], MDE de 11,5 p.p. Nenhuma das duas mostra aumento. O sinal de N1 é negativo, mas não sobrevive ao Holm e, com um só coeficiente do controle, mudaria (ver Robustez); por isso a leitura é "não detectamos aumento", não "a bolsa reduz". Sem controle, −1,45 [−2,90; −0,01]: inclui a resposta da oferta de vagas. Cautela: Inconclusivo: IC que contém zero não é efeito zero. O descarte de ganhos grandes vale com o IC convencional e para o pacote do corte.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Logit condicional da 1ª opção de 5.421 candidatos entre as vagas abertas do seu curso e ciclo. A razão de chances compara duas vagas que diferem só no degrau de R$ 5 mil, com o IVS contínuo controlado. No ciclo 2: 1,70 [1,22; 2,37]; sem distância (E9), 1,95 [1,48; 2,57]. O que não mede: quem deixou de se candidatar e quantos médicos o programa atrai. Cautela: Inconclusivo na primária. Escolha não é expansão: o que uma vaga ganha, outra do mesmo curso perde.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Se perguntarem: a comparação usa os mesmos coeficientes do M1. Uma comparação de magnitude com limite não depende de o coeficiente da bolsa ser significativo, ao contrário da disposição a pagar, que é uma razão e explode quando o denominador fica perto de zero. Cautela: PENDENTE: nenhum número da H3 neste slide até a auditoria.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pergunta é se o programa cria oferta ou paga quem já estava. O médico soma +6,6 h/sem [+5,4; +7,8] de horas totais cadastradas (pré com p 0,310), sobretudo no município do posto (+8,7, com o pré falhando, p 0,001), e perde −2,1 fora dele. Metade já trabalhava no município. Na nota de corte (P4-CA), horas totais +7,91 [−0,63; +16,45], p de Holm 0,162; no município da 1ª opção, +10,92. Na comparação com quem ficou um ou dois pontos abaixo da nota de corte, o pré passa e a direção é a mesma, mas o IC das horas totais contém zero. As horas no município da 1ª opção são em parte mecânicas: ser alocado cria o vínculo. Cautela: Associação sob tendências paralelas, não efeito da bolsa nem da participação no PMM-E: horas cadastradas não são presença.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Ler de cima para baixo, na ordem da cadeia. Cinza: o IC contém o nulo. Verde em N1 é negativo e não passa no Holm. Verde em P6 Y1 é quase mecânico. Verde em P4 é associação: nas horas totais o pré passa e a conclusão aguenta violações de tendência do tamanho das do pré, mas outros outcomes do P4 falham no pré. A força de cada linha sai de uma regra fixa do gerador sobre os valores de output/. A escolha no ciclo 2 aparece no slide da H2. Cautela: Nenhuma pergunta tem hoje evidência causal limpa de mudança no resultado medido.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Duas ressalvas: com um só coeficiente do controle, N1 rejeitaria zero depois do Holm, mas o Wald rejeita essa restrição; e o IC honesto, com o M da regra de bolso, sai largo demais para informar. Ruptura de M̄ igual a 1 quer dizer que a conclusão aguenta violações de tendência do mesmo tamanho das vistas no pré. Cautela: As ressalvas estão na tela: nenhuma especificação foi escolhida depois de ver o resultado.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Cada cartão é uma pergunta que a banca pode fazer. O universo de inscritos responderia à margem extensiva; o pedido está pronto, mas depende do Ministério. Cautela: Inconclusivo não quer dizer que a bolsa não funciona: é ausência de efeito detectável, nos limites acima.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0,400 o degrau relativo é do tamanho do sorteio de Dal Bó et al.; em 0,300 é maior. Se a resposta aqui fosse da mesma ordem, o salto passaria da referência de +10 p.p., e o IC empilhado não admite isso, com o IC convencional. O ciclo 3 maduro é a replicação fora da amostra do sinal do ciclo 2. Cautela: Contextos e outcomes diferentes: lá, servidores e aceitação da oferta; aqui, especialistas e célula com confirmação ou homologação.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Nenhuma linha rejeita zero depois do Holm; o sinal é negativo em todas.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No ciclo 1, a faixa saiu depois do pedido dos gestores; ali a amostra não descarta efeitos moderados.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leitura da H2 é sensível à especificação; só o M1 é a principal, e as demais são relatadas, não escolhidas.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O sinal da escolha vem do ciclo 2; o ciclo 3 maduro é a replicação fora da amostra.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A RDD em nível mede um pacote; a DiRD tira só a parte constante dessas regras.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Cautela: FAILURE MODE: o arquivo não é inventado; é a linha errada da base certa.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banca2_01_regra_bolsa_ivs_oficial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banca2_02_h1_preenchimento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banca2_03_h2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banca2_04_h4_horas_medico.pn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banca2_05_cadeia_resumo_doc57.pn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6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7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8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9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3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Testamos cada seta do modelo: quatro hipóteses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Nó 1"/>
          <p:cNvSpPr/>
          <p:nvPr/>
        </p:nvSpPr>
        <p:spPr>
          <a:xfrm>
            <a:off x="320040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B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bolsa maior</a:t>
            </a:r>
          </a:p>
        </p:txBody>
      </p:sp>
      <p:sp>
        <p:nvSpPr>
          <p:cNvPr id="102" name="Nó 2"/>
          <p:cNvSpPr/>
          <p:nvPr/>
        </p:nvSpPr>
        <p:spPr>
          <a:xfrm>
            <a:off x="2734056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V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vale mais</a:t>
            </a:r>
          </a:p>
        </p:txBody>
      </p:sp>
      <p:cxnSp>
        <p:nvCxnSpPr>
          <p:cNvPr id="103" name="Seta 1"/>
          <p:cNvCxnSpPr/>
          <p:nvPr/>
        </p:nvCxnSpPr>
        <p:spPr>
          <a:xfrm>
            <a:off x="2258568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4" name="Nó 3"/>
          <p:cNvSpPr/>
          <p:nvPr/>
        </p:nvSpPr>
        <p:spPr>
          <a:xfrm>
            <a:off x="5148072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π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mais médicos a escolhem</a:t>
            </a:r>
          </a:p>
        </p:txBody>
      </p:sp>
      <p:cxnSp>
        <p:nvCxnSpPr>
          <p:cNvPr id="105" name="Seta 2"/>
          <p:cNvCxnSpPr/>
          <p:nvPr/>
        </p:nvCxnSpPr>
        <p:spPr>
          <a:xfrm>
            <a:off x="4672584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6" name="Nó 4"/>
          <p:cNvSpPr/>
          <p:nvPr/>
        </p:nvSpPr>
        <p:spPr>
          <a:xfrm>
            <a:off x="7562088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114719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FFFFFF"/>
                </a:solidFill>
                <a:latin typeface="Montserrat"/>
              </a:rPr>
              <a:t>Pr(Y = 1)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DDEFE0"/>
                </a:solidFill>
                <a:latin typeface="Montserrat"/>
              </a:rPr>
              <a:t>a vaga é preenchida</a:t>
            </a:r>
          </a:p>
        </p:txBody>
      </p:sp>
      <p:cxnSp>
        <p:nvCxnSpPr>
          <p:cNvPr id="107" name="Seta 3"/>
          <p:cNvCxnSpPr/>
          <p:nvPr/>
        </p:nvCxnSpPr>
        <p:spPr>
          <a:xfrm>
            <a:off x="7086600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08" name="Nó 5"/>
          <p:cNvSpPr/>
          <p:nvPr/>
        </p:nvSpPr>
        <p:spPr>
          <a:xfrm>
            <a:off x="9976104" y="1216152"/>
            <a:ext cx="1883664" cy="713232"/>
          </a:xfrm>
          <a:prstGeom prst="roundRect">
            <a:avLst>
              <a:gd name="adj" fmla="val 14000"/>
            </a:avLst>
          </a:prstGeom>
          <a:solidFill>
            <a:srgbClr val="E7F1E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capacidade ↑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0" dirty="0">
                <a:solidFill>
                  <a:srgbClr val="3A3A3A"/>
                </a:solidFill>
                <a:latin typeface="Montserrat"/>
              </a:rPr>
              <a:t>horas de especialista no SUS</a:t>
            </a:r>
          </a:p>
        </p:txBody>
      </p:sp>
      <p:cxnSp>
        <p:nvCxnSpPr>
          <p:cNvPr id="109" name="Seta 4"/>
          <p:cNvCxnSpPr/>
          <p:nvPr/>
        </p:nvCxnSpPr>
        <p:spPr>
          <a:xfrm>
            <a:off x="9500616" y="1572768"/>
            <a:ext cx="420624" cy="0"/>
          </a:xfrm>
          <a:prstGeom prst="straightConnector1">
            <a:avLst/>
          </a:prstGeom>
          <a:ln w="28575">
            <a:solidFill>
              <a:srgbClr val="056429"/>
            </a:solidFill>
            <a:tailEnd type="triangle" w="med" len="med"/>
          </a:ln>
        </p:spPr>
      </p:cxnSp>
      <p:sp>
        <p:nvSpPr>
          <p:cNvPr id="110" name="H1"/>
          <p:cNvSpPr/>
          <p:nvPr/>
        </p:nvSpPr>
        <p:spPr>
          <a:xfrm>
            <a:off x="365760" y="841248"/>
            <a:ext cx="9034272" cy="246888"/>
          </a:xfrm>
          <a:prstGeom prst="roundRect">
            <a:avLst>
              <a:gd name="adj" fmla="val 50000"/>
            </a:avLst>
          </a:prstGeom>
          <a:solidFill>
            <a:srgbClr val="05642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H1 · preenchimento: B → Pr(Y = 1)</a:t>
            </a:r>
          </a:p>
        </p:txBody>
      </p:sp>
      <p:sp>
        <p:nvSpPr>
          <p:cNvPr id="111" name="H2"/>
          <p:cNvSpPr/>
          <p:nvPr/>
        </p:nvSpPr>
        <p:spPr>
          <a:xfrm>
            <a:off x="365760" y="1984248"/>
            <a:ext cx="6620256" cy="246888"/>
          </a:xfrm>
          <a:prstGeom prst="roundRect">
            <a:avLst>
              <a:gd name="adj" fmla="val 50000"/>
            </a:avLst>
          </a:prstGeom>
          <a:solidFill>
            <a:srgbClr val="3E7C4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H2 · escolha: B → V → π</a:t>
            </a:r>
          </a:p>
        </p:txBody>
      </p:sp>
      <p:sp>
        <p:nvSpPr>
          <p:cNvPr id="112" name="H3"/>
          <p:cNvSpPr/>
          <p:nvPr/>
        </p:nvSpPr>
        <p:spPr>
          <a:xfrm>
            <a:off x="2962656" y="1033272"/>
            <a:ext cx="1426464" cy="219456"/>
          </a:xfrm>
          <a:prstGeom prst="roundRect">
            <a:avLst>
              <a:gd name="adj" fmla="val 50000"/>
            </a:avLst>
          </a:prstGeom>
          <a:solidFill>
            <a:srgbClr val="C23B33"/>
          </a:solidFill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 dirty="0">
                <a:solidFill>
                  <a:srgbClr val="FFFFFF"/>
                </a:solidFill>
                <a:latin typeface="Montserrat"/>
              </a:rPr>
              <a:t>H3 · central</a:t>
            </a:r>
          </a:p>
        </p:txBody>
      </p:sp>
      <p:sp>
        <p:nvSpPr>
          <p:cNvPr id="113" name="H4"/>
          <p:cNvSpPr/>
          <p:nvPr/>
        </p:nvSpPr>
        <p:spPr>
          <a:xfrm>
            <a:off x="7607808" y="1984248"/>
            <a:ext cx="4206240" cy="246888"/>
          </a:xfrm>
          <a:prstGeom prst="roundRect">
            <a:avLst>
              <a:gd name="adj" fmla="val 50000"/>
            </a:avLst>
          </a:prstGeom>
          <a:solidFill>
            <a:srgbClr val="6B6B6B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50" b="1" dirty="0">
                <a:solidFill>
                  <a:srgbClr val="FFFFFF"/>
                </a:solidFill>
                <a:latin typeface="Montserrat"/>
              </a:rPr>
              <a:t>H4 · capacidade líquida</a:t>
            </a:r>
          </a:p>
        </p:txBody>
      </p:sp>
      <p:graphicFrame>
        <p:nvGraphicFramePr>
          <p:cNvPr id="114" name="Tabela"/>
          <p:cNvGraphicFramePr>
            <a:graphicFrameLocks noGrp="1"/>
          </p:cNvGraphicFramePr>
          <p:nvPr/>
        </p:nvGraphicFramePr>
        <p:xfrm>
          <a:off x="292608" y="2395728"/>
          <a:ext cx="11594592" cy="2361438"/>
        </p:xfrm>
        <a:graphic>
          <a:graphicData uri="http://schemas.openxmlformats.org/drawingml/2006/table">
            <a:tbl>
              <a:tblPr firstRow="1" bandRow="1"/>
              <a:tblGrid>
                <a:gridCol w="1754959"/>
                <a:gridCol w="2611951"/>
                <a:gridCol w="4161130"/>
                <a:gridCol w="3066552"/>
              </a:tblGrid>
              <a:tr h="3111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Seta do 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O que testa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Pr(Y = 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célula aberta do lado de bolsa maior preenche mais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nos cortes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H2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→ V → π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a vaga de bolsa maior é mais escolhida como 1ª opção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H3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B contra o custo do lugar, dentro de V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peso da bolsa é pequeno perto da distância e da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coeficientes do mesmo logit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0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chegada → capacidade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o médico que chega soma horas ou só muda o registro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evento; comparação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H3 é a hipótese central (proposta do plano, delegada pelo autor e revisável por ele); H1 é o teste de consistência da cadeia.</a:t>
            </a:r>
          </a:p>
        </p:txBody>
      </p:sp>
      <p:sp>
        <p:nvSpPr>
          <p:cNvPr id="11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§3; modelo da banca 1 (Moehling et al.; Redding e Rossi-Hansberg; Choné e Ma; Burdett, Shi e Wright).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Do modelo às equações estimadas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sp>
        <p:nvSpPr>
          <p:cNvPr id="101" name="Caixa das equações"/>
          <p:cNvSpPr/>
          <p:nvPr/>
        </p:nvSpPr>
        <p:spPr>
          <a:xfrm>
            <a:off x="292608" y="804672"/>
            <a:ext cx="11594592" cy="1883664"/>
          </a:xfrm>
          <a:prstGeom prst="roundRect">
            <a:avLst>
              <a:gd name="adj" fmla="val 6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73152" tIns="45720" rIns="73152" bIns="45720" rtlCol="0" anchor="ctr">
            <a:noAutofit/>
          </a:bodyPr>
          <a:lstStyle/>
          <a:p>
            <a:endParaRPr lang="pt-BR"/>
          </a:p>
        </p:txBody>
      </p:sp>
      <p:sp>
        <p:nvSpPr>
          <p:cNvPr id="102" name="Rótulo 1"/>
          <p:cNvSpPr txBox="1"/>
          <p:nvPr/>
        </p:nvSpPr>
        <p:spPr>
          <a:xfrm>
            <a:off x="521208" y="1033272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Modelo (Moehling)</a:t>
            </a:r>
          </a:p>
        </p:txBody>
      </p:sp>
      <p:sp>
        <p:nvSpPr>
          <p:cNvPr id="103" name="Equação 1"/>
          <p:cNvSpPr txBox="1"/>
          <p:nvPr/>
        </p:nvSpPr>
        <p:spPr>
          <a:xfrm>
            <a:off x="2990088" y="1033272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V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Σ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δ</a:t>
            </a:r>
            <a:r>
              <a:rPr lang="pt-BR" sz="1614" b="0" baseline="30000" dirty="0">
                <a:solidFill>
                  <a:srgbClr val="3A3A3A"/>
                </a:solidFill>
                <a:latin typeface="Montserrat"/>
              </a:rPr>
              <a:t>t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[ E(w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| 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/ p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]</a:t>
            </a:r>
          </a:p>
        </p:txBody>
      </p:sp>
      <p:sp>
        <p:nvSpPr>
          <p:cNvPr id="104" name="Rótulo 2"/>
          <p:cNvSpPr txBox="1"/>
          <p:nvPr/>
        </p:nvSpPr>
        <p:spPr>
          <a:xfrm>
            <a:off x="521208" y="1508760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Escolha (H2, H3)</a:t>
            </a:r>
          </a:p>
        </p:txBody>
      </p:sp>
      <p:sp>
        <p:nvSpPr>
          <p:cNvPr id="105" name="Equação 2"/>
          <p:cNvSpPr txBox="1"/>
          <p:nvPr/>
        </p:nvSpPr>
        <p:spPr>
          <a:xfrm>
            <a:off x="2990088" y="1508760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U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β·B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) − γ·dist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θ·mesmaUF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λ·X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rm</a:t>
            </a:r>
          </a:p>
        </p:txBody>
      </p:sp>
      <p:sp>
        <p:nvSpPr>
          <p:cNvPr id="106" name="Rótulo 3"/>
          <p:cNvSpPr txBox="1"/>
          <p:nvPr/>
        </p:nvSpPr>
        <p:spPr>
          <a:xfrm>
            <a:off x="521208" y="1984248"/>
            <a:ext cx="2377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Preenchimento (H1)</a:t>
            </a:r>
          </a:p>
        </p:txBody>
      </p:sp>
      <p:sp>
        <p:nvSpPr>
          <p:cNvPr id="107" name="Equação 3"/>
          <p:cNvSpPr txBox="1"/>
          <p:nvPr/>
        </p:nvSpPr>
        <p:spPr>
          <a:xfrm>
            <a:off x="2990088" y="1984248"/>
            <a:ext cx="875995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b="0" dirty="0">
                <a:solidFill>
                  <a:srgbClr val="3A3A3A"/>
                </a:solidFill>
                <a:latin typeface="Montserrat"/>
              </a:rPr>
              <a:t>Y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= α + τ·D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f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±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(IVS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m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− corte) + μ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curso×ciclo</a:t>
            </a:r>
            <a:r>
              <a:rPr lang="pt-BR" sz="1700" b="0" dirty="0">
                <a:solidFill>
                  <a:srgbClr val="3A3A3A"/>
                </a:solidFill>
                <a:latin typeface="Montserrat"/>
              </a:rPr>
              <a:t> + ε</a:t>
            </a:r>
            <a:r>
              <a:rPr lang="pt-BR" sz="1614" b="0" baseline="-25000" dirty="0">
                <a:solidFill>
                  <a:srgbClr val="3A3A3A"/>
                </a:solidFill>
                <a:latin typeface="Montserrat"/>
              </a:rPr>
              <a:t>c</a:t>
            </a:r>
          </a:p>
        </p:txBody>
      </p:sp>
      <p:sp>
        <p:nvSpPr>
          <p:cNvPr id="108" name="Marcadores"/>
          <p:cNvSpPr txBox="1"/>
          <p:nvPr/>
        </p:nvSpPr>
        <p:spPr>
          <a:xfrm>
            <a:off x="292608" y="2962656"/>
            <a:ext cx="11594592" cy="2505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β: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utilidade marginal da bolsa, o 1/p do modelo.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γ e θ: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custo geográfico (Redding e Rossi-Hansberg): distância e mesma UF da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f(IVS):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contínua nos cortes; absorve o que varia suave com a vulnerabilidade (custo laboral de Choné e Ma, amenidades, preços).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ε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tipo valor extremo dá o logit condicional; a agregação de Burdett, Shi e Wright leva de π a Pr(Y = 1).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τ: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salto no corte, com D = lado de bolsa maior; mede o pacote do corte, não a bolsa isolada.</a:t>
            </a:r>
          </a:p>
        </p:txBody>
      </p:sp>
      <p:sp>
        <p:nvSpPr>
          <p:cNvPr id="109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Hipótese de identificação comum: dado o IVS contínuo, só a bolsa (com as regras do mesmo corte) salta em 0,300 e 0,400.</a:t>
            </a:r>
          </a:p>
        </p:txBody>
      </p:sp>
      <p:sp>
        <p:nvSpPr>
          <p:cNvPr id="110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§4.3; protocolos 48 e 52.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Oito bases oficiais, ligadas por município, célula e médico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473702"/>
        </p:xfrm>
        <a:graphic>
          <a:graphicData uri="http://schemas.openxmlformats.org/drawingml/2006/table">
            <a:tbl>
              <a:tblPr firstRow="1" bandRow="1"/>
              <a:tblGrid>
                <a:gridCol w="1984567"/>
                <a:gridCol w="2633581"/>
                <a:gridCol w="1086993"/>
                <a:gridCol w="2610515"/>
                <a:gridCol w="1798243"/>
                <a:gridCol w="1480693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Base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Fonte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Período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chaves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Cobertura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Uso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Quadros de vagas e resultados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chamamentos dos ciclos 1, 2 e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= estabelecimento × curso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 · 1.547 · 2.293 células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descritivas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e opções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SGTES/MS: classificação, alocação e homologação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2025–2026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opção; CPF mascarado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993 · 2.179 · 2.604 candidatos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H3,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Ipea, Plataforma IVS (Censo 2010)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5.565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running variable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CNES: vínculos e horas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DATASUS/MS, base completa mensal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2022-01 a 2026-08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profissional × estabelecimento × mês; pseudônimo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ligados: 938 · 2.102 · 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H2 (origem), 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Especialistas ativos do PMM-E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MS, relação nominal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2026-09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posto; CRM só em memória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1.957 registros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(chegada)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69075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Produção ambulatorial e hospitalar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DATASUS/MS: SIA e SIH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mensal, pré e pós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× mês × grupo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nacional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K (acesso)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População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IBGE, Censo 2022 (SIDRA)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município (IBGE)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5.570 municípios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denominadores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Atos com corte no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portarias do MS (auditoria 18)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2023–2026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ato ×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nos dois cortes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ameaça: pacote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Nome, CPF e CRM só ficam em memória ou em cache fora do Git; nenhuma saída os traz.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output/apresentacao_banca2/tabela_fontes.csv (gerada por scripts/apresentacao/gerar_figuras_banca2.py); manifestos de aquisição em output/aquisicao/.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Os três ciclos em números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Base de Dados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3081782"/>
        </p:xfrm>
        <a:graphic>
          <a:graphicData uri="http://schemas.openxmlformats.org/drawingml/2006/table">
            <a:tbl>
              <a:tblPr firstRow="1" bandRow="1"/>
              <a:tblGrid>
                <a:gridCol w="4890887"/>
                <a:gridCol w="1832260"/>
                <a:gridCol w="1888402"/>
                <a:gridCol w="2983043"/>
              </a:tblGrid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Item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com célula no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(estabelecimento × curso)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1.295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1.547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2.293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Vagas imediatas · cadastro reserva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678 · 1.145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1.836 · 1.053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1.132 · 3.999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Candidatos nos resultados (universo G1)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2.179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2.604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ligados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938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2.533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… com 1ª opção numa célula do quadro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993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2.140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2.581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Amostra da escolha (P1)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915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2.032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2.474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393 (30,3%)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728 (47,1%)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497 (21,7%)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Células preenchidas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461 (35,6%)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867 (56,0%)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observado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28016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1" dirty="0">
                          <a:solidFill>
                            <a:srgbClr val="3A3A3A"/>
                          </a:solidFill>
                          <a:latin typeface="Montserrat"/>
                        </a:rPr>
                        <a:t>Municípios por faixa: R$ 10 · 15 · 20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159 · 107 · 102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210 · 115 · 129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100" b="0" dirty="0">
                          <a:solidFill>
                            <a:srgbClr val="3A3A3A"/>
                          </a:solidFill>
                          <a:latin typeface="Montserrat"/>
                        </a:rPr>
                        <a:t>276 · 180 · 291 (e 1 sem IVS)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Marcadores"/>
          <p:cNvSpPr txBox="1"/>
          <p:nvPr/>
        </p:nvSpPr>
        <p:spPr>
          <a:xfrm>
            <a:off x="292608" y="4069334"/>
            <a:ext cx="11594592" cy="13987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Célula: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estabelecimento × curso no quadro da 1ª chamada; uma célula pode ter várias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Preenchida: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alguma confirmação ou homologação; não é taxa de ocupação de vagas.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Candidatos: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as linhas com "…" são partes do universo G1 (todos os candidatos nos resultados); a amostra do P1 exige 1ª opção numa célula do quadro, ligação ao CNES e município de origem.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200" b="1" dirty="0">
                <a:solidFill>
                  <a:srgbClr val="114719"/>
                </a:solidFill>
                <a:latin typeface="Montserrat"/>
              </a:rPr>
              <a:t>Faixa pela grade aplicada:</a:t>
            </a:r>
            <a:r>
              <a:rPr lang="pt-BR" sz="1200" b="0" dirty="0">
                <a:solidFill>
                  <a:srgbClr val="3A3A3A"/>
                </a:solidFill>
                <a:latin typeface="Montserrat"/>
              </a:rPr>
              <a:t> até 0,300 → R$ 10 mil; de 0,301 a 0,400 → R$ 15 mil; acima de 0,400 → R$ 20 mil.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Descritivo: as diferenças entre ciclos não são efeito da bolsa.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output/apresentacao_banca2/tabela_descritiva_ciclos.csv, contada de output/rdd_bolsa/outcomes/outcomes_V_celula.parquet e de output/rdd_bolsa/G1_resumo.json.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estimador por hipótese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203954"/>
        </p:xfrm>
        <a:graphic>
          <a:graphicData uri="http://schemas.openxmlformats.org/drawingml/2006/table">
            <a:tbl>
              <a:tblPr firstRow="1" bandRow="1"/>
              <a:tblGrid>
                <a:gridCol w="1583055"/>
                <a:gridCol w="2548136"/>
                <a:gridCol w="2367130"/>
                <a:gridCol w="2548136"/>
                <a:gridCol w="2548136"/>
              </a:tblGrid>
              <a:tr h="31889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Estimador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Unidade e amostra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 principal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FFFFFF"/>
                          </a:solidFill>
                          <a:latin typeface="Montserrat"/>
                        </a:rPr>
                        <a:t>Inferência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136474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H1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preenchimento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RDD sharp local linear nos cortes 0,300 e 0,400 do IVS 2010 oficial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célula aberta (A3) e município (N); ciclos 1–3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kernel triangular, h = 0,050; uma reta de cada lado por ciclo × corte; salto comum; efeitos fixos de curso × ciclo e de tipo de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CR1 por município; IC honesto como sensibilidade; Holm nas primárias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136474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H2 e H3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escolha e incentivo limitado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condicional (McFadden) da 1ª opção entre as células do conjunto de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 × célula do mesmo curso e ciclo; ciclos 1–3; origem ligada ao CNES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linear em R$ mil; IVS em spline com nós nos cortes; distância, mesma UF, mesma região, mesmo município, porte, capital, vaga imediata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cluster por conjunto de escolha; H3 como combinação linear com a covariância conjunta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5557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1" dirty="0">
                          <a:solidFill>
                            <a:srgbClr val="114719"/>
                          </a:solidFill>
                          <a:latin typeface="Montserrat"/>
                        </a:rPr>
                        <a:t>H4</a:t>
                      </a:r>
                      <a:r>
                        <a:rPr lang="pt-BR" sz="1350" b="1" dirty="0">
                          <a:solidFill>
                            <a:srgbClr val="3A3A3A"/>
                          </a:solidFill>
                          <a:latin typeface="Montserrat"/>
                        </a:rPr>
                        <a:t> capacidade líquida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estudo de evento escalonado (Callaway–Sant'Anna); comparação local na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médico × mês, ciclos 1 e 2; candidato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controles ainda não tratados, base g − 1; efeito fixo de célula na comparação local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50" b="0" dirty="0">
                          <a:solidFill>
                            <a:srgbClr val="3A3A3A"/>
                          </a:solidFill>
                          <a:latin typeface="Montserrat"/>
                        </a:rPr>
                        <a:t>bootstrap multiplicador por médico; permutação na célula;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Nos cortes, o contraste é sempre o pacote do corte; nenhum estimador mede a participação no PMM-E.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§4.1; protocolos 40, 48, 52, 52b, 54, 56 e 59.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Hipóteses de identificação e como foram testadas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>  |  </a:t>
            </a:r>
            <a:r>
              <a:rPr lang="pt-BR" sz="1000" dirty="0">
                <a:latin typeface="Montserrat"/>
              </a:rPr>
              <a:t>Resultados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65396"/>
        </p:xfrm>
        <a:graphic>
          <a:graphicData uri="http://schemas.openxmlformats.org/drawingml/2006/table">
            <a:tbl>
              <a:tblPr firstRow="1" bandRow="1"/>
              <a:tblGrid>
                <a:gridCol w="3566891"/>
                <a:gridCol w="845645"/>
                <a:gridCol w="3948473"/>
                <a:gridCol w="3233584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 de identificação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Vale para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ou argumento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Situação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 faixa é função determinística do IVS (regra sharp)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oficial reproduz a faixa nos três ciclos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manipulação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H1, 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IVS medido em 2010, antes do programa; teste de densidade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continuidade dos potenciais no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de covariáveis; placebos de outcome e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passa, com seleção suspeita no ciclo 1 em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dado o IVS contínuo, só a bolsa salta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spline com nós nos cortes; placebos de corte;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o pacote do corte não se separa (co-políticas)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047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independência de alternativas irrelevantes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H2, H3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e logit misto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violada em parte; o coeficiente da bolsa muda pouco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tendências paralelas entre coortes de entrada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teste conjunto do pré; Rambachan–Roth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falha em parte dos outcomes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alocação quase aleatória perto da nota de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H4 (P6)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balanço; desempate por regra fixa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balanço passa; desempate não é sorteio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ameaça comum aos cortes são as outras regras federais que mudam em 0,300 e 0,400: por isso "pacote do corte".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plano da banca 2, §4.2; auditorias 16 e 18; docs 37, 41, 49, 57a, 57d, 57f e 57h.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2032" y="804672"/>
            <a:ext cx="7475744" cy="28803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graphicFrame>
        <p:nvGraphicFramePr>
          <p:cNvPr id="102" name="Tabela"/>
          <p:cNvGraphicFramePr>
            <a:graphicFrameLocks noGrp="1"/>
          </p:cNvGraphicFramePr>
          <p:nvPr/>
        </p:nvGraphicFramePr>
        <p:xfrm>
          <a:off x="2432304" y="3867912"/>
          <a:ext cx="7315200" cy="1554480"/>
        </p:xfrm>
        <a:graphic>
          <a:graphicData uri="http://schemas.openxmlformats.org/drawingml/2006/table">
            <a:tbl>
              <a:tblPr firstRow="1" bandRow="1"/>
              <a:tblGrid>
                <a:gridCol w="5258696"/>
                <a:gridCol w="2056504"/>
              </a:tblGrid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Conferência (portão R1)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escore da relação nominal do MS = IVS 2010 oficial, a 3 casas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404/404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 · ciclo 2: faixa reproduzida pela regra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368 de 368 · 454 de 454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565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3 (congelado): o que falta foi criado depois de 2010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00" b="0" dirty="0">
                          <a:solidFill>
                            <a:srgbClr val="3A3A3A"/>
                          </a:solidFill>
                          <a:latin typeface="Montserrat"/>
                        </a:rPr>
                        <a:t>747 de 748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Primeiro estágio sharp: dois cortes, +R$ 5 mil em cada, 0 municípios do lado errado no ciclo 1.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16; figura por scripts/apresentacao/gerar_figuras_banca2.py.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H1: o preenchimento não aumenta de forma detectável no corte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1: vagas preenchidas por município (N1) e probabilidade de a célula aberta ser preenchida (A3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141" y="804672"/>
            <a:ext cx="8001526" cy="342646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395724"/>
            <a:ext cx="11503152" cy="10723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A3: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maior aumento compatível, +3,2 p.p., fica abaixo da referência de +10 p.p.; por corte, +1,7 em 0,300 e +11,3 em 0,400.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N1: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sinal negativo não passa no Holm (0,124); em 0,400 vem do porte; em 0,300, da taxa por vaga, que depende da medida (doc 49b).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Inconclusivo: IC que contém zero não é efeito zero. O descarte de ganhos grandes vale com o IC convencional e para o pacote do corte.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§3); output/rdd_bolsa/S57_resumo.json (A3; doc 49, §15; doc 57, §4.2).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H2: a bolsa pesa na escolha da vaga só no ciclo 2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2: razão de chances da 1ª opção por +R$ 5 mil, ciclos empilhados e por ciclo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Primária (M1):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1,24 [0,99; 1,55] por +R$ 5 mil, p 0,065; a igualdade entre ciclos tem p 0,058.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Só o ciclo 2 exclui 1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, e resiste a poucos clusters e a placebos de corte (E9); os ciclos 1 e 3 não o replicam.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na primária. Escolha não é expansão: o que uma vaga ganha, outra do mesmo curso perde.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57a); output/rdd_bolsa/E8_resumo.json (E9, doc 44, §5.2).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H3: incentivo limitado — PENDENTE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Selo PENDENTE"/>
          <p:cNvSpPr/>
          <p:nvPr/>
        </p:nvSpPr>
        <p:spPr>
          <a:xfrm>
            <a:off x="292608" y="850392"/>
            <a:ext cx="2834640" cy="566928"/>
          </a:xfrm>
          <a:prstGeom prst="roundRect">
            <a:avLst>
              <a:gd name="adj" fmla="val 20000"/>
            </a:avLst>
          </a:prstGeom>
          <a:solidFill>
            <a:srgbClr val="B5470F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 spc="200" dirty="0">
                <a:solidFill>
                  <a:srgbClr val="FFFFFF"/>
                </a:solidFill>
                <a:latin typeface="Montserrat"/>
              </a:rPr>
              <a:t>PENDENTE</a:t>
            </a:r>
          </a:p>
        </p:txBody>
      </p:sp>
      <p:sp>
        <p:nvSpPr>
          <p:cNvPr id="102" name="Selo texto"/>
          <p:cNvSpPr txBox="1"/>
          <p:nvPr/>
        </p:nvSpPr>
        <p:spPr>
          <a:xfrm>
            <a:off x="3355848" y="850392"/>
            <a:ext cx="8531352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1" dirty="0">
                <a:solidFill>
                  <a:srgbClr val="B5470F"/>
                </a:solidFill>
                <a:latin typeface="Montserrat"/>
              </a:rPr>
              <a:t>Resultado do protocolo 52b em estimação e auditoria. Este slide será trocado.</a:t>
            </a:r>
          </a:p>
        </p:txBody>
      </p:sp>
      <p:sp>
        <p:nvSpPr>
          <p:cNvPr id="103" name="Espaço da figura"/>
          <p:cNvSpPr/>
          <p:nvPr/>
        </p:nvSpPr>
        <p:spPr>
          <a:xfrm>
            <a:off x="292608" y="1673352"/>
            <a:ext cx="4937760" cy="3794760"/>
          </a:xfrm>
          <a:prstGeom prst="roundRect">
            <a:avLst>
              <a:gd name="adj" fmla="val 4000"/>
            </a:avLst>
          </a:prstGeom>
          <a:solidFill>
            <a:srgbClr val="FDEBD9"/>
          </a:solidFill>
          <a:ln w="19050">
            <a:solidFill>
              <a:srgbClr val="B5470F"/>
            </a:solidFill>
            <a:prstDash val="dash"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B5470F"/>
                </a:solidFill>
                <a:latin typeface="Montserrat"/>
              </a:rPr>
              <a:t>figura da H3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0" dirty="0">
                <a:solidFill>
                  <a:srgbClr val="B5470F"/>
                </a:solidFill>
                <a:latin typeface="Montserrat"/>
              </a:rPr>
              <a:t>coeficientes do M1 na mesma escala de utilidade</a:t>
            </a:r>
          </a:p>
        </p:txBody>
      </p:sp>
      <p:sp>
        <p:nvSpPr>
          <p:cNvPr id="104" name="Marcadores"/>
          <p:cNvSpPr txBox="1"/>
          <p:nvPr/>
        </p:nvSpPr>
        <p:spPr>
          <a:xfrm>
            <a:off x="5550408" y="1764792"/>
            <a:ext cx="6336792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Teste congelado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no protocolo 52b em 26/10/2026, antes de calcular: o efeito de toda a amplitude da bolsa (R$ 10 mil → R$ 20 mil) é menor que o de a vaga ficar na UF de origem?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Também: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 amplitude da bolsa expressa em km equivalentes de distância, com IC.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Estado: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o script 25c (doc 57i) está sendo rodado por outra sessão e passa por auditoria independente antes de entrar aqui.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FDEBD9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B5470F"/>
                </a:solidFill>
                <a:latin typeface="Montserrat"/>
              </a:rPr>
              <a:t>PENDENTE: nenhum número da H3 neste slide até a auditoria.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docs/06_execucao/52b_protocolo_P1h_magnitudes.md.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H4: o médico soma horas, mas metade já estava no município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H4: horas semanais cadastradas do médico depois da entrada (P4) e na nota de corte (P4-CA), com &quot;Como ler&quot;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24" y="804672"/>
            <a:ext cx="8179760" cy="3839210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Marcadores"/>
          <p:cNvSpPr txBox="1"/>
          <p:nvPr/>
        </p:nvSpPr>
        <p:spPr>
          <a:xfrm>
            <a:off x="384048" y="4808474"/>
            <a:ext cx="11503152" cy="6596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Origem (descritivo):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51,0% [48,4; 53,7] dos médicos já tinham vínculo no município do posto antes de entrar.</a:t>
            </a:r>
          </a:p>
          <a:p>
            <a:pPr marL="201168" indent="-201168"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  <a:buClr>
                <a:srgbClr val="056429"/>
              </a:buClr>
              <a:buFont typeface="Arial"/>
              <a:buChar char="•"/>
            </a:pPr>
            <a:r>
              <a:rPr lang="pt-BR" sz="1300" b="1" dirty="0">
                <a:solidFill>
                  <a:srgbClr val="114719"/>
                </a:solidFill>
                <a:latin typeface="Montserrat"/>
              </a:rPr>
              <a:t>Rambachan–Roth:</a:t>
            </a:r>
            <a:r>
              <a:rPr lang="pt-BR" sz="1300" b="0" dirty="0">
                <a:solidFill>
                  <a:srgbClr val="3A3A3A"/>
                </a:solidFill>
                <a:latin typeface="Montserrat"/>
              </a:rPr>
              <a:t> as horas totais aguentam violações de tendência até 1,30 vez a maior vista no pré.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Associação sob tendências paralelas, não efeito da bolsa nem da participação no PMM-E: horas cadastradas não são presença.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(P4, doc 57d); output/rdd_bolsa/H_estimativas.csv e CA_estimativas.csv (doc 57h).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Na cadeia, só a escolha e o registro do médico se movem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pic>
        <p:nvPicPr>
          <p:cNvPr id="101" name="Figura" descr="A cadeia do doc 57: uma linha por pergunta, cada uma na sua escala, com a força da evidênci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04672"/>
            <a:ext cx="7942537" cy="523951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8509465" y="804672"/>
            <a:ext cx="3377735" cy="5239512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Nenhuma pergunta tem hoje evidência causal limpa de mudança no resultado medido.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§2 e §4); figura por scripts/apresentacao/gerar_figuras_banca2.py.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as leituras resistem, com duas ressalvas declaradas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4583430"/>
        </p:xfrm>
        <a:graphic>
          <a:graphicData uri="http://schemas.openxmlformats.org/drawingml/2006/table">
            <a:tbl>
              <a:tblPr firstRow="1" bandRow="1"/>
              <a:tblGrid>
                <a:gridCol w="988568"/>
                <a:gridCol w="3511196"/>
                <a:gridCol w="3210760"/>
                <a:gridCol w="3884068"/>
              </a:tblGrid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Hipótese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Resultado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FFFFFF"/>
                          </a:solidFill>
                          <a:latin typeface="Montserrat"/>
                        </a:rPr>
                        <a:t>Leitura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outras janelas (h = 0,030 e 0,080)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−0,78 e −0,47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sem os municípios colados ao corte (donut)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−0,65 [−1,43; +0,14]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mesmo sinal;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N1 com um só coeficiente do controle (fora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−1,03 [−1,79; −0,28]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 o "nenhuma rejeita zero depois do Holm" depende dessa escolha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0340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IC honesto de N1 (M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[−79,58; +78,07]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114719"/>
                          </a:solidFill>
                          <a:latin typeface="Montserrat"/>
                        </a:rPr>
                        <a:t>ressalva:</a:t>
                      </a: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 não informa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outras especificações do logit (M0, M2, M4, M7, M8, M9)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de +0,0304 a +0,0759 por R$ 1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positivo em todas; o IC contém zero só no M1 e no 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E9 no ciclo 2: cortes placebo e spline cúbico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0,036; spline cúbico p 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robusto a placebos; sensível à forma do IVS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Rambachan–Roth (Δ^RM, média do pós)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ruptura de M̄: 1,30 (totais), 1,90 (posto), 0,78 (fora)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e posto aguentam violações do tamanho das do pré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H4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comparação na nota de corte (P4-CA)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totais +7,91 [−0,63; +16,45]; pré p 0,837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mesma direção; o IC contém zero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707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1" dirty="0">
                          <a:solidFill>
                            <a:srgbClr val="3A3A3A"/>
                          </a:solidFill>
                          <a:latin typeface="Montserrat"/>
                        </a:rPr>
                        <a:t>todas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Holm nas primárias; BKY nas secundárias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nenhuma primária rejeita zero, salvo o Y1 do P6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250" b="0" dirty="0">
                          <a:solidFill>
                            <a:srgbClr val="3A3A3A"/>
                          </a:solidFill>
                          <a:latin typeface="Montserrat"/>
                        </a:rPr>
                        <a:t>o Y1 é quase mecânico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As ressalvas estão na tela: nenhuma especificação foi escolhida depois de ver o resultado.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(doc 49, §3 e §7); P1_estimativas.csv (doc 57a); E8_resumo.json (E9); H_estimativas.csv e CA_estimativas.csv (doc 57h); doc 57, §3.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Limites: pacote do corte, só candidatos, vínculo cadastrado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Pacote do corte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Nos mesmos cortes mudam o teto de emendas e de custeio de MAC (+20% para IVS maior que 0,3), o estrato do IED da APS e o teto de coparticipação do PMMB (10% → 40% em 0,3; 40% → 100% em 0,4). A DiRD tira só a parte fixa no tempo.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Sem margem extensiva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 escolha é de quem já se candidatou: o logit não vê quem deixou de se inscrever, e um aumento igual da bolsa em todas as vagas não muda nenhuma escolha no modelo.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Vínculo não é presença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Horas e vínculos são cadastros do CNES; não são horas trabalhadas nem retenção individual.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Não é a participação no PMM-E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efeito candidato é o incentivo marginal de R$ 5 mil anunciado, como pacote do corte; nem o Agora Tem Especialistas.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Inconclusivo não quer dizer que a bolsa não funciona: é ausência de efeito detectável, nos limites acima.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doc 57, §4.2 e §7; CLAUDE.md.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Um efeito do tamanho da literatura não cabe no IC empilhado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Dal Bó, Finan e Rossi (2013)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Salário anunciado sorteado, +33%: aceitação +15,1 p.p. e candidaturas +26%.</a:t>
            </a:r>
          </a:p>
        </p:txBody>
      </p:sp>
      <p:sp>
        <p:nvSpPr>
          <p:cNvPr id="102" name="Cartão 2"/>
          <p:cNvSpPr/>
          <p:nvPr/>
        </p:nvSpPr>
        <p:spPr>
          <a:xfrm>
            <a:off x="6227064" y="80467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Bobba et al.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Adicional de +13% por regra, numa RDD: o preenchimento não mudou; o professor que chegou era melhor.</a:t>
            </a:r>
          </a:p>
        </p:txBody>
      </p:sp>
      <p:sp>
        <p:nvSpPr>
          <p:cNvPr id="103" name="Cartão 3"/>
          <p:cNvSpPr/>
          <p:nvPr/>
        </p:nvSpPr>
        <p:spPr>
          <a:xfrm>
            <a:off x="292608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Aqui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Degrau de +50% em 0,300 e +33% em 0,400; o IC da célula aberta admite no máximo +3,2 p.p., com os cortes empilhados.</a:t>
            </a:r>
          </a:p>
        </p:txBody>
      </p:sp>
      <p:sp>
        <p:nvSpPr>
          <p:cNvPr id="104" name="Cartão 4"/>
          <p:cNvSpPr/>
          <p:nvPr/>
        </p:nvSpPr>
        <p:spPr>
          <a:xfrm>
            <a:off x="6227064" y="3273552"/>
            <a:ext cx="5660136" cy="219456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Próximos passos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Ciclo 3 com a competência 202703 publicada, completa e madura; pedidos do universo de inscritos e da folha de pagamento; H3 depois da auditoria.</a:t>
            </a:r>
          </a:p>
        </p:txBody>
      </p:sp>
      <p:sp>
        <p:nvSpPr>
          <p:cNvPr id="105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Contextos e outcomes diferentes: lá, servidores e aceitação da oferta; aqui, especialistas e célula com confirmação ou homologação.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44, §6 (trechos do doc 20 da seção 03 copiados em output/rdd_bolsa/E8_resumo.json); doc 57, §6.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N1 a N4, com controle das vagas oferecidas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959864"/>
        </p:xfrm>
        <a:graphic>
          <a:graphicData uri="http://schemas.openxmlformats.org/drawingml/2006/table">
            <a:tbl>
              <a:tblPr firstRow="1" bandRow="1"/>
              <a:tblGrid>
                <a:gridCol w="5859431"/>
                <a:gridCol w="1279961"/>
                <a:gridCol w="2534004"/>
                <a:gridCol w="1921195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Outcome (ciclos e cortes empilhados)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IC 95%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p de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vagas preenchidas na 1ª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[−1,44; −0,07]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0,124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N2 células com alocado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[−0,66; +0,04]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N3 células com alocado até a 2ª chamada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−0,35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[−0,87; +0,17]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0,376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N4 especialistas ativos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−0,21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[−1,34; +0,92]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0,717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N1 sem controle (efeito total da faixa)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−1,45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[−2,90; −0,01]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fora do Holm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Nenhuma linha rejeita zero depois do Holm; o sinal é negativo em todas.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output/rdd_bolsa/N_estimativas.csv e S57_resumo.json (doc 49, §3).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A3 por corte e no ciclo 1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393696"/>
        </p:xfrm>
        <a:graphic>
          <a:graphicData uri="http://schemas.openxmlformats.org/drawingml/2006/table">
            <a:tbl>
              <a:tblPr firstRow="1" bandRow="1"/>
              <a:tblGrid>
                <a:gridCol w="4090834"/>
                <a:gridCol w="1902761"/>
                <a:gridCol w="2408774"/>
                <a:gridCol w="2115274"/>
                <a:gridCol w="1076949"/>
              </a:tblGrid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Amostra (célula aberta)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Média abaixo do 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Salto [IC 95%], p.p.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Maior aumento compatível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MDE de 80%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34,7%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−4,9 [−12,9; +3,2]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+3,2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11,5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33,3%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−8,4 [−18,5; +1,7]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+1,7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14,5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corte 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36,8%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−1,3 [−14,0; +11,3]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+11,3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18,1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 1, cortes empilhados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31,2%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−3,3 [−20,9; +14,2]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+14,2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25,1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célula com candidato de 1ª opção, 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−7,1 [−19,6; +5,4]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+5,4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No ciclo 1, a faixa saiu depois do pedido dos gestores; ali a amostra não descarta efeitos moderados.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output/rdd_bolsa/S57_resumo.json (doc 57, §4.2; doc 49, §15).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a bolsa em todas as especificações do logit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939796"/>
        </p:xfrm>
        <a:graphic>
          <a:graphicData uri="http://schemas.openxmlformats.org/drawingml/2006/table">
            <a:tbl>
              <a:tblPr firstRow="1" bandRow="1"/>
              <a:tblGrid>
                <a:gridCol w="1962016"/>
                <a:gridCol w="5398754"/>
                <a:gridCol w="4233822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Modelo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Coeficiente por R$ 1 mil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M1 (primária)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ciclos 1–3, com distância e origem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+0,0424 [−0,0027; +0,0874]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+0,0690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 da distância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efeito fixo de UF da vaga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+0,0759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explodido (1ª e 2ª opção)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+0,0304 [−0,0150; +0,0758]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M8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misto (média)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+0,0499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M9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logit aninhado por região de saúde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+0,0434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M5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por ciclo: 1 · 2 · 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+0,0132 · +0,1064 · −0,0004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leitura da H2 é sensível à especificação; só o M1 é a principal, e as demais são relatadas, não escolhidas.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output/rdd_bolsa/P1_estimativas.csv (doc 57a, §4).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E9 resiste no ciclo 2; o empilhado é frágil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2286508"/>
        </p:xfrm>
        <a:graphic>
          <a:graphicData uri="http://schemas.openxmlformats.org/drawingml/2006/table">
            <a:tbl>
              <a:tblPr firstRow="1" bandRow="1"/>
              <a:tblGrid>
                <a:gridCol w="8275312"/>
                <a:gridCol w="1556824"/>
                <a:gridCol w="1762456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Teste (pós-auditoria, fora do protocolo)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Ciclo 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Empilhado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do score bootstrap (Webb), cluster por conjunto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0,002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cortes placebo: nº com abs(t) ≥ t real, de 27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2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p por posto contra os placebos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0,036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0,107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spline cúbico: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0,083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0,220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ciclos 1 e 3 empilhados, sem o 2: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0,267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Q de Cochran (ciclos 1, 2, 3): p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—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0,014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O sinal da escolha vem do ciclo 2; o ciclo 3 maduro é a replicação fora da amostra.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output/rdd_bolsa/E8_resumo.json (e9); doc 44, §5.2.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nos mesmos cortes mudam outras regras federais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04672"/>
          <a:ext cx="11594592" cy="1847596"/>
        </p:xfrm>
        <a:graphic>
          <a:graphicData uri="http://schemas.openxmlformats.org/drawingml/2006/table">
            <a:tbl>
              <a:tblPr firstRow="1" bandRow="1"/>
              <a:tblGrid>
                <a:gridCol w="752348"/>
                <a:gridCol w="5752941"/>
                <a:gridCol w="5089303"/>
              </a:tblGrid>
              <a:tr h="32664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Corte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Muda além da bolsa (verificado no ato ou nos dados)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FFFFFF"/>
                          </a:solidFill>
                          <a:latin typeface="Montserrat"/>
                        </a:rPr>
                        <a:t>Não verificado ou inferido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0,300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teto de emendas e de parcelas de custeio de MAC e APS +20% para "IVS maior que 0,3"; estrato do IED da APS nos portes 2 e 3; Portaria 752/2023: teto de coparticipação do PMMB de 10% → 40%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como a Portaria 752/2023 foi aplicada no corte; priorização de eMulti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1" dirty="0">
                          <a:solidFill>
                            <a:srgbClr val="3A3A3A"/>
                          </a:solidFill>
                          <a:latin typeface="Montserrat"/>
                        </a:rPr>
                        <a:t>0,400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estrato do IED nos portes 1, 2 e 4; Portaria 752/2023: 40% → 100%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400" b="0" dirty="0">
                          <a:solidFill>
                            <a:srgbClr val="3A3A3A"/>
                          </a:solidFill>
                          <a:latin typeface="Montserrat"/>
                        </a:rPr>
                        <a:t>ajuda de custo e perfis de escolha do PMMB; Eixo Vínculo</a:t>
                      </a:r>
                    </a:p>
                  </a:txBody>
                  <a:tcPr marL="64008" marR="64008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A RDD em nível mede um pacote; a DiRD tira só a parte constante dessas regras.</a:t>
            </a:r>
          </a:p>
        </p:txBody>
      </p:sp>
      <p:sp>
        <p:nvSpPr>
          <p:cNvPr id="103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 18, §2 e §3; output/aquisicao/a10_manifesto_normas_ivs.json.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Apêndice: o "IVS como piso" da banca 1 era um arquivo errado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>Motivação  |  </a:t>
            </a:r>
            <a:r>
              <a:rPr lang="pt-BR" sz="1000" dirty="0">
                <a:latin typeface="Montserrat"/>
              </a:rPr>
              <a:t>Pergunta  |  </a:t>
            </a:r>
            <a:r>
              <a:rPr lang="pt-BR" sz="1000" dirty="0">
                <a:latin typeface="Montserrat"/>
              </a:rPr>
              <a:t>Literatura  |  </a:t>
            </a:r>
            <a:r>
              <a:rPr lang="pt-BR" sz="1000" dirty="0">
                <a:latin typeface="Montserrat"/>
              </a:rPr>
              <a:t>Hipótese  |  </a:t>
            </a:r>
            <a:r>
              <a:rPr lang="pt-BR" sz="1000" dirty="0">
                <a:latin typeface="Montserrat"/>
              </a:rPr>
              <a:t>Base de Dados  |  </a:t>
            </a:r>
            <a:r>
              <a:rPr lang="pt-BR" sz="1000" dirty="0">
                <a:latin typeface="Montserrat"/>
              </a:rPr>
              <a:t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/>
            </a:r>
          </a:p>
        </p:txBody>
      </p:sp>
      <p:sp>
        <p:nvSpPr>
          <p:cNvPr id="101" name="Cartão 1"/>
          <p:cNvSpPr/>
          <p:nvPr/>
        </p:nvSpPr>
        <p:spPr>
          <a:xfrm>
            <a:off x="292608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era o arquivo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Em cada município, a última linha de subgrupo da base do Ipea com IVS preenchido; </a:t>
            </a:r>
            <a:r>
              <a:rPr lang="pt-BR" sz="1500" b="0" i="1" dirty="0">
                <a:solidFill>
                  <a:srgbClr val="3A3A3A"/>
                </a:solidFill>
                <a:latin typeface="Montserrat"/>
              </a:rPr>
              <a:t>Negro / Mulher / Urbano</a:t>
            </a:r>
            <a:r>
              <a:rPr lang="pt-BR" sz="1500" b="0" dirty="0">
                <a:solidFill>
                  <a:srgbClr val="3A3A3A"/>
                </a:solidFill>
                <a:latin typeface="Montserrat"/>
              </a:rPr>
              <a:t> em 4.362 de 5.565 municípios (78%).</a:t>
            </a:r>
          </a:p>
        </p:txBody>
      </p:sp>
      <p:sp>
        <p:nvSpPr>
          <p:cNvPr id="102" name="Cartão 2"/>
          <p:cNvSpPr/>
          <p:nvPr/>
        </p:nvSpPr>
        <p:spPr>
          <a:xfrm>
            <a:off x="4248912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Quanto acerta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O IVS oficial a 3 casas em 38 municípios; correlação 0,85.</a:t>
            </a:r>
          </a:p>
        </p:txBody>
      </p:sp>
      <p:sp>
        <p:nvSpPr>
          <p:cNvPr id="103" name="Cartão 3"/>
          <p:cNvSpPr/>
          <p:nvPr/>
        </p:nvSpPr>
        <p:spPr>
          <a:xfrm>
            <a:off x="8205216" y="804672"/>
            <a:ext cx="3681984" cy="2697480"/>
          </a:xfrm>
          <a:prstGeom prst="roundRect">
            <a:avLst>
              <a:gd name="adj" fmla="val 5000"/>
            </a:avLst>
          </a:prstGeom>
          <a:solidFill>
            <a:srgbClr val="F3F7F3"/>
          </a:solidFill>
          <a:ln w="12700">
            <a:solidFill>
              <a:srgbClr val="C9DED1"/>
            </a:solidFill>
          </a:ln>
        </p:spPr>
        <p:txBody>
          <a:bodyPr wrap="square" lIns="201168" tIns="164592" rIns="201168" bIns="109728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pt-BR" sz="1700" b="1" dirty="0">
                <a:solidFill>
                  <a:srgbClr val="114719"/>
                </a:solidFill>
                <a:latin typeface="Montserrat"/>
              </a:rPr>
              <a:t>O que mudou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b="0" dirty="0">
                <a:solidFill>
                  <a:srgbClr val="3A3A3A"/>
                </a:solidFill>
                <a:latin typeface="Montserrat"/>
              </a:rPr>
              <a:t>Malha, tipologia, A4, A5 e a Tabela 1 do ciclo 1 foram refeitos; a RDD já usava o IVS oficial.</a:t>
            </a:r>
          </a:p>
        </p:txBody>
      </p:sp>
      <p:sp>
        <p:nvSpPr>
          <p:cNvPr id="104" name="Cautela"/>
          <p:cNvSpPr/>
          <p:nvPr/>
        </p:nvSpPr>
        <p:spPr>
          <a:xfrm>
            <a:off x="292608" y="5596128"/>
            <a:ext cx="11594592" cy="51206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36576" rIns="164592" bIns="36576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50" b="1" dirty="0">
                <a:solidFill>
                  <a:srgbClr val="114719"/>
                </a:solidFill>
                <a:latin typeface="Montserrat"/>
              </a:rPr>
              <a:t>FAILURE MODE: o arquivo não é inventado; é a linha errada da base certa.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output/rdd_bolsa/identificacao_arquivo_local_ivs.json; output/tema_trabalho/failure_mode_ivs_resumo.json; auditorias 16 e 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