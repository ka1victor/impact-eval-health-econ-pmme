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1" r:id="rId58"/>
    <p:sldId id="412" r:id="rId59"/>
    <p:sldId id="413" r:id="rId60"/>
    <p:sldId id="414" r:id="rId61"/>
    <p:sldId id="415" r:id="rId62"/>
    <p:sldId id="416" r:id="rId63"/>
    <p:sldId id="417" r:id="rId64"/>
    <p:sldId id="418" r:id="rId65"/>
    <p:sldId id="419" r:id="rId66"/>
    <p:sldId id="420" r:id="rId67"/>
    <p:sldId id="421" r:id="rId68"/>
    <p:sldId id="422" r:id="rId69"/>
    <p:sldId id="423" r:id="rId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3" Type="http://schemas.openxmlformats.org/officeDocument/2006/relationships/customXml" Target="../customXml/item3.xml"/><Relationship Id="rId46" Type="http://schemas.openxmlformats.org/officeDocument/2006/relationships/tableStyles" Target="tableStyles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Relationship Id="rId70" Type="http://schemas.openxmlformats.org/officeDocument/2006/relationships/slide" Target="slides/slide5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banca 1 testava só a última seta. Testar cada seta explica um resultado nulo no fim da cadeia: se a bolsa pesa pouco perto do custo do lugar (H3), ela reordena candidatos entre vagas (H2) sem mudar quantas vagas preenchem (H1). A H4 pergunta se o médico que chega aumenta a capacidade ou só passa a ser registrado onde já estava. Cautela: H3 é a hipótese central; H1 testa a consistência da cadeia.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ciclo 2 abriu mais vagas imediatas e preencheu uma fração maior das células; o ciclo 3 tem muito cadastro reserva. A ligação ao CNES passa de nove em cada dez candidatos em todos os ciclos. Se perguntarem pelos universos: o G1 conta todos os candidatos dos resultados; nos ciclos 2 e 3 alguns não têm a 1ª opção numa célula do quadro da 1ª chamada e ficam fora da escolha. A amostra do P1 soma 5.421 candidatos. Ciclo 3: só a 1ª chamada; o seguimento pós-início segue congelado. Uma célula pode ter várias vagas. A faixa é a da grade aplicada: até 0,300 → R$ 10 mil; de 0,301 a 0,400 → R$ 15 mil; acima de 0,400 → R$ 20 mil. As oito bases, com período, unidade e cobertura, estão no apêndice. Cautela: Descritivo: as diferenças entre ciclos não são efeito da bolsa.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Todos os protocolos foram congelados antes de estimar; o da H3 (52b) é pós-resultado. Especificações principais: na H1, kernel triangular com h = 0,050, uma reta de cada lado por ciclo × corte, salto comum e efeitos fixos de curso × ciclo e de tipo de vaga; na H2 e na H3, bolsa linear em R$ mil, IVS em spline com nós nos cortes, distância, mesma UF, mesma região, mesmo município, porte, capital e vaga imediata; na H4, controles ainda não tratados com base g − 1, efeito fixo de célula na comparação local e permutação na célula. O IC honesto (Armstrong e Kolesár) protege contra curvatura no corte; com o M do protocolo, ele sai largo demais para informar. Holm controla o erro nas primárias de cada família. Cautela: Nos cortes, o contraste é sempre o pacote do corte; nenhum estimador mede a participação no PMM-E.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regra sharp é o que torna a descontinuidade possível. A ameaça que não se testa por inteiro é a das co-políticas: emendas, custeio de MAC, o IED da APS e a coparticipação do PMMB mudam nos mesmos cortes. Na DiRD, só a parte fixa no tempo delas sai. Cautela: A ameaça comum aos cortes são as outras regras federais que mudam em 0,300 e 0,400: por isso "pacote do corte".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evidência de que o desenho existe: o primeiro estágio é a própria regra. Cada ponto é um município do ciclo 1, na altura da bolsa anunciada. Até 0,300, R$ 10 mil; até 0,400, R$ 15 mil; acima, R$ 20 mil. O FAQ do edital descreve outra grade; a aplicada é esta. Cautela: Primeiro estágio sharp: dois cortes, +R$ 5 mil em cada, 0 municípios do lado errado no ciclo 1.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Esta é a variável que o grupo pediu: o número de vagas preenchidas controlando o número de vagas oferecidas (N1): −0,76 [−1,44; −0,07] por município, sobre uma média de 2,16 do lado de bolsa menor. Ao lado, a probabilidade de a célula aberta ser preenchida (A3), que não depende do porte: −4,9 p.p. [−12,9; +3,2], MDE de 11,5 p.p. Nenhuma das duas mostra aumento. O sinal de N1 é negativo, mas não sobrevive ao Holm e, com um só coeficiente do controle, mudaria (ver Robustez); por isso a leitura é "não detectamos aumento", não "a bolsa reduz". Sem controle, −1,45 [−2,90; −0,01]: inclui a resposta da oferta de vagas. Por corte, o maior aumento compatível da A3 é +1,7 em 0,300 e +11,3 em 0,400. O sinal de N1 em 0,400 vem do porte; em 0,300, da taxa por vaga (doc 49b). É o pacote do corte, não a bolsa isolada. Cautela: Inconclusivo: IC que contém zero não é efeito zero. O descarte de ganhos grandes vale com o IC convencional e para o pacote do corte.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Logit condicional da 1ª opção de 5.421 candidatos entre as vagas abertas do seu curso e ciclo. A razão de chances compara duas vagas que diferem só no degrau de R$ 5 mil, com o IVS contínuo controlado. No ciclo 2: 1,70 [1,22; 2,37]; sem distância (E9), 1,95 [1,48; 2,57]. O que não mede: quem deixou de se candidatar e quantos médicos o programa atrai. O sinal do ciclo 2 também resiste a poucos clusters (bootstrap de Webb). Cautela: Inconclusivo na primária. Escolha não é expansão: o que uma vaga ganha, outra do mesmo curso perde.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hipótese central: incentivo limitado. θ_UF é mesma UF, outra região de saúde, contra uma vaga em outra UF à mesma distância. O IC do km contém zero porque o de β contém. No modelo de escolha, toda a amplitude da bolsa pesa 0,42 [−0,03; 0,87] na utilidade, e a vaga na mesma UF de origem, fora da região de saúde, pesa 2,40 [2,28; 2,53]. A bolsa pesa pouco perto do custo do lugar. Isso é coerente com a H1 não detectar aumento de preenchimento: a bolsa reordena os candidatos entre as vagas abertas (H2), e o que uma vaga ganha outra do mesmo curso perde; ela não traz mais candidatos, e o logit não vê quem não se inscreveu. Um degrau de R$ 5 mil vale 112 km, também com IC que contém zero. Se perguntarem pelo p de 0,035 do km: é unilateral e descritivo; o teste pré-registrado da bolsa é o bilateral do P1a, com p 0,065, que não rejeita. Não usamos o km como prova de que a bolsa importa. Cautela: Escolha de quem se candidatou, entre vagas abertas: θ é preferência revelada condicional ao modelo, não efeito da geografia; β é o pacote do corte.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pergunta é se o programa cria oferta ou paga quem já estava. O médico soma +6,6 h/sem [+5,4; +7,8] de horas totais cadastradas (pré com p 0,310), sobretudo no município do posto (+8,7, com o pré falhando, p 0,001), e perde −2,1 fora dele. Metade já trabalhava no município. Na nota de corte (P4-CA), horas totais +7,91 [−0,63; +16,45], p de Holm 0,162; no município da 1ª opção, +10,92. Na comparação com quem ficou um ou dois pontos abaixo da nota de corte, o pré passa e a direção é a mesma, mas o IC das horas totais contém zero. As horas no município da 1ª opção são em parte mecânicas: ser alocado cria o vínculo. Cautela: Associação sob tendências paralelas, não efeito da bolsa nem da participação no PMM-E: horas cadastradas não são presença.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Ler de cima para baixo, na ordem da cadeia. Cinza: o IC contém o nulo. Verde em N1 é negativo e não passa no Holm. Verde em P6 Y1 é quase mecânico. Verde em P4 é associação: nas horas totais o pré passa e a conclusão aguenta violações de tendência do tamanho das do pré, mas outros outcomes do P4 falham no pré. A força de cada linha sai de uma regra fixa do gerador sobre os valores de output/. A linha da H3 rejeita zero, mas é pós-resultado e compara dois pesos do mesmo modelo de escolha: não é efeito da bolsa nem da geografia. A escolha no ciclo 2 aparece no slide da H2. Cautela: Nenhuma pergunta tem hoje evidência causal limpa de mudança no resultado medido.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Duas ressalvas da H1: com um só coeficiente do controle, N1 rejeitaria zero depois do Holm, mas o Wald rejeita essa restrição; e o IC honesto, com o M da regra de bolso, sai largo demais para informar. Ruptura de M̄ igual a 1 quer dizer que a conclusão aguenta violações de tendência do mesmo tamanho das vistas no pré. O apêndice traz cada teste com o número. A H3 é pós-resultado porque os coeficientes do M1 já eram conhecidos quando o protocolo 52b foi congelado. Cautela: Especificações fixadas em protocolo antes de estimar; a H3 é pós-resultado e está rotulada assim.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À esquerda, o que o contraste não mede. Nos mesmos cortes mudam o teto de emendas e de custeio de MAC (+20% para IVS maior que 0,3), o estrato do IED da APS e o teto de coparticipação do PMMB (10% → 40% em 0,3; 40% → 100% em 0,4); a DiRD tira só a parte fixa no tempo. O logit não vê quem deixou de se inscrever, e um aumento igual da bolsa em todas as vagas não muda nenhuma escolha no modelo. Horas e vínculos são cadastros do CNES, não horas trabalhadas nem retenção individual. O efeito candidato é o incentivo marginal de R$ 5 mil anunciado, como pacote do corte. À direita: em Dal Bó et al., candidaturas +26%; em Bobba et al., um adicional de +13% por regra não mudou o preenchimento. Aqui o degrau é de +50% em 0,300 e +33% em 0,400; se a resposta fosse da mesma ordem, o IC empilhado não a admitiria. Contextos e outcomes diferentes: lá, servidores e aceitação da oferta; aqui, especialistas e célula com confirmação ou homologação. O detalhe da literatura e das co-políticas está no apêndice. Cautela: Inconclusivo não quer dizer que a bolsa não funciona: é ausência de efeito detectável, nos limites acima.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primeira linha é o modelo da banca 1. A segunda é a equação que estimamos para a escolha: a bolsa entra linear, o IVS em spline com nós nos cortes, e a distância e a origem entram como custo. A terceira é a descontinuidade do preenchimento. As equações completas do modelo ficam no apêndice da banca final. Cautela: Hipótese de identificação comum: dado o IVS contínuo, só a bolsa (com as regras do mesmo corte) salta em 0,300 e 0,400.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célula (estabelecimento × curso) é a unidade do quadro de vagas. O IVS é o oficial do Ipea, que coincide com o escore do Ministério. O CNES liga o candidato ao seu município de origem e acompanha as horas do médico mês a mês. A ligação usa CPF mascarado e nome só em memória. Cautela: Nome, CPF e CRM só ficam em memória ou em cache fora do Git; nenhuma saída os traz.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FAILURE MODE: o arquivo não é inventado; é a linha errada da base certa.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RDD em nível mede um pacote; a DiRD tira só a parte constante dessas regras.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Nenhuma linha rejeita zero depois do Holm; o sinal é negativo em todas.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No ciclo 1, a faixa saiu depois do pedido dos gestores; ali a amostra não descarta efeitos moderados.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leitura da H2 é sensível à especificação; só o M1 é a principal, e as demais são relatadas, não escolhidas.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Duas ressalvas: com um só coeficiente do controle, N1 rejeitaria zero depois do Holm, mas o Wald rejeita essa restrição; e o IC honesto, com o M da regra de bolso, sai largo demais para informar. Ruptura de M̄ igual a 1 quer dizer que a conclusão aguenta violações de tendência do mesmo tamanho das vistas no pré. Na H3, a faixa de 1,18 a 2,37 vai do M2 (distância em log) ao ciclo 3; o q de BKY é o piso da grade do algoritmo, e o P1h é pós-resultado, porque os coeficientes do M1 já eram conhecidos. Cautela: Nenhuma especificação foi escolhida depois de ver o resultado; a comparação da H3 é pós-resultado e está rotulada.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O sinal da escolha vem do ciclo 2; o ciclo 3 maduro é a replicação fora da amostra.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0,400 o degrau relativo é do tamanho do sorteio de Dal Bó et al.; em 0,300 é maior. Se a resposta aqui fosse da mesma ordem, o salto passaria da referência de +10 p.p., e o IC empilhado não admite isso, com o IC convencional. O ciclo 3 maduro é a replicação fora da amostra do sinal do ciclo 2. Cautela: Contextos e outcomes diferentes: lá, servidores e aceitação da oferta; aqui, especialistas e célula com confirmação ou homologação.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banca2_01_regra_bolsa_ivs_oficial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banca2_02_h1_preenchimento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banca2_03_h2_escolha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banca2_04_P1h_magnitudes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banca2_05_h4_horas_medico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banca2_06_cadeia_resumo_doc57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3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4.xml"/></Relationships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Testamos cada seta do modelo: quatro hipóteses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Nó 1"/>
          <p:cNvSpPr/>
          <p:nvPr/>
        </p:nvSpPr>
        <p:spPr>
          <a:xfrm>
            <a:off x="320040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B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bolsa maior</a:t>
            </a:r>
          </a:p>
        </p:txBody>
      </p:sp>
      <p:sp>
        <p:nvSpPr>
          <p:cNvPr id="102" name="Nó 2"/>
          <p:cNvSpPr/>
          <p:nvPr/>
        </p:nvSpPr>
        <p:spPr>
          <a:xfrm>
            <a:off x="2734056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V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a vaga vale mais</a:t>
            </a:r>
          </a:p>
        </p:txBody>
      </p:sp>
      <p:cxnSp>
        <p:nvCxnSpPr>
          <p:cNvPr id="103" name="Seta 1"/>
          <p:cNvCxnSpPr/>
          <p:nvPr/>
        </p:nvCxnSpPr>
        <p:spPr>
          <a:xfrm>
            <a:off x="2258568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4" name="Nó 3"/>
          <p:cNvSpPr/>
          <p:nvPr/>
        </p:nvSpPr>
        <p:spPr>
          <a:xfrm>
            <a:off x="5148072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π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mais médicos a escolhem</a:t>
            </a:r>
          </a:p>
        </p:txBody>
      </p:sp>
      <p:cxnSp>
        <p:nvCxnSpPr>
          <p:cNvPr id="105" name="Seta 2"/>
          <p:cNvCxnSpPr/>
          <p:nvPr/>
        </p:nvCxnSpPr>
        <p:spPr>
          <a:xfrm>
            <a:off x="4672584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6" name="Nó 4"/>
          <p:cNvSpPr/>
          <p:nvPr/>
        </p:nvSpPr>
        <p:spPr>
          <a:xfrm>
            <a:off x="7562088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Pr(Y = 1)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a vaga é preenchida</a:t>
            </a:r>
          </a:p>
        </p:txBody>
      </p:sp>
      <p:cxnSp>
        <p:nvCxnSpPr>
          <p:cNvPr id="107" name="Seta 3"/>
          <p:cNvCxnSpPr/>
          <p:nvPr/>
        </p:nvCxnSpPr>
        <p:spPr>
          <a:xfrm>
            <a:off x="7086600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8" name="Nó 5"/>
          <p:cNvSpPr/>
          <p:nvPr/>
        </p:nvSpPr>
        <p:spPr>
          <a:xfrm>
            <a:off x="9976104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E7F1E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capacidade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3A3A3A"/>
                </a:solidFill>
                <a:latin typeface="Montserrat"/>
              </a:rPr>
              <a:t>horas de especialista no SUS</a:t>
            </a:r>
          </a:p>
        </p:txBody>
      </p:sp>
      <p:cxnSp>
        <p:nvCxnSpPr>
          <p:cNvPr id="109" name="Seta 4"/>
          <p:cNvCxnSpPr/>
          <p:nvPr/>
        </p:nvCxnSpPr>
        <p:spPr>
          <a:xfrm>
            <a:off x="9500616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10" name="H1"/>
          <p:cNvSpPr/>
          <p:nvPr/>
        </p:nvSpPr>
        <p:spPr>
          <a:xfrm>
            <a:off x="365760" y="841248"/>
            <a:ext cx="9034272" cy="246888"/>
          </a:xfrm>
          <a:prstGeom prst="roundRect">
            <a:avLst>
              <a:gd name="adj" fmla="val 50000"/>
            </a:avLst>
          </a:prstGeom>
          <a:solidFill>
            <a:srgbClr val="05642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H1 · preenchimento: B → Pr(Y = 1)</a:t>
            </a:r>
          </a:p>
        </p:txBody>
      </p:sp>
      <p:sp>
        <p:nvSpPr>
          <p:cNvPr id="111" name="H2"/>
          <p:cNvSpPr/>
          <p:nvPr/>
        </p:nvSpPr>
        <p:spPr>
          <a:xfrm>
            <a:off x="365760" y="1984248"/>
            <a:ext cx="6620256" cy="246888"/>
          </a:xfrm>
          <a:prstGeom prst="roundRect">
            <a:avLst>
              <a:gd name="adj" fmla="val 50000"/>
            </a:avLst>
          </a:prstGeom>
          <a:solidFill>
            <a:srgbClr val="3E7C4F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H2 · escolha: B → V → π</a:t>
            </a:r>
          </a:p>
        </p:txBody>
      </p:sp>
      <p:sp>
        <p:nvSpPr>
          <p:cNvPr id="112" name="H3"/>
          <p:cNvSpPr/>
          <p:nvPr/>
        </p:nvSpPr>
        <p:spPr>
          <a:xfrm>
            <a:off x="2962656" y="1033272"/>
            <a:ext cx="1426464" cy="219456"/>
          </a:xfrm>
          <a:prstGeom prst="roundRect">
            <a:avLst>
              <a:gd name="adj" fmla="val 50000"/>
            </a:avLst>
          </a:prstGeom>
          <a:solidFill>
            <a:srgbClr val="C23B33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rgbClr val="FFFFFF"/>
                </a:solidFill>
                <a:latin typeface="Montserrat"/>
              </a:rPr>
              <a:t>H3 · central</a:t>
            </a:r>
          </a:p>
        </p:txBody>
      </p:sp>
      <p:sp>
        <p:nvSpPr>
          <p:cNvPr id="113" name="H4"/>
          <p:cNvSpPr/>
          <p:nvPr/>
        </p:nvSpPr>
        <p:spPr>
          <a:xfrm>
            <a:off x="7607808" y="1984248"/>
            <a:ext cx="4206240" cy="24688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H4 · capacidade líquida</a:t>
            </a:r>
          </a:p>
        </p:txBody>
      </p:sp>
      <p:graphicFrame>
        <p:nvGraphicFramePr>
          <p:cNvPr id="114" name="Tabela"/>
          <p:cNvGraphicFramePr>
            <a:graphicFrameLocks noGrp="1"/>
          </p:cNvGraphicFramePr>
          <p:nvPr/>
        </p:nvGraphicFramePr>
        <p:xfrm>
          <a:off x="292608" y="2395728"/>
          <a:ext cx="11594592" cy="2361438"/>
        </p:xfrm>
        <a:graphic>
          <a:graphicData uri="http://schemas.openxmlformats.org/drawingml/2006/table">
            <a:tbl>
              <a:tblPr firstRow="1" bandRow="1"/>
              <a:tblGrid>
                <a:gridCol w="1754959"/>
                <a:gridCol w="2611951"/>
                <a:gridCol w="4161130"/>
                <a:gridCol w="3066552"/>
              </a:tblGrid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Seta do modelo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O que testa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Pr(Y = 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a célula aberta do lado de bolsa maior preenche mais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nos cortes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H2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V → π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a vaga de bolsa maior é mais escolhida como 1ª opção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H3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incentivo limitado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contra o custo do lugar, dentro de V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peso da bolsa é pequeno perto da distância e da origem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coeficientes do mesmo logit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chegada → capacidade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o médico que chega soma horas ou só muda o registro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evento; comparação na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H3 é a hipótese central; H1 testa a consistência da cadeia.</a:t>
            </a:r>
          </a:p>
        </p:txBody>
      </p:sp>
      <p:sp>
        <p:nvSpPr>
          <p:cNvPr id="11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§3; modelo da banca 1 (Moehling et al.; Redding e Rossi-Hansberg; Choné e Ma; Burdett, Shi e Wright).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Os três ciclos em números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3422650"/>
        </p:xfrm>
        <a:graphic>
          <a:graphicData uri="http://schemas.openxmlformats.org/drawingml/2006/table">
            <a:tbl>
              <a:tblPr firstRow="1" bandRow="1"/>
              <a:tblGrid>
                <a:gridCol w="4890887"/>
                <a:gridCol w="1832260"/>
                <a:gridCol w="1888402"/>
                <a:gridCol w="2983043"/>
              </a:tblGrid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Item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com célula no quadro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454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748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(estabelecimento × curso)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1.547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2.293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Vagas imediatas · cadastro reserva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678 · 1.145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1.836 · 1.053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1.132 · 3.999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nos resultados (universo G1)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2.179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2.604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ligados ao CNES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938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2.533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com 1ª opção numa célula do quadro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2.140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2.581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 da escolha (P1)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915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2.032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2.474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preenchidas na 1ª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393 (30,3%)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728 (47,1%)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497 (21,7%)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preenchidas até a 2ª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461 (35,6%)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867 (56,0%)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observado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por faixa: R$ 10 · 15 · 20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159 · 107 · 102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210 · 115 · 129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276 · 180 · 291 (e 1 sem IVS)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Marcadores"/>
          <p:cNvSpPr txBox="1"/>
          <p:nvPr/>
        </p:nvSpPr>
        <p:spPr>
          <a:xfrm>
            <a:off x="292608" y="4410202"/>
            <a:ext cx="11594592" cy="1057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Célula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= estabelecimento × curso; </a:t>
            </a:r>
            <a:r>
              <a:rPr lang="pt-BR" sz="1200" b="1" dirty="0">
                <a:solidFill>
                  <a:srgbClr val="114719"/>
                </a:solidFill>
                <a:latin typeface="Montserrat"/>
              </a:rPr>
              <a:t>preenchida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= alguma confirmação ou homologação, não ocupação de vagas.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Candidatos: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"…" são partes do universo G1; o P1 exige 1ª opção numa célula, ligação ao CNES e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Bases: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quadros e resultados da SGTES/MS, IVS 2010 oficial (Ipea) e CNES mensal; fontes no apêndice.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Descritivo: as diferenças entre ciclos não são efeito da bolsa.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output/apresentacao_banca2/tabela_descritiva_ciclos.csv, contada de output/rdd_bolsa/outcomes/outcomes_V_celula.parquet e de output/rdd_bolsa/G1_resumo.json.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Um estimador por hipótese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391156"/>
        </p:xfrm>
        <a:graphic>
          <a:graphicData uri="http://schemas.openxmlformats.org/drawingml/2006/table">
            <a:tbl>
              <a:tblPr firstRow="1" bandRow="1"/>
              <a:tblGrid>
                <a:gridCol w="1922650"/>
                <a:gridCol w="3780862"/>
                <a:gridCol w="2806934"/>
                <a:gridCol w="3084146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amostra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Inferência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sharp local linear nos cortes 0,300 e 0,400 do IVS 2010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aberta (A3) e município (N); ciclos 1–3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CR1 por município; Holm nas primárias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114719"/>
                          </a:solidFill>
                          <a:latin typeface="Montserrat"/>
                        </a:rPr>
                        <a:t>H2 e H3</a:t>
                      </a: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 e incentivo limitado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 (McFadden) da 1ª opção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célula do mesmo curso e ciclo; ciclos 1–3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cluster por conjunto de escolha; H3 com a covariância conjunta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 escalonado (Callaway–Sant'Anna); comparação na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mês, ciclos 1 e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bootstrap por médico; Rambachan–Roth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Nos cortes, o contraste é sempre o pacote do corte; nenhum estimador mede a participação no PMM-E.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§4.1; protocolos 40, 48, 52, 52b, 54, 56 e 59.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Hipóteses de identificação e como foram testadas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565396"/>
        </p:xfrm>
        <a:graphic>
          <a:graphicData uri="http://schemas.openxmlformats.org/drawingml/2006/table">
            <a:tbl>
              <a:tblPr firstRow="1" bandRow="1"/>
              <a:tblGrid>
                <a:gridCol w="3566891"/>
                <a:gridCol w="845645"/>
                <a:gridCol w="3948473"/>
                <a:gridCol w="3233584"/>
              </a:tblGrid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 de identificação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Vale para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ou argumento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Situação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 faixa é função determinística do IVS (regra sharp)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IVS oficial reproduz a faixa nos três ciclos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manipulação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IVS medido em 2010, antes do programa; teste de densidade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continuidade dos potenciais no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de covariáveis; placebos de outcome e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passa, com seleção suspeita no ciclo 1 em 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dado o IVS contínuo, só a bolsa salta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spline com nós nos cortes; placebos de corte; spline cúbico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pacote do corte não se separa (co-políticas)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independência de alternativas irrelevantes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e logit misto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violada em parte; o coeficiente da bolsa muda pouco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tendências paralelas entre coortes de entrada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teste conjunto do pré; Rambachan–Roth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falha em parte dos outcomes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alocação quase aleatória perto da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(P6)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balanço; desempate por regra fixa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passa; desempate não é sorteio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ameaça comum aos cortes são as outras regras federais que mudam em 0,300 e 0,400: por isso "pacote do corte".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§4.2; auditorias 16 e 18; docs 37, 41, 49, 57a, 57d, 57f e 57h.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pic>
        <p:nvPicPr>
          <p:cNvPr id="101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2032" y="804672"/>
            <a:ext cx="7475744" cy="288036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432304" y="3867912"/>
          <a:ext cx="7315200" cy="1554480"/>
        </p:xfrm>
        <a:graphic>
          <a:graphicData uri="http://schemas.openxmlformats.org/drawingml/2006/table">
            <a:tbl>
              <a:tblPr firstRow="1" bandRow="1"/>
              <a:tblGrid>
                <a:gridCol w="5258696"/>
                <a:gridCol w="2056504"/>
              </a:tblGrid>
              <a:tr h="29565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latin typeface="Montserrat"/>
                        </a:rPr>
                        <a:t>Conferência (portão R1)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escore da relação nominal do MS = IVS 2010 oficial, a 3 casas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404/404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 · ciclo 2: faixa reproduzida pela regra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 de 368 · 454 de 454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3 (congelado): o que falta foi criado depois de 2010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747 de 748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Primeiro estágio sharp: dois cortes, +R$ 5 mil em cada, 0 municípios do lado errado no ciclo 1.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16; figura por scripts/apresentacao/gerar_figuras_banca2.py.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H1: o preenchimento não aumenta de forma detectável no corte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1: vagas preenchidas por município (N1) e probabilidade de a célula aberta ser preenchida (A3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7211" y="804672"/>
            <a:ext cx="8965387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A3: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maior aumento compatível, +3,2 p.p., fica abaixo da referência de +10 p.p.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N1: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sinal é negativo, mas não passa no Holm (0,124) e depende da medida.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Inconclusivo: IC que contém zero não é efeito zero. O descarte de ganhos grandes vale com o IC convencional e para o pacote do corte.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§3); output/rdd_bolsa/S57_resumo.json (A3; doc 49, §15; doc 57, §4.2).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H2: a bolsa pesa na escolha da vaga só no ciclo 2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2: razão de chances da 1ª opção por +R$ 5 mil, ciclos empilhados e por ciclo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24" y="804672"/>
            <a:ext cx="8179760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Primária (M1):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1,24 [0,99; 1,55] por +R$ 5 mil, p 0,065; ciclos iguais, p 0,058.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Só o ciclo 2 exclui 1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e resiste a placebos de corte (E9); os ciclos 1 e 3 não o replicam.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 na primária. Escolha não é expansão: o que uma vaga ganha, outra do mesmo curso perde.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57a); output/rdd_bolsa/E8_resumo.json (E9, doc 44, §5.2).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no modelo de escolha, a UF de origem pesa mais que a bolsa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3: pesos na utilidade da escolha da 1ª opção (M1), na mesma escala: bolsa, distância e lugar de orig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002894"/>
            <a:ext cx="7589520" cy="426699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8156448" y="1048614"/>
            <a:ext cx="3730752" cy="44194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Primária, pós-resultado: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D_UF = θ_UF − 10·β = 1,98 [1,56; 2,40], p unilateral &lt; 0,001 (Holm): toda a amplitude da bolsa (R$ 10 → 20 mil) pesa menos que a vaga na UF de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Em km (descritivo):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a amplitude vale 224 km a menos de distância [−18; 466]; o IC contém zero.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Sensibilidades: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D_UF positivo em todas: M2 1,18 · M4 1,73 · M5 por ciclo 2,34 · 1,31 · 2,37 · M7 2,07.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Escolha de quem se candidatou, entre vagas abertas: θ é preferência revelada condicional ao modelo, não efeito da geografia; β é o pacote do corte.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output/rdd_bolsa/P1h_magnitudes.csv, P1h_resumo.json e P1h_figuras/P1h_magnitudes.png (script 25c; doc 57i; protocolo 52b; auditoria 31).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H4: o médico soma horas, mas metade já estava no município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4: horas semanais cadastradas do médico depois da entrada (P4) e na nota de corte (P4-CA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24" y="804672"/>
            <a:ext cx="8179760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Origem (descritivo):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51,0% [48,4; 53,7] já tinham vínculo no município do posto antes de entrar.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Rambachan–Roth: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as horas totais aguentam violações de tendência até 1,30 vez a maior do pré.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Associação sob tendências paralelas, não efeito da bolsa nem da participação no PMM-E: horas cadastradas não são presença.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(P4, doc 57d); output/rdd_bolsa/H_estimativas.csv e CA_estimativas.csv (doc 57h).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Na cadeia, só a escolha e o registro do médico se movem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A cadeia do doc 57: uma linha por pergunta, cada uma na sua escala, com a força da evidênc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069635" cy="523951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7636563" y="804672"/>
            <a:ext cx="4250637" cy="5239512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Nenhuma pergunta tem hoje evidência causal limpa de mudança no resultado medido.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§2 e §4); output/rdd_bolsa/P1h_magnitudes.csv (doc 57i); figura por scripts/apresentacao/gerar_figuras_banca2.py.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as leituras resistem, com ressalvas declaradas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717800"/>
        </p:xfrm>
        <a:graphic>
          <a:graphicData uri="http://schemas.openxmlformats.org/drawingml/2006/table">
            <a:tbl>
              <a:tblPr firstRow="1" bandRow="1"/>
              <a:tblGrid>
                <a:gridCol w="1083056"/>
                <a:gridCol w="5737740"/>
                <a:gridCol w="4773796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O que resiste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Ressalva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sinal de N1 em outras janelas e sem os municípios colados ao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Holm depende do coeficiente do controle; o IC honesto não informa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coeficiente da bolsa positivo em todas as especificações do logit; o ciclo 2 resiste a placebos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IC contém zero no M1 e no M7; sensível à forma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D_UF positivo nas seis especificações, com q de BKY &lt; 0,05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pós-resultado: o M1 já era conhecido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as horas totais aguentam violações de tendência até 1,30 vez a maior do pré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na nota de corte, o IC das horas totais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Especificações fixadas em protocolo antes de estimar; a H3 é pós-resultado e está rotulada assim.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49); P1_estimativas.csv (doc 57a); E8_resumo.json (E9); P1h_magnitudes.csv (doc 57i); H_estimativas.csv e CA_estimativas.csv (doc 57h). Teste a teste, com os números: apêndice.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Discussão: o que não afirmamos e o que vem depois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oluna 1"/>
          <p:cNvSpPr/>
          <p:nvPr/>
        </p:nvSpPr>
        <p:spPr>
          <a:xfrm>
            <a:off x="292608" y="804672"/>
            <a:ext cx="5637276" cy="4663440"/>
          </a:xfrm>
          <a:prstGeom prst="roundRect">
            <a:avLst>
              <a:gd name="adj" fmla="val 4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t">
            <a:noAutofit/>
          </a:bodyPr>
          <a:lstStyle/>
          <a:p>
            <a:endParaRPr lang="pt-BR"/>
          </a:p>
        </p:txBody>
      </p:sp>
      <p:sp>
        <p:nvSpPr>
          <p:cNvPr id="102" name="Cabeçalho 1"/>
          <p:cNvSpPr txBox="1"/>
          <p:nvPr/>
        </p:nvSpPr>
        <p:spPr>
          <a:xfrm>
            <a:off x="521208" y="969264"/>
            <a:ext cx="518007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O que não podemos afirmar</a:t>
            </a:r>
          </a:p>
        </p:txBody>
      </p:sp>
      <p:sp>
        <p:nvSpPr>
          <p:cNvPr id="103" name="Marcadores 1"/>
          <p:cNvSpPr txBox="1"/>
          <p:nvPr/>
        </p:nvSpPr>
        <p:spPr>
          <a:xfrm>
            <a:off x="521208" y="1581912"/>
            <a:ext cx="5180076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Pacote do corte: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em 0,300 e 0,400 mudam também outras regras federais.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Sem margem extensiva: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a escolha é só de quem já se candidatou.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Vínculo não é presença.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Não é a participação no PMM-E, nem o Agora Tem Especialistas.</a:t>
            </a:r>
          </a:p>
        </p:txBody>
      </p:sp>
      <p:sp>
        <p:nvSpPr>
          <p:cNvPr id="104" name="Coluna 2"/>
          <p:cNvSpPr/>
          <p:nvPr/>
        </p:nvSpPr>
        <p:spPr>
          <a:xfrm>
            <a:off x="6249924" y="804672"/>
            <a:ext cx="5637276" cy="4663440"/>
          </a:xfrm>
          <a:prstGeom prst="roundRect">
            <a:avLst>
              <a:gd name="adj" fmla="val 4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t">
            <a:noAutofit/>
          </a:bodyPr>
          <a:lstStyle/>
          <a:p>
            <a:endParaRPr lang="pt-BR"/>
          </a:p>
        </p:txBody>
      </p:sp>
      <p:sp>
        <p:nvSpPr>
          <p:cNvPr id="105" name="Cabeçalho 2"/>
          <p:cNvSpPr txBox="1"/>
          <p:nvPr/>
        </p:nvSpPr>
        <p:spPr>
          <a:xfrm>
            <a:off x="6478524" y="969264"/>
            <a:ext cx="518007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Literatura e próximos passos</a:t>
            </a:r>
          </a:p>
        </p:txBody>
      </p:sp>
      <p:sp>
        <p:nvSpPr>
          <p:cNvPr id="106" name="Marcadores 2"/>
          <p:cNvSpPr txBox="1"/>
          <p:nvPr/>
        </p:nvSpPr>
        <p:spPr>
          <a:xfrm>
            <a:off x="6478524" y="1581912"/>
            <a:ext cx="5180076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Dal Bó, Finan e Rossi (2013):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+33% no salário, +15,1 p.p. na aceitação; aqui, o IC admite no máximo +3,2 p.p.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Escolha não é expansão: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a bolsa reordena candidatos entre vagas sem mudar quantas preenchem.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Próximos passos: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ciclo 3 com a competência 202703 madura; universo de inscritos; folha de pagamento.</a:t>
            </a:r>
          </a:p>
        </p:txBody>
      </p:sp>
      <p:sp>
        <p:nvSpPr>
          <p:cNvPr id="107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 não quer dizer que a bolsa não funciona: é ausência de efeito detectável, nos limites acima.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doc 44, §6 (trechos do doc 20 da seção 03 copiados em output/rdd_bolsa/E8_resumo.json); doc 57, §4.2, §6 e §7.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do modelo às equações estimadas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ixa das equações"/>
          <p:cNvSpPr/>
          <p:nvPr/>
        </p:nvSpPr>
        <p:spPr>
          <a:xfrm>
            <a:off x="292608" y="804672"/>
            <a:ext cx="11594592" cy="1883664"/>
          </a:xfrm>
          <a:prstGeom prst="roundRect">
            <a:avLst>
              <a:gd name="adj" fmla="val 6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ctr">
            <a:noAutofit/>
          </a:bodyPr>
          <a:lstStyle/>
          <a:p>
            <a:endParaRPr lang="pt-BR"/>
          </a:p>
        </p:txBody>
      </p:sp>
      <p:sp>
        <p:nvSpPr>
          <p:cNvPr id="102" name="Rótulo 1"/>
          <p:cNvSpPr txBox="1"/>
          <p:nvPr/>
        </p:nvSpPr>
        <p:spPr>
          <a:xfrm>
            <a:off x="521208" y="1033272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Modelo (Moehling)</a:t>
            </a:r>
          </a:p>
        </p:txBody>
      </p:sp>
      <p:sp>
        <p:nvSpPr>
          <p:cNvPr id="103" name="Equação 1"/>
          <p:cNvSpPr txBox="1"/>
          <p:nvPr/>
        </p:nvSpPr>
        <p:spPr>
          <a:xfrm>
            <a:off x="2990088" y="1033272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V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Σ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δ</a:t>
            </a:r>
            <a:r>
              <a:rPr lang="pt-BR" sz="1614" b="0" baseline="30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[ E(w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| B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) / p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− c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]</a:t>
            </a:r>
          </a:p>
        </p:txBody>
      </p:sp>
      <p:sp>
        <p:nvSpPr>
          <p:cNvPr id="104" name="Rótulo 2"/>
          <p:cNvSpPr txBox="1"/>
          <p:nvPr/>
        </p:nvSpPr>
        <p:spPr>
          <a:xfrm>
            <a:off x="521208" y="150876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Escolha (H2, H3)</a:t>
            </a:r>
          </a:p>
        </p:txBody>
      </p:sp>
      <p:sp>
        <p:nvSpPr>
          <p:cNvPr id="105" name="Equação 2"/>
          <p:cNvSpPr txBox="1"/>
          <p:nvPr/>
        </p:nvSpPr>
        <p:spPr>
          <a:xfrm>
            <a:off x="2990088" y="1508760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U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β·B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f(IVS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) − γ·dist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θ·mesmaUF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λ·X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</a:p>
        </p:txBody>
      </p:sp>
      <p:sp>
        <p:nvSpPr>
          <p:cNvPr id="106" name="Rótulo 3"/>
          <p:cNvSpPr txBox="1"/>
          <p:nvPr/>
        </p:nvSpPr>
        <p:spPr>
          <a:xfrm>
            <a:off x="521208" y="1984248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Preenchimento (H1)</a:t>
            </a:r>
          </a:p>
        </p:txBody>
      </p:sp>
      <p:sp>
        <p:nvSpPr>
          <p:cNvPr id="107" name="Equação 3"/>
          <p:cNvSpPr txBox="1"/>
          <p:nvPr/>
        </p:nvSpPr>
        <p:spPr>
          <a:xfrm>
            <a:off x="2990088" y="1984248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Y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α + τ·D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f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±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(IVS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− corte) + μ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curso×ciclo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</a:t>
            </a:r>
          </a:p>
        </p:txBody>
      </p:sp>
      <p:sp>
        <p:nvSpPr>
          <p:cNvPr id="108" name="Marcadores"/>
          <p:cNvSpPr txBox="1"/>
          <p:nvPr/>
        </p:nvSpPr>
        <p:spPr>
          <a:xfrm>
            <a:off x="292608" y="2962656"/>
            <a:ext cx="11594592" cy="2505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β: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utilidade marginal da bolsa, o 1/p do modelo.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γ e θ: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custo geográfico (Redding e Rossi-Hansberg): distância e mesma UF da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f(IVS):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contínua nos cortes; absorve o que varia suave com a vulnerabilidade (custo laboral de Choné e Ma, amenidades, preços).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ε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tipo valor extremo dá o logit condicional; a agregação de Burdett, Shi e Wright leva de π a Pr(Y = 1).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τ: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salto no corte, com D = lado de bolsa maior; mede o pacote do corte, não a bolsa isolada.</a:t>
            </a:r>
          </a:p>
        </p:txBody>
      </p:sp>
      <p:sp>
        <p:nvSpPr>
          <p:cNvPr id="109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Hipótese de identificação comum: dado o IVS contínuo, só a bolsa (com as regras do mesmo corte) salta em 0,300 e 0,400.</a:t>
            </a:r>
          </a:p>
        </p:txBody>
      </p:sp>
      <p:sp>
        <p:nvSpPr>
          <p:cNvPr id="110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§4.3; protocolos 48 e 52.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oito bases oficiais, ligadas por município e médico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473702"/>
        </p:xfrm>
        <a:graphic>
          <a:graphicData uri="http://schemas.openxmlformats.org/drawingml/2006/table">
            <a:tbl>
              <a:tblPr firstRow="1" bandRow="1"/>
              <a:tblGrid>
                <a:gridCol w="1984567"/>
                <a:gridCol w="2633581"/>
                <a:gridCol w="1086993"/>
                <a:gridCol w="2610515"/>
                <a:gridCol w="1798243"/>
                <a:gridCol w="1480693"/>
              </a:tblGrid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Base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Fonte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Período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chaves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Cobertura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Uso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Quadros de vagas e resultados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chamamentos dos ciclos 1, 2 e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= estabelecimento × curso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 · 1.547 · 2.293 células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descritivas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e opções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classificação, alocação e homologação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opção; CPF mascarado só em memória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993 · 2.179 · 2.604 candidatos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H3, P6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IVS 2010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Ipea, Plataforma IVS (Censo 2010)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2010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5.565 municípios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running variable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075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CNES: vínculos e horas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DATASUS/MS, base completa mensal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2022-01 a 2026-08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profissional × estabelecimento × mês; pseudônimo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ligados: 938 · 2.102 · 2.533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 (origem), 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Especialistas ativos do PMM-E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MS, relação nominal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2026-09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posto; CRM só em memória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1.957 registros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(chegada)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075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Produção ambulatorial e hospitalar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DATASUS/MS: SIA e SIH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mensal, pré e pós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× mês × grupo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nacional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K (acesso)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População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IBGE, Censo 2022 (SIDRA)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5.570 municípios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denominadores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Atos com corte no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portarias do MS (auditoria 18)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2023–2026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ato ×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nos dois cortes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ameaça: pacote do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Nome, CPF e CRM só ficam em memória ou em cache fora do Git; nenhuma saída os traz.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output/apresentacao_banca2/tabela_fontes.csv (gerada por scripts/apresentacao/gerar_figuras_banca2.py); manifestos de aquisição em output/aquisicao/.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"IVS como piso" da banca 1 era um arquivo errado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O que era o arquivo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Em cada município, a última linha de subgrupo da base do Ipea com IVS preenchido; </a:t>
            </a:r>
            <a:r>
              <a:rPr lang="pt-BR" sz="1500" b="0" i="1" dirty="0">
                <a:solidFill>
                  <a:srgbClr val="3A3A3A"/>
                </a:solidFill>
                <a:latin typeface="Montserrat"/>
              </a:rPr>
              <a:t>Negro / Mulher / Urbano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em 4.362 de 5.565 municípios (78%).</a:t>
            </a:r>
          </a:p>
        </p:txBody>
      </p:sp>
      <p:sp>
        <p:nvSpPr>
          <p:cNvPr id="102" name="Cartão 2"/>
          <p:cNvSpPr/>
          <p:nvPr/>
        </p:nvSpPr>
        <p:spPr>
          <a:xfrm>
            <a:off x="4248912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Quanto acerta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O IVS oficial a 3 casas em 38 municípios; correlação 0,85.</a:t>
            </a:r>
          </a:p>
        </p:txBody>
      </p:sp>
      <p:sp>
        <p:nvSpPr>
          <p:cNvPr id="103" name="Cartão 3"/>
          <p:cNvSpPr/>
          <p:nvPr/>
        </p:nvSpPr>
        <p:spPr>
          <a:xfrm>
            <a:off x="8205216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O que mudou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Malha, tipologia, A4, A5 e a Tabela 1 do ciclo 1 foram refeitos; a RDD já usava o IVS oficial.</a:t>
            </a:r>
          </a:p>
        </p:txBody>
      </p:sp>
      <p:sp>
        <p:nvSpPr>
          <p:cNvPr id="104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FAILURE MODE: o arquivo não é inventado; é a linha errada da base certa.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output/rdd_bolsa/identificacao_arquivo_local_ivs.json; output/tema_trabalho/failure_mode_ivs_resumo.json; auditorias 16 e 19.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nos mesmos cortes mudam outras regras federais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1847596"/>
        </p:xfrm>
        <a:graphic>
          <a:graphicData uri="http://schemas.openxmlformats.org/drawingml/2006/table">
            <a:tbl>
              <a:tblPr firstRow="1" bandRow="1"/>
              <a:tblGrid>
                <a:gridCol w="752348"/>
                <a:gridCol w="5752941"/>
                <a:gridCol w="5089303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Muda além da bolsa (verificado no ato ou nos dados)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Não verificado ou inferido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97739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teto de emendas e de parcelas de custeio de MAC e APS +20% para "IVS maior que 0,3"; estrato do IED da APS nos portes 2 e 3; Portaria 752/2023: teto de coparticipação do PMMB de 10% → 40%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como a Portaria 752/2023 foi aplicada no corte; priorização de eMulti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estrato do IED nos portes 1, 2 e 4; Portaria 752/2023: 40% → 100%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ajuda de custo e perfis de escolha do PMMB; Eixo Vínculo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RDD em nível mede um pacote; a DiRD tira só a parte constante dessas regras.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output/aquisicao/a10_manifesto_normas_ivs.json.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N1 a N4, com controle das vagas oferecidas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1959864"/>
        </p:xfrm>
        <a:graphic>
          <a:graphicData uri="http://schemas.openxmlformats.org/drawingml/2006/table">
            <a:tbl>
              <a:tblPr firstRow="1" bandRow="1"/>
              <a:tblGrid>
                <a:gridCol w="5859431"/>
                <a:gridCol w="1279961"/>
                <a:gridCol w="2534004"/>
                <a:gridCol w="1921195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Outcome (ciclos e cortes empilhados)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IC 95%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p de Holm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vagas preenchidas na 1ª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[−1,44; −0,07]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0,124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N2 células com alocado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[−0,66; +0,04]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0,235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N3 células com alocado até a 2ª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[−0,87; +0,17]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0,376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N4 especialistas ativos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−0,21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[−1,34; +0,92]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0,717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sem controle (efeito total da faixa)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−1,45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[−2,90; −0,01]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fora do Holm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Nenhuma linha rejeita zero depois do Holm; o sinal é negativo em todas.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e S57_resumo.json (doc 49, §3).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A3 por corte e no ciclo 1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393696"/>
        </p:xfrm>
        <a:graphic>
          <a:graphicData uri="http://schemas.openxmlformats.org/drawingml/2006/table">
            <a:tbl>
              <a:tblPr firstRow="1" bandRow="1"/>
              <a:tblGrid>
                <a:gridCol w="4090834"/>
                <a:gridCol w="1902761"/>
                <a:gridCol w="2408774"/>
                <a:gridCol w="2115274"/>
                <a:gridCol w="1076949"/>
              </a:tblGrid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Amostra (célula aberta)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Média abaixo do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 [IC 95%], p.p.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Maior aumento compatível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MDE de 80%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cortes empilhados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34,7%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−4,9 [−12,9; +3,2]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+3,2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11,5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0,300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33,3%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−8,4 [−18,5; +1,7]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+1,7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14,5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36,8%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−1,3 [−14,0; +11,3]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+11,3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18,1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1, cortes empilhados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31,2%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−3,3 [−20,9; +14,2]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+14,2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25,1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 com candidato de 1ª opção, empilhado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−7,1 [−19,6; +5,4]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+5,4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 ciclo 1, a faixa saiu depois do pedido dos gestores; ali a amostra não descarta efeitos moderados.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§4.2; doc 49, §15).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bolsa em todas as especificações do logit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939796"/>
        </p:xfrm>
        <a:graphic>
          <a:graphicData uri="http://schemas.openxmlformats.org/drawingml/2006/table">
            <a:tbl>
              <a:tblPr firstRow="1" bandRow="1"/>
              <a:tblGrid>
                <a:gridCol w="1962016"/>
                <a:gridCol w="5398754"/>
                <a:gridCol w="4233822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Modelo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Coeficiente por R$ 1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M1 (primária)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com distância e origem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+0,0424 [−0,0027; +0,0874]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sem distância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+0,0690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 da distância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efeito fixo de UF da vaga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+0,0759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explodido (1ª e 2ª opção)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+0,0304 [−0,0150; +0,0758]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misto (média)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de saúde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+0,0434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por ciclo: 1 · 2 ·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+0,0132 · +0,1064 · −0,0004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leitura da H2 é sensível à especificação; só o M1 é a principal, e as demais são relatadas, não escolhidas.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57a, §4).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robustez, teste a teste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445254"/>
        </p:xfrm>
        <a:graphic>
          <a:graphicData uri="http://schemas.openxmlformats.org/drawingml/2006/table">
            <a:tbl>
              <a:tblPr firstRow="1" bandRow="1"/>
              <a:tblGrid>
                <a:gridCol w="894080"/>
                <a:gridCol w="3563985"/>
                <a:gridCol w="3186536"/>
                <a:gridCol w="3949990"/>
              </a:tblGrid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outras janelas (h = 0,030 e 0,080)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−0,78 e −0,47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sem os municípios colados ao corte (donut)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−0,65 [−1,43; +0,14]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sinal; o IC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um só coeficiente do controle (fora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−1,03 [−1,79; −0,28]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 o "nenhuma rejeita zero depois do Holm" depende dessa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IC honesto de N1 (M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[−79,58; +78,07]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 não informa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outras especificações do logit (M0, M2, M4, M7, M8, M9)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de +0,0304 a +0,0759 por R$ 1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todas; o IC contém zero só no M1 e no M7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E9 no ciclo 2: cortes placebo e spline cúbico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0,036; spline cúbico p 0,083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robusto a placebos; sensível à forma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D_UF em M2, M4, M5 por ciclo e M7 (BKY entre as seis)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de 1,18 a 2,37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todas, com q de BKY &lt; 0,05; pós-resultado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Rambachan–Roth (Δ^RM, média do pós)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ruptura de M̄: 1,30 (totais), 1,90 (posto), 0,78 (fora)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e posto aguentam violações do tamanho das do pré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comparação na nota de corte (P4-CA)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+7,91 [−0,63; +16,45]; pré p 0,837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mesma direção; o IC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todas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nas primárias; BKY nas secundárias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nenhuma primária rejeita zero, salvo o Y1 do P6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o Y1 é quase mecânico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Nenhuma especificação foi escolhida depois de ver o resultado; a comparação da H3 é pós-resultado e está rotulada.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 e §7); P1_estimativas.csv (doc 57a); E8_resumo.json (E9); P1h_magnitudes.csv (doc 57i); H_estimativas.csv e CA_estimativas.csv (doc 57h); doc 57, §3.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E9 resiste no ciclo 2; o empilhado é frágil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286508"/>
        </p:xfrm>
        <a:graphic>
          <a:graphicData uri="http://schemas.openxmlformats.org/drawingml/2006/table">
            <a:tbl>
              <a:tblPr firstRow="1" bandRow="1"/>
              <a:tblGrid>
                <a:gridCol w="8275312"/>
                <a:gridCol w="1556824"/>
                <a:gridCol w="1762456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(pós-auditoria, fora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Empilhado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 do score bootstrap (Webb), cluster por conjunto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cortes placebo: nº com abs(t) ≥ t real, de 27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contra os placebos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0,036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0,107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spline cúbico: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0,083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0,220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 e 3 empilhados, sem o 2: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0,267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Q de Cochran (ciclos 1, 2, 3):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0,014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O sinal da escolha vem do ciclo 2; o ciclo 3 maduro é a replicação fora da amostra.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output/rdd_bolsa/E8_resumo.json (e9); doc 44, §5.2.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magnitude da literatura e o IC empilhado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Dal Bó, Finan e Rossi (2013)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Salário anunciado sorteado, +33%: aceitação +15,1 p.p. e candidaturas +26%.</a:t>
            </a:r>
          </a:p>
        </p:txBody>
      </p:sp>
      <p:sp>
        <p:nvSpPr>
          <p:cNvPr id="102" name="Cartão 2"/>
          <p:cNvSpPr/>
          <p:nvPr/>
        </p:nvSpPr>
        <p:spPr>
          <a:xfrm>
            <a:off x="6227064" y="80467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Bobba et al.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Adicional de +13% por regra, numa RDD: o preenchimento não mudou; o professor que chegou era melhor.</a:t>
            </a:r>
          </a:p>
        </p:txBody>
      </p:sp>
      <p:sp>
        <p:nvSpPr>
          <p:cNvPr id="103" name="Cartão 3"/>
          <p:cNvSpPr/>
          <p:nvPr/>
        </p:nvSpPr>
        <p:spPr>
          <a:xfrm>
            <a:off x="292608" y="302209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Aqui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Degrau de +50% em 0,300 e +33% em 0,400; o IC da célula aberta admite no máximo +3,2 p.p., com os cortes empilhados.</a:t>
            </a:r>
          </a:p>
        </p:txBody>
      </p:sp>
      <p:sp>
        <p:nvSpPr>
          <p:cNvPr id="104" name="Cartão 4"/>
          <p:cNvSpPr/>
          <p:nvPr/>
        </p:nvSpPr>
        <p:spPr>
          <a:xfrm>
            <a:off x="6227064" y="302209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Próximos passos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Ciclo 3 com a competência 202703 publicada, completa e madura; pedidos do universo de inscritos e da folha de pagamento.</a:t>
            </a:r>
          </a:p>
        </p:txBody>
      </p:sp>
      <p:sp>
        <p:nvSpPr>
          <p:cNvPr id="10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Contextos e outcomes diferentes: lá, servidores e aceitação da oferta; aqui, especialistas e célula com confirmação ou homologação.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44, §6 (trechos do doc 20 da seção 03 copiados em output/rdd_bolsa/E8_resumo.json); doc 57, §6.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