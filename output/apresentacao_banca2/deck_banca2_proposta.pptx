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403" r:id="rId50"/>
    <p:sldId id="394" r:id="rId29"/>
    <p:sldId id="404" r:id="rId51"/>
    <p:sldId id="405" r:id="rId52"/>
    <p:sldId id="395" r:id="rId31"/>
    <p:sldId id="406" r:id="rId53"/>
    <p:sldId id="407" r:id="rId54"/>
    <p:sldId id="396" r:id="rId33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345" r:id="rId35"/>
    <p:sldId id="350" r:id="rId36"/>
    <p:sldId id="417" r:id="rId64"/>
    <p:sldId id="418" r:id="rId65"/>
    <p:sldId id="419" r:id="rId66"/>
    <p:sldId id="420" r:id="rId67"/>
    <p:sldId id="421" r:id="rId68"/>
    <p:sldId id="422" r:id="rId69"/>
    <p:sldId id="397" r:id="rId37"/>
    <p:sldId id="398" r:id="rId38"/>
    <p:sldId id="328" r:id="rId39"/>
    <p:sldId id="351" r:id="rId40"/>
    <p:sldId id="34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 (proposta do plano, delegada pelo autor e revisável por ele); H1 é o teste de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Ciclo 3: só a 1ª chamada; o seguimento pós-início segue congelado.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 perguntarem: a comparação usa os mesmos coeficientes do M1. Uma comparação de magnitude com limite não depende de o coeficiente da bolsa ser significativo, ao contrário da disposição a pagar, que é uma razão e explode quando o denominador fica perto de zero. Cautela: PENDENTE: nenhum número da H3 neste slide até a auditoria.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 com tendências paralelas.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Cautela: As ressalvas estão na tela: nenhuma especificação foi escolhida depois de ver o resultado.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cartão é uma pergunta que a banca pode fazer. O universo de inscritos responderia à margem extensiva; o pedido está pronto, mas depende do Ministério.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1_regra_bolsa_ivs_oficial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2_h1_preenchimento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3_h2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banca2_04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banca2_05_cadeia_resumo_doc57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747384" y="647736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5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747384" y="647736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5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6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747384" y="647736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7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8</a:t>
            </a:r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13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11</a:t>
            </a:r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11: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06744" y="6477362"/>
            <a:ext cx="481920" cy="38032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12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15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6543CF-D0BB-6E41-E836-CE1E11235B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C4CF16-C763-B522-0F48-CC4BDF989B4C}"/>
              </a:ext>
            </a:extLst>
          </p:cNvPr>
          <p:cNvSpPr txBox="1">
            <a:spLocks/>
          </p:cNvSpPr>
          <p:nvPr/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>
                <a:solidFill>
                  <a:schemeClr val="bg1"/>
                </a:solidFill>
              </a:rPr>
              <a:t>EXEMPLO LIMITAÇÕES</a:t>
            </a:r>
          </a:p>
          <a:p>
            <a:endParaRPr lang="pt-BR">
              <a:solidFill>
                <a:schemeClr val="bg1"/>
              </a:solidFill>
            </a:endParaRPr>
          </a:p>
        </p:txBody>
      </p:sp>
      <p:grpSp>
        <p:nvGrpSpPr>
          <p:cNvPr id="4" name="object 3">
            <a:extLst>
              <a:ext uri="{FF2B5EF4-FFF2-40B4-BE49-F238E27FC236}">
                <a16:creationId xmlns:a16="http://schemas.microsoft.com/office/drawing/2014/main" id="{F52E8C5C-341B-4F96-2BCA-DD50AF605C36}"/>
              </a:ext>
            </a:extLst>
          </p:cNvPr>
          <p:cNvGrpSpPr/>
          <p:nvPr/>
        </p:nvGrpSpPr>
        <p:grpSpPr>
          <a:xfrm>
            <a:off x="-14988" y="1406134"/>
            <a:ext cx="3621274" cy="5628640"/>
            <a:chOff x="0" y="784108"/>
            <a:chExt cx="3621274" cy="5628640"/>
          </a:xfrm>
        </p:grpSpPr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BADDDF3A-68D4-09BA-38AA-F2156838F88C}"/>
                </a:ext>
              </a:extLst>
            </p:cNvPr>
            <p:cNvSpPr/>
            <p:nvPr/>
          </p:nvSpPr>
          <p:spPr>
            <a:xfrm>
              <a:off x="1062142" y="1142692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96D94C16-C1CA-8994-DCDF-403F1EB08C46}"/>
                </a:ext>
              </a:extLst>
            </p:cNvPr>
            <p:cNvSpPr/>
            <p:nvPr/>
          </p:nvSpPr>
          <p:spPr>
            <a:xfrm>
              <a:off x="2677833" y="88037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19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A15883F6-E55A-0D86-DDA1-A9A5DC4AFAA8}"/>
                </a:ext>
              </a:extLst>
            </p:cNvPr>
            <p:cNvSpPr/>
            <p:nvPr/>
          </p:nvSpPr>
          <p:spPr>
            <a:xfrm>
              <a:off x="0" y="1440180"/>
              <a:ext cx="1376680" cy="4262755"/>
            </a:xfrm>
            <a:custGeom>
              <a:avLst/>
              <a:gdLst/>
              <a:ahLst/>
              <a:cxnLst/>
              <a:rect l="l" t="t" r="r" b="b"/>
              <a:pathLst>
                <a:path w="1376680" h="4262755">
                  <a:moveTo>
                    <a:pt x="0" y="0"/>
                  </a:moveTo>
                  <a:lnTo>
                    <a:pt x="0" y="4262627"/>
                  </a:lnTo>
                  <a:lnTo>
                    <a:pt x="37880" y="4261836"/>
                  </a:lnTo>
                  <a:lnTo>
                    <a:pt x="75507" y="4259474"/>
                  </a:lnTo>
                  <a:lnTo>
                    <a:pt x="149949" y="4250121"/>
                  </a:lnTo>
                  <a:lnTo>
                    <a:pt x="223223" y="4234731"/>
                  </a:lnTo>
                  <a:lnTo>
                    <a:pt x="295222" y="4213467"/>
                  </a:lnTo>
                  <a:lnTo>
                    <a:pt x="365842" y="4186491"/>
                  </a:lnTo>
                  <a:lnTo>
                    <a:pt x="434978" y="4153966"/>
                  </a:lnTo>
                  <a:lnTo>
                    <a:pt x="468957" y="4135674"/>
                  </a:lnTo>
                  <a:lnTo>
                    <a:pt x="502525" y="4116055"/>
                  </a:lnTo>
                  <a:lnTo>
                    <a:pt x="535670" y="4095130"/>
                  </a:lnTo>
                  <a:lnTo>
                    <a:pt x="568378" y="4072920"/>
                  </a:lnTo>
                  <a:lnTo>
                    <a:pt x="600637" y="4049444"/>
                  </a:lnTo>
                  <a:lnTo>
                    <a:pt x="632432" y="4024723"/>
                  </a:lnTo>
                  <a:lnTo>
                    <a:pt x="663752" y="3998778"/>
                  </a:lnTo>
                  <a:lnTo>
                    <a:pt x="694582" y="3971628"/>
                  </a:lnTo>
                  <a:lnTo>
                    <a:pt x="724911" y="3943294"/>
                  </a:lnTo>
                  <a:lnTo>
                    <a:pt x="754724" y="3913797"/>
                  </a:lnTo>
                  <a:lnTo>
                    <a:pt x="784008" y="3883156"/>
                  </a:lnTo>
                  <a:lnTo>
                    <a:pt x="812751" y="3851391"/>
                  </a:lnTo>
                  <a:lnTo>
                    <a:pt x="840939" y="3818524"/>
                  </a:lnTo>
                  <a:lnTo>
                    <a:pt x="868560" y="3784575"/>
                  </a:lnTo>
                  <a:lnTo>
                    <a:pt x="895600" y="3749563"/>
                  </a:lnTo>
                  <a:lnTo>
                    <a:pt x="922045" y="3713510"/>
                  </a:lnTo>
                  <a:lnTo>
                    <a:pt x="947884" y="3676435"/>
                  </a:lnTo>
                  <a:lnTo>
                    <a:pt x="973102" y="3638359"/>
                  </a:lnTo>
                  <a:lnTo>
                    <a:pt x="997687" y="3599302"/>
                  </a:lnTo>
                  <a:lnTo>
                    <a:pt x="1021625" y="3559285"/>
                  </a:lnTo>
                  <a:lnTo>
                    <a:pt x="1044904" y="3518327"/>
                  </a:lnTo>
                  <a:lnTo>
                    <a:pt x="1067510" y="3476449"/>
                  </a:lnTo>
                  <a:lnTo>
                    <a:pt x="1089430" y="3433672"/>
                  </a:lnTo>
                  <a:lnTo>
                    <a:pt x="1110652" y="3390016"/>
                  </a:lnTo>
                  <a:lnTo>
                    <a:pt x="1131161" y="3345500"/>
                  </a:lnTo>
                  <a:lnTo>
                    <a:pt x="1150945" y="3300146"/>
                  </a:lnTo>
                  <a:lnTo>
                    <a:pt x="1169991" y="3253974"/>
                  </a:lnTo>
                  <a:lnTo>
                    <a:pt x="1188285" y="3207003"/>
                  </a:lnTo>
                  <a:lnTo>
                    <a:pt x="1205815" y="3159256"/>
                  </a:lnTo>
                  <a:lnTo>
                    <a:pt x="1222567" y="3110750"/>
                  </a:lnTo>
                  <a:lnTo>
                    <a:pt x="1238528" y="3061508"/>
                  </a:lnTo>
                  <a:lnTo>
                    <a:pt x="1253685" y="3011549"/>
                  </a:lnTo>
                  <a:lnTo>
                    <a:pt x="1268026" y="2960893"/>
                  </a:lnTo>
                  <a:lnTo>
                    <a:pt x="1281536" y="2909562"/>
                  </a:lnTo>
                  <a:lnTo>
                    <a:pt x="1294203" y="2857575"/>
                  </a:lnTo>
                  <a:lnTo>
                    <a:pt x="1306014" y="2804952"/>
                  </a:lnTo>
                  <a:lnTo>
                    <a:pt x="1316955" y="2751714"/>
                  </a:lnTo>
                  <a:lnTo>
                    <a:pt x="1327014" y="2697882"/>
                  </a:lnTo>
                  <a:lnTo>
                    <a:pt x="1336177" y="2643475"/>
                  </a:lnTo>
                  <a:lnTo>
                    <a:pt x="1344431" y="2588513"/>
                  </a:lnTo>
                  <a:lnTo>
                    <a:pt x="1351763" y="2533019"/>
                  </a:lnTo>
                  <a:lnTo>
                    <a:pt x="1358160" y="2477010"/>
                  </a:lnTo>
                  <a:lnTo>
                    <a:pt x="1363609" y="2420508"/>
                  </a:lnTo>
                  <a:lnTo>
                    <a:pt x="1368096" y="2363534"/>
                  </a:lnTo>
                  <a:lnTo>
                    <a:pt x="1371610" y="2306107"/>
                  </a:lnTo>
                  <a:lnTo>
                    <a:pt x="1374135" y="2248247"/>
                  </a:lnTo>
                  <a:lnTo>
                    <a:pt x="1375660" y="2189976"/>
                  </a:lnTo>
                  <a:lnTo>
                    <a:pt x="1376172" y="2131313"/>
                  </a:lnTo>
                  <a:lnTo>
                    <a:pt x="1375660" y="2072651"/>
                  </a:lnTo>
                  <a:lnTo>
                    <a:pt x="1374135" y="2014380"/>
                  </a:lnTo>
                  <a:lnTo>
                    <a:pt x="1371610" y="1956520"/>
                  </a:lnTo>
                  <a:lnTo>
                    <a:pt x="1368096" y="1899093"/>
                  </a:lnTo>
                  <a:lnTo>
                    <a:pt x="1363609" y="1842119"/>
                  </a:lnTo>
                  <a:lnTo>
                    <a:pt x="1358160" y="1785617"/>
                  </a:lnTo>
                  <a:lnTo>
                    <a:pt x="1351763" y="1729608"/>
                  </a:lnTo>
                  <a:lnTo>
                    <a:pt x="1344431" y="1674113"/>
                  </a:lnTo>
                  <a:lnTo>
                    <a:pt x="1336177" y="1619152"/>
                  </a:lnTo>
                  <a:lnTo>
                    <a:pt x="1327014" y="1564745"/>
                  </a:lnTo>
                  <a:lnTo>
                    <a:pt x="1316955" y="1510913"/>
                  </a:lnTo>
                  <a:lnTo>
                    <a:pt x="1306014" y="1457675"/>
                  </a:lnTo>
                  <a:lnTo>
                    <a:pt x="1294203" y="1405052"/>
                  </a:lnTo>
                  <a:lnTo>
                    <a:pt x="1281536" y="1353065"/>
                  </a:lnTo>
                  <a:lnTo>
                    <a:pt x="1268026" y="1301734"/>
                  </a:lnTo>
                  <a:lnTo>
                    <a:pt x="1253685" y="1251078"/>
                  </a:lnTo>
                  <a:lnTo>
                    <a:pt x="1238528" y="1201119"/>
                  </a:lnTo>
                  <a:lnTo>
                    <a:pt x="1222567" y="1151877"/>
                  </a:lnTo>
                  <a:lnTo>
                    <a:pt x="1205815" y="1103371"/>
                  </a:lnTo>
                  <a:lnTo>
                    <a:pt x="1188285" y="1055623"/>
                  </a:lnTo>
                  <a:lnTo>
                    <a:pt x="1169991" y="1008653"/>
                  </a:lnTo>
                  <a:lnTo>
                    <a:pt x="1150945" y="962481"/>
                  </a:lnTo>
                  <a:lnTo>
                    <a:pt x="1131161" y="917127"/>
                  </a:lnTo>
                  <a:lnTo>
                    <a:pt x="1110652" y="872611"/>
                  </a:lnTo>
                  <a:lnTo>
                    <a:pt x="1089430" y="828955"/>
                  </a:lnTo>
                  <a:lnTo>
                    <a:pt x="1067510" y="786178"/>
                  </a:lnTo>
                  <a:lnTo>
                    <a:pt x="1044904" y="744300"/>
                  </a:lnTo>
                  <a:lnTo>
                    <a:pt x="1021625" y="703342"/>
                  </a:lnTo>
                  <a:lnTo>
                    <a:pt x="997687" y="663325"/>
                  </a:lnTo>
                  <a:lnTo>
                    <a:pt x="973102" y="624268"/>
                  </a:lnTo>
                  <a:lnTo>
                    <a:pt x="947884" y="586192"/>
                  </a:lnTo>
                  <a:lnTo>
                    <a:pt x="922045" y="549117"/>
                  </a:lnTo>
                  <a:lnTo>
                    <a:pt x="895600" y="513064"/>
                  </a:lnTo>
                  <a:lnTo>
                    <a:pt x="868560" y="478052"/>
                  </a:lnTo>
                  <a:lnTo>
                    <a:pt x="840939" y="444103"/>
                  </a:lnTo>
                  <a:lnTo>
                    <a:pt x="812751" y="411236"/>
                  </a:lnTo>
                  <a:lnTo>
                    <a:pt x="784008" y="379471"/>
                  </a:lnTo>
                  <a:lnTo>
                    <a:pt x="754724" y="348830"/>
                  </a:lnTo>
                  <a:lnTo>
                    <a:pt x="724911" y="319333"/>
                  </a:lnTo>
                  <a:lnTo>
                    <a:pt x="694582" y="290999"/>
                  </a:lnTo>
                  <a:lnTo>
                    <a:pt x="663752" y="263849"/>
                  </a:lnTo>
                  <a:lnTo>
                    <a:pt x="632432" y="237904"/>
                  </a:lnTo>
                  <a:lnTo>
                    <a:pt x="600637" y="213183"/>
                  </a:lnTo>
                  <a:lnTo>
                    <a:pt x="568378" y="189707"/>
                  </a:lnTo>
                  <a:lnTo>
                    <a:pt x="535670" y="167497"/>
                  </a:lnTo>
                  <a:lnTo>
                    <a:pt x="502525" y="146572"/>
                  </a:lnTo>
                  <a:lnTo>
                    <a:pt x="468957" y="126953"/>
                  </a:lnTo>
                  <a:lnTo>
                    <a:pt x="434978" y="108661"/>
                  </a:lnTo>
                  <a:lnTo>
                    <a:pt x="400602" y="91715"/>
                  </a:lnTo>
                  <a:lnTo>
                    <a:pt x="330711" y="61944"/>
                  </a:lnTo>
                  <a:lnTo>
                    <a:pt x="259388" y="37804"/>
                  </a:lnTo>
                  <a:lnTo>
                    <a:pt x="186739" y="19457"/>
                  </a:lnTo>
                  <a:lnTo>
                    <a:pt x="112868" y="7065"/>
                  </a:lnTo>
                  <a:lnTo>
                    <a:pt x="37880" y="7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B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7A22D144-424F-F145-4A09-42BA929CD6F9}"/>
                </a:ext>
              </a:extLst>
            </p:cNvPr>
            <p:cNvSpPr/>
            <p:nvPr/>
          </p:nvSpPr>
          <p:spPr>
            <a:xfrm>
              <a:off x="0" y="784108"/>
              <a:ext cx="1974850" cy="5628640"/>
            </a:xfrm>
            <a:custGeom>
              <a:avLst/>
              <a:gdLst/>
              <a:ahLst/>
              <a:cxnLst/>
              <a:rect l="l" t="t" r="r" b="b"/>
              <a:pathLst>
                <a:path w="1974850" h="5628640">
                  <a:moveTo>
                    <a:pt x="0" y="0"/>
                  </a:moveTo>
                  <a:lnTo>
                    <a:pt x="39052" y="549"/>
                  </a:lnTo>
                  <a:lnTo>
                    <a:pt x="78675" y="2223"/>
                  </a:lnTo>
                  <a:lnTo>
                    <a:pt x="118099" y="5000"/>
                  </a:lnTo>
                  <a:lnTo>
                    <a:pt x="157316" y="8870"/>
                  </a:lnTo>
                  <a:lnTo>
                    <a:pt x="196320" y="13822"/>
                  </a:lnTo>
                  <a:lnTo>
                    <a:pt x="235102" y="19846"/>
                  </a:lnTo>
                  <a:lnTo>
                    <a:pt x="273656" y="26931"/>
                  </a:lnTo>
                  <a:lnTo>
                    <a:pt x="311974" y="35066"/>
                  </a:lnTo>
                  <a:lnTo>
                    <a:pt x="350049" y="44242"/>
                  </a:lnTo>
                  <a:lnTo>
                    <a:pt x="387873" y="54447"/>
                  </a:lnTo>
                  <a:lnTo>
                    <a:pt x="425439" y="65672"/>
                  </a:lnTo>
                  <a:lnTo>
                    <a:pt x="462739" y="77905"/>
                  </a:lnTo>
                  <a:lnTo>
                    <a:pt x="499767" y="91136"/>
                  </a:lnTo>
                  <a:lnTo>
                    <a:pt x="536515" y="105354"/>
                  </a:lnTo>
                  <a:lnTo>
                    <a:pt x="572975" y="120550"/>
                  </a:lnTo>
                  <a:lnTo>
                    <a:pt x="609140" y="136713"/>
                  </a:lnTo>
                  <a:lnTo>
                    <a:pt x="645003" y="153831"/>
                  </a:lnTo>
                  <a:lnTo>
                    <a:pt x="680556" y="171895"/>
                  </a:lnTo>
                  <a:lnTo>
                    <a:pt x="715792" y="190894"/>
                  </a:lnTo>
                  <a:lnTo>
                    <a:pt x="750704" y="210818"/>
                  </a:lnTo>
                  <a:lnTo>
                    <a:pt x="785283" y="231656"/>
                  </a:lnTo>
                  <a:lnTo>
                    <a:pt x="819524" y="253397"/>
                  </a:lnTo>
                  <a:lnTo>
                    <a:pt x="853418" y="276032"/>
                  </a:lnTo>
                  <a:lnTo>
                    <a:pt x="886959" y="299549"/>
                  </a:lnTo>
                  <a:lnTo>
                    <a:pt x="920137" y="323938"/>
                  </a:lnTo>
                  <a:lnTo>
                    <a:pt x="952948" y="349188"/>
                  </a:lnTo>
                  <a:lnTo>
                    <a:pt x="985382" y="375290"/>
                  </a:lnTo>
                  <a:lnTo>
                    <a:pt x="1017433" y="402232"/>
                  </a:lnTo>
                  <a:lnTo>
                    <a:pt x="1049093" y="430004"/>
                  </a:lnTo>
                  <a:lnTo>
                    <a:pt x="1080355" y="458596"/>
                  </a:lnTo>
                  <a:lnTo>
                    <a:pt x="1111211" y="487997"/>
                  </a:lnTo>
                  <a:lnTo>
                    <a:pt x="1141654" y="518196"/>
                  </a:lnTo>
                  <a:lnTo>
                    <a:pt x="1171677" y="549183"/>
                  </a:lnTo>
                  <a:lnTo>
                    <a:pt x="1201272" y="580948"/>
                  </a:lnTo>
                  <a:lnTo>
                    <a:pt x="1230433" y="613479"/>
                  </a:lnTo>
                  <a:lnTo>
                    <a:pt x="1259151" y="646767"/>
                  </a:lnTo>
                  <a:lnTo>
                    <a:pt x="1287419" y="680801"/>
                  </a:lnTo>
                  <a:lnTo>
                    <a:pt x="1315230" y="715571"/>
                  </a:lnTo>
                  <a:lnTo>
                    <a:pt x="1342576" y="751065"/>
                  </a:lnTo>
                  <a:lnTo>
                    <a:pt x="1369450" y="787274"/>
                  </a:lnTo>
                  <a:lnTo>
                    <a:pt x="1395845" y="824187"/>
                  </a:lnTo>
                  <a:lnTo>
                    <a:pt x="1421754" y="861793"/>
                  </a:lnTo>
                  <a:lnTo>
                    <a:pt x="1447168" y="900083"/>
                  </a:lnTo>
                  <a:lnTo>
                    <a:pt x="1472081" y="939044"/>
                  </a:lnTo>
                  <a:lnTo>
                    <a:pt x="1496485" y="978668"/>
                  </a:lnTo>
                  <a:lnTo>
                    <a:pt x="1520373" y="1018943"/>
                  </a:lnTo>
                  <a:lnTo>
                    <a:pt x="1543737" y="1059859"/>
                  </a:lnTo>
                  <a:lnTo>
                    <a:pt x="1566571" y="1101405"/>
                  </a:lnTo>
                  <a:lnTo>
                    <a:pt x="1588866" y="1143571"/>
                  </a:lnTo>
                  <a:lnTo>
                    <a:pt x="1610615" y="1186347"/>
                  </a:lnTo>
                  <a:lnTo>
                    <a:pt x="1631812" y="1229721"/>
                  </a:lnTo>
                  <a:lnTo>
                    <a:pt x="1652448" y="1273684"/>
                  </a:lnTo>
                  <a:lnTo>
                    <a:pt x="1672516" y="1318225"/>
                  </a:lnTo>
                  <a:lnTo>
                    <a:pt x="1692009" y="1363333"/>
                  </a:lnTo>
                  <a:lnTo>
                    <a:pt x="1710919" y="1408998"/>
                  </a:lnTo>
                  <a:lnTo>
                    <a:pt x="1729240" y="1455209"/>
                  </a:lnTo>
                  <a:lnTo>
                    <a:pt x="1746963" y="1501956"/>
                  </a:lnTo>
                  <a:lnTo>
                    <a:pt x="1764081" y="1549229"/>
                  </a:lnTo>
                  <a:lnTo>
                    <a:pt x="1780588" y="1597016"/>
                  </a:lnTo>
                  <a:lnTo>
                    <a:pt x="1796475" y="1645308"/>
                  </a:lnTo>
                  <a:lnTo>
                    <a:pt x="1811735" y="1694093"/>
                  </a:lnTo>
                  <a:lnTo>
                    <a:pt x="1826361" y="1743362"/>
                  </a:lnTo>
                  <a:lnTo>
                    <a:pt x="1840345" y="1793104"/>
                  </a:lnTo>
                  <a:lnTo>
                    <a:pt x="1853681" y="1843308"/>
                  </a:lnTo>
                  <a:lnTo>
                    <a:pt x="1866360" y="1893963"/>
                  </a:lnTo>
                  <a:lnTo>
                    <a:pt x="1878375" y="1945060"/>
                  </a:lnTo>
                  <a:lnTo>
                    <a:pt x="1889719" y="1996588"/>
                  </a:lnTo>
                  <a:lnTo>
                    <a:pt x="1900385" y="2048536"/>
                  </a:lnTo>
                  <a:lnTo>
                    <a:pt x="1910365" y="2100894"/>
                  </a:lnTo>
                  <a:lnTo>
                    <a:pt x="1919652" y="2153651"/>
                  </a:lnTo>
                  <a:lnTo>
                    <a:pt x="1928239" y="2206797"/>
                  </a:lnTo>
                  <a:lnTo>
                    <a:pt x="1936117" y="2260321"/>
                  </a:lnTo>
                  <a:lnTo>
                    <a:pt x="1943280" y="2314213"/>
                  </a:lnTo>
                  <a:lnTo>
                    <a:pt x="1949721" y="2368462"/>
                  </a:lnTo>
                  <a:lnTo>
                    <a:pt x="1955431" y="2423058"/>
                  </a:lnTo>
                  <a:lnTo>
                    <a:pt x="1960404" y="2477990"/>
                  </a:lnTo>
                  <a:lnTo>
                    <a:pt x="1964632" y="2533248"/>
                  </a:lnTo>
                  <a:lnTo>
                    <a:pt x="1968108" y="2588821"/>
                  </a:lnTo>
                  <a:lnTo>
                    <a:pt x="1970824" y="2644698"/>
                  </a:lnTo>
                  <a:lnTo>
                    <a:pt x="1972773" y="2700870"/>
                  </a:lnTo>
                  <a:lnTo>
                    <a:pt x="1973948" y="2757326"/>
                  </a:lnTo>
                  <a:lnTo>
                    <a:pt x="1974342" y="2814055"/>
                  </a:lnTo>
                  <a:lnTo>
                    <a:pt x="1973948" y="2870784"/>
                  </a:lnTo>
                  <a:lnTo>
                    <a:pt x="1972773" y="2927239"/>
                  </a:lnTo>
                  <a:lnTo>
                    <a:pt x="1970824" y="2983411"/>
                  </a:lnTo>
                  <a:lnTo>
                    <a:pt x="1968108" y="3039289"/>
                  </a:lnTo>
                  <a:lnTo>
                    <a:pt x="1964632" y="3094862"/>
                  </a:lnTo>
                  <a:lnTo>
                    <a:pt x="1960404" y="3150120"/>
                  </a:lnTo>
                  <a:lnTo>
                    <a:pt x="1955431" y="3205052"/>
                  </a:lnTo>
                  <a:lnTo>
                    <a:pt x="1949721" y="3259648"/>
                  </a:lnTo>
                  <a:lnTo>
                    <a:pt x="1943280" y="3313897"/>
                  </a:lnTo>
                  <a:lnTo>
                    <a:pt x="1936117" y="3367789"/>
                  </a:lnTo>
                  <a:lnTo>
                    <a:pt x="1928239" y="3421313"/>
                  </a:lnTo>
                  <a:lnTo>
                    <a:pt x="1919652" y="3474459"/>
                  </a:lnTo>
                  <a:lnTo>
                    <a:pt x="1910365" y="3527216"/>
                  </a:lnTo>
                  <a:lnTo>
                    <a:pt x="1900385" y="3579574"/>
                  </a:lnTo>
                  <a:lnTo>
                    <a:pt x="1889719" y="3631522"/>
                  </a:lnTo>
                  <a:lnTo>
                    <a:pt x="1878375" y="3683049"/>
                  </a:lnTo>
                  <a:lnTo>
                    <a:pt x="1866360" y="3734146"/>
                  </a:lnTo>
                  <a:lnTo>
                    <a:pt x="1853681" y="3784802"/>
                  </a:lnTo>
                  <a:lnTo>
                    <a:pt x="1840345" y="3835006"/>
                  </a:lnTo>
                  <a:lnTo>
                    <a:pt x="1826361" y="3884748"/>
                  </a:lnTo>
                  <a:lnTo>
                    <a:pt x="1811735" y="3934016"/>
                  </a:lnTo>
                  <a:lnTo>
                    <a:pt x="1796475" y="3982802"/>
                  </a:lnTo>
                  <a:lnTo>
                    <a:pt x="1780588" y="4031093"/>
                  </a:lnTo>
                  <a:lnTo>
                    <a:pt x="1764081" y="4078881"/>
                  </a:lnTo>
                  <a:lnTo>
                    <a:pt x="1746963" y="4126153"/>
                  </a:lnTo>
                  <a:lnTo>
                    <a:pt x="1729240" y="4172900"/>
                  </a:lnTo>
                  <a:lnTo>
                    <a:pt x="1710919" y="4219112"/>
                  </a:lnTo>
                  <a:lnTo>
                    <a:pt x="1692009" y="4264777"/>
                  </a:lnTo>
                  <a:lnTo>
                    <a:pt x="1672516" y="4309885"/>
                  </a:lnTo>
                  <a:lnTo>
                    <a:pt x="1652448" y="4354425"/>
                  </a:lnTo>
                  <a:lnTo>
                    <a:pt x="1631812" y="4398388"/>
                  </a:lnTo>
                  <a:lnTo>
                    <a:pt x="1610615" y="4441763"/>
                  </a:lnTo>
                  <a:lnTo>
                    <a:pt x="1588866" y="4484538"/>
                  </a:lnTo>
                  <a:lnTo>
                    <a:pt x="1566571" y="4526705"/>
                  </a:lnTo>
                  <a:lnTo>
                    <a:pt x="1543737" y="4568251"/>
                  </a:lnTo>
                  <a:lnTo>
                    <a:pt x="1520373" y="4609167"/>
                  </a:lnTo>
                  <a:lnTo>
                    <a:pt x="1496485" y="4649442"/>
                  </a:lnTo>
                  <a:lnTo>
                    <a:pt x="1472081" y="4689065"/>
                  </a:lnTo>
                  <a:lnTo>
                    <a:pt x="1447168" y="4728027"/>
                  </a:lnTo>
                  <a:lnTo>
                    <a:pt x="1421754" y="4766316"/>
                  </a:lnTo>
                  <a:lnTo>
                    <a:pt x="1395845" y="4803923"/>
                  </a:lnTo>
                  <a:lnTo>
                    <a:pt x="1369450" y="4840835"/>
                  </a:lnTo>
                  <a:lnTo>
                    <a:pt x="1342576" y="4877044"/>
                  </a:lnTo>
                  <a:lnTo>
                    <a:pt x="1315230" y="4912539"/>
                  </a:lnTo>
                  <a:lnTo>
                    <a:pt x="1287419" y="4947308"/>
                  </a:lnTo>
                  <a:lnTo>
                    <a:pt x="1259151" y="4981342"/>
                  </a:lnTo>
                  <a:lnTo>
                    <a:pt x="1230433" y="5014630"/>
                  </a:lnTo>
                  <a:lnTo>
                    <a:pt x="1201272" y="5047162"/>
                  </a:lnTo>
                  <a:lnTo>
                    <a:pt x="1171677" y="5078927"/>
                  </a:lnTo>
                  <a:lnTo>
                    <a:pt x="1141654" y="5109914"/>
                  </a:lnTo>
                  <a:lnTo>
                    <a:pt x="1111211" y="5140113"/>
                  </a:lnTo>
                  <a:lnTo>
                    <a:pt x="1080355" y="5169514"/>
                  </a:lnTo>
                  <a:lnTo>
                    <a:pt x="1049093" y="5198105"/>
                  </a:lnTo>
                  <a:lnTo>
                    <a:pt x="1017433" y="5225877"/>
                  </a:lnTo>
                  <a:lnTo>
                    <a:pt x="985382" y="5252819"/>
                  </a:lnTo>
                  <a:lnTo>
                    <a:pt x="952948" y="5278921"/>
                  </a:lnTo>
                  <a:lnTo>
                    <a:pt x="920137" y="5304172"/>
                  </a:lnTo>
                  <a:lnTo>
                    <a:pt x="886959" y="5328561"/>
                  </a:lnTo>
                  <a:lnTo>
                    <a:pt x="853418" y="5352078"/>
                  </a:lnTo>
                  <a:lnTo>
                    <a:pt x="819524" y="5374712"/>
                  </a:lnTo>
                  <a:lnTo>
                    <a:pt x="785283" y="5396453"/>
                  </a:lnTo>
                  <a:lnTo>
                    <a:pt x="750704" y="5417291"/>
                  </a:lnTo>
                  <a:lnTo>
                    <a:pt x="715792" y="5437215"/>
                  </a:lnTo>
                  <a:lnTo>
                    <a:pt x="680556" y="5456214"/>
                  </a:lnTo>
                  <a:lnTo>
                    <a:pt x="645003" y="5474278"/>
                  </a:lnTo>
                  <a:lnTo>
                    <a:pt x="609140" y="5491397"/>
                  </a:lnTo>
                  <a:lnTo>
                    <a:pt x="572975" y="5507559"/>
                  </a:lnTo>
                  <a:lnTo>
                    <a:pt x="536515" y="5522755"/>
                  </a:lnTo>
                  <a:lnTo>
                    <a:pt x="499767" y="5536974"/>
                  </a:lnTo>
                  <a:lnTo>
                    <a:pt x="462739" y="5550205"/>
                  </a:lnTo>
                  <a:lnTo>
                    <a:pt x="425439" y="5562438"/>
                  </a:lnTo>
                  <a:lnTo>
                    <a:pt x="387873" y="5573662"/>
                  </a:lnTo>
                  <a:lnTo>
                    <a:pt x="350049" y="5583868"/>
                  </a:lnTo>
                  <a:lnTo>
                    <a:pt x="311974" y="5593043"/>
                  </a:lnTo>
                  <a:lnTo>
                    <a:pt x="273656" y="5601179"/>
                  </a:lnTo>
                  <a:lnTo>
                    <a:pt x="235102" y="5608264"/>
                  </a:lnTo>
                  <a:lnTo>
                    <a:pt x="196320" y="5614287"/>
                  </a:lnTo>
                  <a:lnTo>
                    <a:pt x="157316" y="5619239"/>
                  </a:lnTo>
                  <a:lnTo>
                    <a:pt x="118099" y="5623109"/>
                  </a:lnTo>
                  <a:lnTo>
                    <a:pt x="78675" y="5625886"/>
                  </a:lnTo>
                  <a:lnTo>
                    <a:pt x="39052" y="5627560"/>
                  </a:lnTo>
                  <a:lnTo>
                    <a:pt x="0" y="5628110"/>
                  </a:lnTo>
                </a:path>
              </a:pathLst>
            </a:custGeom>
            <a:ln w="28575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C0C9EA00-A39A-A57E-288B-282B17702660}"/>
                </a:ext>
              </a:extLst>
            </p:cNvPr>
            <p:cNvSpPr/>
            <p:nvPr/>
          </p:nvSpPr>
          <p:spPr>
            <a:xfrm>
              <a:off x="0" y="1120166"/>
              <a:ext cx="1624965" cy="4954905"/>
            </a:xfrm>
            <a:custGeom>
              <a:avLst/>
              <a:gdLst/>
              <a:ahLst/>
              <a:cxnLst/>
              <a:rect l="l" t="t" r="r" b="b"/>
              <a:pathLst>
                <a:path w="1624965" h="4954905">
                  <a:moveTo>
                    <a:pt x="0" y="0"/>
                  </a:moveTo>
                  <a:lnTo>
                    <a:pt x="73952" y="2594"/>
                  </a:lnTo>
                  <a:lnTo>
                    <a:pt x="148545" y="10382"/>
                  </a:lnTo>
                  <a:lnTo>
                    <a:pt x="222178" y="23222"/>
                  </a:lnTo>
                  <a:lnTo>
                    <a:pt x="294777" y="41000"/>
                  </a:lnTo>
                  <a:lnTo>
                    <a:pt x="366267" y="63602"/>
                  </a:lnTo>
                  <a:lnTo>
                    <a:pt x="436573" y="90915"/>
                  </a:lnTo>
                  <a:lnTo>
                    <a:pt x="505621" y="122825"/>
                  </a:lnTo>
                  <a:lnTo>
                    <a:pt x="539649" y="140467"/>
                  </a:lnTo>
                  <a:lnTo>
                    <a:pt x="573335" y="159216"/>
                  </a:lnTo>
                  <a:lnTo>
                    <a:pt x="606669" y="179057"/>
                  </a:lnTo>
                  <a:lnTo>
                    <a:pt x="639641" y="199976"/>
                  </a:lnTo>
                  <a:lnTo>
                    <a:pt x="672243" y="221959"/>
                  </a:lnTo>
                  <a:lnTo>
                    <a:pt x="704464" y="244991"/>
                  </a:lnTo>
                  <a:lnTo>
                    <a:pt x="736296" y="269057"/>
                  </a:lnTo>
                  <a:lnTo>
                    <a:pt x="767729" y="294145"/>
                  </a:lnTo>
                  <a:lnTo>
                    <a:pt x="798754" y="320240"/>
                  </a:lnTo>
                  <a:lnTo>
                    <a:pt x="829361" y="347326"/>
                  </a:lnTo>
                  <a:lnTo>
                    <a:pt x="859542" y="375391"/>
                  </a:lnTo>
                  <a:lnTo>
                    <a:pt x="889286" y="404420"/>
                  </a:lnTo>
                  <a:lnTo>
                    <a:pt x="918585" y="434398"/>
                  </a:lnTo>
                  <a:lnTo>
                    <a:pt x="947428" y="465312"/>
                  </a:lnTo>
                  <a:lnTo>
                    <a:pt x="975808" y="497147"/>
                  </a:lnTo>
                  <a:lnTo>
                    <a:pt x="1003713" y="529888"/>
                  </a:lnTo>
                  <a:lnTo>
                    <a:pt x="1031136" y="563522"/>
                  </a:lnTo>
                  <a:lnTo>
                    <a:pt x="1058066" y="598035"/>
                  </a:lnTo>
                  <a:lnTo>
                    <a:pt x="1084495" y="633411"/>
                  </a:lnTo>
                  <a:lnTo>
                    <a:pt x="1110412" y="669638"/>
                  </a:lnTo>
                  <a:lnTo>
                    <a:pt x="1135809" y="706700"/>
                  </a:lnTo>
                  <a:lnTo>
                    <a:pt x="1160676" y="744583"/>
                  </a:lnTo>
                  <a:lnTo>
                    <a:pt x="1185005" y="783274"/>
                  </a:lnTo>
                  <a:lnTo>
                    <a:pt x="1208784" y="822757"/>
                  </a:lnTo>
                  <a:lnTo>
                    <a:pt x="1232006" y="863019"/>
                  </a:lnTo>
                  <a:lnTo>
                    <a:pt x="1254660" y="904046"/>
                  </a:lnTo>
                  <a:lnTo>
                    <a:pt x="1276738" y="945822"/>
                  </a:lnTo>
                  <a:lnTo>
                    <a:pt x="1298231" y="988334"/>
                  </a:lnTo>
                  <a:lnTo>
                    <a:pt x="1319127" y="1031568"/>
                  </a:lnTo>
                  <a:lnTo>
                    <a:pt x="1339420" y="1075509"/>
                  </a:lnTo>
                  <a:lnTo>
                    <a:pt x="1359098" y="1120144"/>
                  </a:lnTo>
                  <a:lnTo>
                    <a:pt x="1378153" y="1165457"/>
                  </a:lnTo>
                  <a:lnTo>
                    <a:pt x="1396575" y="1211435"/>
                  </a:lnTo>
                  <a:lnTo>
                    <a:pt x="1414355" y="1258063"/>
                  </a:lnTo>
                  <a:lnTo>
                    <a:pt x="1431484" y="1305327"/>
                  </a:lnTo>
                  <a:lnTo>
                    <a:pt x="1447952" y="1353213"/>
                  </a:lnTo>
                  <a:lnTo>
                    <a:pt x="1463750" y="1401707"/>
                  </a:lnTo>
                  <a:lnTo>
                    <a:pt x="1478868" y="1450794"/>
                  </a:lnTo>
                  <a:lnTo>
                    <a:pt x="1493298" y="1500460"/>
                  </a:lnTo>
                  <a:lnTo>
                    <a:pt x="1507030" y="1550691"/>
                  </a:lnTo>
                  <a:lnTo>
                    <a:pt x="1520054" y="1601473"/>
                  </a:lnTo>
                  <a:lnTo>
                    <a:pt x="1532361" y="1652791"/>
                  </a:lnTo>
                  <a:lnTo>
                    <a:pt x="1543942" y="1704631"/>
                  </a:lnTo>
                  <a:lnTo>
                    <a:pt x="1554787" y="1756979"/>
                  </a:lnTo>
                  <a:lnTo>
                    <a:pt x="1564887" y="1809821"/>
                  </a:lnTo>
                  <a:lnTo>
                    <a:pt x="1574234" y="1863142"/>
                  </a:lnTo>
                  <a:lnTo>
                    <a:pt x="1582816" y="1916928"/>
                  </a:lnTo>
                  <a:lnTo>
                    <a:pt x="1590626" y="1971165"/>
                  </a:lnTo>
                  <a:lnTo>
                    <a:pt x="1597653" y="2025838"/>
                  </a:lnTo>
                  <a:lnTo>
                    <a:pt x="1603888" y="2080934"/>
                  </a:lnTo>
                  <a:lnTo>
                    <a:pt x="1609323" y="2136438"/>
                  </a:lnTo>
                  <a:lnTo>
                    <a:pt x="1613947" y="2192336"/>
                  </a:lnTo>
                  <a:lnTo>
                    <a:pt x="1617751" y="2248614"/>
                  </a:lnTo>
                  <a:lnTo>
                    <a:pt x="1620726" y="2305257"/>
                  </a:lnTo>
                  <a:lnTo>
                    <a:pt x="1622863" y="2362251"/>
                  </a:lnTo>
                  <a:lnTo>
                    <a:pt x="1624152" y="2419582"/>
                  </a:lnTo>
                  <a:lnTo>
                    <a:pt x="1624584" y="2477235"/>
                  </a:lnTo>
                  <a:lnTo>
                    <a:pt x="1624152" y="2534888"/>
                  </a:lnTo>
                  <a:lnTo>
                    <a:pt x="1622863" y="2592219"/>
                  </a:lnTo>
                  <a:lnTo>
                    <a:pt x="1620726" y="2649213"/>
                  </a:lnTo>
                  <a:lnTo>
                    <a:pt x="1617751" y="2705856"/>
                  </a:lnTo>
                  <a:lnTo>
                    <a:pt x="1613947" y="2762134"/>
                  </a:lnTo>
                  <a:lnTo>
                    <a:pt x="1609323" y="2818032"/>
                  </a:lnTo>
                  <a:lnTo>
                    <a:pt x="1603888" y="2873536"/>
                  </a:lnTo>
                  <a:lnTo>
                    <a:pt x="1597653" y="2928632"/>
                  </a:lnTo>
                  <a:lnTo>
                    <a:pt x="1590626" y="2983305"/>
                  </a:lnTo>
                  <a:lnTo>
                    <a:pt x="1582816" y="3037542"/>
                  </a:lnTo>
                  <a:lnTo>
                    <a:pt x="1574234" y="3091328"/>
                  </a:lnTo>
                  <a:lnTo>
                    <a:pt x="1564887" y="3144649"/>
                  </a:lnTo>
                  <a:lnTo>
                    <a:pt x="1554787" y="3197491"/>
                  </a:lnTo>
                  <a:lnTo>
                    <a:pt x="1543942" y="3249839"/>
                  </a:lnTo>
                  <a:lnTo>
                    <a:pt x="1532361" y="3301679"/>
                  </a:lnTo>
                  <a:lnTo>
                    <a:pt x="1520054" y="3352997"/>
                  </a:lnTo>
                  <a:lnTo>
                    <a:pt x="1507030" y="3403779"/>
                  </a:lnTo>
                  <a:lnTo>
                    <a:pt x="1493298" y="3454010"/>
                  </a:lnTo>
                  <a:lnTo>
                    <a:pt x="1478868" y="3503676"/>
                  </a:lnTo>
                  <a:lnTo>
                    <a:pt x="1463750" y="3552763"/>
                  </a:lnTo>
                  <a:lnTo>
                    <a:pt x="1447952" y="3601257"/>
                  </a:lnTo>
                  <a:lnTo>
                    <a:pt x="1431484" y="3649143"/>
                  </a:lnTo>
                  <a:lnTo>
                    <a:pt x="1414355" y="3696407"/>
                  </a:lnTo>
                  <a:lnTo>
                    <a:pt x="1396575" y="3743035"/>
                  </a:lnTo>
                  <a:lnTo>
                    <a:pt x="1378153" y="3789013"/>
                  </a:lnTo>
                  <a:lnTo>
                    <a:pt x="1359098" y="3834326"/>
                  </a:lnTo>
                  <a:lnTo>
                    <a:pt x="1339420" y="3878961"/>
                  </a:lnTo>
                  <a:lnTo>
                    <a:pt x="1319127" y="3922902"/>
                  </a:lnTo>
                  <a:lnTo>
                    <a:pt x="1298231" y="3966136"/>
                  </a:lnTo>
                  <a:lnTo>
                    <a:pt x="1276738" y="4008648"/>
                  </a:lnTo>
                  <a:lnTo>
                    <a:pt x="1254660" y="4050424"/>
                  </a:lnTo>
                  <a:lnTo>
                    <a:pt x="1232006" y="4091451"/>
                  </a:lnTo>
                  <a:lnTo>
                    <a:pt x="1208784" y="4131713"/>
                  </a:lnTo>
                  <a:lnTo>
                    <a:pt x="1185005" y="4171196"/>
                  </a:lnTo>
                  <a:lnTo>
                    <a:pt x="1160676" y="4209887"/>
                  </a:lnTo>
                  <a:lnTo>
                    <a:pt x="1135809" y="4247770"/>
                  </a:lnTo>
                  <a:lnTo>
                    <a:pt x="1110412" y="4284832"/>
                  </a:lnTo>
                  <a:lnTo>
                    <a:pt x="1084495" y="4321059"/>
                  </a:lnTo>
                  <a:lnTo>
                    <a:pt x="1058066" y="4356435"/>
                  </a:lnTo>
                  <a:lnTo>
                    <a:pt x="1031136" y="4390948"/>
                  </a:lnTo>
                  <a:lnTo>
                    <a:pt x="1003713" y="4424582"/>
                  </a:lnTo>
                  <a:lnTo>
                    <a:pt x="975808" y="4457323"/>
                  </a:lnTo>
                  <a:lnTo>
                    <a:pt x="947428" y="4489158"/>
                  </a:lnTo>
                  <a:lnTo>
                    <a:pt x="918585" y="4520072"/>
                  </a:lnTo>
                  <a:lnTo>
                    <a:pt x="889286" y="4550050"/>
                  </a:lnTo>
                  <a:lnTo>
                    <a:pt x="859542" y="4579079"/>
                  </a:lnTo>
                  <a:lnTo>
                    <a:pt x="829361" y="4607144"/>
                  </a:lnTo>
                  <a:lnTo>
                    <a:pt x="798754" y="4634230"/>
                  </a:lnTo>
                  <a:lnTo>
                    <a:pt x="767729" y="4660325"/>
                  </a:lnTo>
                  <a:lnTo>
                    <a:pt x="736296" y="4685413"/>
                  </a:lnTo>
                  <a:lnTo>
                    <a:pt x="704464" y="4709479"/>
                  </a:lnTo>
                  <a:lnTo>
                    <a:pt x="672243" y="4732511"/>
                  </a:lnTo>
                  <a:lnTo>
                    <a:pt x="639641" y="4754494"/>
                  </a:lnTo>
                  <a:lnTo>
                    <a:pt x="606669" y="4775413"/>
                  </a:lnTo>
                  <a:lnTo>
                    <a:pt x="573335" y="4795254"/>
                  </a:lnTo>
                  <a:lnTo>
                    <a:pt x="539649" y="4814003"/>
                  </a:lnTo>
                  <a:lnTo>
                    <a:pt x="505621" y="4831646"/>
                  </a:lnTo>
                  <a:lnTo>
                    <a:pt x="471259" y="4848168"/>
                  </a:lnTo>
                  <a:lnTo>
                    <a:pt x="401573" y="4877793"/>
                  </a:lnTo>
                  <a:lnTo>
                    <a:pt x="330665" y="4902765"/>
                  </a:lnTo>
                  <a:lnTo>
                    <a:pt x="258611" y="4922970"/>
                  </a:lnTo>
                  <a:lnTo>
                    <a:pt x="185486" y="4938293"/>
                  </a:lnTo>
                  <a:lnTo>
                    <a:pt x="111364" y="4948621"/>
                  </a:lnTo>
                  <a:lnTo>
                    <a:pt x="36320" y="4953839"/>
                  </a:lnTo>
                  <a:lnTo>
                    <a:pt x="0" y="4954471"/>
                  </a:lnTo>
                </a:path>
              </a:pathLst>
            </a:custGeom>
            <a:ln w="12700">
              <a:solidFill>
                <a:srgbClr val="E9DC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BCDF2CE3-99C8-140B-E9B1-E4E1D8307D66}"/>
                </a:ext>
              </a:extLst>
            </p:cNvPr>
            <p:cNvSpPr/>
            <p:nvPr/>
          </p:nvSpPr>
          <p:spPr>
            <a:xfrm>
              <a:off x="1829038" y="2200156"/>
              <a:ext cx="1481455" cy="0"/>
            </a:xfrm>
            <a:custGeom>
              <a:avLst/>
              <a:gdLst/>
              <a:ahLst/>
              <a:cxnLst/>
              <a:rect l="l" t="t" r="r" b="b"/>
              <a:pathLst>
                <a:path w="1481454">
                  <a:moveTo>
                    <a:pt x="0" y="0"/>
                  </a:moveTo>
                  <a:lnTo>
                    <a:pt x="1481201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2D70C120-BB1D-A980-B1BA-2C1B7FB87A2B}"/>
                </a:ext>
              </a:extLst>
            </p:cNvPr>
            <p:cNvSpPr/>
            <p:nvPr/>
          </p:nvSpPr>
          <p:spPr>
            <a:xfrm>
              <a:off x="3333224" y="195486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19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8D1998CC-12A8-6A90-9EDB-117ADC44D3EA}"/>
                </a:ext>
              </a:extLst>
            </p:cNvPr>
            <p:cNvSpPr/>
            <p:nvPr/>
          </p:nvSpPr>
          <p:spPr>
            <a:xfrm>
              <a:off x="2005583" y="3380791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70D7387C-C16C-B469-E9BA-9AE69D5BDECA}"/>
                </a:ext>
              </a:extLst>
            </p:cNvPr>
            <p:cNvSpPr/>
            <p:nvPr/>
          </p:nvSpPr>
          <p:spPr>
            <a:xfrm>
              <a:off x="3621274" y="3151392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65C8D86F-44F3-104F-E8FD-CF7407EFDA33}"/>
                </a:ext>
              </a:extLst>
            </p:cNvPr>
            <p:cNvSpPr/>
            <p:nvPr/>
          </p:nvSpPr>
          <p:spPr>
            <a:xfrm>
              <a:off x="1684782" y="3114138"/>
              <a:ext cx="486409" cy="483234"/>
            </a:xfrm>
            <a:custGeom>
              <a:avLst/>
              <a:gdLst/>
              <a:ahLst/>
              <a:cxnLst/>
              <a:rect l="l" t="t" r="r" b="b"/>
              <a:pathLst>
                <a:path w="486410" h="483235">
                  <a:moveTo>
                    <a:pt x="243078" y="0"/>
                  </a:moveTo>
                  <a:lnTo>
                    <a:pt x="194091" y="4909"/>
                  </a:lnTo>
                  <a:lnTo>
                    <a:pt x="148464" y="18990"/>
                  </a:lnTo>
                  <a:lnTo>
                    <a:pt x="107174" y="41268"/>
                  </a:lnTo>
                  <a:lnTo>
                    <a:pt x="71199" y="70770"/>
                  </a:lnTo>
                  <a:lnTo>
                    <a:pt x="41516" y="106523"/>
                  </a:lnTo>
                  <a:lnTo>
                    <a:pt x="19103" y="147554"/>
                  </a:lnTo>
                  <a:lnTo>
                    <a:pt x="4938" y="192888"/>
                  </a:lnTo>
                  <a:lnTo>
                    <a:pt x="0" y="241554"/>
                  </a:lnTo>
                  <a:lnTo>
                    <a:pt x="4938" y="290219"/>
                  </a:lnTo>
                  <a:lnTo>
                    <a:pt x="19103" y="335553"/>
                  </a:lnTo>
                  <a:lnTo>
                    <a:pt x="41516" y="376584"/>
                  </a:lnTo>
                  <a:lnTo>
                    <a:pt x="71199" y="412337"/>
                  </a:lnTo>
                  <a:lnTo>
                    <a:pt x="107174" y="441839"/>
                  </a:lnTo>
                  <a:lnTo>
                    <a:pt x="148464" y="464117"/>
                  </a:lnTo>
                  <a:lnTo>
                    <a:pt x="194091" y="478198"/>
                  </a:lnTo>
                  <a:lnTo>
                    <a:pt x="243078" y="483108"/>
                  </a:lnTo>
                  <a:lnTo>
                    <a:pt x="292064" y="478198"/>
                  </a:lnTo>
                  <a:lnTo>
                    <a:pt x="337691" y="464117"/>
                  </a:lnTo>
                  <a:lnTo>
                    <a:pt x="378981" y="441839"/>
                  </a:lnTo>
                  <a:lnTo>
                    <a:pt x="414956" y="412337"/>
                  </a:lnTo>
                  <a:lnTo>
                    <a:pt x="444639" y="376584"/>
                  </a:lnTo>
                  <a:lnTo>
                    <a:pt x="467052" y="335553"/>
                  </a:lnTo>
                  <a:lnTo>
                    <a:pt x="481217" y="290219"/>
                  </a:lnTo>
                  <a:lnTo>
                    <a:pt x="486156" y="241554"/>
                  </a:lnTo>
                  <a:lnTo>
                    <a:pt x="481217" y="192888"/>
                  </a:lnTo>
                  <a:lnTo>
                    <a:pt x="467052" y="147554"/>
                  </a:lnTo>
                  <a:lnTo>
                    <a:pt x="444639" y="106523"/>
                  </a:lnTo>
                  <a:lnTo>
                    <a:pt x="414956" y="70770"/>
                  </a:lnTo>
                  <a:lnTo>
                    <a:pt x="378981" y="41268"/>
                  </a:lnTo>
                  <a:lnTo>
                    <a:pt x="337691" y="18990"/>
                  </a:lnTo>
                  <a:lnTo>
                    <a:pt x="292064" y="4909"/>
                  </a:lnTo>
                  <a:lnTo>
                    <a:pt x="243078" y="0"/>
                  </a:lnTo>
                  <a:close/>
                </a:path>
              </a:pathLst>
            </a:custGeom>
            <a:solidFill>
              <a:srgbClr val="1B6F2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75FC96A7-E601-4BE2-8F8A-FE7FEA5A2F44}"/>
              </a:ext>
            </a:extLst>
          </p:cNvPr>
          <p:cNvSpPr txBox="1"/>
          <p:nvPr/>
        </p:nvSpPr>
        <p:spPr>
          <a:xfrm>
            <a:off x="1820162" y="3320141"/>
            <a:ext cx="18542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4C4EE5B-FCA5-FD5B-E190-F9A46CAB59F8}"/>
              </a:ext>
            </a:extLst>
          </p:cNvPr>
          <p:cNvSpPr/>
          <p:nvPr/>
        </p:nvSpPr>
        <p:spPr>
          <a:xfrm>
            <a:off x="1446455" y="2216594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3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7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3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8611B42-45CF-70BC-E524-7AEEC888FAB9}"/>
              </a:ext>
            </a:extLst>
          </p:cNvPr>
          <p:cNvSpPr txBox="1"/>
          <p:nvPr/>
        </p:nvSpPr>
        <p:spPr>
          <a:xfrm>
            <a:off x="1622730" y="2326066"/>
            <a:ext cx="1320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02D09754-62E7-B9D3-F470-A4D1BEF00ABF}"/>
              </a:ext>
            </a:extLst>
          </p:cNvPr>
          <p:cNvSpPr/>
          <p:nvPr/>
        </p:nvSpPr>
        <p:spPr>
          <a:xfrm>
            <a:off x="611728" y="1328129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5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1B0C61B7-9371-FEF8-92A7-80D1C7AC4D57}"/>
              </a:ext>
            </a:extLst>
          </p:cNvPr>
          <p:cNvSpPr txBox="1"/>
          <p:nvPr/>
        </p:nvSpPr>
        <p:spPr>
          <a:xfrm>
            <a:off x="815438" y="1436715"/>
            <a:ext cx="787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1A0F49C-FC9E-AA59-1800-F9E2381496D8}"/>
              </a:ext>
            </a:extLst>
          </p:cNvPr>
          <p:cNvSpPr txBox="1"/>
          <p:nvPr/>
        </p:nvSpPr>
        <p:spPr>
          <a:xfrm>
            <a:off x="3254753" y="5062804"/>
            <a:ext cx="21463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W</a:t>
            </a:r>
            <a:r>
              <a:rPr sz="16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14">
                <a:solidFill>
                  <a:srgbClr val="FFFFFF"/>
                </a:solidFill>
                <a:latin typeface="Trebuchet MS"/>
                <a:cs typeface="Trebuchet MS"/>
              </a:rPr>
              <a:t>’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s</a:t>
            </a:r>
            <a:r>
              <a:rPr sz="1600" b="1" spc="-8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2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R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o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lution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C301B91D-FD85-5816-85F7-D0C1FDE7C0EC}"/>
              </a:ext>
            </a:extLst>
          </p:cNvPr>
          <p:cNvSpPr txBox="1"/>
          <p:nvPr/>
        </p:nvSpPr>
        <p:spPr>
          <a:xfrm>
            <a:off x="3254753" y="5310377"/>
            <a:ext cx="6203950" cy="481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We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believe that the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Wine app is of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lower quality compared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its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peers, which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can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lead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higher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churn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increased CAC. Thus,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we plan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address this company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shortfall 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enhance customer retention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improve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company's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image</a:t>
            </a:r>
            <a:endParaRPr sz="1000">
              <a:latin typeface="Trebuchet MS"/>
              <a:cs typeface="Trebuchet MS"/>
            </a:endParaRPr>
          </a:p>
        </p:txBody>
      </p:sp>
      <p:sp>
        <p:nvSpPr>
          <p:cNvPr id="22" name="object 29">
            <a:extLst>
              <a:ext uri="{FF2B5EF4-FFF2-40B4-BE49-F238E27FC236}">
                <a16:creationId xmlns:a16="http://schemas.microsoft.com/office/drawing/2014/main" id="{791C2DE9-B364-52D2-C691-19F76B7DD717}"/>
              </a:ext>
            </a:extLst>
          </p:cNvPr>
          <p:cNvSpPr txBox="1"/>
          <p:nvPr/>
        </p:nvSpPr>
        <p:spPr>
          <a:xfrm>
            <a:off x="8508490" y="4789170"/>
            <a:ext cx="13849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b="1" spc="-2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1,7%</a:t>
            </a:r>
            <a:r>
              <a:rPr sz="2000" b="1" spc="-4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b="1" spc="-4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IRR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23" name="CaixaDeTexto 24">
            <a:extLst>
              <a:ext uri="{FF2B5EF4-FFF2-40B4-BE49-F238E27FC236}">
                <a16:creationId xmlns:a16="http://schemas.microsoft.com/office/drawing/2014/main" id="{6AFA0E09-DD1C-EF0B-CB96-0C6929A385F6}"/>
              </a:ext>
            </a:extLst>
          </p:cNvPr>
          <p:cNvSpPr txBox="1"/>
          <p:nvPr/>
        </p:nvSpPr>
        <p:spPr>
          <a:xfrm>
            <a:off x="2688765" y="1304615"/>
            <a:ext cx="9473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Validade externa limitada: </a:t>
            </a:r>
            <a:r>
              <a:rPr lang="pt-BR" sz="1400">
                <a:latin typeface="Montserrat" panose="00000500000000000000" pitchFamily="2" charset="0"/>
              </a:rPr>
              <a:t>O estudo utiliza exclusivamente dados administrativos da Dinamarca, um país com forte Estado de bem-estar social, sistema universal de saúde e de cultura própria.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24" name="CaixaDeTexto 25">
            <a:extLst>
              <a:ext uri="{FF2B5EF4-FFF2-40B4-BE49-F238E27FC236}">
                <a16:creationId xmlns:a16="http://schemas.microsoft.com/office/drawing/2014/main" id="{5A355B3B-F2A3-EDB4-526C-A7CCC4F62D9E}"/>
              </a:ext>
            </a:extLst>
          </p:cNvPr>
          <p:cNvSpPr txBox="1"/>
          <p:nvPr/>
        </p:nvSpPr>
        <p:spPr>
          <a:xfrm>
            <a:off x="3336465" y="2213705"/>
            <a:ext cx="90294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Medida de crime baseada em condenações: </a:t>
            </a:r>
            <a:r>
              <a:rPr lang="pt-BR" sz="1400">
                <a:latin typeface="Montserrat" panose="00000500000000000000" pitchFamily="2" charset="0"/>
              </a:rPr>
              <a:t>A variável dependente captura condenações, não crimes efetivamente cometidos.</a:t>
            </a:r>
            <a:br>
              <a:rPr lang="pt-BR" sz="1400"/>
            </a:br>
            <a:endParaRPr lang="pt-BR" sz="1400"/>
          </a:p>
          <a:p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25" name="CaixaDeTexto 26">
            <a:extLst>
              <a:ext uri="{FF2B5EF4-FFF2-40B4-BE49-F238E27FC236}">
                <a16:creationId xmlns:a16="http://schemas.microsoft.com/office/drawing/2014/main" id="{FE66FEBA-545C-3720-9E54-4232C3616B0E}"/>
              </a:ext>
            </a:extLst>
          </p:cNvPr>
          <p:cNvSpPr txBox="1"/>
          <p:nvPr/>
        </p:nvSpPr>
        <p:spPr>
          <a:xfrm>
            <a:off x="3638355" y="3174263"/>
            <a:ext cx="8791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Possível endogeneidade residual no timing do diagnóstico: </a:t>
            </a:r>
            <a:r>
              <a:rPr lang="pt-BR" sz="1400">
                <a:latin typeface="Montserrat" panose="00000500000000000000" pitchFamily="2" charset="0"/>
              </a:rPr>
              <a:t>Embora o desenho “</a:t>
            </a:r>
            <a:r>
              <a:rPr lang="pt-BR" sz="1400" err="1">
                <a:latin typeface="Montserrat" panose="00000500000000000000" pitchFamily="2" charset="0"/>
              </a:rPr>
              <a:t>staggered</a:t>
            </a:r>
            <a:r>
              <a:rPr lang="pt-BR" sz="1400">
                <a:latin typeface="Montserrat" panose="00000500000000000000" pitchFamily="2" charset="0"/>
              </a:rPr>
              <a:t> </a:t>
            </a:r>
            <a:r>
              <a:rPr lang="pt-BR" sz="1400" err="1">
                <a:latin typeface="Montserrat" panose="00000500000000000000" pitchFamily="2" charset="0"/>
              </a:rPr>
              <a:t>adoption</a:t>
            </a:r>
            <a:r>
              <a:rPr lang="pt-BR" sz="1400">
                <a:latin typeface="Montserrat" panose="00000500000000000000" pitchFamily="2" charset="0"/>
              </a:rPr>
              <a:t>” mitigue viés, fatores comportamentais, podem correlacionar-se tanto com saúde quanto com propensão criminal</a:t>
            </a:r>
            <a:r>
              <a:rPr lang="pt-BR" sz="1400"/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FCE32312-E154-02B9-C28F-D29EABDE1679}"/>
              </a:ext>
            </a:extLst>
          </p:cNvPr>
          <p:cNvSpPr/>
          <p:nvPr/>
        </p:nvSpPr>
        <p:spPr>
          <a:xfrm>
            <a:off x="1639814" y="429017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11">
            <a:extLst>
              <a:ext uri="{FF2B5EF4-FFF2-40B4-BE49-F238E27FC236}">
                <a16:creationId xmlns:a16="http://schemas.microsoft.com/office/drawing/2014/main" id="{E0DBA176-8BDF-9461-40AF-C6A9A005F22A}"/>
              </a:ext>
            </a:extLst>
          </p:cNvPr>
          <p:cNvSpPr/>
          <p:nvPr/>
        </p:nvSpPr>
        <p:spPr>
          <a:xfrm>
            <a:off x="1933445" y="448657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12">
            <a:extLst>
              <a:ext uri="{FF2B5EF4-FFF2-40B4-BE49-F238E27FC236}">
                <a16:creationId xmlns:a16="http://schemas.microsoft.com/office/drawing/2014/main" id="{D47E5AF4-BEF1-286F-510D-5706C75E9791}"/>
              </a:ext>
            </a:extLst>
          </p:cNvPr>
          <p:cNvSpPr/>
          <p:nvPr/>
        </p:nvSpPr>
        <p:spPr>
          <a:xfrm>
            <a:off x="3553196" y="4280438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CaixaDeTexto 30">
            <a:extLst>
              <a:ext uri="{FF2B5EF4-FFF2-40B4-BE49-F238E27FC236}">
                <a16:creationId xmlns:a16="http://schemas.microsoft.com/office/drawing/2014/main" id="{DD739CDC-8658-7742-897C-FF0AECF7277C}"/>
              </a:ext>
            </a:extLst>
          </p:cNvPr>
          <p:cNvSpPr txBox="1"/>
          <p:nvPr/>
        </p:nvSpPr>
        <p:spPr>
          <a:xfrm>
            <a:off x="3580055" y="4181785"/>
            <a:ext cx="8831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Identificação dos mecanismos não estrutural: </a:t>
            </a:r>
            <a:r>
              <a:rPr lang="pt-BR" sz="1400">
                <a:latin typeface="Montserrat" panose="00000500000000000000" pitchFamily="2" charset="0"/>
              </a:rPr>
              <a:t>Embora os canais de renda e probabilidade de sobrevivência sejam consistentes com a teoria de Becker-Ehrlich, o modelo não estima elasticidades estruturais nem quantifica precisamente o peso relativo de cada mecanismo.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30" name="object 15">
            <a:extLst>
              <a:ext uri="{FF2B5EF4-FFF2-40B4-BE49-F238E27FC236}">
                <a16:creationId xmlns:a16="http://schemas.microsoft.com/office/drawing/2014/main" id="{A91A870F-6DEE-C82D-7DA3-877EDA16C1A4}"/>
              </a:ext>
            </a:extLst>
          </p:cNvPr>
          <p:cNvSpPr txBox="1"/>
          <p:nvPr/>
        </p:nvSpPr>
        <p:spPr>
          <a:xfrm>
            <a:off x="1790181" y="4361331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IV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31" name="object 13">
            <a:extLst>
              <a:ext uri="{FF2B5EF4-FFF2-40B4-BE49-F238E27FC236}">
                <a16:creationId xmlns:a16="http://schemas.microsoft.com/office/drawing/2014/main" id="{6E67A675-A65B-2D04-47CB-99D21105A874}"/>
              </a:ext>
            </a:extLst>
          </p:cNvPr>
          <p:cNvSpPr/>
          <p:nvPr/>
        </p:nvSpPr>
        <p:spPr>
          <a:xfrm>
            <a:off x="1114224" y="521956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15">
            <a:extLst>
              <a:ext uri="{FF2B5EF4-FFF2-40B4-BE49-F238E27FC236}">
                <a16:creationId xmlns:a16="http://schemas.microsoft.com/office/drawing/2014/main" id="{F6EBEBC9-5B19-B3D8-3032-DCAB62EB5F85}"/>
              </a:ext>
            </a:extLst>
          </p:cNvPr>
          <p:cNvSpPr txBox="1"/>
          <p:nvPr/>
        </p:nvSpPr>
        <p:spPr>
          <a:xfrm>
            <a:off x="1283442" y="5295695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33" name="object 11">
            <a:extLst>
              <a:ext uri="{FF2B5EF4-FFF2-40B4-BE49-F238E27FC236}">
                <a16:creationId xmlns:a16="http://schemas.microsoft.com/office/drawing/2014/main" id="{0A06DC00-2DE2-536A-107D-1DFD3E88568B}"/>
              </a:ext>
            </a:extLst>
          </p:cNvPr>
          <p:cNvSpPr/>
          <p:nvPr/>
        </p:nvSpPr>
        <p:spPr>
          <a:xfrm>
            <a:off x="1516844" y="541596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12">
            <a:extLst>
              <a:ext uri="{FF2B5EF4-FFF2-40B4-BE49-F238E27FC236}">
                <a16:creationId xmlns:a16="http://schemas.microsoft.com/office/drawing/2014/main" id="{9093AA81-4C5F-A130-0A19-C381774A5E05}"/>
              </a:ext>
            </a:extLst>
          </p:cNvPr>
          <p:cNvSpPr/>
          <p:nvPr/>
        </p:nvSpPr>
        <p:spPr>
          <a:xfrm>
            <a:off x="3143465" y="5197647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CaixaDeTexto 36">
            <a:extLst>
              <a:ext uri="{FF2B5EF4-FFF2-40B4-BE49-F238E27FC236}">
                <a16:creationId xmlns:a16="http://schemas.microsoft.com/office/drawing/2014/main" id="{714E8F31-F12C-5674-228D-4F29DC4AFE6E}"/>
              </a:ext>
            </a:extLst>
          </p:cNvPr>
          <p:cNvSpPr txBox="1"/>
          <p:nvPr/>
        </p:nvSpPr>
        <p:spPr>
          <a:xfrm>
            <a:off x="3174384" y="5119295"/>
            <a:ext cx="82394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Reforma municipal como choque multidimensional: </a:t>
            </a:r>
            <a:r>
              <a:rPr lang="pt-BR" sz="1400">
                <a:latin typeface="Montserrat" panose="00000500000000000000" pitchFamily="2" charset="0"/>
              </a:rPr>
              <a:t>A reforma de 2007 alterou diversas políticas simultaneamente. Apesar da estratégia de identificação, não é possível isolar completamente o efeito exclusivo da redução do </a:t>
            </a:r>
            <a:r>
              <a:rPr lang="pt-BR" sz="1400" err="1">
                <a:latin typeface="Montserrat" panose="00000500000000000000" pitchFamily="2" charset="0"/>
              </a:rPr>
              <a:t>welfare</a:t>
            </a:r>
            <a:r>
              <a:rPr lang="pt-BR" sz="1400">
                <a:latin typeface="Montserrat" panose="00000500000000000000" pitchFamily="2" charset="0"/>
              </a:rPr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727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object 3">
            <a:extLst>
              <a:ext uri="{FF2B5EF4-FFF2-40B4-BE49-F238E27FC236}">
                <a16:creationId xmlns:a16="http://schemas.microsoft.com/office/drawing/2014/main" id="{08378750-D837-83D1-F87E-367BD9BE0EA9}"/>
              </a:ext>
            </a:extLst>
          </p:cNvPr>
          <p:cNvGrpSpPr/>
          <p:nvPr/>
        </p:nvGrpSpPr>
        <p:grpSpPr>
          <a:xfrm>
            <a:off x="-14988" y="1406134"/>
            <a:ext cx="3621274" cy="5628640"/>
            <a:chOff x="0" y="784108"/>
            <a:chExt cx="3621274" cy="5628640"/>
          </a:xfrm>
        </p:grpSpPr>
        <p:sp>
          <p:nvSpPr>
            <p:cNvPr id="37" name="object 4">
              <a:extLst>
                <a:ext uri="{FF2B5EF4-FFF2-40B4-BE49-F238E27FC236}">
                  <a16:creationId xmlns:a16="http://schemas.microsoft.com/office/drawing/2014/main" id="{8BE58733-1667-75BC-B73B-FB0526CE6826}"/>
                </a:ext>
              </a:extLst>
            </p:cNvPr>
            <p:cNvSpPr/>
            <p:nvPr/>
          </p:nvSpPr>
          <p:spPr>
            <a:xfrm>
              <a:off x="1062142" y="1142692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5">
              <a:extLst>
                <a:ext uri="{FF2B5EF4-FFF2-40B4-BE49-F238E27FC236}">
                  <a16:creationId xmlns:a16="http://schemas.microsoft.com/office/drawing/2014/main" id="{8B1315B8-86E7-D8A1-A7A0-3F5352CAF1F8}"/>
                </a:ext>
              </a:extLst>
            </p:cNvPr>
            <p:cNvSpPr/>
            <p:nvPr/>
          </p:nvSpPr>
          <p:spPr>
            <a:xfrm>
              <a:off x="2677833" y="88037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19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6">
              <a:extLst>
                <a:ext uri="{FF2B5EF4-FFF2-40B4-BE49-F238E27FC236}">
                  <a16:creationId xmlns:a16="http://schemas.microsoft.com/office/drawing/2014/main" id="{734CE522-592F-A05B-4E57-E8F754CCCD8E}"/>
                </a:ext>
              </a:extLst>
            </p:cNvPr>
            <p:cNvSpPr/>
            <p:nvPr/>
          </p:nvSpPr>
          <p:spPr>
            <a:xfrm>
              <a:off x="0" y="1440180"/>
              <a:ext cx="1376680" cy="4262755"/>
            </a:xfrm>
            <a:custGeom>
              <a:avLst/>
              <a:gdLst/>
              <a:ahLst/>
              <a:cxnLst/>
              <a:rect l="l" t="t" r="r" b="b"/>
              <a:pathLst>
                <a:path w="1376680" h="4262755">
                  <a:moveTo>
                    <a:pt x="0" y="0"/>
                  </a:moveTo>
                  <a:lnTo>
                    <a:pt x="0" y="4262627"/>
                  </a:lnTo>
                  <a:lnTo>
                    <a:pt x="37880" y="4261836"/>
                  </a:lnTo>
                  <a:lnTo>
                    <a:pt x="75507" y="4259474"/>
                  </a:lnTo>
                  <a:lnTo>
                    <a:pt x="149949" y="4250121"/>
                  </a:lnTo>
                  <a:lnTo>
                    <a:pt x="223223" y="4234731"/>
                  </a:lnTo>
                  <a:lnTo>
                    <a:pt x="295222" y="4213467"/>
                  </a:lnTo>
                  <a:lnTo>
                    <a:pt x="365842" y="4186491"/>
                  </a:lnTo>
                  <a:lnTo>
                    <a:pt x="434978" y="4153966"/>
                  </a:lnTo>
                  <a:lnTo>
                    <a:pt x="468957" y="4135674"/>
                  </a:lnTo>
                  <a:lnTo>
                    <a:pt x="502525" y="4116055"/>
                  </a:lnTo>
                  <a:lnTo>
                    <a:pt x="535670" y="4095130"/>
                  </a:lnTo>
                  <a:lnTo>
                    <a:pt x="568378" y="4072920"/>
                  </a:lnTo>
                  <a:lnTo>
                    <a:pt x="600637" y="4049444"/>
                  </a:lnTo>
                  <a:lnTo>
                    <a:pt x="632432" y="4024723"/>
                  </a:lnTo>
                  <a:lnTo>
                    <a:pt x="663752" y="3998778"/>
                  </a:lnTo>
                  <a:lnTo>
                    <a:pt x="694582" y="3971628"/>
                  </a:lnTo>
                  <a:lnTo>
                    <a:pt x="724911" y="3943294"/>
                  </a:lnTo>
                  <a:lnTo>
                    <a:pt x="754724" y="3913797"/>
                  </a:lnTo>
                  <a:lnTo>
                    <a:pt x="784008" y="3883156"/>
                  </a:lnTo>
                  <a:lnTo>
                    <a:pt x="812751" y="3851391"/>
                  </a:lnTo>
                  <a:lnTo>
                    <a:pt x="840939" y="3818524"/>
                  </a:lnTo>
                  <a:lnTo>
                    <a:pt x="868560" y="3784575"/>
                  </a:lnTo>
                  <a:lnTo>
                    <a:pt x="895600" y="3749563"/>
                  </a:lnTo>
                  <a:lnTo>
                    <a:pt x="922045" y="3713510"/>
                  </a:lnTo>
                  <a:lnTo>
                    <a:pt x="947884" y="3676435"/>
                  </a:lnTo>
                  <a:lnTo>
                    <a:pt x="973102" y="3638359"/>
                  </a:lnTo>
                  <a:lnTo>
                    <a:pt x="997687" y="3599302"/>
                  </a:lnTo>
                  <a:lnTo>
                    <a:pt x="1021625" y="3559285"/>
                  </a:lnTo>
                  <a:lnTo>
                    <a:pt x="1044904" y="3518327"/>
                  </a:lnTo>
                  <a:lnTo>
                    <a:pt x="1067510" y="3476449"/>
                  </a:lnTo>
                  <a:lnTo>
                    <a:pt x="1089430" y="3433672"/>
                  </a:lnTo>
                  <a:lnTo>
                    <a:pt x="1110652" y="3390016"/>
                  </a:lnTo>
                  <a:lnTo>
                    <a:pt x="1131161" y="3345500"/>
                  </a:lnTo>
                  <a:lnTo>
                    <a:pt x="1150945" y="3300146"/>
                  </a:lnTo>
                  <a:lnTo>
                    <a:pt x="1169991" y="3253974"/>
                  </a:lnTo>
                  <a:lnTo>
                    <a:pt x="1188285" y="3207003"/>
                  </a:lnTo>
                  <a:lnTo>
                    <a:pt x="1205815" y="3159256"/>
                  </a:lnTo>
                  <a:lnTo>
                    <a:pt x="1222567" y="3110750"/>
                  </a:lnTo>
                  <a:lnTo>
                    <a:pt x="1238528" y="3061508"/>
                  </a:lnTo>
                  <a:lnTo>
                    <a:pt x="1253685" y="3011549"/>
                  </a:lnTo>
                  <a:lnTo>
                    <a:pt x="1268026" y="2960893"/>
                  </a:lnTo>
                  <a:lnTo>
                    <a:pt x="1281536" y="2909562"/>
                  </a:lnTo>
                  <a:lnTo>
                    <a:pt x="1294203" y="2857575"/>
                  </a:lnTo>
                  <a:lnTo>
                    <a:pt x="1306014" y="2804952"/>
                  </a:lnTo>
                  <a:lnTo>
                    <a:pt x="1316955" y="2751714"/>
                  </a:lnTo>
                  <a:lnTo>
                    <a:pt x="1327014" y="2697882"/>
                  </a:lnTo>
                  <a:lnTo>
                    <a:pt x="1336177" y="2643475"/>
                  </a:lnTo>
                  <a:lnTo>
                    <a:pt x="1344431" y="2588513"/>
                  </a:lnTo>
                  <a:lnTo>
                    <a:pt x="1351763" y="2533019"/>
                  </a:lnTo>
                  <a:lnTo>
                    <a:pt x="1358160" y="2477010"/>
                  </a:lnTo>
                  <a:lnTo>
                    <a:pt x="1363609" y="2420508"/>
                  </a:lnTo>
                  <a:lnTo>
                    <a:pt x="1368096" y="2363534"/>
                  </a:lnTo>
                  <a:lnTo>
                    <a:pt x="1371610" y="2306107"/>
                  </a:lnTo>
                  <a:lnTo>
                    <a:pt x="1374135" y="2248247"/>
                  </a:lnTo>
                  <a:lnTo>
                    <a:pt x="1375660" y="2189976"/>
                  </a:lnTo>
                  <a:lnTo>
                    <a:pt x="1376172" y="2131313"/>
                  </a:lnTo>
                  <a:lnTo>
                    <a:pt x="1375660" y="2072651"/>
                  </a:lnTo>
                  <a:lnTo>
                    <a:pt x="1374135" y="2014380"/>
                  </a:lnTo>
                  <a:lnTo>
                    <a:pt x="1371610" y="1956520"/>
                  </a:lnTo>
                  <a:lnTo>
                    <a:pt x="1368096" y="1899093"/>
                  </a:lnTo>
                  <a:lnTo>
                    <a:pt x="1363609" y="1842119"/>
                  </a:lnTo>
                  <a:lnTo>
                    <a:pt x="1358160" y="1785617"/>
                  </a:lnTo>
                  <a:lnTo>
                    <a:pt x="1351763" y="1729608"/>
                  </a:lnTo>
                  <a:lnTo>
                    <a:pt x="1344431" y="1674113"/>
                  </a:lnTo>
                  <a:lnTo>
                    <a:pt x="1336177" y="1619152"/>
                  </a:lnTo>
                  <a:lnTo>
                    <a:pt x="1327014" y="1564745"/>
                  </a:lnTo>
                  <a:lnTo>
                    <a:pt x="1316955" y="1510913"/>
                  </a:lnTo>
                  <a:lnTo>
                    <a:pt x="1306014" y="1457675"/>
                  </a:lnTo>
                  <a:lnTo>
                    <a:pt x="1294203" y="1405052"/>
                  </a:lnTo>
                  <a:lnTo>
                    <a:pt x="1281536" y="1353065"/>
                  </a:lnTo>
                  <a:lnTo>
                    <a:pt x="1268026" y="1301734"/>
                  </a:lnTo>
                  <a:lnTo>
                    <a:pt x="1253685" y="1251078"/>
                  </a:lnTo>
                  <a:lnTo>
                    <a:pt x="1238528" y="1201119"/>
                  </a:lnTo>
                  <a:lnTo>
                    <a:pt x="1222567" y="1151877"/>
                  </a:lnTo>
                  <a:lnTo>
                    <a:pt x="1205815" y="1103371"/>
                  </a:lnTo>
                  <a:lnTo>
                    <a:pt x="1188285" y="1055623"/>
                  </a:lnTo>
                  <a:lnTo>
                    <a:pt x="1169991" y="1008653"/>
                  </a:lnTo>
                  <a:lnTo>
                    <a:pt x="1150945" y="962481"/>
                  </a:lnTo>
                  <a:lnTo>
                    <a:pt x="1131161" y="917127"/>
                  </a:lnTo>
                  <a:lnTo>
                    <a:pt x="1110652" y="872611"/>
                  </a:lnTo>
                  <a:lnTo>
                    <a:pt x="1089430" y="828955"/>
                  </a:lnTo>
                  <a:lnTo>
                    <a:pt x="1067510" y="786178"/>
                  </a:lnTo>
                  <a:lnTo>
                    <a:pt x="1044904" y="744300"/>
                  </a:lnTo>
                  <a:lnTo>
                    <a:pt x="1021625" y="703342"/>
                  </a:lnTo>
                  <a:lnTo>
                    <a:pt x="997687" y="663325"/>
                  </a:lnTo>
                  <a:lnTo>
                    <a:pt x="973102" y="624268"/>
                  </a:lnTo>
                  <a:lnTo>
                    <a:pt x="947884" y="586192"/>
                  </a:lnTo>
                  <a:lnTo>
                    <a:pt x="922045" y="549117"/>
                  </a:lnTo>
                  <a:lnTo>
                    <a:pt x="895600" y="513064"/>
                  </a:lnTo>
                  <a:lnTo>
                    <a:pt x="868560" y="478052"/>
                  </a:lnTo>
                  <a:lnTo>
                    <a:pt x="840939" y="444103"/>
                  </a:lnTo>
                  <a:lnTo>
                    <a:pt x="812751" y="411236"/>
                  </a:lnTo>
                  <a:lnTo>
                    <a:pt x="784008" y="379471"/>
                  </a:lnTo>
                  <a:lnTo>
                    <a:pt x="754724" y="348830"/>
                  </a:lnTo>
                  <a:lnTo>
                    <a:pt x="724911" y="319333"/>
                  </a:lnTo>
                  <a:lnTo>
                    <a:pt x="694582" y="290999"/>
                  </a:lnTo>
                  <a:lnTo>
                    <a:pt x="663752" y="263849"/>
                  </a:lnTo>
                  <a:lnTo>
                    <a:pt x="632432" y="237904"/>
                  </a:lnTo>
                  <a:lnTo>
                    <a:pt x="600637" y="213183"/>
                  </a:lnTo>
                  <a:lnTo>
                    <a:pt x="568378" y="189707"/>
                  </a:lnTo>
                  <a:lnTo>
                    <a:pt x="535670" y="167497"/>
                  </a:lnTo>
                  <a:lnTo>
                    <a:pt x="502525" y="146572"/>
                  </a:lnTo>
                  <a:lnTo>
                    <a:pt x="468957" y="126953"/>
                  </a:lnTo>
                  <a:lnTo>
                    <a:pt x="434978" y="108661"/>
                  </a:lnTo>
                  <a:lnTo>
                    <a:pt x="400602" y="91715"/>
                  </a:lnTo>
                  <a:lnTo>
                    <a:pt x="330711" y="61944"/>
                  </a:lnTo>
                  <a:lnTo>
                    <a:pt x="259388" y="37804"/>
                  </a:lnTo>
                  <a:lnTo>
                    <a:pt x="186739" y="19457"/>
                  </a:lnTo>
                  <a:lnTo>
                    <a:pt x="112868" y="7065"/>
                  </a:lnTo>
                  <a:lnTo>
                    <a:pt x="37880" y="7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B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7">
              <a:extLst>
                <a:ext uri="{FF2B5EF4-FFF2-40B4-BE49-F238E27FC236}">
                  <a16:creationId xmlns:a16="http://schemas.microsoft.com/office/drawing/2014/main" id="{08B1D28E-DEBB-2518-F9CA-48B95BF7629D}"/>
                </a:ext>
              </a:extLst>
            </p:cNvPr>
            <p:cNvSpPr/>
            <p:nvPr/>
          </p:nvSpPr>
          <p:spPr>
            <a:xfrm>
              <a:off x="0" y="784108"/>
              <a:ext cx="1974850" cy="5628640"/>
            </a:xfrm>
            <a:custGeom>
              <a:avLst/>
              <a:gdLst/>
              <a:ahLst/>
              <a:cxnLst/>
              <a:rect l="l" t="t" r="r" b="b"/>
              <a:pathLst>
                <a:path w="1974850" h="5628640">
                  <a:moveTo>
                    <a:pt x="0" y="0"/>
                  </a:moveTo>
                  <a:lnTo>
                    <a:pt x="39052" y="549"/>
                  </a:lnTo>
                  <a:lnTo>
                    <a:pt x="78675" y="2223"/>
                  </a:lnTo>
                  <a:lnTo>
                    <a:pt x="118099" y="5000"/>
                  </a:lnTo>
                  <a:lnTo>
                    <a:pt x="157316" y="8870"/>
                  </a:lnTo>
                  <a:lnTo>
                    <a:pt x="196320" y="13822"/>
                  </a:lnTo>
                  <a:lnTo>
                    <a:pt x="235102" y="19846"/>
                  </a:lnTo>
                  <a:lnTo>
                    <a:pt x="273656" y="26931"/>
                  </a:lnTo>
                  <a:lnTo>
                    <a:pt x="311974" y="35066"/>
                  </a:lnTo>
                  <a:lnTo>
                    <a:pt x="350049" y="44242"/>
                  </a:lnTo>
                  <a:lnTo>
                    <a:pt x="387873" y="54447"/>
                  </a:lnTo>
                  <a:lnTo>
                    <a:pt x="425439" y="65672"/>
                  </a:lnTo>
                  <a:lnTo>
                    <a:pt x="462739" y="77905"/>
                  </a:lnTo>
                  <a:lnTo>
                    <a:pt x="499767" y="91136"/>
                  </a:lnTo>
                  <a:lnTo>
                    <a:pt x="536515" y="105354"/>
                  </a:lnTo>
                  <a:lnTo>
                    <a:pt x="572975" y="120550"/>
                  </a:lnTo>
                  <a:lnTo>
                    <a:pt x="609140" y="136713"/>
                  </a:lnTo>
                  <a:lnTo>
                    <a:pt x="645003" y="153831"/>
                  </a:lnTo>
                  <a:lnTo>
                    <a:pt x="680556" y="171895"/>
                  </a:lnTo>
                  <a:lnTo>
                    <a:pt x="715792" y="190894"/>
                  </a:lnTo>
                  <a:lnTo>
                    <a:pt x="750704" y="210818"/>
                  </a:lnTo>
                  <a:lnTo>
                    <a:pt x="785283" y="231656"/>
                  </a:lnTo>
                  <a:lnTo>
                    <a:pt x="819524" y="253397"/>
                  </a:lnTo>
                  <a:lnTo>
                    <a:pt x="853418" y="276032"/>
                  </a:lnTo>
                  <a:lnTo>
                    <a:pt x="886959" y="299549"/>
                  </a:lnTo>
                  <a:lnTo>
                    <a:pt x="920137" y="323938"/>
                  </a:lnTo>
                  <a:lnTo>
                    <a:pt x="952948" y="349188"/>
                  </a:lnTo>
                  <a:lnTo>
                    <a:pt x="985382" y="375290"/>
                  </a:lnTo>
                  <a:lnTo>
                    <a:pt x="1017433" y="402232"/>
                  </a:lnTo>
                  <a:lnTo>
                    <a:pt x="1049093" y="430004"/>
                  </a:lnTo>
                  <a:lnTo>
                    <a:pt x="1080355" y="458596"/>
                  </a:lnTo>
                  <a:lnTo>
                    <a:pt x="1111211" y="487997"/>
                  </a:lnTo>
                  <a:lnTo>
                    <a:pt x="1141654" y="518196"/>
                  </a:lnTo>
                  <a:lnTo>
                    <a:pt x="1171677" y="549183"/>
                  </a:lnTo>
                  <a:lnTo>
                    <a:pt x="1201272" y="580948"/>
                  </a:lnTo>
                  <a:lnTo>
                    <a:pt x="1230433" y="613479"/>
                  </a:lnTo>
                  <a:lnTo>
                    <a:pt x="1259151" y="646767"/>
                  </a:lnTo>
                  <a:lnTo>
                    <a:pt x="1287419" y="680801"/>
                  </a:lnTo>
                  <a:lnTo>
                    <a:pt x="1315230" y="715571"/>
                  </a:lnTo>
                  <a:lnTo>
                    <a:pt x="1342576" y="751065"/>
                  </a:lnTo>
                  <a:lnTo>
                    <a:pt x="1369450" y="787274"/>
                  </a:lnTo>
                  <a:lnTo>
                    <a:pt x="1395845" y="824187"/>
                  </a:lnTo>
                  <a:lnTo>
                    <a:pt x="1421754" y="861793"/>
                  </a:lnTo>
                  <a:lnTo>
                    <a:pt x="1447168" y="900083"/>
                  </a:lnTo>
                  <a:lnTo>
                    <a:pt x="1472081" y="939044"/>
                  </a:lnTo>
                  <a:lnTo>
                    <a:pt x="1496485" y="978668"/>
                  </a:lnTo>
                  <a:lnTo>
                    <a:pt x="1520373" y="1018943"/>
                  </a:lnTo>
                  <a:lnTo>
                    <a:pt x="1543737" y="1059859"/>
                  </a:lnTo>
                  <a:lnTo>
                    <a:pt x="1566571" y="1101405"/>
                  </a:lnTo>
                  <a:lnTo>
                    <a:pt x="1588866" y="1143571"/>
                  </a:lnTo>
                  <a:lnTo>
                    <a:pt x="1610615" y="1186347"/>
                  </a:lnTo>
                  <a:lnTo>
                    <a:pt x="1631812" y="1229721"/>
                  </a:lnTo>
                  <a:lnTo>
                    <a:pt x="1652448" y="1273684"/>
                  </a:lnTo>
                  <a:lnTo>
                    <a:pt x="1672516" y="1318225"/>
                  </a:lnTo>
                  <a:lnTo>
                    <a:pt x="1692009" y="1363333"/>
                  </a:lnTo>
                  <a:lnTo>
                    <a:pt x="1710919" y="1408998"/>
                  </a:lnTo>
                  <a:lnTo>
                    <a:pt x="1729240" y="1455209"/>
                  </a:lnTo>
                  <a:lnTo>
                    <a:pt x="1746963" y="1501956"/>
                  </a:lnTo>
                  <a:lnTo>
                    <a:pt x="1764081" y="1549229"/>
                  </a:lnTo>
                  <a:lnTo>
                    <a:pt x="1780588" y="1597016"/>
                  </a:lnTo>
                  <a:lnTo>
                    <a:pt x="1796475" y="1645308"/>
                  </a:lnTo>
                  <a:lnTo>
                    <a:pt x="1811735" y="1694093"/>
                  </a:lnTo>
                  <a:lnTo>
                    <a:pt x="1826361" y="1743362"/>
                  </a:lnTo>
                  <a:lnTo>
                    <a:pt x="1840345" y="1793104"/>
                  </a:lnTo>
                  <a:lnTo>
                    <a:pt x="1853681" y="1843308"/>
                  </a:lnTo>
                  <a:lnTo>
                    <a:pt x="1866360" y="1893963"/>
                  </a:lnTo>
                  <a:lnTo>
                    <a:pt x="1878375" y="1945060"/>
                  </a:lnTo>
                  <a:lnTo>
                    <a:pt x="1889719" y="1996588"/>
                  </a:lnTo>
                  <a:lnTo>
                    <a:pt x="1900385" y="2048536"/>
                  </a:lnTo>
                  <a:lnTo>
                    <a:pt x="1910365" y="2100894"/>
                  </a:lnTo>
                  <a:lnTo>
                    <a:pt x="1919652" y="2153651"/>
                  </a:lnTo>
                  <a:lnTo>
                    <a:pt x="1928239" y="2206797"/>
                  </a:lnTo>
                  <a:lnTo>
                    <a:pt x="1936117" y="2260321"/>
                  </a:lnTo>
                  <a:lnTo>
                    <a:pt x="1943280" y="2314213"/>
                  </a:lnTo>
                  <a:lnTo>
                    <a:pt x="1949721" y="2368462"/>
                  </a:lnTo>
                  <a:lnTo>
                    <a:pt x="1955431" y="2423058"/>
                  </a:lnTo>
                  <a:lnTo>
                    <a:pt x="1960404" y="2477990"/>
                  </a:lnTo>
                  <a:lnTo>
                    <a:pt x="1964632" y="2533248"/>
                  </a:lnTo>
                  <a:lnTo>
                    <a:pt x="1968108" y="2588821"/>
                  </a:lnTo>
                  <a:lnTo>
                    <a:pt x="1970824" y="2644698"/>
                  </a:lnTo>
                  <a:lnTo>
                    <a:pt x="1972773" y="2700870"/>
                  </a:lnTo>
                  <a:lnTo>
                    <a:pt x="1973948" y="2757326"/>
                  </a:lnTo>
                  <a:lnTo>
                    <a:pt x="1974342" y="2814055"/>
                  </a:lnTo>
                  <a:lnTo>
                    <a:pt x="1973948" y="2870784"/>
                  </a:lnTo>
                  <a:lnTo>
                    <a:pt x="1972773" y="2927239"/>
                  </a:lnTo>
                  <a:lnTo>
                    <a:pt x="1970824" y="2983411"/>
                  </a:lnTo>
                  <a:lnTo>
                    <a:pt x="1968108" y="3039289"/>
                  </a:lnTo>
                  <a:lnTo>
                    <a:pt x="1964632" y="3094862"/>
                  </a:lnTo>
                  <a:lnTo>
                    <a:pt x="1960404" y="3150120"/>
                  </a:lnTo>
                  <a:lnTo>
                    <a:pt x="1955431" y="3205052"/>
                  </a:lnTo>
                  <a:lnTo>
                    <a:pt x="1949721" y="3259648"/>
                  </a:lnTo>
                  <a:lnTo>
                    <a:pt x="1943280" y="3313897"/>
                  </a:lnTo>
                  <a:lnTo>
                    <a:pt x="1936117" y="3367789"/>
                  </a:lnTo>
                  <a:lnTo>
                    <a:pt x="1928239" y="3421313"/>
                  </a:lnTo>
                  <a:lnTo>
                    <a:pt x="1919652" y="3474459"/>
                  </a:lnTo>
                  <a:lnTo>
                    <a:pt x="1910365" y="3527216"/>
                  </a:lnTo>
                  <a:lnTo>
                    <a:pt x="1900385" y="3579574"/>
                  </a:lnTo>
                  <a:lnTo>
                    <a:pt x="1889719" y="3631522"/>
                  </a:lnTo>
                  <a:lnTo>
                    <a:pt x="1878375" y="3683049"/>
                  </a:lnTo>
                  <a:lnTo>
                    <a:pt x="1866360" y="3734146"/>
                  </a:lnTo>
                  <a:lnTo>
                    <a:pt x="1853681" y="3784802"/>
                  </a:lnTo>
                  <a:lnTo>
                    <a:pt x="1840345" y="3835006"/>
                  </a:lnTo>
                  <a:lnTo>
                    <a:pt x="1826361" y="3884748"/>
                  </a:lnTo>
                  <a:lnTo>
                    <a:pt x="1811735" y="3934016"/>
                  </a:lnTo>
                  <a:lnTo>
                    <a:pt x="1796475" y="3982802"/>
                  </a:lnTo>
                  <a:lnTo>
                    <a:pt x="1780588" y="4031093"/>
                  </a:lnTo>
                  <a:lnTo>
                    <a:pt x="1764081" y="4078881"/>
                  </a:lnTo>
                  <a:lnTo>
                    <a:pt x="1746963" y="4126153"/>
                  </a:lnTo>
                  <a:lnTo>
                    <a:pt x="1729240" y="4172900"/>
                  </a:lnTo>
                  <a:lnTo>
                    <a:pt x="1710919" y="4219112"/>
                  </a:lnTo>
                  <a:lnTo>
                    <a:pt x="1692009" y="4264777"/>
                  </a:lnTo>
                  <a:lnTo>
                    <a:pt x="1672516" y="4309885"/>
                  </a:lnTo>
                  <a:lnTo>
                    <a:pt x="1652448" y="4354425"/>
                  </a:lnTo>
                  <a:lnTo>
                    <a:pt x="1631812" y="4398388"/>
                  </a:lnTo>
                  <a:lnTo>
                    <a:pt x="1610615" y="4441763"/>
                  </a:lnTo>
                  <a:lnTo>
                    <a:pt x="1588866" y="4484538"/>
                  </a:lnTo>
                  <a:lnTo>
                    <a:pt x="1566571" y="4526705"/>
                  </a:lnTo>
                  <a:lnTo>
                    <a:pt x="1543737" y="4568251"/>
                  </a:lnTo>
                  <a:lnTo>
                    <a:pt x="1520373" y="4609167"/>
                  </a:lnTo>
                  <a:lnTo>
                    <a:pt x="1496485" y="4649442"/>
                  </a:lnTo>
                  <a:lnTo>
                    <a:pt x="1472081" y="4689065"/>
                  </a:lnTo>
                  <a:lnTo>
                    <a:pt x="1447168" y="4728027"/>
                  </a:lnTo>
                  <a:lnTo>
                    <a:pt x="1421754" y="4766316"/>
                  </a:lnTo>
                  <a:lnTo>
                    <a:pt x="1395845" y="4803923"/>
                  </a:lnTo>
                  <a:lnTo>
                    <a:pt x="1369450" y="4840835"/>
                  </a:lnTo>
                  <a:lnTo>
                    <a:pt x="1342576" y="4877044"/>
                  </a:lnTo>
                  <a:lnTo>
                    <a:pt x="1315230" y="4912539"/>
                  </a:lnTo>
                  <a:lnTo>
                    <a:pt x="1287419" y="4947308"/>
                  </a:lnTo>
                  <a:lnTo>
                    <a:pt x="1259151" y="4981342"/>
                  </a:lnTo>
                  <a:lnTo>
                    <a:pt x="1230433" y="5014630"/>
                  </a:lnTo>
                  <a:lnTo>
                    <a:pt x="1201272" y="5047162"/>
                  </a:lnTo>
                  <a:lnTo>
                    <a:pt x="1171677" y="5078927"/>
                  </a:lnTo>
                  <a:lnTo>
                    <a:pt x="1141654" y="5109914"/>
                  </a:lnTo>
                  <a:lnTo>
                    <a:pt x="1111211" y="5140113"/>
                  </a:lnTo>
                  <a:lnTo>
                    <a:pt x="1080355" y="5169514"/>
                  </a:lnTo>
                  <a:lnTo>
                    <a:pt x="1049093" y="5198105"/>
                  </a:lnTo>
                  <a:lnTo>
                    <a:pt x="1017433" y="5225877"/>
                  </a:lnTo>
                  <a:lnTo>
                    <a:pt x="985382" y="5252819"/>
                  </a:lnTo>
                  <a:lnTo>
                    <a:pt x="952948" y="5278921"/>
                  </a:lnTo>
                  <a:lnTo>
                    <a:pt x="920137" y="5304172"/>
                  </a:lnTo>
                  <a:lnTo>
                    <a:pt x="886959" y="5328561"/>
                  </a:lnTo>
                  <a:lnTo>
                    <a:pt x="853418" y="5352078"/>
                  </a:lnTo>
                  <a:lnTo>
                    <a:pt x="819524" y="5374712"/>
                  </a:lnTo>
                  <a:lnTo>
                    <a:pt x="785283" y="5396453"/>
                  </a:lnTo>
                  <a:lnTo>
                    <a:pt x="750704" y="5417291"/>
                  </a:lnTo>
                  <a:lnTo>
                    <a:pt x="715792" y="5437215"/>
                  </a:lnTo>
                  <a:lnTo>
                    <a:pt x="680556" y="5456214"/>
                  </a:lnTo>
                  <a:lnTo>
                    <a:pt x="645003" y="5474278"/>
                  </a:lnTo>
                  <a:lnTo>
                    <a:pt x="609140" y="5491397"/>
                  </a:lnTo>
                  <a:lnTo>
                    <a:pt x="572975" y="5507559"/>
                  </a:lnTo>
                  <a:lnTo>
                    <a:pt x="536515" y="5522755"/>
                  </a:lnTo>
                  <a:lnTo>
                    <a:pt x="499767" y="5536974"/>
                  </a:lnTo>
                  <a:lnTo>
                    <a:pt x="462739" y="5550205"/>
                  </a:lnTo>
                  <a:lnTo>
                    <a:pt x="425439" y="5562438"/>
                  </a:lnTo>
                  <a:lnTo>
                    <a:pt x="387873" y="5573662"/>
                  </a:lnTo>
                  <a:lnTo>
                    <a:pt x="350049" y="5583868"/>
                  </a:lnTo>
                  <a:lnTo>
                    <a:pt x="311974" y="5593043"/>
                  </a:lnTo>
                  <a:lnTo>
                    <a:pt x="273656" y="5601179"/>
                  </a:lnTo>
                  <a:lnTo>
                    <a:pt x="235102" y="5608264"/>
                  </a:lnTo>
                  <a:lnTo>
                    <a:pt x="196320" y="5614287"/>
                  </a:lnTo>
                  <a:lnTo>
                    <a:pt x="157316" y="5619239"/>
                  </a:lnTo>
                  <a:lnTo>
                    <a:pt x="118099" y="5623109"/>
                  </a:lnTo>
                  <a:lnTo>
                    <a:pt x="78675" y="5625886"/>
                  </a:lnTo>
                  <a:lnTo>
                    <a:pt x="39052" y="5627560"/>
                  </a:lnTo>
                  <a:lnTo>
                    <a:pt x="0" y="5628110"/>
                  </a:lnTo>
                </a:path>
              </a:pathLst>
            </a:custGeom>
            <a:ln w="28575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8">
              <a:extLst>
                <a:ext uri="{FF2B5EF4-FFF2-40B4-BE49-F238E27FC236}">
                  <a16:creationId xmlns:a16="http://schemas.microsoft.com/office/drawing/2014/main" id="{C58067BD-D2C8-58A5-88A1-7AD981E079F7}"/>
                </a:ext>
              </a:extLst>
            </p:cNvPr>
            <p:cNvSpPr/>
            <p:nvPr/>
          </p:nvSpPr>
          <p:spPr>
            <a:xfrm>
              <a:off x="0" y="1120166"/>
              <a:ext cx="1624965" cy="4954905"/>
            </a:xfrm>
            <a:custGeom>
              <a:avLst/>
              <a:gdLst/>
              <a:ahLst/>
              <a:cxnLst/>
              <a:rect l="l" t="t" r="r" b="b"/>
              <a:pathLst>
                <a:path w="1624965" h="4954905">
                  <a:moveTo>
                    <a:pt x="0" y="0"/>
                  </a:moveTo>
                  <a:lnTo>
                    <a:pt x="73952" y="2594"/>
                  </a:lnTo>
                  <a:lnTo>
                    <a:pt x="148545" y="10382"/>
                  </a:lnTo>
                  <a:lnTo>
                    <a:pt x="222178" y="23222"/>
                  </a:lnTo>
                  <a:lnTo>
                    <a:pt x="294777" y="41000"/>
                  </a:lnTo>
                  <a:lnTo>
                    <a:pt x="366267" y="63602"/>
                  </a:lnTo>
                  <a:lnTo>
                    <a:pt x="436573" y="90915"/>
                  </a:lnTo>
                  <a:lnTo>
                    <a:pt x="505621" y="122825"/>
                  </a:lnTo>
                  <a:lnTo>
                    <a:pt x="539649" y="140467"/>
                  </a:lnTo>
                  <a:lnTo>
                    <a:pt x="573335" y="159216"/>
                  </a:lnTo>
                  <a:lnTo>
                    <a:pt x="606669" y="179057"/>
                  </a:lnTo>
                  <a:lnTo>
                    <a:pt x="639641" y="199976"/>
                  </a:lnTo>
                  <a:lnTo>
                    <a:pt x="672243" y="221959"/>
                  </a:lnTo>
                  <a:lnTo>
                    <a:pt x="704464" y="244991"/>
                  </a:lnTo>
                  <a:lnTo>
                    <a:pt x="736296" y="269057"/>
                  </a:lnTo>
                  <a:lnTo>
                    <a:pt x="767729" y="294145"/>
                  </a:lnTo>
                  <a:lnTo>
                    <a:pt x="798754" y="320240"/>
                  </a:lnTo>
                  <a:lnTo>
                    <a:pt x="829361" y="347326"/>
                  </a:lnTo>
                  <a:lnTo>
                    <a:pt x="859542" y="375391"/>
                  </a:lnTo>
                  <a:lnTo>
                    <a:pt x="889286" y="404420"/>
                  </a:lnTo>
                  <a:lnTo>
                    <a:pt x="918585" y="434398"/>
                  </a:lnTo>
                  <a:lnTo>
                    <a:pt x="947428" y="465312"/>
                  </a:lnTo>
                  <a:lnTo>
                    <a:pt x="975808" y="497147"/>
                  </a:lnTo>
                  <a:lnTo>
                    <a:pt x="1003713" y="529888"/>
                  </a:lnTo>
                  <a:lnTo>
                    <a:pt x="1031136" y="563522"/>
                  </a:lnTo>
                  <a:lnTo>
                    <a:pt x="1058066" y="598035"/>
                  </a:lnTo>
                  <a:lnTo>
                    <a:pt x="1084495" y="633411"/>
                  </a:lnTo>
                  <a:lnTo>
                    <a:pt x="1110412" y="669638"/>
                  </a:lnTo>
                  <a:lnTo>
                    <a:pt x="1135809" y="706700"/>
                  </a:lnTo>
                  <a:lnTo>
                    <a:pt x="1160676" y="744583"/>
                  </a:lnTo>
                  <a:lnTo>
                    <a:pt x="1185005" y="783274"/>
                  </a:lnTo>
                  <a:lnTo>
                    <a:pt x="1208784" y="822757"/>
                  </a:lnTo>
                  <a:lnTo>
                    <a:pt x="1232006" y="863019"/>
                  </a:lnTo>
                  <a:lnTo>
                    <a:pt x="1254660" y="904046"/>
                  </a:lnTo>
                  <a:lnTo>
                    <a:pt x="1276738" y="945822"/>
                  </a:lnTo>
                  <a:lnTo>
                    <a:pt x="1298231" y="988334"/>
                  </a:lnTo>
                  <a:lnTo>
                    <a:pt x="1319127" y="1031568"/>
                  </a:lnTo>
                  <a:lnTo>
                    <a:pt x="1339420" y="1075509"/>
                  </a:lnTo>
                  <a:lnTo>
                    <a:pt x="1359098" y="1120144"/>
                  </a:lnTo>
                  <a:lnTo>
                    <a:pt x="1378153" y="1165457"/>
                  </a:lnTo>
                  <a:lnTo>
                    <a:pt x="1396575" y="1211435"/>
                  </a:lnTo>
                  <a:lnTo>
                    <a:pt x="1414355" y="1258063"/>
                  </a:lnTo>
                  <a:lnTo>
                    <a:pt x="1431484" y="1305327"/>
                  </a:lnTo>
                  <a:lnTo>
                    <a:pt x="1447952" y="1353213"/>
                  </a:lnTo>
                  <a:lnTo>
                    <a:pt x="1463750" y="1401707"/>
                  </a:lnTo>
                  <a:lnTo>
                    <a:pt x="1478868" y="1450794"/>
                  </a:lnTo>
                  <a:lnTo>
                    <a:pt x="1493298" y="1500460"/>
                  </a:lnTo>
                  <a:lnTo>
                    <a:pt x="1507030" y="1550691"/>
                  </a:lnTo>
                  <a:lnTo>
                    <a:pt x="1520054" y="1601473"/>
                  </a:lnTo>
                  <a:lnTo>
                    <a:pt x="1532361" y="1652791"/>
                  </a:lnTo>
                  <a:lnTo>
                    <a:pt x="1543942" y="1704631"/>
                  </a:lnTo>
                  <a:lnTo>
                    <a:pt x="1554787" y="1756979"/>
                  </a:lnTo>
                  <a:lnTo>
                    <a:pt x="1564887" y="1809821"/>
                  </a:lnTo>
                  <a:lnTo>
                    <a:pt x="1574234" y="1863142"/>
                  </a:lnTo>
                  <a:lnTo>
                    <a:pt x="1582816" y="1916928"/>
                  </a:lnTo>
                  <a:lnTo>
                    <a:pt x="1590626" y="1971165"/>
                  </a:lnTo>
                  <a:lnTo>
                    <a:pt x="1597653" y="2025838"/>
                  </a:lnTo>
                  <a:lnTo>
                    <a:pt x="1603888" y="2080934"/>
                  </a:lnTo>
                  <a:lnTo>
                    <a:pt x="1609323" y="2136438"/>
                  </a:lnTo>
                  <a:lnTo>
                    <a:pt x="1613947" y="2192336"/>
                  </a:lnTo>
                  <a:lnTo>
                    <a:pt x="1617751" y="2248614"/>
                  </a:lnTo>
                  <a:lnTo>
                    <a:pt x="1620726" y="2305257"/>
                  </a:lnTo>
                  <a:lnTo>
                    <a:pt x="1622863" y="2362251"/>
                  </a:lnTo>
                  <a:lnTo>
                    <a:pt x="1624152" y="2419582"/>
                  </a:lnTo>
                  <a:lnTo>
                    <a:pt x="1624584" y="2477235"/>
                  </a:lnTo>
                  <a:lnTo>
                    <a:pt x="1624152" y="2534888"/>
                  </a:lnTo>
                  <a:lnTo>
                    <a:pt x="1622863" y="2592219"/>
                  </a:lnTo>
                  <a:lnTo>
                    <a:pt x="1620726" y="2649213"/>
                  </a:lnTo>
                  <a:lnTo>
                    <a:pt x="1617751" y="2705856"/>
                  </a:lnTo>
                  <a:lnTo>
                    <a:pt x="1613947" y="2762134"/>
                  </a:lnTo>
                  <a:lnTo>
                    <a:pt x="1609323" y="2818032"/>
                  </a:lnTo>
                  <a:lnTo>
                    <a:pt x="1603888" y="2873536"/>
                  </a:lnTo>
                  <a:lnTo>
                    <a:pt x="1597653" y="2928632"/>
                  </a:lnTo>
                  <a:lnTo>
                    <a:pt x="1590626" y="2983305"/>
                  </a:lnTo>
                  <a:lnTo>
                    <a:pt x="1582816" y="3037542"/>
                  </a:lnTo>
                  <a:lnTo>
                    <a:pt x="1574234" y="3091328"/>
                  </a:lnTo>
                  <a:lnTo>
                    <a:pt x="1564887" y="3144649"/>
                  </a:lnTo>
                  <a:lnTo>
                    <a:pt x="1554787" y="3197491"/>
                  </a:lnTo>
                  <a:lnTo>
                    <a:pt x="1543942" y="3249839"/>
                  </a:lnTo>
                  <a:lnTo>
                    <a:pt x="1532361" y="3301679"/>
                  </a:lnTo>
                  <a:lnTo>
                    <a:pt x="1520054" y="3352997"/>
                  </a:lnTo>
                  <a:lnTo>
                    <a:pt x="1507030" y="3403779"/>
                  </a:lnTo>
                  <a:lnTo>
                    <a:pt x="1493298" y="3454010"/>
                  </a:lnTo>
                  <a:lnTo>
                    <a:pt x="1478868" y="3503676"/>
                  </a:lnTo>
                  <a:lnTo>
                    <a:pt x="1463750" y="3552763"/>
                  </a:lnTo>
                  <a:lnTo>
                    <a:pt x="1447952" y="3601257"/>
                  </a:lnTo>
                  <a:lnTo>
                    <a:pt x="1431484" y="3649143"/>
                  </a:lnTo>
                  <a:lnTo>
                    <a:pt x="1414355" y="3696407"/>
                  </a:lnTo>
                  <a:lnTo>
                    <a:pt x="1396575" y="3743035"/>
                  </a:lnTo>
                  <a:lnTo>
                    <a:pt x="1378153" y="3789013"/>
                  </a:lnTo>
                  <a:lnTo>
                    <a:pt x="1359098" y="3834326"/>
                  </a:lnTo>
                  <a:lnTo>
                    <a:pt x="1339420" y="3878961"/>
                  </a:lnTo>
                  <a:lnTo>
                    <a:pt x="1319127" y="3922902"/>
                  </a:lnTo>
                  <a:lnTo>
                    <a:pt x="1298231" y="3966136"/>
                  </a:lnTo>
                  <a:lnTo>
                    <a:pt x="1276738" y="4008648"/>
                  </a:lnTo>
                  <a:lnTo>
                    <a:pt x="1254660" y="4050424"/>
                  </a:lnTo>
                  <a:lnTo>
                    <a:pt x="1232006" y="4091451"/>
                  </a:lnTo>
                  <a:lnTo>
                    <a:pt x="1208784" y="4131713"/>
                  </a:lnTo>
                  <a:lnTo>
                    <a:pt x="1185005" y="4171196"/>
                  </a:lnTo>
                  <a:lnTo>
                    <a:pt x="1160676" y="4209887"/>
                  </a:lnTo>
                  <a:lnTo>
                    <a:pt x="1135809" y="4247770"/>
                  </a:lnTo>
                  <a:lnTo>
                    <a:pt x="1110412" y="4284832"/>
                  </a:lnTo>
                  <a:lnTo>
                    <a:pt x="1084495" y="4321059"/>
                  </a:lnTo>
                  <a:lnTo>
                    <a:pt x="1058066" y="4356435"/>
                  </a:lnTo>
                  <a:lnTo>
                    <a:pt x="1031136" y="4390948"/>
                  </a:lnTo>
                  <a:lnTo>
                    <a:pt x="1003713" y="4424582"/>
                  </a:lnTo>
                  <a:lnTo>
                    <a:pt x="975808" y="4457323"/>
                  </a:lnTo>
                  <a:lnTo>
                    <a:pt x="947428" y="4489158"/>
                  </a:lnTo>
                  <a:lnTo>
                    <a:pt x="918585" y="4520072"/>
                  </a:lnTo>
                  <a:lnTo>
                    <a:pt x="889286" y="4550050"/>
                  </a:lnTo>
                  <a:lnTo>
                    <a:pt x="859542" y="4579079"/>
                  </a:lnTo>
                  <a:lnTo>
                    <a:pt x="829361" y="4607144"/>
                  </a:lnTo>
                  <a:lnTo>
                    <a:pt x="798754" y="4634230"/>
                  </a:lnTo>
                  <a:lnTo>
                    <a:pt x="767729" y="4660325"/>
                  </a:lnTo>
                  <a:lnTo>
                    <a:pt x="736296" y="4685413"/>
                  </a:lnTo>
                  <a:lnTo>
                    <a:pt x="704464" y="4709479"/>
                  </a:lnTo>
                  <a:lnTo>
                    <a:pt x="672243" y="4732511"/>
                  </a:lnTo>
                  <a:lnTo>
                    <a:pt x="639641" y="4754494"/>
                  </a:lnTo>
                  <a:lnTo>
                    <a:pt x="606669" y="4775413"/>
                  </a:lnTo>
                  <a:lnTo>
                    <a:pt x="573335" y="4795254"/>
                  </a:lnTo>
                  <a:lnTo>
                    <a:pt x="539649" y="4814003"/>
                  </a:lnTo>
                  <a:lnTo>
                    <a:pt x="505621" y="4831646"/>
                  </a:lnTo>
                  <a:lnTo>
                    <a:pt x="471259" y="4848168"/>
                  </a:lnTo>
                  <a:lnTo>
                    <a:pt x="401573" y="4877793"/>
                  </a:lnTo>
                  <a:lnTo>
                    <a:pt x="330665" y="4902765"/>
                  </a:lnTo>
                  <a:lnTo>
                    <a:pt x="258611" y="4922970"/>
                  </a:lnTo>
                  <a:lnTo>
                    <a:pt x="185486" y="4938293"/>
                  </a:lnTo>
                  <a:lnTo>
                    <a:pt x="111364" y="4948621"/>
                  </a:lnTo>
                  <a:lnTo>
                    <a:pt x="36320" y="4953839"/>
                  </a:lnTo>
                  <a:lnTo>
                    <a:pt x="0" y="4954471"/>
                  </a:lnTo>
                </a:path>
              </a:pathLst>
            </a:custGeom>
            <a:ln w="12700">
              <a:solidFill>
                <a:srgbClr val="E9DC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9">
              <a:extLst>
                <a:ext uri="{FF2B5EF4-FFF2-40B4-BE49-F238E27FC236}">
                  <a16:creationId xmlns:a16="http://schemas.microsoft.com/office/drawing/2014/main" id="{A5E79DC1-7546-F31E-38DE-0642DFCCB9BF}"/>
                </a:ext>
              </a:extLst>
            </p:cNvPr>
            <p:cNvSpPr/>
            <p:nvPr/>
          </p:nvSpPr>
          <p:spPr>
            <a:xfrm>
              <a:off x="1829038" y="2200156"/>
              <a:ext cx="1481455" cy="0"/>
            </a:xfrm>
            <a:custGeom>
              <a:avLst/>
              <a:gdLst/>
              <a:ahLst/>
              <a:cxnLst/>
              <a:rect l="l" t="t" r="r" b="b"/>
              <a:pathLst>
                <a:path w="1481454">
                  <a:moveTo>
                    <a:pt x="0" y="0"/>
                  </a:moveTo>
                  <a:lnTo>
                    <a:pt x="1481201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10">
              <a:extLst>
                <a:ext uri="{FF2B5EF4-FFF2-40B4-BE49-F238E27FC236}">
                  <a16:creationId xmlns:a16="http://schemas.microsoft.com/office/drawing/2014/main" id="{7090C696-1D36-666C-EE02-DB9105F20C01}"/>
                </a:ext>
              </a:extLst>
            </p:cNvPr>
            <p:cNvSpPr/>
            <p:nvPr/>
          </p:nvSpPr>
          <p:spPr>
            <a:xfrm>
              <a:off x="3333224" y="195486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19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11">
              <a:extLst>
                <a:ext uri="{FF2B5EF4-FFF2-40B4-BE49-F238E27FC236}">
                  <a16:creationId xmlns:a16="http://schemas.microsoft.com/office/drawing/2014/main" id="{6B5DB70D-1B26-2DDE-BE94-D189D2C612D3}"/>
                </a:ext>
              </a:extLst>
            </p:cNvPr>
            <p:cNvSpPr/>
            <p:nvPr/>
          </p:nvSpPr>
          <p:spPr>
            <a:xfrm>
              <a:off x="2005583" y="3380791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12">
              <a:extLst>
                <a:ext uri="{FF2B5EF4-FFF2-40B4-BE49-F238E27FC236}">
                  <a16:creationId xmlns:a16="http://schemas.microsoft.com/office/drawing/2014/main" id="{73410F6A-086F-0639-EDB7-62DB9DC82507}"/>
                </a:ext>
              </a:extLst>
            </p:cNvPr>
            <p:cNvSpPr/>
            <p:nvPr/>
          </p:nvSpPr>
          <p:spPr>
            <a:xfrm>
              <a:off x="3621274" y="3151392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13">
              <a:extLst>
                <a:ext uri="{FF2B5EF4-FFF2-40B4-BE49-F238E27FC236}">
                  <a16:creationId xmlns:a16="http://schemas.microsoft.com/office/drawing/2014/main" id="{BDA59C4F-700A-DE15-C6F4-C2D92F113403}"/>
                </a:ext>
              </a:extLst>
            </p:cNvPr>
            <p:cNvSpPr/>
            <p:nvPr/>
          </p:nvSpPr>
          <p:spPr>
            <a:xfrm>
              <a:off x="1684782" y="3114138"/>
              <a:ext cx="486409" cy="483234"/>
            </a:xfrm>
            <a:custGeom>
              <a:avLst/>
              <a:gdLst/>
              <a:ahLst/>
              <a:cxnLst/>
              <a:rect l="l" t="t" r="r" b="b"/>
              <a:pathLst>
                <a:path w="486410" h="483235">
                  <a:moveTo>
                    <a:pt x="243078" y="0"/>
                  </a:moveTo>
                  <a:lnTo>
                    <a:pt x="194091" y="4909"/>
                  </a:lnTo>
                  <a:lnTo>
                    <a:pt x="148464" y="18990"/>
                  </a:lnTo>
                  <a:lnTo>
                    <a:pt x="107174" y="41268"/>
                  </a:lnTo>
                  <a:lnTo>
                    <a:pt x="71199" y="70770"/>
                  </a:lnTo>
                  <a:lnTo>
                    <a:pt x="41516" y="106523"/>
                  </a:lnTo>
                  <a:lnTo>
                    <a:pt x="19103" y="147554"/>
                  </a:lnTo>
                  <a:lnTo>
                    <a:pt x="4938" y="192888"/>
                  </a:lnTo>
                  <a:lnTo>
                    <a:pt x="0" y="241554"/>
                  </a:lnTo>
                  <a:lnTo>
                    <a:pt x="4938" y="290219"/>
                  </a:lnTo>
                  <a:lnTo>
                    <a:pt x="19103" y="335553"/>
                  </a:lnTo>
                  <a:lnTo>
                    <a:pt x="41516" y="376584"/>
                  </a:lnTo>
                  <a:lnTo>
                    <a:pt x="71199" y="412337"/>
                  </a:lnTo>
                  <a:lnTo>
                    <a:pt x="107174" y="441839"/>
                  </a:lnTo>
                  <a:lnTo>
                    <a:pt x="148464" y="464117"/>
                  </a:lnTo>
                  <a:lnTo>
                    <a:pt x="194091" y="478198"/>
                  </a:lnTo>
                  <a:lnTo>
                    <a:pt x="243078" y="483108"/>
                  </a:lnTo>
                  <a:lnTo>
                    <a:pt x="292064" y="478198"/>
                  </a:lnTo>
                  <a:lnTo>
                    <a:pt x="337691" y="464117"/>
                  </a:lnTo>
                  <a:lnTo>
                    <a:pt x="378981" y="441839"/>
                  </a:lnTo>
                  <a:lnTo>
                    <a:pt x="414956" y="412337"/>
                  </a:lnTo>
                  <a:lnTo>
                    <a:pt x="444639" y="376584"/>
                  </a:lnTo>
                  <a:lnTo>
                    <a:pt x="467052" y="335553"/>
                  </a:lnTo>
                  <a:lnTo>
                    <a:pt x="481217" y="290219"/>
                  </a:lnTo>
                  <a:lnTo>
                    <a:pt x="486156" y="241554"/>
                  </a:lnTo>
                  <a:lnTo>
                    <a:pt x="481217" y="192888"/>
                  </a:lnTo>
                  <a:lnTo>
                    <a:pt x="467052" y="147554"/>
                  </a:lnTo>
                  <a:lnTo>
                    <a:pt x="444639" y="106523"/>
                  </a:lnTo>
                  <a:lnTo>
                    <a:pt x="414956" y="70770"/>
                  </a:lnTo>
                  <a:lnTo>
                    <a:pt x="378981" y="41268"/>
                  </a:lnTo>
                  <a:lnTo>
                    <a:pt x="337691" y="18990"/>
                  </a:lnTo>
                  <a:lnTo>
                    <a:pt x="292064" y="4909"/>
                  </a:lnTo>
                  <a:lnTo>
                    <a:pt x="243078" y="0"/>
                  </a:lnTo>
                  <a:close/>
                </a:path>
              </a:pathLst>
            </a:custGeom>
            <a:solidFill>
              <a:srgbClr val="1B6F2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15">
            <a:extLst>
              <a:ext uri="{FF2B5EF4-FFF2-40B4-BE49-F238E27FC236}">
                <a16:creationId xmlns:a16="http://schemas.microsoft.com/office/drawing/2014/main" id="{28541EA6-5C81-D9F3-43AD-658293EC7ACD}"/>
              </a:ext>
            </a:extLst>
          </p:cNvPr>
          <p:cNvSpPr txBox="1"/>
          <p:nvPr/>
        </p:nvSpPr>
        <p:spPr>
          <a:xfrm>
            <a:off x="1820162" y="3320141"/>
            <a:ext cx="18542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48" name="object 16">
            <a:extLst>
              <a:ext uri="{FF2B5EF4-FFF2-40B4-BE49-F238E27FC236}">
                <a16:creationId xmlns:a16="http://schemas.microsoft.com/office/drawing/2014/main" id="{DEEE1747-E030-0E91-27E5-5CB40C619E41}"/>
              </a:ext>
            </a:extLst>
          </p:cNvPr>
          <p:cNvSpPr/>
          <p:nvPr/>
        </p:nvSpPr>
        <p:spPr>
          <a:xfrm>
            <a:off x="1446455" y="2216594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3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7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3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7">
            <a:extLst>
              <a:ext uri="{FF2B5EF4-FFF2-40B4-BE49-F238E27FC236}">
                <a16:creationId xmlns:a16="http://schemas.microsoft.com/office/drawing/2014/main" id="{F1699610-D75C-4A31-6563-556C4554FA8A}"/>
              </a:ext>
            </a:extLst>
          </p:cNvPr>
          <p:cNvSpPr txBox="1"/>
          <p:nvPr/>
        </p:nvSpPr>
        <p:spPr>
          <a:xfrm>
            <a:off x="1622730" y="2326066"/>
            <a:ext cx="1320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50" name="object 18">
            <a:extLst>
              <a:ext uri="{FF2B5EF4-FFF2-40B4-BE49-F238E27FC236}">
                <a16:creationId xmlns:a16="http://schemas.microsoft.com/office/drawing/2014/main" id="{127A85B1-06C5-A299-8685-9B984E57F419}"/>
              </a:ext>
            </a:extLst>
          </p:cNvPr>
          <p:cNvSpPr/>
          <p:nvPr/>
        </p:nvSpPr>
        <p:spPr>
          <a:xfrm>
            <a:off x="611728" y="1328129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5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19">
            <a:extLst>
              <a:ext uri="{FF2B5EF4-FFF2-40B4-BE49-F238E27FC236}">
                <a16:creationId xmlns:a16="http://schemas.microsoft.com/office/drawing/2014/main" id="{033BC5C6-10AA-5738-9091-BC18B297B191}"/>
              </a:ext>
            </a:extLst>
          </p:cNvPr>
          <p:cNvSpPr txBox="1"/>
          <p:nvPr/>
        </p:nvSpPr>
        <p:spPr>
          <a:xfrm>
            <a:off x="815438" y="1436715"/>
            <a:ext cx="787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52" name="object 20">
            <a:extLst>
              <a:ext uri="{FF2B5EF4-FFF2-40B4-BE49-F238E27FC236}">
                <a16:creationId xmlns:a16="http://schemas.microsoft.com/office/drawing/2014/main" id="{626980D0-F525-5388-3314-8D4313005308}"/>
              </a:ext>
            </a:extLst>
          </p:cNvPr>
          <p:cNvSpPr txBox="1"/>
          <p:nvPr/>
        </p:nvSpPr>
        <p:spPr>
          <a:xfrm>
            <a:off x="3254753" y="5062804"/>
            <a:ext cx="21463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W</a:t>
            </a:r>
            <a:r>
              <a:rPr sz="16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14">
                <a:solidFill>
                  <a:srgbClr val="FFFFFF"/>
                </a:solidFill>
                <a:latin typeface="Trebuchet MS"/>
                <a:cs typeface="Trebuchet MS"/>
              </a:rPr>
              <a:t>’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s</a:t>
            </a:r>
            <a:r>
              <a:rPr sz="1600" b="1" spc="-8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2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R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o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lution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53" name="object 21">
            <a:extLst>
              <a:ext uri="{FF2B5EF4-FFF2-40B4-BE49-F238E27FC236}">
                <a16:creationId xmlns:a16="http://schemas.microsoft.com/office/drawing/2014/main" id="{3B27A3F0-CCE4-3D5D-75E6-6D54E0530B15}"/>
              </a:ext>
            </a:extLst>
          </p:cNvPr>
          <p:cNvSpPr txBox="1"/>
          <p:nvPr/>
        </p:nvSpPr>
        <p:spPr>
          <a:xfrm>
            <a:off x="3254753" y="5310377"/>
            <a:ext cx="6203950" cy="481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We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believe that the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Wine app is of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lower quality compared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its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peers, which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can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lead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higher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churn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increased CAC. Thus,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we plan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address this company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shortfall 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enhance customer retention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improve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company's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image</a:t>
            </a:r>
            <a:endParaRPr sz="1000">
              <a:latin typeface="Trebuchet MS"/>
              <a:cs typeface="Trebuchet MS"/>
            </a:endParaRPr>
          </a:p>
        </p:txBody>
      </p:sp>
      <p:sp>
        <p:nvSpPr>
          <p:cNvPr id="54" name="object 29">
            <a:extLst>
              <a:ext uri="{FF2B5EF4-FFF2-40B4-BE49-F238E27FC236}">
                <a16:creationId xmlns:a16="http://schemas.microsoft.com/office/drawing/2014/main" id="{7A40DA2F-B255-6B5E-7AAA-B91F3EF5577A}"/>
              </a:ext>
            </a:extLst>
          </p:cNvPr>
          <p:cNvSpPr txBox="1"/>
          <p:nvPr/>
        </p:nvSpPr>
        <p:spPr>
          <a:xfrm>
            <a:off x="8508490" y="4789170"/>
            <a:ext cx="13849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b="1" spc="-2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1,7%</a:t>
            </a:r>
            <a:r>
              <a:rPr sz="2000" b="1" spc="-4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b="1" spc="-4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IRR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5" name="CaixaDeTexto 24">
            <a:extLst>
              <a:ext uri="{FF2B5EF4-FFF2-40B4-BE49-F238E27FC236}">
                <a16:creationId xmlns:a16="http://schemas.microsoft.com/office/drawing/2014/main" id="{5304D10F-9559-5322-871A-5408A60E4F7C}"/>
              </a:ext>
            </a:extLst>
          </p:cNvPr>
          <p:cNvSpPr txBox="1"/>
          <p:nvPr/>
        </p:nvSpPr>
        <p:spPr>
          <a:xfrm>
            <a:off x="2688765" y="1304615"/>
            <a:ext cx="9473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Validade externa limitada: </a:t>
            </a:r>
            <a:r>
              <a:rPr lang="pt-BR" sz="1400">
                <a:latin typeface="Montserrat" panose="00000500000000000000" pitchFamily="2" charset="0"/>
              </a:rPr>
              <a:t>O estudo utiliza exclusivamente dados administrativos da Dinamarca, um país com forte Estado de bem-estar social, sistema universal de saúde e de cultura própria.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56" name="CaixaDeTexto 25">
            <a:extLst>
              <a:ext uri="{FF2B5EF4-FFF2-40B4-BE49-F238E27FC236}">
                <a16:creationId xmlns:a16="http://schemas.microsoft.com/office/drawing/2014/main" id="{F4C20BC3-E43A-3178-BB48-5B1077C6F874}"/>
              </a:ext>
            </a:extLst>
          </p:cNvPr>
          <p:cNvSpPr txBox="1"/>
          <p:nvPr/>
        </p:nvSpPr>
        <p:spPr>
          <a:xfrm>
            <a:off x="3336465" y="2213705"/>
            <a:ext cx="90294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Medida de crime baseada em condenações: </a:t>
            </a:r>
            <a:r>
              <a:rPr lang="pt-BR" sz="1400">
                <a:latin typeface="Montserrat" panose="00000500000000000000" pitchFamily="2" charset="0"/>
              </a:rPr>
              <a:t>A variável dependente captura condenações, não crimes efetivamente cometidos.</a:t>
            </a:r>
            <a:br>
              <a:rPr lang="pt-BR" sz="1400"/>
            </a:br>
            <a:endParaRPr lang="pt-BR" sz="1400"/>
          </a:p>
          <a:p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57" name="CaixaDeTexto 26">
            <a:extLst>
              <a:ext uri="{FF2B5EF4-FFF2-40B4-BE49-F238E27FC236}">
                <a16:creationId xmlns:a16="http://schemas.microsoft.com/office/drawing/2014/main" id="{018A3089-E4F1-201C-5D68-279F4992D655}"/>
              </a:ext>
            </a:extLst>
          </p:cNvPr>
          <p:cNvSpPr txBox="1"/>
          <p:nvPr/>
        </p:nvSpPr>
        <p:spPr>
          <a:xfrm>
            <a:off x="3638355" y="3174263"/>
            <a:ext cx="8791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Possível endogeneidade residual no timing do diagnóstico: </a:t>
            </a:r>
            <a:r>
              <a:rPr lang="pt-BR" sz="1400">
                <a:latin typeface="Montserrat" panose="00000500000000000000" pitchFamily="2" charset="0"/>
              </a:rPr>
              <a:t>Embora o desenho “</a:t>
            </a:r>
            <a:r>
              <a:rPr lang="pt-BR" sz="1400" err="1">
                <a:latin typeface="Montserrat" panose="00000500000000000000" pitchFamily="2" charset="0"/>
              </a:rPr>
              <a:t>staggered</a:t>
            </a:r>
            <a:r>
              <a:rPr lang="pt-BR" sz="1400">
                <a:latin typeface="Montserrat" panose="00000500000000000000" pitchFamily="2" charset="0"/>
              </a:rPr>
              <a:t> </a:t>
            </a:r>
            <a:r>
              <a:rPr lang="pt-BR" sz="1400" err="1">
                <a:latin typeface="Montserrat" panose="00000500000000000000" pitchFamily="2" charset="0"/>
              </a:rPr>
              <a:t>adoption</a:t>
            </a:r>
            <a:r>
              <a:rPr lang="pt-BR" sz="1400">
                <a:latin typeface="Montserrat" panose="00000500000000000000" pitchFamily="2" charset="0"/>
              </a:rPr>
              <a:t>” mitigue viés, fatores comportamentais, podem correlacionar-se tanto com saúde quanto com propensão criminal</a:t>
            </a:r>
            <a:r>
              <a:rPr lang="pt-BR" sz="1400"/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58" name="object 13">
            <a:extLst>
              <a:ext uri="{FF2B5EF4-FFF2-40B4-BE49-F238E27FC236}">
                <a16:creationId xmlns:a16="http://schemas.microsoft.com/office/drawing/2014/main" id="{1EC70C2D-163F-7F63-7B7A-EF8E3B1B5142}"/>
              </a:ext>
            </a:extLst>
          </p:cNvPr>
          <p:cNvSpPr/>
          <p:nvPr/>
        </p:nvSpPr>
        <p:spPr>
          <a:xfrm>
            <a:off x="1639814" y="429017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11">
            <a:extLst>
              <a:ext uri="{FF2B5EF4-FFF2-40B4-BE49-F238E27FC236}">
                <a16:creationId xmlns:a16="http://schemas.microsoft.com/office/drawing/2014/main" id="{04018F4B-56E9-6DFA-63C9-D5784243723E}"/>
              </a:ext>
            </a:extLst>
          </p:cNvPr>
          <p:cNvSpPr/>
          <p:nvPr/>
        </p:nvSpPr>
        <p:spPr>
          <a:xfrm>
            <a:off x="1933445" y="448657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12">
            <a:extLst>
              <a:ext uri="{FF2B5EF4-FFF2-40B4-BE49-F238E27FC236}">
                <a16:creationId xmlns:a16="http://schemas.microsoft.com/office/drawing/2014/main" id="{2684E1FE-026F-3FC5-051B-07B1D1980288}"/>
              </a:ext>
            </a:extLst>
          </p:cNvPr>
          <p:cNvSpPr/>
          <p:nvPr/>
        </p:nvSpPr>
        <p:spPr>
          <a:xfrm>
            <a:off x="3553196" y="4280438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CaixaDeTexto 30">
            <a:extLst>
              <a:ext uri="{FF2B5EF4-FFF2-40B4-BE49-F238E27FC236}">
                <a16:creationId xmlns:a16="http://schemas.microsoft.com/office/drawing/2014/main" id="{6BDF5FC6-ACBD-47D5-8587-DDB29A75364F}"/>
              </a:ext>
            </a:extLst>
          </p:cNvPr>
          <p:cNvSpPr txBox="1"/>
          <p:nvPr/>
        </p:nvSpPr>
        <p:spPr>
          <a:xfrm>
            <a:off x="3580055" y="4181785"/>
            <a:ext cx="8831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Identificação dos mecanismos não estrutural: </a:t>
            </a:r>
            <a:r>
              <a:rPr lang="pt-BR" sz="1400">
                <a:latin typeface="Montserrat" panose="00000500000000000000" pitchFamily="2" charset="0"/>
              </a:rPr>
              <a:t>Embora os canais de renda e probabilidade de sobrevivência sejam consistentes com a teoria de Becker-Ehrlich, o modelo não estima elasticidades estruturais nem quantifica precisamente o peso relativo de cada mecanismo.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62" name="object 15">
            <a:extLst>
              <a:ext uri="{FF2B5EF4-FFF2-40B4-BE49-F238E27FC236}">
                <a16:creationId xmlns:a16="http://schemas.microsoft.com/office/drawing/2014/main" id="{5961E8F9-743F-0017-78CE-A74FCBFB527D}"/>
              </a:ext>
            </a:extLst>
          </p:cNvPr>
          <p:cNvSpPr txBox="1"/>
          <p:nvPr/>
        </p:nvSpPr>
        <p:spPr>
          <a:xfrm>
            <a:off x="1790181" y="4361331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IV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63" name="object 13">
            <a:extLst>
              <a:ext uri="{FF2B5EF4-FFF2-40B4-BE49-F238E27FC236}">
                <a16:creationId xmlns:a16="http://schemas.microsoft.com/office/drawing/2014/main" id="{FD307CC4-E979-87EC-0E02-E2A2F7A842E1}"/>
              </a:ext>
            </a:extLst>
          </p:cNvPr>
          <p:cNvSpPr/>
          <p:nvPr/>
        </p:nvSpPr>
        <p:spPr>
          <a:xfrm>
            <a:off x="1114224" y="521956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15">
            <a:extLst>
              <a:ext uri="{FF2B5EF4-FFF2-40B4-BE49-F238E27FC236}">
                <a16:creationId xmlns:a16="http://schemas.microsoft.com/office/drawing/2014/main" id="{D6984E84-495B-0479-F3E5-AE1AFE550F70}"/>
              </a:ext>
            </a:extLst>
          </p:cNvPr>
          <p:cNvSpPr txBox="1"/>
          <p:nvPr/>
        </p:nvSpPr>
        <p:spPr>
          <a:xfrm>
            <a:off x="1283442" y="5295695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65" name="object 11">
            <a:extLst>
              <a:ext uri="{FF2B5EF4-FFF2-40B4-BE49-F238E27FC236}">
                <a16:creationId xmlns:a16="http://schemas.microsoft.com/office/drawing/2014/main" id="{50A8FC72-E0DC-F14A-AD65-90D52A0F50CC}"/>
              </a:ext>
            </a:extLst>
          </p:cNvPr>
          <p:cNvSpPr/>
          <p:nvPr/>
        </p:nvSpPr>
        <p:spPr>
          <a:xfrm>
            <a:off x="1516844" y="541596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12">
            <a:extLst>
              <a:ext uri="{FF2B5EF4-FFF2-40B4-BE49-F238E27FC236}">
                <a16:creationId xmlns:a16="http://schemas.microsoft.com/office/drawing/2014/main" id="{57E42355-210E-0237-3D3A-DB5FDE2DF10E}"/>
              </a:ext>
            </a:extLst>
          </p:cNvPr>
          <p:cNvSpPr/>
          <p:nvPr/>
        </p:nvSpPr>
        <p:spPr>
          <a:xfrm>
            <a:off x="3143465" y="5197647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CaixaDeTexto 36">
            <a:extLst>
              <a:ext uri="{FF2B5EF4-FFF2-40B4-BE49-F238E27FC236}">
                <a16:creationId xmlns:a16="http://schemas.microsoft.com/office/drawing/2014/main" id="{520D80D9-5283-D807-F01F-FB27900162B9}"/>
              </a:ext>
            </a:extLst>
          </p:cNvPr>
          <p:cNvSpPr txBox="1"/>
          <p:nvPr/>
        </p:nvSpPr>
        <p:spPr>
          <a:xfrm>
            <a:off x="3174384" y="5119295"/>
            <a:ext cx="82394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Reforma municipal como choque multidimensional: </a:t>
            </a:r>
            <a:r>
              <a:rPr lang="pt-BR" sz="1400">
                <a:latin typeface="Montserrat" panose="00000500000000000000" pitchFamily="2" charset="0"/>
              </a:rPr>
              <a:t>A reforma de 2007 alterou diversas políticas simultaneamente. Apesar da estratégia de identificação, não é possível isolar completamente o efeito exclusivo da redução do </a:t>
            </a:r>
            <a:r>
              <a:rPr lang="pt-BR" sz="1400" err="1">
                <a:latin typeface="Montserrat" panose="00000500000000000000" pitchFamily="2" charset="0"/>
              </a:rPr>
              <a:t>welfare</a:t>
            </a:r>
            <a:r>
              <a:rPr lang="pt-BR" sz="1400">
                <a:latin typeface="Montserrat" panose="00000500000000000000" pitchFamily="2" charset="0"/>
              </a:rPr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  <p:grpSp>
        <p:nvGrpSpPr>
          <p:cNvPr id="68" name="object 78">
            <a:extLst>
              <a:ext uri="{FF2B5EF4-FFF2-40B4-BE49-F238E27FC236}">
                <a16:creationId xmlns:a16="http://schemas.microsoft.com/office/drawing/2014/main" id="{57839F7F-98AF-44EB-11BD-84DA34B93EB7}"/>
              </a:ext>
            </a:extLst>
          </p:cNvPr>
          <p:cNvGrpSpPr/>
          <p:nvPr/>
        </p:nvGrpSpPr>
        <p:grpSpPr>
          <a:xfrm>
            <a:off x="0" y="2182650"/>
            <a:ext cx="12192000" cy="2572077"/>
            <a:chOff x="0" y="1895784"/>
            <a:chExt cx="12192000" cy="2696027"/>
          </a:xfrm>
        </p:grpSpPr>
        <p:sp>
          <p:nvSpPr>
            <p:cNvPr id="69" name="object 79">
              <a:extLst>
                <a:ext uri="{FF2B5EF4-FFF2-40B4-BE49-F238E27FC236}">
                  <a16:creationId xmlns:a16="http://schemas.microsoft.com/office/drawing/2014/main" id="{361BC59D-2E13-9031-A1F3-31742205E886}"/>
                </a:ext>
              </a:extLst>
            </p:cNvPr>
            <p:cNvSpPr/>
            <p:nvPr/>
          </p:nvSpPr>
          <p:spPr>
            <a:xfrm>
              <a:off x="0" y="1905000"/>
              <a:ext cx="12192000" cy="2679700"/>
            </a:xfrm>
            <a:custGeom>
              <a:avLst/>
              <a:gdLst/>
              <a:ahLst/>
              <a:cxnLst/>
              <a:rect l="l" t="t" r="r" b="b"/>
              <a:pathLst>
                <a:path w="12192000" h="2679700">
                  <a:moveTo>
                    <a:pt x="0" y="0"/>
                  </a:moveTo>
                  <a:lnTo>
                    <a:pt x="0" y="2679192"/>
                  </a:lnTo>
                  <a:lnTo>
                    <a:pt x="12191999" y="2679192"/>
                  </a:lnTo>
                  <a:lnTo>
                    <a:pt x="121919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>
                <a:alpha val="74900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80">
              <a:extLst>
                <a:ext uri="{FF2B5EF4-FFF2-40B4-BE49-F238E27FC236}">
                  <a16:creationId xmlns:a16="http://schemas.microsoft.com/office/drawing/2014/main" id="{553C6C4B-EFBD-F941-92E5-373B4B867085}"/>
                </a:ext>
              </a:extLst>
            </p:cNvPr>
            <p:cNvSpPr/>
            <p:nvPr/>
          </p:nvSpPr>
          <p:spPr>
            <a:xfrm>
              <a:off x="2449068" y="1985771"/>
              <a:ext cx="7917180" cy="2606040"/>
            </a:xfrm>
            <a:custGeom>
              <a:avLst/>
              <a:gdLst/>
              <a:ahLst/>
              <a:cxnLst/>
              <a:rect l="l" t="t" r="r" b="b"/>
              <a:pathLst>
                <a:path w="7917180" h="2606040">
                  <a:moveTo>
                    <a:pt x="7917180" y="0"/>
                  </a:moveTo>
                  <a:lnTo>
                    <a:pt x="0" y="0"/>
                  </a:lnTo>
                  <a:lnTo>
                    <a:pt x="0" y="2522220"/>
                  </a:lnTo>
                  <a:lnTo>
                    <a:pt x="0" y="2606040"/>
                  </a:lnTo>
                  <a:lnTo>
                    <a:pt x="7917180" y="2606040"/>
                  </a:lnTo>
                  <a:lnTo>
                    <a:pt x="7917180" y="2522220"/>
                  </a:lnTo>
                  <a:lnTo>
                    <a:pt x="7917180" y="0"/>
                  </a:lnTo>
                  <a:close/>
                </a:path>
              </a:pathLst>
            </a:custGeom>
            <a:solidFill>
              <a:srgbClr val="05642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81">
              <a:extLst>
                <a:ext uri="{FF2B5EF4-FFF2-40B4-BE49-F238E27FC236}">
                  <a16:creationId xmlns:a16="http://schemas.microsoft.com/office/drawing/2014/main" id="{72516439-6432-F254-77DA-7589662ABB3C}"/>
                </a:ext>
              </a:extLst>
            </p:cNvPr>
            <p:cNvSpPr/>
            <p:nvPr/>
          </p:nvSpPr>
          <p:spPr>
            <a:xfrm>
              <a:off x="2351532" y="1895784"/>
              <a:ext cx="7934325" cy="2603500"/>
            </a:xfrm>
            <a:custGeom>
              <a:avLst/>
              <a:gdLst/>
              <a:ahLst/>
              <a:cxnLst/>
              <a:rect l="l" t="t" r="r" b="b"/>
              <a:pathLst>
                <a:path w="7934325" h="2603500">
                  <a:moveTo>
                    <a:pt x="7933944" y="0"/>
                  </a:moveTo>
                  <a:lnTo>
                    <a:pt x="0" y="0"/>
                  </a:lnTo>
                  <a:lnTo>
                    <a:pt x="0" y="2602992"/>
                  </a:lnTo>
                  <a:lnTo>
                    <a:pt x="7933944" y="2602992"/>
                  </a:lnTo>
                  <a:lnTo>
                    <a:pt x="7933944" y="0"/>
                  </a:lnTo>
                  <a:close/>
                </a:path>
              </a:pathLst>
            </a:custGeom>
            <a:solidFill>
              <a:srgbClr val="EBE9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82">
              <a:extLst>
                <a:ext uri="{FF2B5EF4-FFF2-40B4-BE49-F238E27FC236}">
                  <a16:creationId xmlns:a16="http://schemas.microsoft.com/office/drawing/2014/main" id="{1A023780-F83F-F31C-13C5-B5EB8CFE89D7}"/>
                </a:ext>
              </a:extLst>
            </p:cNvPr>
            <p:cNvSpPr/>
            <p:nvPr/>
          </p:nvSpPr>
          <p:spPr>
            <a:xfrm>
              <a:off x="2351532" y="1905000"/>
              <a:ext cx="7934325" cy="2603500"/>
            </a:xfrm>
            <a:custGeom>
              <a:avLst/>
              <a:gdLst/>
              <a:ahLst/>
              <a:cxnLst/>
              <a:rect l="l" t="t" r="r" b="b"/>
              <a:pathLst>
                <a:path w="7934325" h="2603500">
                  <a:moveTo>
                    <a:pt x="0" y="2602992"/>
                  </a:moveTo>
                  <a:lnTo>
                    <a:pt x="7933944" y="2602992"/>
                  </a:lnTo>
                  <a:lnTo>
                    <a:pt x="7933944" y="0"/>
                  </a:lnTo>
                  <a:lnTo>
                    <a:pt x="0" y="0"/>
                  </a:lnTo>
                  <a:lnTo>
                    <a:pt x="0" y="2602992"/>
                  </a:lnTo>
                  <a:close/>
                </a:path>
              </a:pathLst>
            </a:custGeom>
            <a:ln w="12700">
              <a:solidFill>
                <a:srgbClr val="1D04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CaixaDeTexto 42">
            <a:extLst>
              <a:ext uri="{FF2B5EF4-FFF2-40B4-BE49-F238E27FC236}">
                <a16:creationId xmlns:a16="http://schemas.microsoft.com/office/drawing/2014/main" id="{4AF71DF6-318E-9163-6C0D-40F178BDC303}"/>
              </a:ext>
            </a:extLst>
          </p:cNvPr>
          <p:cNvSpPr txBox="1"/>
          <p:nvPr/>
        </p:nvSpPr>
        <p:spPr>
          <a:xfrm>
            <a:off x="2404098" y="2221136"/>
            <a:ext cx="45063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b="1">
                <a:latin typeface="Montserrat" panose="00000500000000000000" pitchFamily="2" charset="0"/>
              </a:rPr>
              <a:t>Teste de Robustez</a:t>
            </a:r>
          </a:p>
        </p:txBody>
      </p:sp>
      <p:sp>
        <p:nvSpPr>
          <p:cNvPr id="74" name="CaixaDeTexto 44">
            <a:extLst>
              <a:ext uri="{FF2B5EF4-FFF2-40B4-BE49-F238E27FC236}">
                <a16:creationId xmlns:a16="http://schemas.microsoft.com/office/drawing/2014/main" id="{9284A1BB-E6D0-861A-339A-A9269D3F918E}"/>
              </a:ext>
            </a:extLst>
          </p:cNvPr>
          <p:cNvSpPr txBox="1"/>
          <p:nvPr/>
        </p:nvSpPr>
        <p:spPr>
          <a:xfrm>
            <a:off x="2320436" y="2721628"/>
            <a:ext cx="83940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latin typeface="Montserrat" panose="00000500000000000000" pitchFamily="2" charset="0"/>
              </a:rPr>
              <a:t>Mesmo diante das limitações, implementaram-se estratégias de robustez a fim de assegurar a confiabilidade aos resultados: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Testes pré-tendência 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Seleção dinâmica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Mensuração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Especificações alternativas e grupos controle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Validação do mecanismo via choque institucional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pt-BR" sz="1400">
              <a:latin typeface="Montserrat" panose="00000500000000000000" pitchFamily="2" charset="0"/>
            </a:endParaRPr>
          </a:p>
        </p:txBody>
      </p:sp>
      <p:sp>
        <p:nvSpPr>
          <p:cNvPr id="75" name="Title 2">
            <a:extLst>
              <a:ext uri="{FF2B5EF4-FFF2-40B4-BE49-F238E27FC236}">
                <a16:creationId xmlns:a16="http://schemas.microsoft.com/office/drawing/2014/main" id="{5DA0569F-716F-A02C-7D81-469275441ABB}"/>
              </a:ext>
            </a:extLst>
          </p:cNvPr>
          <p:cNvSpPr txBox="1">
            <a:spLocks/>
          </p:cNvSpPr>
          <p:nvPr/>
        </p:nvSpPr>
        <p:spPr>
          <a:xfrm>
            <a:off x="91051" y="39654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r>
              <a:rPr lang="pt-BR"/>
              <a:t>EXEMPLO TESTE DE ROBUSTEZ</a:t>
            </a:r>
          </a:p>
        </p:txBody>
      </p:sp>
    </p:spTree>
    <p:extLst>
      <p:ext uri="{BB962C8B-B14F-4D97-AF65-F5344CB8AC3E}">
        <p14:creationId xmlns:p14="http://schemas.microsoft.com/office/powerpoint/2010/main" val="1862342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O desafio é separar o efeito da bolsa do efeito da vulnerabilidade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17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O desafio é separar o efeito da bolsa do efeito da vulnerabilidade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</a:rPr>
              <a:t>20</a:t>
            </a:r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O IVS mede a vulnerabilidade social dos territórios brasileiros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21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 (proposta do plano, delegada pelo autor e revisável por ele); H1 é o teste de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Oito bases oficiais, ligadas por município, célula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156712"/>
        </p:xfrm>
        <a:graphic>
          <a:graphicData uri="http://schemas.openxmlformats.org/drawingml/2006/table">
            <a:tbl>
              <a:tblPr firstRow="1" bandRow="1"/>
              <a:tblGrid>
                <a:gridCol w="4795555"/>
                <a:gridCol w="1873880"/>
                <a:gridCol w="1926623"/>
                <a:gridCol w="299853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de 1ª opção numa célula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ligados ao CNES (G1)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 de 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 de 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 de 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R$ 10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144264"/>
            <a:ext cx="11594592" cy="1323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estabelecimento × curso no quadro da 1ª chamada; uma célula pode ter várias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alguma confirmação ou homologação; não é taxa de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Faixa pela grade aplicada: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até 0,300 → R$ 10 mil; de 0,301 a 0,400 → R$ 15 mil; acima de 0,400 → R$ 20 mil.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203954"/>
        </p:xfrm>
        <a:graphic>
          <a:graphicData uri="http://schemas.openxmlformats.org/drawingml/2006/table">
            <a:tbl>
              <a:tblPr firstRow="1" bandRow="1"/>
              <a:tblGrid>
                <a:gridCol w="1583055"/>
                <a:gridCol w="2548136"/>
                <a:gridCol w="2367130"/>
                <a:gridCol w="2548136"/>
                <a:gridCol w="2548136"/>
              </a:tblGrid>
              <a:tr h="31889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 principal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kernel triangular, h = 0,050; uma reta de cada lado por ciclo × corte; salto comum; efeitos fixos de curso × ciclo e de tipo de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IC honesto como sensibilidade;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 entre as células do conjunto de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1–3; origem ligada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linear em R$ mil; IVS em spline com nós nos cortes; distância, mesma UF, mesma região, mesmo município, porte, capital, vaga imediata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como combinação linear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55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local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2; candidato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controles ainda não tratados, base g − 1; efeito fixo de célula na comparação local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por médico; permutação na célula;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+R$ 5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141" y="804672"/>
            <a:ext cx="8001526" cy="34264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395724"/>
            <a:ext cx="11503152" cy="10723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p.p.; por corte, +1,7 em 0,300 e +11,3 em 0,400.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negativo não passa no Holm (0,124); em 0,400 vem do porte; em 0,300, da taxa por vaga, que depende da medida (doc 49b).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+R$ 5 mil, p 0,065; a igualdade entre ciclos tem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, e resiste a poucos clusters 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incentivo limitado — PENDENTE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Selo PENDENTE"/>
          <p:cNvSpPr/>
          <p:nvPr/>
        </p:nvSpPr>
        <p:spPr>
          <a:xfrm>
            <a:off x="292608" y="850392"/>
            <a:ext cx="2834640" cy="566928"/>
          </a:xfrm>
          <a:prstGeom prst="roundRect">
            <a:avLst>
              <a:gd name="adj" fmla="val 20000"/>
            </a:avLst>
          </a:prstGeom>
          <a:solidFill>
            <a:srgbClr val="B5470F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 spc="200" dirty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  <p:sp>
        <p:nvSpPr>
          <p:cNvPr id="102" name="Selo texto"/>
          <p:cNvSpPr txBox="1"/>
          <p:nvPr/>
        </p:nvSpPr>
        <p:spPr>
          <a:xfrm>
            <a:off x="3355848" y="850392"/>
            <a:ext cx="853135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B5470F"/>
                </a:solidFill>
                <a:latin typeface="Montserrat"/>
              </a:rPr>
              <a:t>Resultado do protocolo 52b em estimação e auditoria. Este slide será trocado.</a:t>
            </a:r>
          </a:p>
        </p:txBody>
      </p:sp>
      <p:sp>
        <p:nvSpPr>
          <p:cNvPr id="103" name="Espaço da figura"/>
          <p:cNvSpPr/>
          <p:nvPr/>
        </p:nvSpPr>
        <p:spPr>
          <a:xfrm>
            <a:off x="292608" y="1673352"/>
            <a:ext cx="4937760" cy="3794760"/>
          </a:xfrm>
          <a:prstGeom prst="roundRect">
            <a:avLst>
              <a:gd name="adj" fmla="val 4000"/>
            </a:avLst>
          </a:prstGeom>
          <a:solidFill>
            <a:srgbClr val="FDEBD9"/>
          </a:solidFill>
          <a:ln w="19050">
            <a:solidFill>
              <a:srgbClr val="B5470F"/>
            </a:solidFill>
            <a:prstDash val="dash"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B5470F"/>
                </a:solidFill>
                <a:latin typeface="Montserrat"/>
              </a:rPr>
              <a:t>figura da H3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0" dirty="0">
                <a:solidFill>
                  <a:srgbClr val="B5470F"/>
                </a:solidFill>
                <a:latin typeface="Montserrat"/>
              </a:rPr>
              <a:t>coeficientes do M1 na mesma escala de utilidade</a:t>
            </a:r>
          </a:p>
        </p:txBody>
      </p:sp>
      <p:sp>
        <p:nvSpPr>
          <p:cNvPr id="104" name="Marcadores"/>
          <p:cNvSpPr txBox="1"/>
          <p:nvPr/>
        </p:nvSpPr>
        <p:spPr>
          <a:xfrm>
            <a:off x="5550408" y="1764792"/>
            <a:ext cx="6336792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Teste congelado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no protocolo 52b em 26/10/2026, antes de calcular: o efeito de toda a amplitude da bolsa (R$ 10 mil → R$ 20 mil) é menor que o de a vaga ficar na UF de origem?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Também: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 amplitude da bolsa expressa em km equivalentes de distância, com IC.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Estado: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script 25c (doc 57i) está sendo rodado por outra sessão e passa por auditoria independente antes de entrar aqui.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FDEBD9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B5470F"/>
                </a:solidFill>
                <a:latin typeface="Montserrat"/>
              </a:rPr>
              <a:t>PENDENTE: nenhum número da H3 neste slide até a auditoria.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docs/06_execucao/52b_protocolo_P1h_magnitudes.md.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dos médicos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vista no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942537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8509465" y="804672"/>
            <a:ext cx="3377735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figura por scripts/apresentacao/gerar_figuras_banca2.py.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duas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83430"/>
        </p:xfrm>
        <a:graphic>
          <a:graphicData uri="http://schemas.openxmlformats.org/drawingml/2006/table">
            <a:tbl>
              <a:tblPr firstRow="1" bandRow="1"/>
              <a:tblGrid>
                <a:gridCol w="988568"/>
                <a:gridCol w="3511196"/>
                <a:gridCol w="3210760"/>
                <a:gridCol w="3884068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 ressalvas estão na tela: nenhuma especificação foi escolhida depois de ver o resultado.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H_estimativas.csv e CA_estimativas.csv (doc 57h); doc 57, §3.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Limites: pacote do corte, só candidatos, vínculo cadastrado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Nos mesmos cortes mudam o teto de emendas e de custeio de MAC (+20% para IVS maior que 0,3), o estrato do IED da APS e o teto de coparticipação do PMMB (10% → 40% em 0,3; 40% → 100% em 0,4). A DiRD tira só a parte fixa no tempo.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 escolha é de quem já se candidatou: o logit não vê quem deixou de se inscrever, e um aumento igual da bolsa em todas as vagas não muda nenhuma escolha no modelo.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Horas e vínculos são cadastros do CNES; não são horas trabalhadas nem retenção individual.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Não é a participação no PMM-E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efeito candidato é o incentivo marginal de R$ 5 mil anunciado, como pacote do corte; nem o Agora Tem Especialistas.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57, §4.2 e §7; CLAUDE.md.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efeito do tamanho da literatura não cabe no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pagamento; H3 depois da auditoria.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