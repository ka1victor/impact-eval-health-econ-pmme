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402" r:id="rId49"/>
    <p:sldId id="40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3" Type="http://schemas.openxmlformats.org/officeDocument/2006/relationships/customXml" Target="../customXml/item3.xml"/><Relationship Id="rId46" Type="http://schemas.openxmlformats.org/officeDocument/2006/relationships/tableStyles" Target="tableStyles.xml"/><Relationship Id="rId49" Type="http://schemas.openxmlformats.org/officeDocument/2006/relationships/slide" Target="slides/slide37.xml"/><Relationship Id="rId50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Ler de cima para baixo. 1: a regra. O IVS 2010 oficial define a faixa da bolsa, com cortes em 0,300 e 0,400. 2: a escolha do médico. A bolsa eleva o salário esperado; o custo de viver ali e o custo de trabalhar ali puxam contra. O saldo é o valor da vaga. 3: do valor à saúde. Quanto maior o valor, maior a parcela de médicos que escolhe a vaga e maior a chance de preencher. Só depois vêm capacidade, produção e acesso, e saúde. Este é o diagrama da teoria: as equações estão no apêndice.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hipótese é o elo da escolha: bolsa maior, vaga que vale mais, mais médicos a preferem, mais chance de preencher. A bolsa só age no passo 2. Três pontos limitam a leitura: A, outras políticas nos mesmos cortes de IVS (o salto mede um pacote); B, a abertura da vaga acontece antes da escolha e não tem fórmula publicada; C, substituição, porque parte dos médicos já estava no município. O contraste identifica o incentivo marginal de R$ 5 mil, não a participação no PMM-E.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Da regra da bolsa à saúde: teoria da mudança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Literatura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A_numero_R1"/>
          <p:cNvSpPr/>
          <p:nvPr/>
        </p:nvSpPr>
        <p:spPr>
          <a:xfrm>
            <a:off x="301752" y="813816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2" name="A_rotulo_R1"/>
          <p:cNvSpPr txBox="1"/>
          <p:nvPr/>
        </p:nvSpPr>
        <p:spPr>
          <a:xfrm>
            <a:off x="256032" y="11704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REGRA</a:t>
            </a:r>
          </a:p>
        </p:txBody>
      </p:sp>
      <p:sp>
        <p:nvSpPr>
          <p:cNvPr id="103" name="A_numero_R2"/>
          <p:cNvSpPr/>
          <p:nvPr/>
        </p:nvSpPr>
        <p:spPr>
          <a:xfrm>
            <a:off x="301752" y="2852928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4" name="A_rotulo_R2"/>
          <p:cNvSpPr txBox="1"/>
          <p:nvPr/>
        </p:nvSpPr>
        <p:spPr>
          <a:xfrm>
            <a:off x="256032" y="320954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ESCOLHA DO MÉDICO</a:t>
            </a:r>
          </a:p>
        </p:txBody>
      </p:sp>
      <p:sp>
        <p:nvSpPr>
          <p:cNvPr id="105" name="A_numero_R3"/>
          <p:cNvSpPr/>
          <p:nvPr/>
        </p:nvSpPr>
        <p:spPr>
          <a:xfrm>
            <a:off x="301752" y="4992624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06" name="A_rotulo_R3"/>
          <p:cNvSpPr txBox="1"/>
          <p:nvPr/>
        </p:nvSpPr>
        <p:spPr>
          <a:xfrm>
            <a:off x="256032" y="534924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DA VAGA À SAÚDE</a:t>
            </a:r>
          </a:p>
        </p:txBody>
      </p:sp>
      <p:sp>
        <p:nvSpPr>
          <p:cNvPr id="107" name="A_no_IVS"/>
          <p:cNvSpPr/>
          <p:nvPr/>
        </p:nvSpPr>
        <p:spPr>
          <a:xfrm>
            <a:off x="1828800" y="804672"/>
            <a:ext cx="2194560" cy="950976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28016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IVS 2010 oficial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IPEA, ATLAS IVS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Vulnerabilidade social do município.</a:t>
            </a:r>
          </a:p>
        </p:txBody>
      </p:sp>
      <p:sp>
        <p:nvSpPr>
          <p:cNvPr id="108" name="A_no_faixa"/>
          <p:cNvSpPr/>
          <p:nvPr/>
        </p:nvSpPr>
        <p:spPr>
          <a:xfrm>
            <a:off x="4480560" y="804672"/>
            <a:ext cx="4663440" cy="950976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28016" tIns="6400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Faixa da bolsa</a:t>
            </a:r>
            <a:r>
              <a:rPr lang="pt-BR" sz="1050" b="0" dirty="0">
                <a:solidFill>
                  <a:srgbClr val="6B6B6B"/>
                </a:solidFill>
                <a:latin typeface="Montserrat"/>
              </a:rPr>
              <a:t>  ·  Cortes do IVS em 0,300 e 0,400.</a:t>
            </a:r>
          </a:p>
        </p:txBody>
      </p:sp>
      <p:sp>
        <p:nvSpPr>
          <p:cNvPr id="109" name="A_faixa_1"/>
          <p:cNvSpPr/>
          <p:nvPr/>
        </p:nvSpPr>
        <p:spPr>
          <a:xfrm>
            <a:off x="4608576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até 0,300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R$ 10 mil</a:t>
            </a:r>
          </a:p>
        </p:txBody>
      </p:sp>
      <p:sp>
        <p:nvSpPr>
          <p:cNvPr id="110" name="A_faixa_2"/>
          <p:cNvSpPr/>
          <p:nvPr/>
        </p:nvSpPr>
        <p:spPr>
          <a:xfrm>
            <a:off x="6114288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0,301 a 0,400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R$ 15 mil</a:t>
            </a:r>
          </a:p>
        </p:txBody>
      </p:sp>
      <p:sp>
        <p:nvSpPr>
          <p:cNvPr id="111" name="A_faixa_3"/>
          <p:cNvSpPr/>
          <p:nvPr/>
        </p:nvSpPr>
        <p:spPr>
          <a:xfrm>
            <a:off x="7620000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acima de 0,400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R$ 20 mil</a:t>
            </a:r>
          </a:p>
        </p:txBody>
      </p:sp>
      <p:cxnSp>
        <p:nvCxnSpPr>
          <p:cNvPr id="112" name="A_seta_IVS_faixa"/>
          <p:cNvCxnSpPr>
            <a:stCxn id="107" idx="3"/>
            <a:endCxn id="108" idx="1"/>
          </p:cNvCxnSpPr>
          <p:nvPr/>
        </p:nvCxnSpPr>
        <p:spPr>
          <a:xfrm>
            <a:off x="4023360" y="1280160"/>
            <a:ext cx="45720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13" name="A_no_A4"/>
          <p:cNvSpPr/>
          <p:nvPr/>
        </p:nvSpPr>
        <p:spPr>
          <a:xfrm>
            <a:off x="182880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Custo de viver ali (geográfico)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REDDING &amp; ROSSI-HANSBERG (2017)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Moradia, deslocamento, amenidades e distância da origem.</a:t>
            </a:r>
          </a:p>
        </p:txBody>
      </p:sp>
      <p:sp>
        <p:nvSpPr>
          <p:cNvPr id="114" name="A_pilula_A4"/>
          <p:cNvSpPr/>
          <p:nvPr/>
        </p:nvSpPr>
        <p:spPr>
          <a:xfrm>
            <a:off x="197510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3A3A3A"/>
                </a:solidFill>
                <a:latin typeface="Montserrat"/>
              </a:rPr>
              <a:t>REDUZ O VALOR</a:t>
            </a:r>
          </a:p>
        </p:txBody>
      </p:sp>
      <p:sp>
        <p:nvSpPr>
          <p:cNvPr id="115" name="A_no_A3"/>
          <p:cNvSpPr/>
          <p:nvPr/>
        </p:nvSpPr>
        <p:spPr>
          <a:xfrm>
            <a:off x="521208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056429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Montserrat"/>
              </a:rPr>
              <a:t>A bolsa eleva o salário esperado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A4F09A"/>
                </a:solidFill>
                <a:latin typeface="Montserrat"/>
              </a:rPr>
              <a:t>MOEHLING et al. (2020)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FFFFFF"/>
                </a:solidFill>
                <a:latin typeface="Montserrat"/>
              </a:rPr>
              <a:t>E(w | B) sobe com a faixa. Rende mais onde a vida é barata.</a:t>
            </a:r>
          </a:p>
        </p:txBody>
      </p:sp>
      <p:sp>
        <p:nvSpPr>
          <p:cNvPr id="116" name="A_pilula_A3"/>
          <p:cNvSpPr/>
          <p:nvPr/>
        </p:nvSpPr>
        <p:spPr>
          <a:xfrm>
            <a:off x="535838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056429"/>
                </a:solidFill>
                <a:latin typeface="Montserrat"/>
              </a:rPr>
              <a:t>ELEVA O VALOR</a:t>
            </a:r>
          </a:p>
        </p:txBody>
      </p:sp>
      <p:sp>
        <p:nvSpPr>
          <p:cNvPr id="117" name="A_no_A5"/>
          <p:cNvSpPr/>
          <p:nvPr/>
        </p:nvSpPr>
        <p:spPr>
          <a:xfrm>
            <a:off x="859536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Custo de trabalhar ali (laboral)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CHONÉ &amp; MA (2011)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Equipe, capital, esforço e altruísmo do médico.</a:t>
            </a:r>
          </a:p>
        </p:txBody>
      </p:sp>
      <p:sp>
        <p:nvSpPr>
          <p:cNvPr id="118" name="A_pilula_A5"/>
          <p:cNvSpPr/>
          <p:nvPr/>
        </p:nvSpPr>
        <p:spPr>
          <a:xfrm>
            <a:off x="874166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3A3A3A"/>
                </a:solidFill>
                <a:latin typeface="Montserrat"/>
              </a:rPr>
              <a:t>REDUZ O VALOR</a:t>
            </a:r>
          </a:p>
        </p:txBody>
      </p:sp>
      <p:cxnSp>
        <p:nvCxnSpPr>
          <p:cNvPr id="119" name="A_seta_faixa_bolsa"/>
          <p:cNvCxnSpPr>
            <a:stCxn id="108" idx="2"/>
            <a:endCxn id="115" idx="0"/>
          </p:cNvCxnSpPr>
          <p:nvPr/>
        </p:nvCxnSpPr>
        <p:spPr>
          <a:xfrm>
            <a:off x="6812280" y="1755648"/>
            <a:ext cx="0" cy="347472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0" name="A_no_A6"/>
          <p:cNvSpPr/>
          <p:nvPr/>
        </p:nvSpPr>
        <p:spPr>
          <a:xfrm>
            <a:off x="1828800" y="3931920"/>
            <a:ext cx="9966960" cy="603504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182880" tIns="36576" rIns="18288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Montserrat"/>
              </a:rPr>
              <a:t>Valor da vaga para o médico</a:t>
            </a:r>
            <a:r>
              <a:rPr lang="pt-BR" sz="1200" b="0" dirty="0">
                <a:solidFill>
                  <a:srgbClr val="FFFFFF"/>
                </a:solidFill>
                <a:latin typeface="Montserrat"/>
              </a:rPr>
              <a:t>   ·   Valor presente da renda real menos o custo do lugar.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A4F09A"/>
                </a:solidFill>
                <a:latin typeface="Montserrat"/>
              </a:rPr>
              <a:t>MOEHLING et al. (2020)</a:t>
            </a:r>
          </a:p>
        </p:txBody>
      </p:sp>
      <p:cxnSp>
        <p:nvCxnSpPr>
          <p:cNvPr id="121" name="A_seta_A4_A6"/>
          <p:cNvCxnSpPr>
            <a:stCxn id="113" idx="2"/>
          </p:cNvCxnSpPr>
          <p:nvPr/>
        </p:nvCxnSpPr>
        <p:spPr>
          <a:xfrm>
            <a:off x="3429000" y="3584448"/>
            <a:ext cx="0" cy="347472"/>
          </a:xfrm>
          <a:prstGeom prst="straightConnector1">
            <a:avLst/>
          </a:prstGeom>
          <a:ln w="28575">
            <a:solidFill>
              <a:srgbClr val="C23B33"/>
            </a:solidFill>
            <a:tailEnd type="triangle" w="med" len="med"/>
          </a:ln>
        </p:spPr>
      </p:cxnSp>
      <p:cxnSp>
        <p:nvCxnSpPr>
          <p:cNvPr id="122" name="A_seta_A3_A6"/>
          <p:cNvCxnSpPr>
            <a:stCxn id="115" idx="2"/>
          </p:cNvCxnSpPr>
          <p:nvPr/>
        </p:nvCxnSpPr>
        <p:spPr>
          <a:xfrm>
            <a:off x="6812280" y="3584448"/>
            <a:ext cx="0" cy="347472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cxnSp>
        <p:nvCxnSpPr>
          <p:cNvPr id="123" name="A_seta_A5_A6"/>
          <p:cNvCxnSpPr>
            <a:stCxn id="117" idx="2"/>
          </p:cNvCxnSpPr>
          <p:nvPr/>
        </p:nvCxnSpPr>
        <p:spPr>
          <a:xfrm>
            <a:off x="10195560" y="3584448"/>
            <a:ext cx="0" cy="347472"/>
          </a:xfrm>
          <a:prstGeom prst="straightConnector1">
            <a:avLst/>
          </a:prstGeom>
          <a:ln w="28575">
            <a:solidFill>
              <a:srgbClr val="C23B33"/>
            </a:solidFill>
            <a:tailEnd type="triangle" w="med" len="med"/>
          </a:ln>
        </p:spPr>
      </p:cxnSp>
      <p:sp>
        <p:nvSpPr>
          <p:cNvPr id="124" name="A_no_A7"/>
          <p:cNvSpPr/>
          <p:nvPr/>
        </p:nvSpPr>
        <p:spPr>
          <a:xfrm>
            <a:off x="1828800" y="4864608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Parcela de médicos que a escolhe (π)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Médicos diferem em curso, vínculos e preferências.</a:t>
            </a:r>
          </a:p>
        </p:txBody>
      </p:sp>
      <p:sp>
        <p:nvSpPr>
          <p:cNvPr id="125" name="A_no_A8"/>
          <p:cNvSpPr/>
          <p:nvPr/>
        </p:nvSpPr>
        <p:spPr>
          <a:xfrm>
            <a:off x="4133088" y="4864608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Vaga preenchida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Chance de a vaga receber ao menos um médico.</a:t>
            </a:r>
          </a:p>
        </p:txBody>
      </p:sp>
      <p:sp>
        <p:nvSpPr>
          <p:cNvPr id="126" name="A_no_A9"/>
          <p:cNvSpPr/>
          <p:nvPr/>
        </p:nvSpPr>
        <p:spPr>
          <a:xfrm>
            <a:off x="6437376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Capacidade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Vínculos e horas de especialistas.</a:t>
            </a:r>
          </a:p>
        </p:txBody>
      </p:sp>
      <p:sp>
        <p:nvSpPr>
          <p:cNvPr id="127" name="A_no_A10"/>
          <p:cNvSpPr/>
          <p:nvPr/>
        </p:nvSpPr>
        <p:spPr>
          <a:xfrm>
            <a:off x="8330184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Produção e acesso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Consultas, exames e cirurgias.</a:t>
            </a:r>
          </a:p>
        </p:txBody>
      </p:sp>
      <p:sp>
        <p:nvSpPr>
          <p:cNvPr id="128" name="A_no_A11"/>
          <p:cNvSpPr/>
          <p:nvPr/>
        </p:nvSpPr>
        <p:spPr>
          <a:xfrm>
            <a:off x="10222992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Saúde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Espera e internações dos moradores.</a:t>
            </a:r>
          </a:p>
        </p:txBody>
      </p:sp>
      <p:cxnSp>
        <p:nvCxnSpPr>
          <p:cNvPr id="129" name="A_seta_A6_A7"/>
          <p:cNvCxnSpPr>
            <a:endCxn id="124" idx="0"/>
          </p:cNvCxnSpPr>
          <p:nvPr/>
        </p:nvCxnSpPr>
        <p:spPr>
          <a:xfrm>
            <a:off x="2880360" y="4535424"/>
            <a:ext cx="0" cy="329184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cxnSp>
        <p:nvCxnSpPr>
          <p:cNvPr id="130" name="A_seta_A7_A8"/>
          <p:cNvCxnSpPr>
            <a:stCxn id="124" idx="3"/>
            <a:endCxn id="125" idx="1"/>
          </p:cNvCxnSpPr>
          <p:nvPr/>
        </p:nvCxnSpPr>
        <p:spPr>
          <a:xfrm>
            <a:off x="3931920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1" name="A_seta_A8_A9"/>
          <p:cNvCxnSpPr>
            <a:stCxn id="125" idx="3"/>
            <a:endCxn id="126" idx="1"/>
          </p:cNvCxnSpPr>
          <p:nvPr/>
        </p:nvCxnSpPr>
        <p:spPr>
          <a:xfrm>
            <a:off x="6236208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2" name="A_seta_A9_A10"/>
          <p:cNvCxnSpPr>
            <a:stCxn id="126" idx="3"/>
            <a:endCxn id="127" idx="1"/>
          </p:cNvCxnSpPr>
          <p:nvPr/>
        </p:nvCxnSpPr>
        <p:spPr>
          <a:xfrm>
            <a:off x="8129016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3" name="A_seta_A10_A11"/>
          <p:cNvCxnSpPr>
            <a:stCxn id="127" idx="3"/>
            <a:endCxn id="128" idx="1"/>
          </p:cNvCxnSpPr>
          <p:nvPr/>
        </p:nvCxnSpPr>
        <p:spPr>
          <a:xfrm>
            <a:off x="10021824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4" name="A_colchete_G1"/>
          <p:cNvCxnSpPr/>
          <p:nvPr/>
        </p:nvCxnSpPr>
        <p:spPr>
          <a:xfrm>
            <a:off x="1828800" y="6144768"/>
            <a:ext cx="4407408" cy="0"/>
          </a:xfrm>
          <a:prstGeom prst="straightConnector1">
            <a:avLst/>
          </a:prstGeom>
          <a:ln w="19050">
            <a:solidFill>
              <a:srgbClr val="C9DED1"/>
            </a:solidFill>
          </a:ln>
        </p:spPr>
      </p:cxnSp>
      <p:sp>
        <p:nvSpPr>
          <p:cNvPr id="135" name="A_grupo_G1"/>
          <p:cNvSpPr txBox="1"/>
          <p:nvPr/>
        </p:nvSpPr>
        <p:spPr>
          <a:xfrm>
            <a:off x="1828800" y="6208776"/>
            <a:ext cx="440740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AGREGAÇÃO · BURDETT, SHI &amp; WRIGHT (2001)</a:t>
            </a:r>
          </a:p>
        </p:txBody>
      </p:sp>
      <p:cxnSp>
        <p:nvCxnSpPr>
          <p:cNvPr id="136" name="A_colchete_G2"/>
          <p:cNvCxnSpPr/>
          <p:nvPr/>
        </p:nvCxnSpPr>
        <p:spPr>
          <a:xfrm>
            <a:off x="6437376" y="6144768"/>
            <a:ext cx="5477256" cy="0"/>
          </a:xfrm>
          <a:prstGeom prst="straightConnector1">
            <a:avLst/>
          </a:prstGeom>
          <a:ln w="19050">
            <a:solidFill>
              <a:srgbClr val="C9DED1"/>
            </a:solidFill>
          </a:ln>
        </p:spPr>
      </p:cxnSp>
      <p:sp>
        <p:nvSpPr>
          <p:cNvPr id="137" name="A_grupo_G2"/>
          <p:cNvSpPr txBox="1"/>
          <p:nvPr/>
        </p:nvSpPr>
        <p:spPr>
          <a:xfrm>
            <a:off x="6437376" y="6208776"/>
            <a:ext cx="54772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ELOS DA POLÍTICA: DO PROVIMENTO À SAÚDE</a:t>
            </a:r>
          </a:p>
        </p:txBody>
      </p:sp>
      <p:sp>
        <p:nvSpPr>
          <p:cNvPr id="138" name="A_nota"/>
          <p:cNvSpPr txBox="1"/>
          <p:nvPr/>
        </p:nvSpPr>
        <p:spPr>
          <a:xfrm>
            <a:off x="1828800" y="6382512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0" i="1" dirty="0">
                <a:solidFill>
                  <a:srgbClr val="6B6B6B"/>
                </a:solidFill>
                <a:latin typeface="Montserrat"/>
              </a:rPr>
              <a:t>Diagrama teórico: as setas dizem o que o modelo prevê, não o que foi estimado.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hipótese e onde a identificação é fraca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B_hipotese"/>
          <p:cNvSpPr/>
          <p:nvPr/>
        </p:nvSpPr>
        <p:spPr>
          <a:xfrm>
            <a:off x="228600" y="804672"/>
            <a:ext cx="11731752" cy="786384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950" b="1" spc="80" dirty="0">
                <a:solidFill>
                  <a:srgbClr val="A4F09A"/>
                </a:solidFill>
                <a:latin typeface="Montserrat"/>
              </a:rPr>
              <a:t>HIPÓTESE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FFFFFF"/>
                </a:solidFill>
                <a:latin typeface="Montserrat"/>
              </a:rPr>
              <a:t>Municípios com maior remuneração oferecida pelo PMM-E têm maior probabilidade de preenchimento de vagas.</a:t>
            </a:r>
          </a:p>
        </p:txBody>
      </p:sp>
      <p:sp>
        <p:nvSpPr>
          <p:cNvPr id="102" name="B_no_B1"/>
          <p:cNvSpPr/>
          <p:nvPr/>
        </p:nvSpPr>
        <p:spPr>
          <a:xfrm>
            <a:off x="228600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Regra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IVS 2010 define a faixa da bolsa.</a:t>
            </a:r>
          </a:p>
        </p:txBody>
      </p:sp>
      <p:sp>
        <p:nvSpPr>
          <p:cNvPr id="103" name="B_passo_B1"/>
          <p:cNvSpPr/>
          <p:nvPr/>
        </p:nvSpPr>
        <p:spPr>
          <a:xfrm>
            <a:off x="365760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104" name="B_no_B2"/>
          <p:cNvSpPr/>
          <p:nvPr/>
        </p:nvSpPr>
        <p:spPr>
          <a:xfrm>
            <a:off x="1929384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Abertura de vagas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Gestor propõe, SGTES decide.</a:t>
            </a:r>
          </a:p>
        </p:txBody>
      </p:sp>
      <p:sp>
        <p:nvSpPr>
          <p:cNvPr id="105" name="B_passo_B2"/>
          <p:cNvSpPr/>
          <p:nvPr/>
        </p:nvSpPr>
        <p:spPr>
          <a:xfrm>
            <a:off x="2066544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6" name="B_no_B3"/>
          <p:cNvSpPr/>
          <p:nvPr/>
        </p:nvSpPr>
        <p:spPr>
          <a:xfrm>
            <a:off x="3630168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056429"/>
          </a:solidFill>
          <a:ln>
            <a:noFill/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Escolha do médico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FFFFFF"/>
                </a:solidFill>
                <a:latin typeface="Montserrat"/>
              </a:rPr>
              <a:t>Valor da vaga define quem a escolhe.</a:t>
            </a:r>
          </a:p>
        </p:txBody>
      </p:sp>
      <p:sp>
        <p:nvSpPr>
          <p:cNvPr id="107" name="B_passo_B3"/>
          <p:cNvSpPr/>
          <p:nvPr/>
        </p:nvSpPr>
        <p:spPr>
          <a:xfrm>
            <a:off x="3767328" y="2322576"/>
            <a:ext cx="274320" cy="274320"/>
          </a:xfrm>
          <a:prstGeom prst="ellipse">
            <a:avLst/>
          </a:prstGeom>
          <a:solidFill>
            <a:srgbClr val="A4F09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056429"/>
                </a:solidFill>
                <a:latin typeface="Montserrat"/>
              </a:rPr>
              <a:t>2</a:t>
            </a:r>
          </a:p>
        </p:txBody>
      </p:sp>
      <p:sp>
        <p:nvSpPr>
          <p:cNvPr id="108" name="B_no_B4"/>
          <p:cNvSpPr/>
          <p:nvPr/>
        </p:nvSpPr>
        <p:spPr>
          <a:xfrm>
            <a:off x="5330952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Vaga preenchida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Ao menos um médico a escolhe.</a:t>
            </a:r>
          </a:p>
        </p:txBody>
      </p:sp>
      <p:sp>
        <p:nvSpPr>
          <p:cNvPr id="109" name="B_passo_B4"/>
          <p:cNvSpPr/>
          <p:nvPr/>
        </p:nvSpPr>
        <p:spPr>
          <a:xfrm>
            <a:off x="5468112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0" name="B_no_B5"/>
          <p:cNvSpPr/>
          <p:nvPr/>
        </p:nvSpPr>
        <p:spPr>
          <a:xfrm>
            <a:off x="7031736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Capacidade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Vínculos e horas de especialistas.</a:t>
            </a:r>
          </a:p>
        </p:txBody>
      </p:sp>
      <p:sp>
        <p:nvSpPr>
          <p:cNvPr id="111" name="B_passo_B5"/>
          <p:cNvSpPr/>
          <p:nvPr/>
        </p:nvSpPr>
        <p:spPr>
          <a:xfrm>
            <a:off x="7168896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12" name="B_no_B6"/>
          <p:cNvSpPr/>
          <p:nvPr/>
        </p:nvSpPr>
        <p:spPr>
          <a:xfrm>
            <a:off x="8732520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Produção e acesso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Consultas, exames e cirurgias.</a:t>
            </a:r>
          </a:p>
        </p:txBody>
      </p:sp>
      <p:sp>
        <p:nvSpPr>
          <p:cNvPr id="113" name="B_passo_B6"/>
          <p:cNvSpPr/>
          <p:nvPr/>
        </p:nvSpPr>
        <p:spPr>
          <a:xfrm>
            <a:off x="8869680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14" name="B_no_B7"/>
          <p:cNvSpPr/>
          <p:nvPr/>
        </p:nvSpPr>
        <p:spPr>
          <a:xfrm>
            <a:off x="10433304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Saúde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Espera e internações dos moradores.</a:t>
            </a:r>
          </a:p>
        </p:txBody>
      </p:sp>
      <p:sp>
        <p:nvSpPr>
          <p:cNvPr id="115" name="B_passo_B7"/>
          <p:cNvSpPr/>
          <p:nvPr/>
        </p:nvSpPr>
        <p:spPr>
          <a:xfrm>
            <a:off x="10570464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cxnSp>
        <p:nvCxnSpPr>
          <p:cNvPr id="116" name="B_seta_B1_B2"/>
          <p:cNvCxnSpPr>
            <a:stCxn id="102" idx="3"/>
            <a:endCxn id="104" idx="1"/>
          </p:cNvCxnSpPr>
          <p:nvPr/>
        </p:nvCxnSpPr>
        <p:spPr>
          <a:xfrm>
            <a:off x="1655064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7" name="B_seta_B2_B3"/>
          <p:cNvCxnSpPr>
            <a:stCxn id="104" idx="3"/>
            <a:endCxn id="106" idx="1"/>
          </p:cNvCxnSpPr>
          <p:nvPr/>
        </p:nvCxnSpPr>
        <p:spPr>
          <a:xfrm>
            <a:off x="3355848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8" name="B_seta_B3_B4"/>
          <p:cNvCxnSpPr>
            <a:stCxn id="106" idx="3"/>
            <a:endCxn id="108" idx="1"/>
          </p:cNvCxnSpPr>
          <p:nvPr/>
        </p:nvCxnSpPr>
        <p:spPr>
          <a:xfrm>
            <a:off x="5056632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9" name="B_seta_B4_B5"/>
          <p:cNvCxnSpPr>
            <a:stCxn id="108" idx="3"/>
            <a:endCxn id="110" idx="1"/>
          </p:cNvCxnSpPr>
          <p:nvPr/>
        </p:nvCxnSpPr>
        <p:spPr>
          <a:xfrm>
            <a:off x="6757416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20" name="B_seta_B5_B6"/>
          <p:cNvCxnSpPr>
            <a:stCxn id="110" idx="3"/>
            <a:endCxn id="112" idx="1"/>
          </p:cNvCxnSpPr>
          <p:nvPr/>
        </p:nvCxnSpPr>
        <p:spPr>
          <a:xfrm>
            <a:off x="8458200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21" name="B_seta_B6_B7"/>
          <p:cNvCxnSpPr>
            <a:stCxn id="112" idx="3"/>
            <a:endCxn id="114" idx="1"/>
          </p:cNvCxnSpPr>
          <p:nvPr/>
        </p:nvCxnSpPr>
        <p:spPr>
          <a:xfrm>
            <a:off x="10158984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2" name="B_pilula_bolsa"/>
          <p:cNvSpPr/>
          <p:nvPr/>
        </p:nvSpPr>
        <p:spPr>
          <a:xfrm>
            <a:off x="3474720" y="1847088"/>
            <a:ext cx="1737360" cy="256032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60" dirty="0">
                <a:solidFill>
                  <a:srgbClr val="056429"/>
                </a:solidFill>
                <a:latin typeface="Montserrat"/>
              </a:rPr>
              <a:t>A BOLSA AGE AQUI</a:t>
            </a:r>
          </a:p>
        </p:txBody>
      </p:sp>
      <p:cxnSp>
        <p:nvCxnSpPr>
          <p:cNvPr id="123" name="B_seta_pilula"/>
          <p:cNvCxnSpPr/>
          <p:nvPr/>
        </p:nvCxnSpPr>
        <p:spPr>
          <a:xfrm>
            <a:off x="4343400" y="2103120"/>
            <a:ext cx="0" cy="109728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4" name="B_marca_A"/>
          <p:cNvSpPr/>
          <p:nvPr/>
        </p:nvSpPr>
        <p:spPr>
          <a:xfrm>
            <a:off x="1490472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25" name="B_marca_B"/>
          <p:cNvSpPr/>
          <p:nvPr/>
        </p:nvSpPr>
        <p:spPr>
          <a:xfrm>
            <a:off x="3191256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26" name="B_marca_C"/>
          <p:cNvSpPr/>
          <p:nvPr/>
        </p:nvSpPr>
        <p:spPr>
          <a:xfrm>
            <a:off x="8293608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cxnSp>
        <p:nvCxnSpPr>
          <p:cNvPr id="127" name="B_colchete_hipotese"/>
          <p:cNvCxnSpPr/>
          <p:nvPr/>
        </p:nvCxnSpPr>
        <p:spPr>
          <a:xfrm>
            <a:off x="3630168" y="3785616"/>
            <a:ext cx="3127248" cy="0"/>
          </a:xfrm>
          <a:prstGeom prst="straightConnector1">
            <a:avLst/>
          </a:prstGeom>
          <a:ln w="19050">
            <a:solidFill>
              <a:srgbClr val="056429"/>
            </a:solidFill>
          </a:ln>
        </p:spPr>
      </p:cxnSp>
      <p:sp>
        <p:nvSpPr>
          <p:cNvPr id="128" name="B_rotulo_hipotese"/>
          <p:cNvSpPr txBox="1"/>
          <p:nvPr/>
        </p:nvSpPr>
        <p:spPr>
          <a:xfrm>
            <a:off x="3630168" y="3840480"/>
            <a:ext cx="31272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40" dirty="0">
                <a:solidFill>
                  <a:srgbClr val="056429"/>
                </a:solidFill>
                <a:latin typeface="Montserrat"/>
              </a:rPr>
              <a:t>HIPÓTESE: BOLSA → PREENCHIMENTO</a:t>
            </a:r>
          </a:p>
        </p:txBody>
      </p:sp>
      <p:sp>
        <p:nvSpPr>
          <p:cNvPr id="129" name="B_cab_avisos"/>
          <p:cNvSpPr txBox="1"/>
          <p:nvPr/>
        </p:nvSpPr>
        <p:spPr>
          <a:xfrm>
            <a:off x="228600" y="422452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80" dirty="0">
                <a:solidFill>
                  <a:srgbClr val="056429"/>
                </a:solidFill>
                <a:latin typeface="Montserrat"/>
              </a:rPr>
              <a:t>ONDE A LEITURA É FRÁGIL</a:t>
            </a:r>
          </a:p>
        </p:txBody>
      </p:sp>
      <p:sp>
        <p:nvSpPr>
          <p:cNvPr id="130" name="B_aviso_A"/>
          <p:cNvSpPr/>
          <p:nvPr/>
        </p:nvSpPr>
        <p:spPr>
          <a:xfrm>
            <a:off x="228600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Outras políticas nos mesmos cortes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Em 0,300 e 0,400 mudam também outras regras federais. O salto mede um pacote, não só a bolsa.</a:t>
            </a:r>
          </a:p>
        </p:txBody>
      </p:sp>
      <p:sp>
        <p:nvSpPr>
          <p:cNvPr id="131" name="B_aviso_marca_A"/>
          <p:cNvSpPr/>
          <p:nvPr/>
        </p:nvSpPr>
        <p:spPr>
          <a:xfrm>
            <a:off x="374904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32" name="B_aviso_B"/>
          <p:cNvSpPr/>
          <p:nvPr/>
        </p:nvSpPr>
        <p:spPr>
          <a:xfrm>
            <a:off x="4219956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A vaga abre antes da escolha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O gestor propõe e a SGTES prioriza, sem fórmula publicada. Contar vagas preenchidas mistura abrir com atrair.</a:t>
            </a:r>
          </a:p>
        </p:txBody>
      </p:sp>
      <p:sp>
        <p:nvSpPr>
          <p:cNvPr id="133" name="B_aviso_marca_B"/>
          <p:cNvSpPr/>
          <p:nvPr/>
        </p:nvSpPr>
        <p:spPr>
          <a:xfrm>
            <a:off x="4366260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34" name="B_aviso_C"/>
          <p:cNvSpPr/>
          <p:nvPr/>
        </p:nvSpPr>
        <p:spPr>
          <a:xfrm>
            <a:off x="8211312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Substituição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Parte dos médicos já estava no município. Chegada pode ser troca de vínculo, não oferta nova.</a:t>
            </a:r>
          </a:p>
        </p:txBody>
      </p:sp>
      <p:sp>
        <p:nvSpPr>
          <p:cNvPr id="135" name="B_aviso_marca_C"/>
          <p:cNvSpPr/>
          <p:nvPr/>
        </p:nvSpPr>
        <p:spPr>
          <a:xfrm>
            <a:off x="8357616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36" name="B_identifica"/>
          <p:cNvSpPr/>
          <p:nvPr/>
        </p:nvSpPr>
        <p:spPr>
          <a:xfrm>
            <a:off x="228600" y="5961888"/>
            <a:ext cx="11731752" cy="54864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O que o corte identifica: </a:t>
            </a:r>
            <a:r>
              <a:rPr lang="pt-BR" sz="1150" b="0" dirty="0">
                <a:solidFill>
                  <a:srgbClr val="3A3A3A"/>
                </a:solidFill>
                <a:latin typeface="Montserrat"/>
              </a:rPr>
              <a:t>o incentivo marginal de R$ 5 mil, dentro de um pacote de regras. Não é participação no PMM-E nem o efeito do Agora Tem Especialistas.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